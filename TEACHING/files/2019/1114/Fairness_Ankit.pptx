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embeddedFontLst>
    <p:embeddedFont>
      <p:font typeface="Raleway"/>
      <p:regular r:id="rId39"/>
      <p:bold r:id="rId40"/>
      <p:italic r:id="rId41"/>
      <p:boldItalic r:id="rId42"/>
    </p:embeddedFont>
    <p:embeddedFont>
      <p:font typeface="Lat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bold.fntdata"/><Relationship Id="rId20" Type="http://schemas.openxmlformats.org/officeDocument/2006/relationships/slide" Target="slides/slide15.xml"/><Relationship Id="rId42" Type="http://schemas.openxmlformats.org/officeDocument/2006/relationships/font" Target="fonts/Raleway-boldItalic.fntdata"/><Relationship Id="rId41" Type="http://schemas.openxmlformats.org/officeDocument/2006/relationships/font" Target="fonts/Raleway-italic.fntdata"/><Relationship Id="rId22" Type="http://schemas.openxmlformats.org/officeDocument/2006/relationships/slide" Target="slides/slide17.xml"/><Relationship Id="rId44" Type="http://schemas.openxmlformats.org/officeDocument/2006/relationships/font" Target="fonts/Lato-bold.fntdata"/><Relationship Id="rId21" Type="http://schemas.openxmlformats.org/officeDocument/2006/relationships/slide" Target="slides/slide16.xml"/><Relationship Id="rId43" Type="http://schemas.openxmlformats.org/officeDocument/2006/relationships/font" Target="fonts/Lato-regular.fntdata"/><Relationship Id="rId24" Type="http://schemas.openxmlformats.org/officeDocument/2006/relationships/slide" Target="slides/slide19.xml"/><Relationship Id="rId46" Type="http://schemas.openxmlformats.org/officeDocument/2006/relationships/font" Target="fonts/Lato-boldItalic.fntdata"/><Relationship Id="rId23" Type="http://schemas.openxmlformats.org/officeDocument/2006/relationships/slide" Target="slides/slide18.xml"/><Relationship Id="rId45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aleway-regular.fnt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6b1a1f0825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6b1a1f082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6b1a1f0825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6b1a1f0825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6b1a1f0825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6b1a1f0825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6b1a1f0825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6b1a1f0825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6b1a1f0825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6b1a1f0825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6b1a1f0825_0_12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6b1a1f0825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6b1a1f0825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6b1a1f0825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6b1a1f0825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6b1a1f0825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6b1a1f0825_0_14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6b1a1f0825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6b1a1f0825_0_14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6b1a1f0825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6b1a1f0825_0_16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6b1a1f0825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6b1a1f0825_0_15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6b1a1f0825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6b1a1f0825_0_16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6b1a1f0825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6b1a1f0825_0_17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6b1a1f0825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6b1a1f0825_0_17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6b1a1f0825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6b1a1f0825_0_18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6b1a1f0825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6b1a1f0825_0_19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6b1a1f0825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6b1a1f0825_0_20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6b1a1f0825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6b1a1f0825_0_21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6b1a1f0825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6b1a1f0825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6b1a1f0825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6b1a1f0825_0_22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6b1a1f0825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6b1a1f0825_0_20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6b1a1f0825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6b1a1f0825_0_23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6b1a1f0825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74442d41a2_1_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74442d41a2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74442d41a2_1_1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74442d41a2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74442d41a2_1_1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74442d41a2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74442d41a2_1_2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74442d41a2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74442d41a2_1_3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74442d41a2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74442d41a2_1_4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74442d41a2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74442d41a2_1_4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74442d41a2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74442d41a2_1_5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74442d41a2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74442d41a2_1_6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74442d41a2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81849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Fairness in Machine Learning 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450" y="3212200"/>
            <a:ext cx="44283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On Formalizing Fairness in Prediction with Machine Learning - Gajane et al.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Avoiding Discrimination through Causal Reasoning </a:t>
            </a:r>
            <a:r>
              <a:rPr lang="en" sz="1000"/>
              <a:t>- Kilbertus et al.</a:t>
            </a:r>
            <a:endParaRPr sz="1000"/>
          </a:p>
        </p:txBody>
      </p:sp>
      <p:sp>
        <p:nvSpPr>
          <p:cNvPr id="88" name="Google Shape;88;p13"/>
          <p:cNvSpPr txBox="1"/>
          <p:nvPr/>
        </p:nvSpPr>
        <p:spPr>
          <a:xfrm>
            <a:off x="6159675" y="3212200"/>
            <a:ext cx="13947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Presented by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Ankit Raj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7650" y="5651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we care?</a:t>
            </a:r>
            <a:endParaRPr/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600" y="1710300"/>
            <a:ext cx="3997376" cy="17229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877925" y="3610650"/>
            <a:ext cx="33567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Source: Tweet by </a:t>
            </a:r>
            <a:r>
              <a:rPr lang="en" sz="1000">
                <a:solidFill>
                  <a:srgbClr val="484848"/>
                </a:solidFill>
                <a:latin typeface="Lato"/>
                <a:ea typeface="Lato"/>
                <a:cs typeface="Lato"/>
                <a:sym typeface="Lato"/>
              </a:rPr>
              <a:t>DAVID HEINEMEIER HANSSON</a:t>
            </a:r>
            <a:endParaRPr sz="1000">
              <a:solidFill>
                <a:srgbClr val="484848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914438" y="3610650"/>
            <a:ext cx="23355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Source: Tweet by </a:t>
            </a:r>
            <a:r>
              <a:rPr lang="en" sz="1000">
                <a:solidFill>
                  <a:srgbClr val="484848"/>
                </a:solidFill>
                <a:latin typeface="Lato"/>
                <a:ea typeface="Lato"/>
                <a:cs typeface="Lato"/>
                <a:sym typeface="Lato"/>
              </a:rPr>
              <a:t>Steve Woznaik</a:t>
            </a:r>
            <a:endParaRPr/>
          </a:p>
        </p:txBody>
      </p:sp>
      <p:pic>
        <p:nvPicPr>
          <p:cNvPr id="97" name="Google Shape;9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9858" y="1734201"/>
            <a:ext cx="3564678" cy="172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628000" y="6230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it became viral </a:t>
            </a:r>
            <a:endParaRPr/>
          </a:p>
        </p:txBody>
      </p:sp>
      <p:pic>
        <p:nvPicPr>
          <p:cNvPr id="103" name="Google Shape;10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3326" y="1232725"/>
            <a:ext cx="3674724" cy="335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657000" y="5796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Clarification from the company</a:t>
            </a:r>
            <a:endParaRPr/>
          </a:p>
        </p:txBody>
      </p:sp>
      <p:pic>
        <p:nvPicPr>
          <p:cNvPr id="109" name="Google Shape;10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000" y="1267200"/>
            <a:ext cx="7549984" cy="37239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16"/>
          <p:cNvCxnSpPr/>
          <p:nvPr/>
        </p:nvCxnSpPr>
        <p:spPr>
          <a:xfrm>
            <a:off x="871650" y="3805375"/>
            <a:ext cx="5738700" cy="6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727650" y="6230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Fairness</a:t>
            </a:r>
            <a:endParaRPr/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729450" y="1338075"/>
            <a:ext cx="7688700" cy="30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Discrimination refers to unfavourable treatment of people due to the membership to certain demographic groups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Illegal to distinguish based on attributes protected by law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Legally protected domains/classes: </a:t>
            </a:r>
            <a:r>
              <a:rPr b="1" lang="en" sz="1400"/>
              <a:t>Race, Color, Sex, Religion</a:t>
            </a:r>
            <a:r>
              <a:rPr lang="en" sz="1400"/>
              <a:t> etc.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Fairness in a decision making implies the designing algorithms that make fair predictions devoid of discrimination</a:t>
            </a:r>
            <a:endParaRPr b="1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729450" y="637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important in Machine Learning</a:t>
            </a:r>
            <a:endParaRPr/>
          </a:p>
        </p:txBody>
      </p:sp>
      <p:sp>
        <p:nvSpPr>
          <p:cNvPr id="122" name="Google Shape;122;p18"/>
          <p:cNvSpPr txBox="1"/>
          <p:nvPr>
            <p:ph idx="1" type="body"/>
          </p:nvPr>
        </p:nvSpPr>
        <p:spPr>
          <a:xfrm>
            <a:off x="729450" y="1370850"/>
            <a:ext cx="7688700" cy="296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ML increasingly being used in high-impact domains such as credit, employment, education and criminal justice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These are prone to discrimination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Can’t consider the ML algorithms be </a:t>
            </a:r>
            <a:r>
              <a:rPr lang="en" sz="1400"/>
              <a:t>mystical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Sources of errors: sample size disparity, biases in data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ML models reflect underlying data?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Need to take steps to make these models/algorithms fair</a:t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727650" y="149922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</a:rPr>
              <a:t>But software is not free of human influence. Algorithms are written and maintained by people, and machine learning algorithms adjust what they do based on people’s behavior. As a result […] algorithms can reinforce human prejudices.</a:t>
            </a:r>
            <a:endParaRPr sz="20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</a:rPr>
              <a:t>		</a:t>
            </a:r>
            <a:endParaRPr sz="20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rgbClr val="121212"/>
                </a:solidFill>
                <a:latin typeface="Georgia"/>
                <a:ea typeface="Georgia"/>
                <a:cs typeface="Georgia"/>
                <a:sym typeface="Georgia"/>
              </a:rPr>
              <a:t>                             When Algorithms Discriminate by </a:t>
            </a: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</a:rPr>
              <a:t>Miller [2015]</a:t>
            </a:r>
            <a:endParaRPr sz="15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727650" y="6230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Papers on fairness - trending?</a:t>
            </a:r>
            <a:endParaRPr/>
          </a:p>
        </p:txBody>
      </p:sp>
      <p:pic>
        <p:nvPicPr>
          <p:cNvPr id="133" name="Google Shape;13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1659" y="1461550"/>
            <a:ext cx="4560675" cy="264557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0"/>
          <p:cNvSpPr txBox="1"/>
          <p:nvPr/>
        </p:nvSpPr>
        <p:spPr>
          <a:xfrm>
            <a:off x="3072000" y="4252800"/>
            <a:ext cx="30000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" sz="1000">
                <a:latin typeface="Lato"/>
                <a:ea typeface="Lato"/>
                <a:cs typeface="Lato"/>
                <a:sym typeface="Lato"/>
              </a:rPr>
              <a:t>https://fairmlclass.github.io/1.html#/4</a:t>
            </a:r>
            <a:endParaRPr sz="1000">
              <a:solidFill>
                <a:srgbClr val="48484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727650" y="2174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Formalizing Fairness in Prediction with ML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727650" y="6802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727650" y="870075"/>
            <a:ext cx="7688700" cy="26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Survey how fairness is formalized in ML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Present those formalizations with the notion of </a:t>
            </a:r>
            <a:r>
              <a:rPr b="1" i="1" lang="en"/>
              <a:t>distributive justice </a:t>
            </a:r>
            <a:r>
              <a:rPr lang="en"/>
              <a:t>from the social sciences literature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Critiques of those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Suggests two notions of distributive justice which address those critiques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660700" y="6311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Mathematical Formulation</a:t>
            </a:r>
            <a:endParaRPr/>
          </a:p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2438200" y="1302150"/>
            <a:ext cx="4133700" cy="12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X: set of individuals</a:t>
            </a:r>
            <a:endParaRPr/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A: set of protected attributes (those protected by law)</a:t>
            </a:r>
            <a:endParaRPr/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Z: set of remaining attributes</a:t>
            </a:r>
            <a:endParaRPr/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Y: set of the outcomes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3"/>
          <p:cNvSpPr txBox="1"/>
          <p:nvPr/>
        </p:nvSpPr>
        <p:spPr>
          <a:xfrm>
            <a:off x="1617550" y="2657650"/>
            <a:ext cx="5775000" cy="14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Lato"/>
              <a:buChar char="●"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Individual Predictor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Lato"/>
              <a:buChar char="●"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Group-conditional predictor consists of a set of mappings, one for each group of population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\mathcal{H}: X \rightarrow Y" id="153" name="Google Shape;153;p23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9550" y="2771925"/>
            <a:ext cx="1091006" cy="20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mathcal{H} = \{\mathcal{H}_S\} \forall S \subset X" id="154" name="Google Shape;154;p23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0550" y="3297650"/>
            <a:ext cx="1343472" cy="20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/>
        </p:nvSpPr>
        <p:spPr>
          <a:xfrm>
            <a:off x="1597500" y="2329350"/>
            <a:ext cx="5949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Lato"/>
                <a:ea typeface="Lato"/>
                <a:cs typeface="Lato"/>
                <a:sym typeface="Lato"/>
              </a:rPr>
              <a:t>What is fair? Different formalizations</a:t>
            </a:r>
            <a:endParaRPr sz="25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>
            <p:ph type="title"/>
          </p:nvPr>
        </p:nvSpPr>
        <p:spPr>
          <a:xfrm>
            <a:off x="641300" y="602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Unawareness</a:t>
            </a:r>
            <a:endParaRPr/>
          </a:p>
        </p:txBody>
      </p:sp>
      <p:sp>
        <p:nvSpPr>
          <p:cNvPr id="165" name="Google Shape;165;p25"/>
          <p:cNvSpPr txBox="1"/>
          <p:nvPr>
            <p:ph idx="1" type="body"/>
          </p:nvPr>
        </p:nvSpPr>
        <p:spPr>
          <a:xfrm>
            <a:off x="727650" y="1427775"/>
            <a:ext cx="7688700" cy="30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Protected Attributes are not </a:t>
            </a:r>
            <a:r>
              <a:rPr b="1" i="1" lang="en" sz="1400"/>
              <a:t>explicitly</a:t>
            </a:r>
            <a:r>
              <a:rPr i="1" lang="en" sz="1400"/>
              <a:t> </a:t>
            </a:r>
            <a:r>
              <a:rPr lang="en" sz="1400"/>
              <a:t>used in the prediction process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400" u="sng"/>
              <a:t>ISSUE:</a:t>
            </a:r>
            <a:r>
              <a:rPr lang="en" sz="1400"/>
              <a:t> Other non-protected attributes might have information about the protected attributes which will impact the algorithm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400" u="sng"/>
              <a:t>Distributive Justice Viewpoint: </a:t>
            </a:r>
            <a:r>
              <a:rPr lang="en" sz="1400"/>
              <a:t>This corresponds to being “blind” to counter discrimination. It has been shown in previous study, the race-blind approach is less efficient than race-</a:t>
            </a:r>
            <a:r>
              <a:rPr lang="en" sz="1400"/>
              <a:t>conscious</a:t>
            </a:r>
            <a:r>
              <a:rPr lang="en" sz="1400"/>
              <a:t> approach 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>
            <p:ph type="title"/>
          </p:nvPr>
        </p:nvSpPr>
        <p:spPr>
          <a:xfrm>
            <a:off x="727650" y="6466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Counterfactual Measures</a:t>
            </a:r>
            <a:endParaRPr/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729450" y="1350675"/>
            <a:ext cx="7688700" cy="29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Predictor        is counterfactually fair, if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This measure deems a predictor to be fair if its output remains the same when the protected attribute is flipped to its counterfactual value.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Compares individual with different versions of themselves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rgbClr val="000000"/>
                </a:solidFill>
              </a:rPr>
              <a:t>Social Sciences Viewpoint:</a:t>
            </a:r>
            <a:r>
              <a:rPr lang="en" sz="1400">
                <a:solidFill>
                  <a:srgbClr val="000000"/>
                </a:solidFill>
              </a:rPr>
              <a:t> relates with the theory of counterfactual reasoning</a:t>
            </a:r>
            <a:r>
              <a:rPr b="1" lang="en" sz="1400" u="sng">
                <a:solidFill>
                  <a:srgbClr val="000000"/>
                </a:solidFill>
              </a:rPr>
              <a:t> by Lewis</a:t>
            </a:r>
            <a:endParaRPr b="1" sz="1400" u="sng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rgbClr val="000000"/>
                </a:solidFill>
              </a:rPr>
              <a:t>ISSUES: </a:t>
            </a:r>
            <a:r>
              <a:rPr lang="en" sz="1400">
                <a:solidFill>
                  <a:srgbClr val="000000"/>
                </a:solidFill>
              </a:rPr>
              <a:t>susceptible to hindsight bias and outcome bias (i.e. evaluating the quality of a decision when its outcome is already known)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pic>
        <p:nvPicPr>
          <p:cNvPr descr="\mathcal{H}" id="172" name="Google Shape;172;p26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4825" y="1469275"/>
            <a:ext cx="166168" cy="17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mathcal{P}(\mathcal{H}_{A=a} = y | Z = z) =  \mathcal{P}(\mathcal{H}_{A=a'} = y | Z = z)" id="173" name="Google Shape;173;p26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9225" y="1814976"/>
            <a:ext cx="4148450" cy="269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/>
          <p:nvPr>
            <p:ph type="title"/>
          </p:nvPr>
        </p:nvSpPr>
        <p:spPr>
          <a:xfrm>
            <a:off x="727650" y="6246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Group Fairness (Statistical/Demographic parity)</a:t>
            </a:r>
            <a:endParaRPr sz="2400"/>
          </a:p>
        </p:txBody>
      </p:sp>
      <p:sp>
        <p:nvSpPr>
          <p:cNvPr id="179" name="Google Shape;179;p27"/>
          <p:cNvSpPr txBox="1"/>
          <p:nvPr>
            <p:ph idx="1" type="body"/>
          </p:nvPr>
        </p:nvSpPr>
        <p:spPr>
          <a:xfrm>
            <a:off x="727650" y="1075250"/>
            <a:ext cx="7688700" cy="39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Imposes the condition that the predictor should predict a particular outcome for individuals across groups with </a:t>
            </a:r>
            <a:r>
              <a:rPr i="1" lang="en" sz="1400">
                <a:solidFill>
                  <a:srgbClr val="000000"/>
                </a:solidFill>
              </a:rPr>
              <a:t>almost </a:t>
            </a:r>
            <a:r>
              <a:rPr lang="en" sz="1400">
                <a:solidFill>
                  <a:srgbClr val="000000"/>
                </a:solidFill>
              </a:rPr>
              <a:t>equal probability.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Useful when ground truth labels not available e.g. in domains like employment, housing, credit etc.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rgbClr val="000000"/>
                </a:solidFill>
              </a:rPr>
              <a:t>ISSUES: </a:t>
            </a:r>
            <a:r>
              <a:rPr lang="en" sz="1400">
                <a:solidFill>
                  <a:srgbClr val="000000"/>
                </a:solidFill>
              </a:rPr>
              <a:t>When disproportionality can be justified based on non-protected attributes, it may to incorrect outcomes and may amount to discrimination against qualified candidates. </a:t>
            </a:r>
            <a:br>
              <a:rPr lang="en" sz="1400">
                <a:solidFill>
                  <a:srgbClr val="000000"/>
                </a:solidFill>
              </a:rPr>
            </a:br>
            <a:r>
              <a:rPr b="1" lang="en" sz="1400" u="sng">
                <a:solidFill>
                  <a:srgbClr val="000000"/>
                </a:solidFill>
              </a:rPr>
              <a:t>Distributive Justice Viewpoint: </a:t>
            </a:r>
            <a:r>
              <a:rPr lang="en" sz="1400">
                <a:solidFill>
                  <a:srgbClr val="000000"/>
                </a:solidFill>
              </a:rPr>
              <a:t>Notion of collectivist egalitarianism -- Not meritocratic and reduces efficiency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8701" y="1910650"/>
            <a:ext cx="5446601" cy="132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/>
          <p:nvPr>
            <p:ph type="title"/>
          </p:nvPr>
        </p:nvSpPr>
        <p:spPr>
          <a:xfrm>
            <a:off x="727650" y="6295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Individual Fairness</a:t>
            </a:r>
            <a:endParaRPr/>
          </a:p>
        </p:txBody>
      </p:sp>
      <p:sp>
        <p:nvSpPr>
          <p:cNvPr id="186" name="Google Shape;186;p28"/>
          <p:cNvSpPr txBox="1"/>
          <p:nvPr>
            <p:ph idx="1" type="body"/>
          </p:nvPr>
        </p:nvSpPr>
        <p:spPr>
          <a:xfrm>
            <a:off x="727650" y="1063800"/>
            <a:ext cx="7688700" cy="39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A predictor is fair in terms of individual fairness if it produces similar outputs for similar individuals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Captured by (D, d)-Lipschitz property: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rgbClr val="000000"/>
                </a:solidFill>
              </a:rPr>
              <a:t>ISSUES: </a:t>
            </a:r>
            <a:r>
              <a:rPr lang="en" sz="1400">
                <a:solidFill>
                  <a:srgbClr val="000000"/>
                </a:solidFill>
              </a:rPr>
              <a:t>This notion delegates the </a:t>
            </a:r>
            <a:r>
              <a:rPr lang="en" sz="1400">
                <a:solidFill>
                  <a:srgbClr val="000000"/>
                </a:solidFill>
              </a:rPr>
              <a:t>responsibility</a:t>
            </a:r>
            <a:r>
              <a:rPr lang="en" sz="1400">
                <a:solidFill>
                  <a:srgbClr val="000000"/>
                </a:solidFill>
              </a:rPr>
              <a:t> of ensuring fairness from the predictor to its distance metric. If the distance metric uses the protected attributes directly (or indirectly), the predictor (satisfying above)could still be discriminatory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Notion of </a:t>
            </a:r>
            <a:r>
              <a:rPr b="1" lang="en" sz="1400" u="sng">
                <a:solidFill>
                  <a:srgbClr val="000000"/>
                </a:solidFill>
              </a:rPr>
              <a:t>individualism egalitarianism </a:t>
            </a:r>
            <a:r>
              <a:rPr lang="en" sz="1400">
                <a:solidFill>
                  <a:srgbClr val="000000"/>
                </a:solidFill>
              </a:rPr>
              <a:t>in the social sciences literature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8900" y="1826775"/>
            <a:ext cx="5233599" cy="95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7575" y="2783353"/>
            <a:ext cx="2370500" cy="243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 txBox="1"/>
          <p:nvPr>
            <p:ph type="title"/>
          </p:nvPr>
        </p:nvSpPr>
        <p:spPr>
          <a:xfrm>
            <a:off x="727650" y="6246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Equality of opportunity</a:t>
            </a:r>
            <a:endParaRPr/>
          </a:p>
        </p:txBody>
      </p:sp>
      <p:sp>
        <p:nvSpPr>
          <p:cNvPr id="194" name="Google Shape;194;p29"/>
          <p:cNvSpPr txBox="1"/>
          <p:nvPr>
            <p:ph idx="1" type="body"/>
          </p:nvPr>
        </p:nvSpPr>
        <p:spPr>
          <a:xfrm>
            <a:off x="729450" y="1306600"/>
            <a:ext cx="7688700" cy="30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True positive rate is same for all the groups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u="sng"/>
              <a:t>ISSUES:</a:t>
            </a:r>
            <a:r>
              <a:rPr lang="en"/>
              <a:t> It doesn’t consider the effect of discrimination due to protected attributes like gender, race etc. which have been shown to affect individual’s life prospects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1800" y="1372425"/>
            <a:ext cx="4156126" cy="85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/>
          <p:nvPr>
            <p:ph type="title"/>
          </p:nvPr>
        </p:nvSpPr>
        <p:spPr>
          <a:xfrm>
            <a:off x="727650" y="6356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Preference-based fairness</a:t>
            </a:r>
            <a:endParaRPr/>
          </a:p>
        </p:txBody>
      </p:sp>
      <p:sp>
        <p:nvSpPr>
          <p:cNvPr id="201" name="Google Shape;201;p30"/>
          <p:cNvSpPr txBox="1"/>
          <p:nvPr>
            <p:ph idx="1" type="body"/>
          </p:nvPr>
        </p:nvSpPr>
        <p:spPr>
          <a:xfrm>
            <a:off x="729450" y="1317625"/>
            <a:ext cx="7688700" cy="30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far discussed fairness imposing parity!!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u="sng"/>
              <a:t>Preferred treatment: </a:t>
            </a:r>
            <a:r>
              <a:rPr i="1" lang="en" sz="1400">
                <a:solidFill>
                  <a:srgbClr val="000000"/>
                </a:solidFill>
              </a:rPr>
              <a:t>A group-conditional predictor is said to satisfy preferred treatment if each group of the population receives more benefit from their respective predictor then they would have received from any other predictor</a:t>
            </a:r>
            <a:endParaRPr i="1"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u="sng"/>
              <a:t>Preferred impact: </a:t>
            </a:r>
            <a:r>
              <a:rPr i="1" lang="en" sz="1400">
                <a:solidFill>
                  <a:srgbClr val="000000"/>
                </a:solidFill>
              </a:rPr>
              <a:t>A predictor is said to have preferred impact if it offers at-least as much benefit as another predictor for all the groups.</a:t>
            </a:r>
            <a:endParaRPr i="1"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It corresponds to the notion of </a:t>
            </a:r>
            <a:r>
              <a:rPr b="1" lang="en" u="sng"/>
              <a:t>envy-freeness </a:t>
            </a:r>
            <a:r>
              <a:rPr lang="en"/>
              <a:t>in the social sciences literature, which is neither necessary nor sufficient for fairness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i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"/>
          <p:cNvSpPr txBox="1"/>
          <p:nvPr>
            <p:ph type="title"/>
          </p:nvPr>
        </p:nvSpPr>
        <p:spPr>
          <a:xfrm>
            <a:off x="727650" y="5915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Prospective Notion - 1</a:t>
            </a:r>
            <a:endParaRPr/>
          </a:p>
        </p:txBody>
      </p:sp>
      <p:sp>
        <p:nvSpPr>
          <p:cNvPr id="207" name="Google Shape;207;p31"/>
          <p:cNvSpPr txBox="1"/>
          <p:nvPr>
            <p:ph idx="1" type="body"/>
          </p:nvPr>
        </p:nvSpPr>
        <p:spPr>
          <a:xfrm>
            <a:off x="729450" y="1306600"/>
            <a:ext cx="7688700" cy="30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Equality of resources</a:t>
            </a:r>
            <a:endParaRPr sz="18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Unequal distribution of social benefits is only considered fair when it results from the intentional decisions and actions of the concerned individuals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Each individual’s unchosen circumstances including the natural endowments which should be offset to achieve fairness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/>
          <p:nvPr>
            <p:ph type="title"/>
          </p:nvPr>
        </p:nvSpPr>
        <p:spPr>
          <a:xfrm>
            <a:off x="727650" y="5915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Prospective Notion - 2</a:t>
            </a:r>
            <a:endParaRPr/>
          </a:p>
        </p:txBody>
      </p:sp>
      <p:sp>
        <p:nvSpPr>
          <p:cNvPr id="213" name="Google Shape;213;p32"/>
          <p:cNvSpPr txBox="1"/>
          <p:nvPr>
            <p:ph idx="1" type="body"/>
          </p:nvPr>
        </p:nvSpPr>
        <p:spPr>
          <a:xfrm>
            <a:off x="729450" y="1306600"/>
            <a:ext cx="7688700" cy="30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Equality of capability of functioning</a:t>
            </a:r>
            <a:endParaRPr sz="18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People should not be held responsible for attributes they had no say in to include personal attributes which cause difficulty in developing </a:t>
            </a:r>
            <a:r>
              <a:rPr i="1" lang="en" sz="1400">
                <a:solidFill>
                  <a:srgbClr val="000000"/>
                </a:solidFill>
              </a:rPr>
              <a:t>functionings</a:t>
            </a:r>
            <a:endParaRPr i="1"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Functionings are states of “being and doing”, that is, various states of existence and activities that an individual can undertake.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Variations related to the protected attributes like age, sex, gender, race, caste give individuals unequal powers to achieve goals even when they have the same opportunities.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 In order to equalize capabilities, people should be compensated for their unequal powers to convert opportunities into functionings.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 txBox="1"/>
          <p:nvPr>
            <p:ph type="title"/>
          </p:nvPr>
        </p:nvSpPr>
        <p:spPr>
          <a:xfrm>
            <a:off x="335250" y="2174900"/>
            <a:ext cx="84735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Avoiding Discrimination through Causal Reasoning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type="title"/>
          </p:nvPr>
        </p:nvSpPr>
        <p:spPr>
          <a:xfrm>
            <a:off x="727650" y="5805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224" name="Google Shape;224;p34"/>
          <p:cNvSpPr txBox="1"/>
          <p:nvPr>
            <p:ph idx="1" type="body"/>
          </p:nvPr>
        </p:nvSpPr>
        <p:spPr>
          <a:xfrm>
            <a:off x="729450" y="1306600"/>
            <a:ext cx="7688700" cy="30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Recent works on fairness depend on observational criteria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Inherent limitations that prevent them from resolving matters of fairness conclusively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paper frames the problem of discrimination based on protected attributes in the language of causal reasoning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“What do we want to assume about our model of the causal data generating process?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Proposes algorithms for natural causal non-discrimination criteria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/>
          <p:cNvSpPr txBox="1"/>
          <p:nvPr>
            <p:ph type="title"/>
          </p:nvPr>
        </p:nvSpPr>
        <p:spPr>
          <a:xfrm>
            <a:off x="663350" y="6356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Mathematical terminologies</a:t>
            </a:r>
            <a:endParaRPr/>
          </a:p>
        </p:txBody>
      </p:sp>
      <p:sp>
        <p:nvSpPr>
          <p:cNvPr id="230" name="Google Shape;230;p35"/>
          <p:cNvSpPr txBox="1"/>
          <p:nvPr>
            <p:ph idx="1" type="body"/>
          </p:nvPr>
        </p:nvSpPr>
        <p:spPr>
          <a:xfrm>
            <a:off x="727650" y="1441200"/>
            <a:ext cx="7688700" cy="28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R: predictor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		A: protected attributes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		X: features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		Y: outcome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Observational fairness criteria depends on the joint distribution of R, A, X and Y. Possible to generate </a:t>
            </a:r>
            <a:r>
              <a:rPr lang="en" u="sng"/>
              <a:t>identical joint distribution</a:t>
            </a:r>
            <a:r>
              <a:rPr lang="en"/>
              <a:t> for two scenarios with intuitively </a:t>
            </a:r>
            <a:r>
              <a:rPr lang="en" u="sng"/>
              <a:t>different social interpretations.</a:t>
            </a:r>
            <a:r>
              <a:rPr lang="en"/>
              <a:t> Thus no observational criteria can distinguish them.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This work uses the </a:t>
            </a:r>
            <a:r>
              <a:rPr lang="en" u="sng"/>
              <a:t>data generating process </a:t>
            </a:r>
            <a:r>
              <a:rPr lang="en"/>
              <a:t>using causality to remove discrimination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6"/>
          <p:cNvSpPr txBox="1"/>
          <p:nvPr>
            <p:ph type="title"/>
          </p:nvPr>
        </p:nvSpPr>
        <p:spPr>
          <a:xfrm>
            <a:off x="727650" y="6135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Causal graphs and notation</a:t>
            </a:r>
            <a:endParaRPr/>
          </a:p>
        </p:txBody>
      </p:sp>
      <p:pic>
        <p:nvPicPr>
          <p:cNvPr id="236" name="Google Shape;23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3695" y="1324275"/>
            <a:ext cx="1341468" cy="53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6"/>
          <p:cNvSpPr txBox="1"/>
          <p:nvPr/>
        </p:nvSpPr>
        <p:spPr>
          <a:xfrm>
            <a:off x="3433638" y="1859475"/>
            <a:ext cx="13416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ato"/>
                <a:ea typeface="Lato"/>
                <a:cs typeface="Lato"/>
                <a:sym typeface="Lato"/>
              </a:rPr>
              <a:t>Cause and Effect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8" name="Google Shape;238;p36"/>
          <p:cNvSpPr txBox="1"/>
          <p:nvPr/>
        </p:nvSpPr>
        <p:spPr>
          <a:xfrm>
            <a:off x="1069475" y="2357150"/>
            <a:ext cx="7193700" cy="21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In this paper, causal graph is a DAG whose nodes represent random variables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 directed path is a sequence of distinct nodes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</a:t>
            </a:r>
            <a:r>
              <a:rPr i="1" lang="en">
                <a:latin typeface="Lato"/>
                <a:ea typeface="Lato"/>
                <a:cs typeface="Lato"/>
                <a:sym typeface="Lato"/>
              </a:rPr>
              <a:t>V</a:t>
            </a:r>
            <a:r>
              <a:rPr i="1" lang="en" sz="1000">
                <a:latin typeface="Lato"/>
                <a:ea typeface="Lato"/>
                <a:cs typeface="Lato"/>
                <a:sym typeface="Lato"/>
              </a:rPr>
              <a:t>1</a:t>
            </a:r>
            <a:r>
              <a:rPr i="1" lang="en">
                <a:latin typeface="Lato"/>
                <a:ea typeface="Lato"/>
                <a:cs typeface="Lato"/>
                <a:sym typeface="Lato"/>
              </a:rPr>
              <a:t>,..., V</a:t>
            </a:r>
            <a:r>
              <a:rPr i="1" lang="en" sz="1000">
                <a:latin typeface="Lato"/>
                <a:ea typeface="Lato"/>
                <a:cs typeface="Lato"/>
                <a:sym typeface="Lato"/>
              </a:rPr>
              <a:t>k</a:t>
            </a:r>
            <a:endParaRPr i="1" sz="1000"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The directed path is blocked by a set of </a:t>
            </a:r>
            <a:r>
              <a:rPr i="1" lang="en">
                <a:latin typeface="Lato"/>
                <a:ea typeface="Lato"/>
                <a:cs typeface="Lato"/>
                <a:sym typeface="Lato"/>
              </a:rPr>
              <a:t>intermediate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blocked nodes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Structural equation model represents the dependencies between connected nodes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Lato"/>
              <a:buChar char="●"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These equations are interpreted as assignments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The equation model and the corresponding graph can be viewed as data generatiing model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The predictor R maps the inputs e.g., the features X to a predicted output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9" name="Google Shape;23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4950" y="3265950"/>
            <a:ext cx="3276500" cy="24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7"/>
          <p:cNvSpPr txBox="1"/>
          <p:nvPr>
            <p:ph type="title"/>
          </p:nvPr>
        </p:nvSpPr>
        <p:spPr>
          <a:xfrm>
            <a:off x="657500" y="6232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Unresolved Discrimination</a:t>
            </a:r>
            <a:endParaRPr/>
          </a:p>
        </p:txBody>
      </p:sp>
      <p:sp>
        <p:nvSpPr>
          <p:cNvPr id="245" name="Google Shape;245;p37"/>
          <p:cNvSpPr txBox="1"/>
          <p:nvPr>
            <p:ph idx="1" type="body"/>
          </p:nvPr>
        </p:nvSpPr>
        <p:spPr>
          <a:xfrm>
            <a:off x="729450" y="1302050"/>
            <a:ext cx="7688700" cy="30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A  lower college-wide admission rate for women than for men was explained by the fact that women applied in more competitive departments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When adjusted for department choice, women experienced a slightly higher acceptance rate compared with men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What matters is the </a:t>
            </a:r>
            <a:r>
              <a:rPr i="1" lang="en" sz="1400">
                <a:solidFill>
                  <a:srgbClr val="000000"/>
                </a:solidFill>
              </a:rPr>
              <a:t>direct effect </a:t>
            </a:r>
            <a:r>
              <a:rPr lang="en" sz="1400">
                <a:solidFill>
                  <a:srgbClr val="000000"/>
                </a:solidFill>
              </a:rPr>
              <a:t>of the protected attribute (here, gender A) on the decision (here, college admission R) that cannot be ascribed to a </a:t>
            </a:r>
            <a:r>
              <a:rPr i="1" lang="en" sz="1400">
                <a:solidFill>
                  <a:srgbClr val="000000"/>
                </a:solidFill>
              </a:rPr>
              <a:t>resolving variable </a:t>
            </a:r>
            <a:r>
              <a:rPr lang="en" sz="1400">
                <a:solidFill>
                  <a:srgbClr val="000000"/>
                </a:solidFill>
              </a:rPr>
              <a:t>such as department choice X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					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8"/>
          <p:cNvSpPr txBox="1"/>
          <p:nvPr>
            <p:ph type="title"/>
          </p:nvPr>
        </p:nvSpPr>
        <p:spPr>
          <a:xfrm>
            <a:off x="657500" y="6232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Unresolved Discrimination</a:t>
            </a:r>
            <a:endParaRPr/>
          </a:p>
        </p:txBody>
      </p:sp>
      <p:pic>
        <p:nvPicPr>
          <p:cNvPr id="251" name="Google Shape;25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425" y="2571750"/>
            <a:ext cx="8062802" cy="72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3562" y="1620950"/>
            <a:ext cx="956575" cy="80692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8"/>
          <p:cNvSpPr txBox="1"/>
          <p:nvPr/>
        </p:nvSpPr>
        <p:spPr>
          <a:xfrm>
            <a:off x="877625" y="3577675"/>
            <a:ext cx="7817100" cy="11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latin typeface="Lato"/>
                <a:ea typeface="Lato"/>
                <a:cs typeface="Lato"/>
                <a:sym typeface="Lato"/>
              </a:rPr>
              <a:t>Skeptic viewpoint: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All paths from the protected path A to R are problematic unless they are justified by a resolving variable. The presence of unresolved discrimination in the predictor R is worrisome and should be corrected.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Naive way to solve this to consider features that do not exhibit unresolved discrimination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9"/>
          <p:cNvSpPr txBox="1"/>
          <p:nvPr>
            <p:ph type="title"/>
          </p:nvPr>
        </p:nvSpPr>
        <p:spPr>
          <a:xfrm>
            <a:off x="727650" y="623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Proxy discrimination and interventions</a:t>
            </a:r>
            <a:endParaRPr/>
          </a:p>
        </p:txBody>
      </p:sp>
      <p:sp>
        <p:nvSpPr>
          <p:cNvPr id="259" name="Google Shape;259;p39"/>
          <p:cNvSpPr txBox="1"/>
          <p:nvPr>
            <p:ph idx="1" type="body"/>
          </p:nvPr>
        </p:nvSpPr>
        <p:spPr>
          <a:xfrm>
            <a:off x="729450" y="1314050"/>
            <a:ext cx="7688700" cy="30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Protected attributes, A have proxies, such as name, visual features, languages spoken etc. in the features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 ML, one would want to separate A from its proxies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Intervention based on proxy variables poses a more manageable problem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envision the proxy to be a clearly defined observable quantity, which is highly correlated with A, yet in our view shouldn’t affect prediction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0"/>
          <p:cNvSpPr txBox="1"/>
          <p:nvPr>
            <p:ph type="title"/>
          </p:nvPr>
        </p:nvSpPr>
        <p:spPr>
          <a:xfrm>
            <a:off x="727650" y="623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Potential proxy discrimination</a:t>
            </a:r>
            <a:endParaRPr/>
          </a:p>
        </p:txBody>
      </p:sp>
      <p:pic>
        <p:nvPicPr>
          <p:cNvPr id="265" name="Google Shape;26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6527" y="1507125"/>
            <a:ext cx="6210937" cy="53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40"/>
          <p:cNvSpPr txBox="1"/>
          <p:nvPr/>
        </p:nvSpPr>
        <p:spPr>
          <a:xfrm>
            <a:off x="961550" y="2273200"/>
            <a:ext cx="7133700" cy="26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u="sng">
                <a:latin typeface="Lato"/>
                <a:ea typeface="Lato"/>
                <a:cs typeface="Lato"/>
                <a:sym typeface="Lato"/>
              </a:rPr>
              <a:t>Benevolent viewpoint:</a:t>
            </a:r>
            <a:r>
              <a:rPr lang="en" u="sng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we </a:t>
            </a:r>
            <a:r>
              <a:rPr i="1" lang="en">
                <a:latin typeface="Lato"/>
                <a:ea typeface="Lato"/>
                <a:cs typeface="Lato"/>
                <a:sym typeface="Lato"/>
              </a:rPr>
              <a:t>allow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any path from A to R unless it passes through a proxy variable P, which we consider worrisome.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Naive way to solve this to constrain the predictor to use only those features which don’t have proxy.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In the </a:t>
            </a:r>
            <a:r>
              <a:rPr i="1" lang="en" u="sng">
                <a:latin typeface="Lato"/>
                <a:ea typeface="Lato"/>
                <a:cs typeface="Lato"/>
                <a:sym typeface="Lato"/>
              </a:rPr>
              <a:t>proposed approach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, they aim for canceling the effect of proxies on the features that exhibit potential proxy discrimination  by explicit dependencies on proxies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7" name="Google Shape;26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9266" y="4189726"/>
            <a:ext cx="6005474" cy="60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1"/>
          <p:cNvSpPr txBox="1"/>
          <p:nvPr>
            <p:ph type="title"/>
          </p:nvPr>
        </p:nvSpPr>
        <p:spPr>
          <a:xfrm>
            <a:off x="645525" y="623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Avoiding proxy discrimination</a:t>
            </a:r>
            <a:endParaRPr/>
          </a:p>
        </p:txBody>
      </p:sp>
      <p:pic>
        <p:nvPicPr>
          <p:cNvPr id="273" name="Google Shape;27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7061" y="1409200"/>
            <a:ext cx="4005626" cy="324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2"/>
          <p:cNvSpPr txBox="1"/>
          <p:nvPr>
            <p:ph type="title"/>
          </p:nvPr>
        </p:nvSpPr>
        <p:spPr>
          <a:xfrm>
            <a:off x="729450" y="6352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Avoiding proxy discrimination</a:t>
            </a:r>
            <a:endParaRPr/>
          </a:p>
        </p:txBody>
      </p:sp>
      <p:pic>
        <p:nvPicPr>
          <p:cNvPr id="279" name="Google Shape;27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2213" y="1346825"/>
            <a:ext cx="4923179" cy="366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3"/>
          <p:cNvSpPr txBox="1"/>
          <p:nvPr>
            <p:ph type="title"/>
          </p:nvPr>
        </p:nvSpPr>
        <p:spPr>
          <a:xfrm>
            <a:off x="727650" y="6472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Avoiding unresolved discrimination</a:t>
            </a:r>
            <a:endParaRPr/>
          </a:p>
        </p:txBody>
      </p:sp>
      <p:pic>
        <p:nvPicPr>
          <p:cNvPr id="285" name="Google Shape;28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1286" y="1661750"/>
            <a:ext cx="3581424" cy="322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4"/>
          <p:cNvSpPr txBox="1"/>
          <p:nvPr>
            <p:ph type="title"/>
          </p:nvPr>
        </p:nvSpPr>
        <p:spPr>
          <a:xfrm>
            <a:off x="669500" y="599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Avoiding unresolved discrimination</a:t>
            </a:r>
            <a:endParaRPr/>
          </a:p>
        </p:txBody>
      </p:sp>
      <p:pic>
        <p:nvPicPr>
          <p:cNvPr id="291" name="Google Shape;29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227" y="1612725"/>
            <a:ext cx="6957552" cy="2994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5"/>
          <p:cNvSpPr txBox="1"/>
          <p:nvPr>
            <p:ph type="title"/>
          </p:nvPr>
        </p:nvSpPr>
        <p:spPr>
          <a:xfrm>
            <a:off x="729450" y="6112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297" name="Google Shape;297;p45"/>
          <p:cNvSpPr txBox="1"/>
          <p:nvPr>
            <p:ph idx="1" type="body"/>
          </p:nvPr>
        </p:nvSpPr>
        <p:spPr>
          <a:xfrm>
            <a:off x="729450" y="1302050"/>
            <a:ext cx="7688700" cy="30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Key concepts of their conceptual framework are </a:t>
            </a:r>
            <a:r>
              <a:rPr i="1" lang="en" sz="1400">
                <a:solidFill>
                  <a:srgbClr val="000000"/>
                </a:solidFill>
              </a:rPr>
              <a:t>resolving variables </a:t>
            </a:r>
            <a:r>
              <a:rPr lang="en" sz="1400">
                <a:solidFill>
                  <a:srgbClr val="000000"/>
                </a:solidFill>
              </a:rPr>
              <a:t>and </a:t>
            </a:r>
            <a:r>
              <a:rPr i="1" lang="en" sz="1400">
                <a:solidFill>
                  <a:srgbClr val="000000"/>
                </a:solidFill>
              </a:rPr>
              <a:t>proxy variables</a:t>
            </a:r>
            <a:endParaRPr i="1"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Develop a practical procedure to remove proxy discrimination given the structural equation model and analyze a similar approach for unresolved discrimination.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Framework is limited by the assumption that we can construct a valid causal graph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The causal perspective suggests a number of interesting new directions at the technical, empirical, and conceptual level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