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</p:sldIdLst>
  <p:sldSz cy="5143500" cx="9144000"/>
  <p:notesSz cx="6858000" cy="9144000"/>
  <p:embeddedFontLst>
    <p:embeddedFont>
      <p:font typeface="Raleway"/>
      <p:regular r:id="rId40"/>
      <p:bold r:id="rId41"/>
      <p:italic r:id="rId42"/>
      <p:boldItalic r:id="rId43"/>
    </p:embeddedFont>
    <p:embeddedFont>
      <p:font typeface="Lato"/>
      <p:regular r:id="rId44"/>
      <p:bold r:id="rId45"/>
      <p:italic r:id="rId46"/>
      <p:boldItalic r:id="rId4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aleway-regular.fntdata"/><Relationship Id="rId20" Type="http://schemas.openxmlformats.org/officeDocument/2006/relationships/slide" Target="slides/slide15.xml"/><Relationship Id="rId42" Type="http://schemas.openxmlformats.org/officeDocument/2006/relationships/font" Target="fonts/Raleway-italic.fntdata"/><Relationship Id="rId41" Type="http://schemas.openxmlformats.org/officeDocument/2006/relationships/font" Target="fonts/Raleway-bold.fntdata"/><Relationship Id="rId22" Type="http://schemas.openxmlformats.org/officeDocument/2006/relationships/slide" Target="slides/slide17.xml"/><Relationship Id="rId44" Type="http://schemas.openxmlformats.org/officeDocument/2006/relationships/font" Target="fonts/Lato-regular.fntdata"/><Relationship Id="rId21" Type="http://schemas.openxmlformats.org/officeDocument/2006/relationships/slide" Target="slides/slide16.xml"/><Relationship Id="rId43" Type="http://schemas.openxmlformats.org/officeDocument/2006/relationships/font" Target="fonts/Raleway-boldItalic.fntdata"/><Relationship Id="rId24" Type="http://schemas.openxmlformats.org/officeDocument/2006/relationships/slide" Target="slides/slide19.xml"/><Relationship Id="rId46" Type="http://schemas.openxmlformats.org/officeDocument/2006/relationships/font" Target="fonts/Lato-italic.fntdata"/><Relationship Id="rId23" Type="http://schemas.openxmlformats.org/officeDocument/2006/relationships/slide" Target="slides/slide18.xml"/><Relationship Id="rId45" Type="http://schemas.openxmlformats.org/officeDocument/2006/relationships/font" Target="fonts/Lato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47" Type="http://schemas.openxmlformats.org/officeDocument/2006/relationships/font" Target="fonts/Lato-boldItalic.fntdata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6b1a1f082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6b1a1f082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6b1a1f0825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6b1a1f0825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6b1a1f0825_0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6b1a1f0825_0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6b1a1f082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6b1a1f082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6b1a1f0825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6b1a1f0825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6b1a1f0825_0_129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6b1a1f0825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6b1a1f0825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6b1a1f0825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6b1a1f0825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6b1a1f0825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6b1a1f0825_0_144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6b1a1f0825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6b1a1f0825_0_149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6b1a1f0825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6b1a1f0825_0_160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6b1a1f0825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6b1a1f0825_0_155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6b1a1f0825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6b1a1f0825_0_166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6b1a1f0825_0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6b1a1f0825_0_172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6b1a1f0825_0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6b1a1f0825_0_179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6b1a1f0825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6b1a1f0825_0_188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6b1a1f0825_0_1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6b1a1f0825_0_194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6b1a1f0825_0_1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6b1a1f0825_0_202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6b1a1f0825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6b1a1f0825_0_213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6b1a1f0825_0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6b1a1f0825_0_2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6b1a1f0825_0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6b1a1f0825_0_221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6b1a1f0825_0_2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6b1a1f0825_0_208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6b1a1f0825_0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6b1a1f0825_0_230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6b1a1f0825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74442d41a2_1_5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74442d41a2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74442d41a2_1_18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74442d41a2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74442d41a2_1_13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74442d41a2_1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74442d41a2_1_27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74442d41a2_1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74442d41a2_1_36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74442d41a2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74442d41a2_1_42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74442d41a2_1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74442d41a2_1_48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74442d41a2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74442d41a2_1_54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74442d41a2_1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74442d41a2_1_60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74442d41a2_1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74442d41a2_1_72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74442d41a2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600"/>
              <a:buNone/>
              <a:defRPr sz="26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Raleway"/>
              <a:buNone/>
              <a:defRPr b="1" sz="2800"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4.png"/><Relationship Id="rId4" Type="http://schemas.openxmlformats.org/officeDocument/2006/relationships/image" Target="../media/image1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9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2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81849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Fairness in Machine Learning </a:t>
            </a:r>
            <a:endParaRPr/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77425" y="3212200"/>
            <a:ext cx="50040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On Formalizing Fairness in Prediction with Machine Learning - Gajane et al.</a:t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Avoiding Discrimination through Causal Reasoning </a:t>
            </a:r>
            <a:r>
              <a:rPr lang="en" sz="1100"/>
              <a:t>- Kilbertus et al.</a:t>
            </a:r>
            <a:endParaRPr sz="1100"/>
          </a:p>
        </p:txBody>
      </p:sp>
      <p:sp>
        <p:nvSpPr>
          <p:cNvPr id="88" name="Google Shape;88;p13"/>
          <p:cNvSpPr txBox="1"/>
          <p:nvPr/>
        </p:nvSpPr>
        <p:spPr>
          <a:xfrm>
            <a:off x="6159675" y="3212200"/>
            <a:ext cx="1394700" cy="71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Lato"/>
                <a:ea typeface="Lato"/>
                <a:cs typeface="Lato"/>
                <a:sym typeface="Lato"/>
              </a:rPr>
              <a:t>Presented by</a:t>
            </a:r>
            <a:endParaRPr sz="1500"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latin typeface="Lato"/>
                <a:ea typeface="Lato"/>
                <a:cs typeface="Lato"/>
                <a:sym typeface="Lato"/>
              </a:rPr>
              <a:t>Ankit Raj</a:t>
            </a:r>
            <a:endParaRPr sz="1500"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>
            <p:ph type="title"/>
          </p:nvPr>
        </p:nvSpPr>
        <p:spPr>
          <a:xfrm>
            <a:off x="727650" y="5651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care?</a:t>
            </a:r>
            <a:endParaRPr/>
          </a:p>
        </p:txBody>
      </p:sp>
      <p:pic>
        <p:nvPicPr>
          <p:cNvPr id="94" name="Google Shape;94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7600" y="1710300"/>
            <a:ext cx="3997376" cy="17229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877925" y="3610650"/>
            <a:ext cx="3356700" cy="40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Lato"/>
                <a:ea typeface="Lato"/>
                <a:cs typeface="Lato"/>
                <a:sym typeface="Lato"/>
              </a:rPr>
              <a:t>Source: Tweet by </a:t>
            </a:r>
            <a:r>
              <a:rPr lang="en" sz="1000">
                <a:solidFill>
                  <a:srgbClr val="484848"/>
                </a:solidFill>
                <a:latin typeface="Lato"/>
                <a:ea typeface="Lato"/>
                <a:cs typeface="Lato"/>
                <a:sym typeface="Lato"/>
              </a:rPr>
              <a:t>DAVID HEINEMEIER HANSSON</a:t>
            </a:r>
            <a:endParaRPr sz="1000">
              <a:solidFill>
                <a:srgbClr val="48484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5914438" y="3610650"/>
            <a:ext cx="23355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Lato"/>
                <a:ea typeface="Lato"/>
                <a:cs typeface="Lato"/>
                <a:sym typeface="Lato"/>
              </a:rPr>
              <a:t>Source: Tweet by </a:t>
            </a:r>
            <a:r>
              <a:rPr lang="en" sz="1000">
                <a:solidFill>
                  <a:srgbClr val="484848"/>
                </a:solidFill>
                <a:latin typeface="Lato"/>
                <a:ea typeface="Lato"/>
                <a:cs typeface="Lato"/>
                <a:sym typeface="Lato"/>
              </a:rPr>
              <a:t>Steve Woznaik</a:t>
            </a:r>
            <a:endParaRPr/>
          </a:p>
        </p:txBody>
      </p:sp>
      <p:pic>
        <p:nvPicPr>
          <p:cNvPr id="97" name="Google Shape;97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99858" y="1734201"/>
            <a:ext cx="3564678" cy="172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>
            <p:ph type="title"/>
          </p:nvPr>
        </p:nvSpPr>
        <p:spPr>
          <a:xfrm>
            <a:off x="628000" y="6230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it became viral </a:t>
            </a:r>
            <a:endParaRPr/>
          </a:p>
        </p:txBody>
      </p:sp>
      <p:pic>
        <p:nvPicPr>
          <p:cNvPr id="103" name="Google Shape;10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73326" y="1232725"/>
            <a:ext cx="3674724" cy="3350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657000" y="5796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Clarification from the company</a:t>
            </a:r>
            <a:endParaRPr/>
          </a:p>
        </p:txBody>
      </p:sp>
      <p:pic>
        <p:nvPicPr>
          <p:cNvPr id="109" name="Google Shape;109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000" y="1267200"/>
            <a:ext cx="7549984" cy="372390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10" name="Google Shape;110;p16"/>
          <p:cNvCxnSpPr/>
          <p:nvPr/>
        </p:nvCxnSpPr>
        <p:spPr>
          <a:xfrm>
            <a:off x="871650" y="3805375"/>
            <a:ext cx="5738700" cy="600"/>
          </a:xfrm>
          <a:prstGeom prst="curvedConnector3">
            <a:avLst>
              <a:gd fmla="val 50000" name="adj1"/>
            </a:avLst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7"/>
          <p:cNvSpPr txBox="1"/>
          <p:nvPr>
            <p:ph type="title"/>
          </p:nvPr>
        </p:nvSpPr>
        <p:spPr>
          <a:xfrm>
            <a:off x="727650" y="6230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of Fairness</a:t>
            </a:r>
            <a:endParaRPr/>
          </a:p>
        </p:txBody>
      </p:sp>
      <p:sp>
        <p:nvSpPr>
          <p:cNvPr id="116" name="Google Shape;116;p17"/>
          <p:cNvSpPr txBox="1"/>
          <p:nvPr>
            <p:ph idx="1" type="body"/>
          </p:nvPr>
        </p:nvSpPr>
        <p:spPr>
          <a:xfrm>
            <a:off x="729450" y="1338075"/>
            <a:ext cx="7688700" cy="300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 u="sng"/>
              <a:t>Discrimination </a:t>
            </a:r>
            <a:r>
              <a:rPr lang="en" sz="1400"/>
              <a:t>refers to unfavourable treatment of people due to the membership to certain demographic groups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Illegal to distinguish based on attributes protected by law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Legally protected domains/classes: </a:t>
            </a:r>
            <a:r>
              <a:rPr b="1" lang="en" sz="1400"/>
              <a:t>Race, Color, Sex, Religion</a:t>
            </a:r>
            <a:r>
              <a:rPr lang="en" sz="1400"/>
              <a:t> etc.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 sz="1400"/>
              <a:t>Fairness in a decision making implies the designing algorithms that make fair predictions devoid of discrimination</a:t>
            </a:r>
            <a:endParaRPr b="1" sz="1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8"/>
          <p:cNvSpPr txBox="1"/>
          <p:nvPr>
            <p:ph type="title"/>
          </p:nvPr>
        </p:nvSpPr>
        <p:spPr>
          <a:xfrm>
            <a:off x="729450" y="6375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important in Machine Learning</a:t>
            </a:r>
            <a:endParaRPr/>
          </a:p>
        </p:txBody>
      </p:sp>
      <p:sp>
        <p:nvSpPr>
          <p:cNvPr id="122" name="Google Shape;122;p18"/>
          <p:cNvSpPr txBox="1"/>
          <p:nvPr>
            <p:ph idx="1" type="body"/>
          </p:nvPr>
        </p:nvSpPr>
        <p:spPr>
          <a:xfrm>
            <a:off x="729450" y="1370850"/>
            <a:ext cx="7688700" cy="296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ML increasingly being used in high-impact domains such as credit, employment, education and criminal justice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These are prone to discrimination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 u="sng"/>
              <a:t>Can’t consider the ML algorithms be </a:t>
            </a:r>
            <a:r>
              <a:rPr lang="en" sz="1400" u="sng"/>
              <a:t>mystical</a:t>
            </a:r>
            <a:endParaRPr sz="1400" u="sng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Sources of errors: sample size disparity, biases in data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ML models reflect underlying data?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Need to take steps to make these models/algorithms fair</a:t>
            </a:r>
            <a:endParaRPr sz="1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9"/>
          <p:cNvSpPr txBox="1"/>
          <p:nvPr>
            <p:ph idx="1" type="body"/>
          </p:nvPr>
        </p:nvSpPr>
        <p:spPr>
          <a:xfrm>
            <a:off x="727650" y="149922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  <a:highlight>
                  <a:srgbClr val="FFFFFF"/>
                </a:highlight>
              </a:rPr>
              <a:t>But software is not free of human influence. Algorithms are written and maintained by people, and machine learning algorithms adjust what they do based on people’s behavior. As a result […] algorithms can reinforce human prejudices.</a:t>
            </a:r>
            <a:endParaRPr sz="200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00000"/>
                </a:solidFill>
                <a:highlight>
                  <a:srgbClr val="FFFFFF"/>
                </a:highlight>
              </a:rPr>
              <a:t>		</a:t>
            </a:r>
            <a:endParaRPr sz="200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b="1" i="1" lang="en" sz="1500">
                <a:solidFill>
                  <a:srgbClr val="121212"/>
                </a:solidFill>
                <a:latin typeface="Georgia"/>
                <a:ea typeface="Georgia"/>
                <a:cs typeface="Georgia"/>
                <a:sym typeface="Georgia"/>
              </a:rPr>
              <a:t>                             When Algorithms Discriminate by </a:t>
            </a:r>
            <a:r>
              <a:rPr lang="en" sz="1500">
                <a:solidFill>
                  <a:srgbClr val="000000"/>
                </a:solidFill>
                <a:highlight>
                  <a:srgbClr val="FFFFFF"/>
                </a:highlight>
              </a:rPr>
              <a:t>Miller [2015]</a:t>
            </a:r>
            <a:endParaRPr sz="1500">
              <a:solidFill>
                <a:srgbClr val="000000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2000">
              <a:solidFill>
                <a:srgbClr val="000000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0"/>
          <p:cNvSpPr txBox="1"/>
          <p:nvPr>
            <p:ph type="title"/>
          </p:nvPr>
        </p:nvSpPr>
        <p:spPr>
          <a:xfrm>
            <a:off x="727650" y="6230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Papers on fairness - trending?</a:t>
            </a:r>
            <a:endParaRPr/>
          </a:p>
        </p:txBody>
      </p:sp>
      <p:pic>
        <p:nvPicPr>
          <p:cNvPr id="133" name="Google Shape;133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91659" y="1461550"/>
            <a:ext cx="4560675" cy="2645574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0"/>
          <p:cNvSpPr txBox="1"/>
          <p:nvPr/>
        </p:nvSpPr>
        <p:spPr>
          <a:xfrm>
            <a:off x="3072000" y="4252800"/>
            <a:ext cx="3000000" cy="3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lang="en" sz="1000">
                <a:latin typeface="Lato"/>
                <a:ea typeface="Lato"/>
                <a:cs typeface="Lato"/>
                <a:sym typeface="Lato"/>
              </a:rPr>
              <a:t>https://fairmlclass.github.io/1.html#/4</a:t>
            </a:r>
            <a:endParaRPr sz="1000">
              <a:solidFill>
                <a:srgbClr val="484848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1"/>
          <p:cNvSpPr txBox="1"/>
          <p:nvPr>
            <p:ph type="title"/>
          </p:nvPr>
        </p:nvSpPr>
        <p:spPr>
          <a:xfrm>
            <a:off x="727650" y="21749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Formalizing Fairness in Prediction with ML 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>
            <p:ph type="title"/>
          </p:nvPr>
        </p:nvSpPr>
        <p:spPr>
          <a:xfrm>
            <a:off x="727650" y="6802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Overview</a:t>
            </a:r>
            <a:endParaRPr/>
          </a:p>
        </p:txBody>
      </p:sp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727650" y="870075"/>
            <a:ext cx="7688700" cy="260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1150" lvl="0" marL="457200" rtl="0" algn="l">
              <a:lnSpc>
                <a:spcPct val="120000"/>
              </a:lnSpc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Survey how fairness is formalized in ML</a:t>
            </a:r>
            <a:endParaRPr/>
          </a:p>
          <a:p>
            <a:pPr indent="-3111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Present those formalizations with the notion of </a:t>
            </a:r>
            <a:r>
              <a:rPr b="1" i="1" lang="en"/>
              <a:t>distributive justice </a:t>
            </a:r>
            <a:r>
              <a:rPr lang="en"/>
              <a:t>from the social sciences literature</a:t>
            </a:r>
            <a:endParaRPr/>
          </a:p>
          <a:p>
            <a:pPr indent="-3111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Critiques of those </a:t>
            </a:r>
            <a:endParaRPr/>
          </a:p>
          <a:p>
            <a:pPr indent="-3111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Suggests two notions of distributive justice which address those critiques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3"/>
          <p:cNvSpPr txBox="1"/>
          <p:nvPr>
            <p:ph type="title"/>
          </p:nvPr>
        </p:nvSpPr>
        <p:spPr>
          <a:xfrm>
            <a:off x="660700" y="6311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Mathematical Formulation</a:t>
            </a:r>
            <a:endParaRPr/>
          </a:p>
        </p:txBody>
      </p:sp>
      <p:sp>
        <p:nvSpPr>
          <p:cNvPr id="151" name="Google Shape;151;p23"/>
          <p:cNvSpPr txBox="1"/>
          <p:nvPr>
            <p:ph idx="1" type="body"/>
          </p:nvPr>
        </p:nvSpPr>
        <p:spPr>
          <a:xfrm>
            <a:off x="2438200" y="1302150"/>
            <a:ext cx="4133700" cy="126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X: set of individuals</a:t>
            </a:r>
            <a:endParaRPr/>
          </a:p>
          <a:p>
            <a:pPr indent="0" lvl="0" marL="0" rtl="0" algn="l">
              <a:lnSpc>
                <a:spcPct val="5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A: set of protected attributes (those protected by law)</a:t>
            </a:r>
            <a:endParaRPr/>
          </a:p>
          <a:p>
            <a:pPr indent="0" lvl="0" marL="0" rtl="0" algn="l">
              <a:lnSpc>
                <a:spcPct val="5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Z: set of remaining attributes</a:t>
            </a:r>
            <a:endParaRPr/>
          </a:p>
          <a:p>
            <a:pPr indent="0" lvl="0" marL="0" rtl="0" algn="l">
              <a:lnSpc>
                <a:spcPct val="5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Y: set of the outcomes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23"/>
          <p:cNvSpPr txBox="1"/>
          <p:nvPr/>
        </p:nvSpPr>
        <p:spPr>
          <a:xfrm>
            <a:off x="1617550" y="2657650"/>
            <a:ext cx="5775000" cy="148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Lato"/>
              <a:buChar char="●"/>
            </a:pPr>
            <a:r>
              <a:rPr lang="en" sz="1600">
                <a:latin typeface="Lato"/>
                <a:ea typeface="Lato"/>
                <a:cs typeface="Lato"/>
                <a:sym typeface="Lato"/>
              </a:rPr>
              <a:t>Individual Predictor</a:t>
            </a:r>
            <a:endParaRPr sz="1600">
              <a:latin typeface="Lato"/>
              <a:ea typeface="Lato"/>
              <a:cs typeface="Lato"/>
              <a:sym typeface="Lato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Font typeface="Lato"/>
              <a:buChar char="●"/>
            </a:pPr>
            <a:r>
              <a:rPr lang="en" sz="1600">
                <a:latin typeface="Lato"/>
                <a:ea typeface="Lato"/>
                <a:cs typeface="Lato"/>
                <a:sym typeface="Lato"/>
              </a:rPr>
              <a:t>Group-conditional predictor consists of a set of mappings, one for each group of population </a:t>
            </a:r>
            <a:endParaRPr sz="1600"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\mathcal{H}: X \rightarrow Y" id="153" name="Google Shape;153;p23" title="MathEquation,#0000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59550" y="2771925"/>
            <a:ext cx="1091006" cy="203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\mathcal{H} = \{\mathcal{H}_S\} \forall S \subset X" id="154" name="Google Shape;154;p23" title="MathEquation,#00000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50550" y="3297650"/>
            <a:ext cx="1343472" cy="20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4"/>
          <p:cNvSpPr txBox="1"/>
          <p:nvPr/>
        </p:nvSpPr>
        <p:spPr>
          <a:xfrm>
            <a:off x="1597500" y="2329350"/>
            <a:ext cx="59490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latin typeface="Lato"/>
                <a:ea typeface="Lato"/>
                <a:cs typeface="Lato"/>
                <a:sym typeface="Lato"/>
              </a:rPr>
              <a:t>What is fair? Different formalizations</a:t>
            </a:r>
            <a:endParaRPr sz="2500"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5"/>
          <p:cNvSpPr txBox="1"/>
          <p:nvPr>
            <p:ph type="title"/>
          </p:nvPr>
        </p:nvSpPr>
        <p:spPr>
          <a:xfrm>
            <a:off x="641300" y="6025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Unawareness</a:t>
            </a:r>
            <a:endParaRPr/>
          </a:p>
        </p:txBody>
      </p:sp>
      <p:sp>
        <p:nvSpPr>
          <p:cNvPr id="165" name="Google Shape;165;p25"/>
          <p:cNvSpPr txBox="1"/>
          <p:nvPr>
            <p:ph idx="1" type="body"/>
          </p:nvPr>
        </p:nvSpPr>
        <p:spPr>
          <a:xfrm>
            <a:off x="727650" y="1427775"/>
            <a:ext cx="7688700" cy="30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Protected Attributes are not </a:t>
            </a:r>
            <a:r>
              <a:rPr b="1" i="1" lang="en" sz="1400"/>
              <a:t>explicitly</a:t>
            </a:r>
            <a:r>
              <a:rPr i="1" lang="en" sz="1400"/>
              <a:t> </a:t>
            </a:r>
            <a:r>
              <a:rPr lang="en" sz="1400"/>
              <a:t>used in the prediction process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lang="en" sz="1400" u="sng"/>
              <a:t>ISSUE:</a:t>
            </a:r>
            <a:r>
              <a:rPr lang="en" sz="1400"/>
              <a:t> Other non-protected attributes might have information about the protected attributes which will impact the algorithm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b="1" lang="en" sz="1400" u="sng"/>
              <a:t>Distributive Justice Viewpoint: </a:t>
            </a:r>
            <a:r>
              <a:rPr lang="en" sz="1400"/>
              <a:t>This corresponds to being “blind” to counter discrimination. It has been shown in previous study, the race-blind approach is less efficient than race-</a:t>
            </a:r>
            <a:r>
              <a:rPr lang="en" sz="1400"/>
              <a:t>conscious</a:t>
            </a:r>
            <a:r>
              <a:rPr lang="en" sz="1400"/>
              <a:t> approach 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6"/>
          <p:cNvSpPr txBox="1"/>
          <p:nvPr>
            <p:ph type="title"/>
          </p:nvPr>
        </p:nvSpPr>
        <p:spPr>
          <a:xfrm>
            <a:off x="727650" y="6466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Counterfactual Measures</a:t>
            </a:r>
            <a:endParaRPr/>
          </a:p>
        </p:txBody>
      </p:sp>
      <p:sp>
        <p:nvSpPr>
          <p:cNvPr id="171" name="Google Shape;171;p26"/>
          <p:cNvSpPr txBox="1"/>
          <p:nvPr>
            <p:ph idx="1" type="body"/>
          </p:nvPr>
        </p:nvSpPr>
        <p:spPr>
          <a:xfrm>
            <a:off x="729450" y="1350675"/>
            <a:ext cx="7688700" cy="298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Predictor        is counterfactually fair, if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This measure deems a predictor to be fair if its output remains the same when the protected attribute is flipped to its counterfactual value. 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Compares individual with different versions of themselves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 u="sng">
                <a:solidFill>
                  <a:srgbClr val="000000"/>
                </a:solidFill>
              </a:rPr>
              <a:t>Social Sciences Viewpoint:</a:t>
            </a:r>
            <a:r>
              <a:rPr lang="en" sz="1400">
                <a:solidFill>
                  <a:srgbClr val="000000"/>
                </a:solidFill>
              </a:rPr>
              <a:t> relates with the theory of counterfactual reasoning</a:t>
            </a:r>
            <a:r>
              <a:rPr b="1" lang="en" sz="1400" u="sng">
                <a:solidFill>
                  <a:srgbClr val="000000"/>
                </a:solidFill>
              </a:rPr>
              <a:t> by Lewis</a:t>
            </a:r>
            <a:endParaRPr b="1" sz="1400" u="sng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 u="sng">
                <a:solidFill>
                  <a:srgbClr val="000000"/>
                </a:solidFill>
              </a:rPr>
              <a:t>ISSUES: </a:t>
            </a:r>
            <a:r>
              <a:rPr lang="en" sz="1400">
                <a:solidFill>
                  <a:srgbClr val="000000"/>
                </a:solidFill>
              </a:rPr>
              <a:t>susceptible to hindsight bias and outcome bias (i.e. evaluating the quality of a decision when its outcome is already known)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400"/>
          </a:p>
        </p:txBody>
      </p:sp>
      <p:pic>
        <p:nvPicPr>
          <p:cNvPr descr="\mathcal{H}" id="172" name="Google Shape;172;p26" title="MathEquation,#0000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24825" y="1469275"/>
            <a:ext cx="166168" cy="177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\mathcal{P}(\mathcal{H}_{A=a} = y | Z = z) =  \mathcal{P}(\mathcal{H}_{A=a'} = y | Z = z)" id="173" name="Google Shape;173;p26" title="MathEquation,#00000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79225" y="1814976"/>
            <a:ext cx="4148450" cy="269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 txBox="1"/>
          <p:nvPr>
            <p:ph type="title"/>
          </p:nvPr>
        </p:nvSpPr>
        <p:spPr>
          <a:xfrm>
            <a:off x="727650" y="6246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Group Fairness (Statistical/Demographic parity)</a:t>
            </a:r>
            <a:endParaRPr sz="2400"/>
          </a:p>
        </p:txBody>
      </p:sp>
      <p:sp>
        <p:nvSpPr>
          <p:cNvPr id="179" name="Google Shape;179;p27"/>
          <p:cNvSpPr txBox="1"/>
          <p:nvPr>
            <p:ph idx="1" type="body"/>
          </p:nvPr>
        </p:nvSpPr>
        <p:spPr>
          <a:xfrm>
            <a:off x="727650" y="1075250"/>
            <a:ext cx="7688700" cy="39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Imposes the condition that the predictor should predict a particular outcome for individuals across groups with </a:t>
            </a:r>
            <a:r>
              <a:rPr i="1" lang="en" sz="1400">
                <a:solidFill>
                  <a:srgbClr val="000000"/>
                </a:solidFill>
              </a:rPr>
              <a:t>almost </a:t>
            </a:r>
            <a:r>
              <a:rPr lang="en" sz="1400">
                <a:solidFill>
                  <a:srgbClr val="000000"/>
                </a:solidFill>
              </a:rPr>
              <a:t>equal probability.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Useful when ground truth labels not available e.g. in domains like employment, housing, credit etc.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 u="sng">
                <a:solidFill>
                  <a:srgbClr val="000000"/>
                </a:solidFill>
              </a:rPr>
              <a:t>ISSUES: </a:t>
            </a:r>
            <a:r>
              <a:rPr lang="en" sz="1400">
                <a:solidFill>
                  <a:srgbClr val="000000"/>
                </a:solidFill>
              </a:rPr>
              <a:t>When disproportionality can be justified based on non-protected attributes, it may to incorrect outcomes and may amount to discrimination against qualified candidates. </a:t>
            </a:r>
            <a:br>
              <a:rPr lang="en" sz="1400">
                <a:solidFill>
                  <a:srgbClr val="000000"/>
                </a:solidFill>
              </a:rPr>
            </a:br>
            <a:r>
              <a:rPr b="1" lang="en" sz="1400" u="sng">
                <a:solidFill>
                  <a:srgbClr val="000000"/>
                </a:solidFill>
              </a:rPr>
              <a:t>Distributive Justice Viewpoint: </a:t>
            </a:r>
            <a:r>
              <a:rPr lang="en" sz="1400">
                <a:solidFill>
                  <a:srgbClr val="000000"/>
                </a:solidFill>
              </a:rPr>
              <a:t>Notion of collectivist egalitarianism -- Not meritocratic and reduces efficiency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pic>
        <p:nvPicPr>
          <p:cNvPr id="180" name="Google Shape;18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8701" y="1910650"/>
            <a:ext cx="5446601" cy="1322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/>
          <p:nvPr>
            <p:ph type="title"/>
          </p:nvPr>
        </p:nvSpPr>
        <p:spPr>
          <a:xfrm>
            <a:off x="727650" y="6295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Individual Fairness</a:t>
            </a:r>
            <a:endParaRPr/>
          </a:p>
        </p:txBody>
      </p:sp>
      <p:sp>
        <p:nvSpPr>
          <p:cNvPr id="186" name="Google Shape;186;p28"/>
          <p:cNvSpPr txBox="1"/>
          <p:nvPr>
            <p:ph idx="1" type="body"/>
          </p:nvPr>
        </p:nvSpPr>
        <p:spPr>
          <a:xfrm>
            <a:off x="727650" y="1063800"/>
            <a:ext cx="7688700" cy="396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A predictor is fair in terms of individual fairness if it produces similar outputs for similar individuals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Captured by (D, d)-Lipschitz property: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400" u="sng">
                <a:solidFill>
                  <a:srgbClr val="000000"/>
                </a:solidFill>
              </a:rPr>
              <a:t>ISSUES: </a:t>
            </a:r>
            <a:r>
              <a:rPr lang="en" sz="1400">
                <a:solidFill>
                  <a:srgbClr val="000000"/>
                </a:solidFill>
              </a:rPr>
              <a:t>This notion delegates the </a:t>
            </a:r>
            <a:r>
              <a:rPr lang="en" sz="1400">
                <a:solidFill>
                  <a:srgbClr val="000000"/>
                </a:solidFill>
              </a:rPr>
              <a:t>responsibility</a:t>
            </a:r>
            <a:r>
              <a:rPr lang="en" sz="1400">
                <a:solidFill>
                  <a:srgbClr val="000000"/>
                </a:solidFill>
              </a:rPr>
              <a:t> of ensuring fairness from the predictor to its distance metric. If the distance metric uses the protected attributes directly (or indirectly), the predictor (satisfying above)could still be discriminatory 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Notion of </a:t>
            </a:r>
            <a:r>
              <a:rPr b="1" lang="en" sz="1400" u="sng">
                <a:solidFill>
                  <a:srgbClr val="000000"/>
                </a:solidFill>
              </a:rPr>
              <a:t>individualism egalitarianism </a:t>
            </a:r>
            <a:r>
              <a:rPr lang="en" sz="1400">
                <a:solidFill>
                  <a:srgbClr val="000000"/>
                </a:solidFill>
              </a:rPr>
              <a:t>in the social sciences literature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pic>
        <p:nvPicPr>
          <p:cNvPr id="187" name="Google Shape;187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8900" y="1826775"/>
            <a:ext cx="5233599" cy="956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07575" y="2783353"/>
            <a:ext cx="2370500" cy="2436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/>
          <p:nvPr>
            <p:ph type="title"/>
          </p:nvPr>
        </p:nvSpPr>
        <p:spPr>
          <a:xfrm>
            <a:off x="727650" y="6246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Equality of opportunity</a:t>
            </a:r>
            <a:endParaRPr/>
          </a:p>
        </p:txBody>
      </p:sp>
      <p:sp>
        <p:nvSpPr>
          <p:cNvPr id="194" name="Google Shape;194;p29"/>
          <p:cNvSpPr txBox="1"/>
          <p:nvPr>
            <p:ph idx="1" type="body"/>
          </p:nvPr>
        </p:nvSpPr>
        <p:spPr>
          <a:xfrm>
            <a:off x="729450" y="1306600"/>
            <a:ext cx="7688700" cy="30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1150" lvl="0" marL="457200" rtl="0" algn="l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True positive rate is same for all the groups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b="1" lang="en" u="sng"/>
              <a:t>ISSUES:</a:t>
            </a:r>
            <a:r>
              <a:rPr lang="en"/>
              <a:t> It doesn’t consider the effect of discrimination due to protected attributes like gender, race etc. which have been shown to affect individual’s life prospects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pic>
        <p:nvPicPr>
          <p:cNvPr id="195" name="Google Shape;195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91800" y="1372425"/>
            <a:ext cx="4156126" cy="85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0"/>
          <p:cNvSpPr txBox="1"/>
          <p:nvPr>
            <p:ph type="title"/>
          </p:nvPr>
        </p:nvSpPr>
        <p:spPr>
          <a:xfrm>
            <a:off x="727650" y="6356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Preference-based fairness</a:t>
            </a:r>
            <a:endParaRPr/>
          </a:p>
        </p:txBody>
      </p:sp>
      <p:sp>
        <p:nvSpPr>
          <p:cNvPr id="201" name="Google Shape;201;p30"/>
          <p:cNvSpPr txBox="1"/>
          <p:nvPr>
            <p:ph idx="1" type="body"/>
          </p:nvPr>
        </p:nvSpPr>
        <p:spPr>
          <a:xfrm>
            <a:off x="729450" y="1317625"/>
            <a:ext cx="7688700" cy="302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 far discussed fairness imposing parity!!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b="1" lang="en" u="sng"/>
              <a:t>Preferred treatment: </a:t>
            </a:r>
            <a:r>
              <a:rPr i="1" lang="en" sz="1400">
                <a:solidFill>
                  <a:srgbClr val="000000"/>
                </a:solidFill>
              </a:rPr>
              <a:t>A group-conditional predictor is said to satisfy preferred treatment if each group of the population receives more benefit from their respective predictor then they would have received from any other predictor</a:t>
            </a:r>
            <a:endParaRPr i="1"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b="1" lang="en" u="sng"/>
              <a:t>Preferred impact: </a:t>
            </a:r>
            <a:r>
              <a:rPr i="1" lang="en" sz="1400">
                <a:solidFill>
                  <a:srgbClr val="000000"/>
                </a:solidFill>
              </a:rPr>
              <a:t>A predictor is said to have preferred impact if it offers at-least as much benefit as another predictor for all the groups.</a:t>
            </a:r>
            <a:endParaRPr i="1"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It corresponds to the notion of </a:t>
            </a:r>
            <a:r>
              <a:rPr b="1" lang="en" u="sng"/>
              <a:t>envy-freeness </a:t>
            </a:r>
            <a:r>
              <a:rPr lang="en"/>
              <a:t>in the social sciences literature, which is neither necessary nor sufficient for fairness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i="1" sz="1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1"/>
          <p:cNvSpPr txBox="1"/>
          <p:nvPr>
            <p:ph type="title"/>
          </p:nvPr>
        </p:nvSpPr>
        <p:spPr>
          <a:xfrm>
            <a:off x="727650" y="591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Prospective Notion - 1</a:t>
            </a:r>
            <a:endParaRPr/>
          </a:p>
        </p:txBody>
      </p:sp>
      <p:sp>
        <p:nvSpPr>
          <p:cNvPr id="207" name="Google Shape;207;p31"/>
          <p:cNvSpPr txBox="1"/>
          <p:nvPr>
            <p:ph idx="1" type="body"/>
          </p:nvPr>
        </p:nvSpPr>
        <p:spPr>
          <a:xfrm>
            <a:off x="729450" y="1306600"/>
            <a:ext cx="7688700" cy="30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Equality of resources</a:t>
            </a:r>
            <a:endParaRPr sz="18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Unequal distribution of social benefits is only considered fair when it results from the </a:t>
            </a:r>
            <a:r>
              <a:rPr lang="en" sz="1400" u="sng">
                <a:solidFill>
                  <a:srgbClr val="000000"/>
                </a:solidFill>
              </a:rPr>
              <a:t>intentional decisions and actions </a:t>
            </a:r>
            <a:r>
              <a:rPr lang="en" sz="1400">
                <a:solidFill>
                  <a:srgbClr val="000000"/>
                </a:solidFill>
              </a:rPr>
              <a:t>of the concerned individuals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Each individual’s unchosen circumstances including the </a:t>
            </a:r>
            <a:r>
              <a:rPr lang="en" sz="1400" u="sng"/>
              <a:t>natural endowments which should be offset</a:t>
            </a:r>
            <a:r>
              <a:rPr lang="en" sz="1400"/>
              <a:t> to achieve fairness</a:t>
            </a:r>
            <a:endParaRPr sz="1400"/>
          </a:p>
          <a:p>
            <a:pPr indent="0" lvl="0" marL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/>
          <p:cNvSpPr txBox="1"/>
          <p:nvPr>
            <p:ph type="title"/>
          </p:nvPr>
        </p:nvSpPr>
        <p:spPr>
          <a:xfrm>
            <a:off x="727650" y="591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Prospective Notion - 2</a:t>
            </a:r>
            <a:endParaRPr/>
          </a:p>
        </p:txBody>
      </p:sp>
      <p:sp>
        <p:nvSpPr>
          <p:cNvPr id="213" name="Google Shape;213;p32"/>
          <p:cNvSpPr txBox="1"/>
          <p:nvPr>
            <p:ph idx="1" type="body"/>
          </p:nvPr>
        </p:nvSpPr>
        <p:spPr>
          <a:xfrm>
            <a:off x="729450" y="1306600"/>
            <a:ext cx="7688700" cy="30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Equality of capability of functioning</a:t>
            </a:r>
            <a:endParaRPr sz="18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People should not be held responsible for </a:t>
            </a:r>
            <a:r>
              <a:rPr lang="en" sz="1400" u="sng">
                <a:solidFill>
                  <a:srgbClr val="000000"/>
                </a:solidFill>
              </a:rPr>
              <a:t>attributes they had no say in</a:t>
            </a:r>
            <a:r>
              <a:rPr lang="en" sz="1400">
                <a:solidFill>
                  <a:srgbClr val="000000"/>
                </a:solidFill>
              </a:rPr>
              <a:t> to include personal attributes which cause difficulty in developing </a:t>
            </a:r>
            <a:r>
              <a:rPr i="1" lang="en" sz="1400">
                <a:solidFill>
                  <a:srgbClr val="000000"/>
                </a:solidFill>
              </a:rPr>
              <a:t>functionings</a:t>
            </a:r>
            <a:endParaRPr i="1"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Functionings are states of “being and doing”, that is, various states of existence and activities that an individual can undertake. 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Variations related to the protected attributes like age, sex, gender, race, caste give individuals </a:t>
            </a:r>
            <a:r>
              <a:rPr lang="en" sz="1400" u="sng">
                <a:solidFill>
                  <a:srgbClr val="000000"/>
                </a:solidFill>
              </a:rPr>
              <a:t>unequal powers</a:t>
            </a:r>
            <a:r>
              <a:rPr lang="en" sz="1400">
                <a:solidFill>
                  <a:srgbClr val="000000"/>
                </a:solidFill>
              </a:rPr>
              <a:t> to achieve goals even when they have the </a:t>
            </a:r>
            <a:r>
              <a:rPr lang="en" sz="1400" u="sng">
                <a:solidFill>
                  <a:srgbClr val="000000"/>
                </a:solidFill>
              </a:rPr>
              <a:t>same opportunities</a:t>
            </a:r>
            <a:r>
              <a:rPr lang="en" sz="1400">
                <a:solidFill>
                  <a:srgbClr val="000000"/>
                </a:solidFill>
              </a:rPr>
              <a:t>.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 In order to equalize capabilities, people should be </a:t>
            </a:r>
            <a:r>
              <a:rPr lang="en" sz="1400" u="sng">
                <a:solidFill>
                  <a:srgbClr val="000000"/>
                </a:solidFill>
              </a:rPr>
              <a:t>compensated for their unequal powers</a:t>
            </a:r>
            <a:r>
              <a:rPr lang="en" sz="1400">
                <a:solidFill>
                  <a:srgbClr val="000000"/>
                </a:solidFill>
              </a:rPr>
              <a:t> to convert opportunities into functionings.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3"/>
          <p:cNvSpPr txBox="1"/>
          <p:nvPr>
            <p:ph type="title"/>
          </p:nvPr>
        </p:nvSpPr>
        <p:spPr>
          <a:xfrm>
            <a:off x="335250" y="2174900"/>
            <a:ext cx="84735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Avoiding Discrimination through Causal Reasoning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4"/>
          <p:cNvSpPr txBox="1"/>
          <p:nvPr>
            <p:ph type="title"/>
          </p:nvPr>
        </p:nvSpPr>
        <p:spPr>
          <a:xfrm>
            <a:off x="727650" y="580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Overview</a:t>
            </a:r>
            <a:endParaRPr/>
          </a:p>
        </p:txBody>
      </p:sp>
      <p:sp>
        <p:nvSpPr>
          <p:cNvPr id="224" name="Google Shape;224;p34"/>
          <p:cNvSpPr txBox="1"/>
          <p:nvPr>
            <p:ph idx="1" type="body"/>
          </p:nvPr>
        </p:nvSpPr>
        <p:spPr>
          <a:xfrm>
            <a:off x="729450" y="1306600"/>
            <a:ext cx="7688700" cy="303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Recent works on fairness depend on observational criteria</a:t>
            </a:r>
            <a:endParaRPr/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Inherent limitations that prevent them from resolving matters of fairness conclusively</a:t>
            </a:r>
            <a:endParaRPr/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This paper frames the problem of discrimination based on protected attributes in the language of </a:t>
            </a:r>
            <a:r>
              <a:rPr lang="en" u="sng"/>
              <a:t>causal reasoning</a:t>
            </a:r>
            <a:endParaRPr u="sng"/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“What do we want to assume about our model of the </a:t>
            </a:r>
            <a:r>
              <a:rPr lang="en" u="sng"/>
              <a:t>causal data generating process</a:t>
            </a:r>
            <a:r>
              <a:rPr lang="en"/>
              <a:t>?”</a:t>
            </a:r>
            <a:endParaRPr/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Proposes algorithms for natural causal non-discrimination criteria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5"/>
          <p:cNvSpPr txBox="1"/>
          <p:nvPr>
            <p:ph type="title"/>
          </p:nvPr>
        </p:nvSpPr>
        <p:spPr>
          <a:xfrm>
            <a:off x="663350" y="6356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Mathematical terminologies</a:t>
            </a:r>
            <a:endParaRPr/>
          </a:p>
        </p:txBody>
      </p:sp>
      <p:sp>
        <p:nvSpPr>
          <p:cNvPr id="230" name="Google Shape;230;p35"/>
          <p:cNvSpPr txBox="1"/>
          <p:nvPr>
            <p:ph idx="1" type="body"/>
          </p:nvPr>
        </p:nvSpPr>
        <p:spPr>
          <a:xfrm>
            <a:off x="727650" y="1441200"/>
            <a:ext cx="7688700" cy="284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			R: predictor</a:t>
            </a:r>
            <a:endParaRPr/>
          </a:p>
          <a:p>
            <a:pPr indent="0" lvl="0" marL="0" rtl="0" algn="l">
              <a:lnSpc>
                <a:spcPct val="7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			A: protected attributes</a:t>
            </a:r>
            <a:endParaRPr/>
          </a:p>
          <a:p>
            <a:pPr indent="0" lvl="0" marL="0" rtl="0" algn="l">
              <a:lnSpc>
                <a:spcPct val="7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			X: features</a:t>
            </a:r>
            <a:endParaRPr/>
          </a:p>
          <a:p>
            <a:pPr indent="0" lvl="0" marL="0" rtl="0" algn="l">
              <a:lnSpc>
                <a:spcPct val="7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			Y: outcome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Observational fairness criteria depends on the joint distribution of R, A, X and Y. Possible to generate </a:t>
            </a:r>
            <a:r>
              <a:rPr lang="en" u="sng"/>
              <a:t>identical joint distribution</a:t>
            </a:r>
            <a:r>
              <a:rPr lang="en"/>
              <a:t> for two scenarios with intuitively </a:t>
            </a:r>
            <a:r>
              <a:rPr lang="en" u="sng"/>
              <a:t>different social interpretations.</a:t>
            </a:r>
            <a:r>
              <a:rPr lang="en"/>
              <a:t> Thus no observational criteria can distinguish them.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This work uses the </a:t>
            </a:r>
            <a:r>
              <a:rPr lang="en" u="sng"/>
              <a:t>data generating process </a:t>
            </a:r>
            <a:r>
              <a:rPr lang="en"/>
              <a:t>using causality to remove discrimination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6"/>
          <p:cNvSpPr txBox="1"/>
          <p:nvPr>
            <p:ph type="title"/>
          </p:nvPr>
        </p:nvSpPr>
        <p:spPr>
          <a:xfrm>
            <a:off x="727650" y="6135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Causal graphs and notation</a:t>
            </a:r>
            <a:endParaRPr/>
          </a:p>
        </p:txBody>
      </p:sp>
      <p:pic>
        <p:nvPicPr>
          <p:cNvPr id="236" name="Google Shape;236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33695" y="1324275"/>
            <a:ext cx="1341468" cy="535200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36"/>
          <p:cNvSpPr txBox="1"/>
          <p:nvPr/>
        </p:nvSpPr>
        <p:spPr>
          <a:xfrm>
            <a:off x="3433638" y="1859475"/>
            <a:ext cx="13416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Lato"/>
                <a:ea typeface="Lato"/>
                <a:cs typeface="Lato"/>
                <a:sym typeface="Lato"/>
              </a:rPr>
              <a:t>Cause and Effect</a:t>
            </a:r>
            <a:endParaRPr sz="120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38" name="Google Shape;238;p36"/>
          <p:cNvSpPr txBox="1"/>
          <p:nvPr/>
        </p:nvSpPr>
        <p:spPr>
          <a:xfrm>
            <a:off x="1069475" y="2357150"/>
            <a:ext cx="7193700" cy="21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Font typeface="Lato"/>
              <a:buChar char="●"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In this paper, causal graph is a DAG whose nodes represent random variables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Font typeface="Lato"/>
              <a:buChar char="●"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A directed path is a sequence of distinct nodes </a:t>
            </a:r>
            <a:r>
              <a:rPr lang="en">
                <a:latin typeface="Lato"/>
                <a:ea typeface="Lato"/>
                <a:cs typeface="Lato"/>
                <a:sym typeface="Lato"/>
              </a:rPr>
              <a:t> </a:t>
            </a:r>
            <a:r>
              <a:rPr i="1" lang="en">
                <a:latin typeface="Lato"/>
                <a:ea typeface="Lato"/>
                <a:cs typeface="Lato"/>
                <a:sym typeface="Lato"/>
              </a:rPr>
              <a:t>V</a:t>
            </a:r>
            <a:r>
              <a:rPr i="1" lang="en" sz="1000">
                <a:latin typeface="Lato"/>
                <a:ea typeface="Lato"/>
                <a:cs typeface="Lato"/>
                <a:sym typeface="Lato"/>
              </a:rPr>
              <a:t>1</a:t>
            </a:r>
            <a:r>
              <a:rPr i="1" lang="en">
                <a:latin typeface="Lato"/>
                <a:ea typeface="Lato"/>
                <a:cs typeface="Lato"/>
                <a:sym typeface="Lato"/>
              </a:rPr>
              <a:t>,..., V</a:t>
            </a:r>
            <a:r>
              <a:rPr i="1" lang="en" sz="1000">
                <a:latin typeface="Lato"/>
                <a:ea typeface="Lato"/>
                <a:cs typeface="Lato"/>
                <a:sym typeface="Lato"/>
              </a:rPr>
              <a:t>k</a:t>
            </a:r>
            <a:endParaRPr i="1" sz="1000">
              <a:latin typeface="Lato"/>
              <a:ea typeface="Lato"/>
              <a:cs typeface="Lato"/>
              <a:sym typeface="Lato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Font typeface="Lato"/>
              <a:buChar char="●"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The directed path is blocked by a set of </a:t>
            </a:r>
            <a:r>
              <a:rPr i="1" lang="en">
                <a:latin typeface="Lato"/>
                <a:ea typeface="Lato"/>
                <a:cs typeface="Lato"/>
                <a:sym typeface="Lato"/>
              </a:rPr>
              <a:t>intermediate</a:t>
            </a:r>
            <a:r>
              <a:rPr lang="en">
                <a:latin typeface="Lato"/>
                <a:ea typeface="Lato"/>
                <a:cs typeface="Lato"/>
                <a:sym typeface="Lato"/>
              </a:rPr>
              <a:t> blocked nodes 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Font typeface="Lato"/>
              <a:buChar char="●"/>
            </a:pPr>
            <a:r>
              <a:rPr lang="en" u="sng">
                <a:latin typeface="Lato"/>
                <a:ea typeface="Lato"/>
                <a:cs typeface="Lato"/>
                <a:sym typeface="Lato"/>
              </a:rPr>
              <a:t>Structural equation model</a:t>
            </a:r>
            <a:r>
              <a:rPr lang="en">
                <a:latin typeface="Lato"/>
                <a:ea typeface="Lato"/>
                <a:cs typeface="Lato"/>
                <a:sym typeface="Lato"/>
              </a:rPr>
              <a:t> represents the dependencies between connected nodes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Font typeface="Lato"/>
              <a:buChar char="●"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Font typeface="Lato"/>
              <a:buChar char="●"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These equations are interpreted as assignments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Font typeface="Lato"/>
              <a:buChar char="●"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The equation model and the corresponding graph can be viewed as data generating model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SzPts val="1000"/>
              <a:buFont typeface="Lato"/>
              <a:buChar char="●"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The predictor R maps the inputs e.g., the features X to a predicted output</a:t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39" name="Google Shape;239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44950" y="3265950"/>
            <a:ext cx="3276500" cy="24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7"/>
          <p:cNvSpPr txBox="1"/>
          <p:nvPr>
            <p:ph type="title"/>
          </p:nvPr>
        </p:nvSpPr>
        <p:spPr>
          <a:xfrm>
            <a:off x="657500" y="6232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Unresolved Discrimination</a:t>
            </a:r>
            <a:endParaRPr/>
          </a:p>
        </p:txBody>
      </p:sp>
      <p:sp>
        <p:nvSpPr>
          <p:cNvPr id="245" name="Google Shape;245;p37"/>
          <p:cNvSpPr txBox="1"/>
          <p:nvPr>
            <p:ph idx="1" type="body"/>
          </p:nvPr>
        </p:nvSpPr>
        <p:spPr>
          <a:xfrm>
            <a:off x="729450" y="1302050"/>
            <a:ext cx="7688700" cy="30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A  lower college-wide admission rate for women than for men was explained by the fact that women applied in more competitive departments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When adjusted for department choice, women experienced a slightly higher acceptance rate compared with men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What matters is the </a:t>
            </a:r>
            <a:r>
              <a:rPr i="1" lang="en" sz="1400" u="sng">
                <a:solidFill>
                  <a:srgbClr val="000000"/>
                </a:solidFill>
              </a:rPr>
              <a:t>direct effect</a:t>
            </a:r>
            <a:r>
              <a:rPr i="1" lang="en" sz="1400">
                <a:solidFill>
                  <a:srgbClr val="000000"/>
                </a:solidFill>
              </a:rPr>
              <a:t> </a:t>
            </a:r>
            <a:r>
              <a:rPr lang="en" sz="1400">
                <a:solidFill>
                  <a:srgbClr val="000000"/>
                </a:solidFill>
              </a:rPr>
              <a:t>of the protected attribute (here, gender A) on the decision (here, college admission R) that cannot be ascribed to a </a:t>
            </a:r>
            <a:r>
              <a:rPr i="1" lang="en" sz="1400" u="sng">
                <a:solidFill>
                  <a:srgbClr val="000000"/>
                </a:solidFill>
              </a:rPr>
              <a:t>resolving variable</a:t>
            </a:r>
            <a:r>
              <a:rPr i="1" lang="en" sz="1400">
                <a:solidFill>
                  <a:srgbClr val="000000"/>
                </a:solidFill>
              </a:rPr>
              <a:t> </a:t>
            </a:r>
            <a:r>
              <a:rPr lang="en" sz="1400">
                <a:solidFill>
                  <a:srgbClr val="000000"/>
                </a:solidFill>
              </a:rPr>
              <a:t>such as department choice X</a:t>
            </a:r>
            <a:endParaRPr sz="1400">
              <a:solidFill>
                <a:srgbClr val="000000"/>
              </a:solidFill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					</a:t>
            </a:r>
            <a:endParaRPr sz="14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8"/>
          <p:cNvSpPr txBox="1"/>
          <p:nvPr>
            <p:ph type="title"/>
          </p:nvPr>
        </p:nvSpPr>
        <p:spPr>
          <a:xfrm>
            <a:off x="657500" y="6232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Unresolved Discrimination</a:t>
            </a:r>
            <a:endParaRPr/>
          </a:p>
        </p:txBody>
      </p:sp>
      <p:pic>
        <p:nvPicPr>
          <p:cNvPr id="251" name="Google Shape;25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3425" y="2571750"/>
            <a:ext cx="8062802" cy="725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23562" y="1620950"/>
            <a:ext cx="956575" cy="806925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38"/>
          <p:cNvSpPr txBox="1"/>
          <p:nvPr/>
        </p:nvSpPr>
        <p:spPr>
          <a:xfrm>
            <a:off x="877625" y="3577675"/>
            <a:ext cx="7817100" cy="11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latin typeface="Lato"/>
                <a:ea typeface="Lato"/>
                <a:cs typeface="Lato"/>
                <a:sym typeface="Lato"/>
              </a:rPr>
              <a:t>Skeptic viewpoint: </a:t>
            </a:r>
            <a:r>
              <a:rPr lang="en">
                <a:latin typeface="Lato"/>
                <a:ea typeface="Lato"/>
                <a:cs typeface="Lato"/>
                <a:sym typeface="Lato"/>
              </a:rPr>
              <a:t>All paths from the protected path A to R are problematic unless they are justified by a resolving variable. The presence of unresolved discrimination in the predictor R is worrisome and should be corrected. 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Naive way to solve this to consider features that do not exhibit unresolved discrimination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9"/>
          <p:cNvSpPr txBox="1"/>
          <p:nvPr>
            <p:ph type="title"/>
          </p:nvPr>
        </p:nvSpPr>
        <p:spPr>
          <a:xfrm>
            <a:off x="727650" y="6232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Proxy discrimination and interventions</a:t>
            </a:r>
            <a:endParaRPr/>
          </a:p>
        </p:txBody>
      </p:sp>
      <p:sp>
        <p:nvSpPr>
          <p:cNvPr id="259" name="Google Shape;259;p39"/>
          <p:cNvSpPr txBox="1"/>
          <p:nvPr>
            <p:ph idx="1" type="body"/>
          </p:nvPr>
        </p:nvSpPr>
        <p:spPr>
          <a:xfrm>
            <a:off x="729450" y="1314050"/>
            <a:ext cx="7688700" cy="30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Protected attributes, </a:t>
            </a:r>
            <a:r>
              <a:rPr b="1" i="1" lang="en"/>
              <a:t>A</a:t>
            </a:r>
            <a:r>
              <a:rPr lang="en"/>
              <a:t> have proxies </a:t>
            </a:r>
            <a:r>
              <a:rPr b="1" i="1" lang="en"/>
              <a:t>P</a:t>
            </a:r>
            <a:r>
              <a:rPr lang="en"/>
              <a:t>, such as name, visual features, languages spoken etc. in the features</a:t>
            </a:r>
            <a:endParaRPr/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 ML, one would want to separate </a:t>
            </a:r>
            <a:r>
              <a:rPr b="1" i="1" lang="en"/>
              <a:t>A</a:t>
            </a:r>
            <a:r>
              <a:rPr lang="en"/>
              <a:t> from its proxies</a:t>
            </a:r>
            <a:endParaRPr/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Intervention based on proxy variables poses a more manageable problem</a:t>
            </a:r>
            <a:endParaRPr/>
          </a:p>
          <a:p>
            <a:pPr indent="-3111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/>
              <a:t>We envision the proxy to be a clearly defined observable quantity, which is highly correlated with </a:t>
            </a:r>
            <a:r>
              <a:rPr b="1" i="1" lang="en"/>
              <a:t>A</a:t>
            </a:r>
            <a:r>
              <a:rPr lang="en"/>
              <a:t>, yet in our view shouldn’t affect prediction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0"/>
          <p:cNvSpPr txBox="1"/>
          <p:nvPr>
            <p:ph type="title"/>
          </p:nvPr>
        </p:nvSpPr>
        <p:spPr>
          <a:xfrm>
            <a:off x="727650" y="6232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Potential proxy discrimination</a:t>
            </a:r>
            <a:endParaRPr/>
          </a:p>
        </p:txBody>
      </p:sp>
      <p:pic>
        <p:nvPicPr>
          <p:cNvPr id="265" name="Google Shape;265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66527" y="1507125"/>
            <a:ext cx="6210937" cy="53520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40"/>
          <p:cNvSpPr txBox="1"/>
          <p:nvPr/>
        </p:nvSpPr>
        <p:spPr>
          <a:xfrm>
            <a:off x="961550" y="2273200"/>
            <a:ext cx="7133700" cy="268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u="sng">
                <a:latin typeface="Lato"/>
                <a:ea typeface="Lato"/>
                <a:cs typeface="Lato"/>
                <a:sym typeface="Lato"/>
              </a:rPr>
              <a:t>Benevolent viewpoint:</a:t>
            </a:r>
            <a:r>
              <a:rPr lang="en" u="sng">
                <a:latin typeface="Lato"/>
                <a:ea typeface="Lato"/>
                <a:cs typeface="Lato"/>
                <a:sym typeface="Lato"/>
              </a:rPr>
              <a:t> </a:t>
            </a:r>
            <a:r>
              <a:rPr lang="en">
                <a:latin typeface="Lato"/>
                <a:ea typeface="Lato"/>
                <a:cs typeface="Lato"/>
                <a:sym typeface="Lato"/>
              </a:rPr>
              <a:t>we </a:t>
            </a:r>
            <a:r>
              <a:rPr i="1" lang="en">
                <a:latin typeface="Lato"/>
                <a:ea typeface="Lato"/>
                <a:cs typeface="Lato"/>
                <a:sym typeface="Lato"/>
              </a:rPr>
              <a:t>allow </a:t>
            </a:r>
            <a:r>
              <a:rPr lang="en">
                <a:latin typeface="Lato"/>
                <a:ea typeface="Lato"/>
                <a:cs typeface="Lato"/>
                <a:sym typeface="Lato"/>
              </a:rPr>
              <a:t>any path from A to R unless it passes through a proxy variable P, which we consider worrisome. 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Naive way to solve this to constrain the predictor to use only those features which don’t have proxy.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Lato"/>
                <a:ea typeface="Lato"/>
                <a:cs typeface="Lato"/>
                <a:sym typeface="Lato"/>
              </a:rPr>
              <a:t>In the </a:t>
            </a:r>
            <a:r>
              <a:rPr i="1" lang="en" u="sng">
                <a:latin typeface="Lato"/>
                <a:ea typeface="Lato"/>
                <a:cs typeface="Lato"/>
                <a:sym typeface="Lato"/>
              </a:rPr>
              <a:t>proposed approach</a:t>
            </a:r>
            <a:r>
              <a:rPr lang="en">
                <a:latin typeface="Lato"/>
                <a:ea typeface="Lato"/>
                <a:cs typeface="Lato"/>
                <a:sym typeface="Lato"/>
              </a:rPr>
              <a:t>, they aim for canceling the effect of proxies on the features that exhibit potential proxy discrimination  by explicit dependencies on proxies</a:t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267" name="Google Shape;267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69266" y="4189726"/>
            <a:ext cx="6005474" cy="601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>
            <p:ph type="title"/>
          </p:nvPr>
        </p:nvSpPr>
        <p:spPr>
          <a:xfrm>
            <a:off x="645525" y="6232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Avoiding proxy discrimination</a:t>
            </a:r>
            <a:endParaRPr/>
          </a:p>
        </p:txBody>
      </p:sp>
      <p:pic>
        <p:nvPicPr>
          <p:cNvPr id="273" name="Google Shape;273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87061" y="1409200"/>
            <a:ext cx="4005626" cy="3241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4" name="Google Shape;274;p41"/>
          <p:cNvCxnSpPr/>
          <p:nvPr/>
        </p:nvCxnSpPr>
        <p:spPr>
          <a:xfrm>
            <a:off x="4594375" y="3472150"/>
            <a:ext cx="1474800" cy="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2"/>
          <p:cNvSpPr txBox="1"/>
          <p:nvPr>
            <p:ph type="title"/>
          </p:nvPr>
        </p:nvSpPr>
        <p:spPr>
          <a:xfrm>
            <a:off x="729450" y="6352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Avoiding proxy discrimination</a:t>
            </a:r>
            <a:endParaRPr/>
          </a:p>
        </p:txBody>
      </p:sp>
      <p:pic>
        <p:nvPicPr>
          <p:cNvPr id="280" name="Google Shape;280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2213" y="1346825"/>
            <a:ext cx="4923179" cy="366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3"/>
          <p:cNvSpPr txBox="1"/>
          <p:nvPr>
            <p:ph type="title"/>
          </p:nvPr>
        </p:nvSpPr>
        <p:spPr>
          <a:xfrm>
            <a:off x="727650" y="6472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Avoiding unresolved discrimination</a:t>
            </a:r>
            <a:endParaRPr/>
          </a:p>
        </p:txBody>
      </p:sp>
      <p:pic>
        <p:nvPicPr>
          <p:cNvPr id="286" name="Google Shape;286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1286" y="1661750"/>
            <a:ext cx="3581424" cy="3221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7" name="Google Shape;287;p43"/>
          <p:cNvCxnSpPr/>
          <p:nvPr/>
        </p:nvCxnSpPr>
        <p:spPr>
          <a:xfrm flipH="1" rot="10800000">
            <a:off x="5577525" y="3903750"/>
            <a:ext cx="671400" cy="12000"/>
          </a:xfrm>
          <a:prstGeom prst="straightConnector1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8" name="Google Shape;288;p43"/>
          <p:cNvCxnSpPr/>
          <p:nvPr/>
        </p:nvCxnSpPr>
        <p:spPr>
          <a:xfrm>
            <a:off x="2987775" y="4107600"/>
            <a:ext cx="707400" cy="0"/>
          </a:xfrm>
          <a:prstGeom prst="straightConnector1">
            <a:avLst/>
          </a:prstGeom>
          <a:noFill/>
          <a:ln cap="flat" cmpd="sng" w="9525">
            <a:solidFill>
              <a:srgbClr val="CC0000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4"/>
          <p:cNvSpPr txBox="1"/>
          <p:nvPr>
            <p:ph type="title"/>
          </p:nvPr>
        </p:nvSpPr>
        <p:spPr>
          <a:xfrm>
            <a:off x="669500" y="5992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Avoiding unresolved discrimination</a:t>
            </a:r>
            <a:endParaRPr/>
          </a:p>
        </p:txBody>
      </p:sp>
      <p:pic>
        <p:nvPicPr>
          <p:cNvPr id="294" name="Google Shape;29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3227" y="1612725"/>
            <a:ext cx="6957552" cy="299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5"/>
          <p:cNvSpPr txBox="1"/>
          <p:nvPr>
            <p:ph type="title"/>
          </p:nvPr>
        </p:nvSpPr>
        <p:spPr>
          <a:xfrm>
            <a:off x="729450" y="6112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Conclusions</a:t>
            </a:r>
            <a:endParaRPr/>
          </a:p>
        </p:txBody>
      </p:sp>
      <p:sp>
        <p:nvSpPr>
          <p:cNvPr id="300" name="Google Shape;300;p45"/>
          <p:cNvSpPr txBox="1"/>
          <p:nvPr>
            <p:ph idx="1" type="body"/>
          </p:nvPr>
        </p:nvSpPr>
        <p:spPr>
          <a:xfrm>
            <a:off x="729450" y="1302050"/>
            <a:ext cx="7688700" cy="303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Key concepts of their conceptual framework are </a:t>
            </a:r>
            <a:r>
              <a:rPr i="1" lang="en" sz="1400" u="sng">
                <a:solidFill>
                  <a:srgbClr val="000000"/>
                </a:solidFill>
              </a:rPr>
              <a:t>resolving variables </a:t>
            </a:r>
            <a:r>
              <a:rPr lang="en" sz="1400">
                <a:solidFill>
                  <a:srgbClr val="000000"/>
                </a:solidFill>
              </a:rPr>
              <a:t>and </a:t>
            </a:r>
            <a:r>
              <a:rPr i="1" lang="en" sz="1400" u="sng">
                <a:solidFill>
                  <a:srgbClr val="000000"/>
                </a:solidFill>
              </a:rPr>
              <a:t>proxy variables</a:t>
            </a:r>
            <a:endParaRPr i="1" sz="1400" u="sng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Develop a practical procedure to remove </a:t>
            </a:r>
            <a:r>
              <a:rPr lang="en" sz="1400" u="sng">
                <a:solidFill>
                  <a:srgbClr val="000000"/>
                </a:solidFill>
              </a:rPr>
              <a:t>proxy discrimination</a:t>
            </a:r>
            <a:r>
              <a:rPr lang="en" sz="1400">
                <a:solidFill>
                  <a:srgbClr val="000000"/>
                </a:solidFill>
              </a:rPr>
              <a:t> given the structural equation model and analyze a similar approach for </a:t>
            </a:r>
            <a:r>
              <a:rPr lang="en" sz="1400" u="sng">
                <a:solidFill>
                  <a:srgbClr val="000000"/>
                </a:solidFill>
              </a:rPr>
              <a:t>unresolved discrimination</a:t>
            </a:r>
            <a:r>
              <a:rPr lang="en" sz="1400">
                <a:solidFill>
                  <a:srgbClr val="000000"/>
                </a:solidFill>
              </a:rPr>
              <a:t>.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Framework is limited by the assumption that we can construct a valid causal graph</a:t>
            </a:r>
            <a:endParaRPr sz="1400">
              <a:solidFill>
                <a:srgbClr val="000000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>
                <a:solidFill>
                  <a:srgbClr val="000000"/>
                </a:solidFill>
              </a:rPr>
              <a:t>The causal perspective suggests a number of interesting new directions at the technical, empirical, and conceptual level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6"/>
          <p:cNvSpPr txBox="1"/>
          <p:nvPr>
            <p:ph type="title"/>
          </p:nvPr>
        </p:nvSpPr>
        <p:spPr>
          <a:xfrm>
            <a:off x="3562800" y="2451850"/>
            <a:ext cx="201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