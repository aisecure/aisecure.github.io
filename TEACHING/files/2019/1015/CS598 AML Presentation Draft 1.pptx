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60" r:id="rId4"/>
    <p:sldId id="265" r:id="rId5"/>
    <p:sldId id="289" r:id="rId6"/>
    <p:sldId id="258" r:id="rId7"/>
    <p:sldId id="262" r:id="rId8"/>
    <p:sldId id="279" r:id="rId9"/>
    <p:sldId id="278" r:id="rId10"/>
    <p:sldId id="274" r:id="rId11"/>
    <p:sldId id="275" r:id="rId12"/>
    <p:sldId id="276" r:id="rId13"/>
    <p:sldId id="268" r:id="rId14"/>
    <p:sldId id="284" r:id="rId15"/>
    <p:sldId id="288" r:id="rId16"/>
    <p:sldId id="280" r:id="rId17"/>
    <p:sldId id="286" r:id="rId18"/>
    <p:sldId id="285" r:id="rId19"/>
    <p:sldId id="287" r:id="rId20"/>
    <p:sldId id="290" r:id="rId21"/>
    <p:sldId id="293" r:id="rId22"/>
    <p:sldId id="294" r:id="rId23"/>
    <p:sldId id="295" r:id="rId24"/>
    <p:sldId id="259" r:id="rId25"/>
    <p:sldId id="292" r:id="rId26"/>
    <p:sldId id="296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11A414-9BE8-0046-BF1A-34DD1B598505}" v="1558" dt="2019-10-12T23:51:48.3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89913"/>
  </p:normalViewPr>
  <p:slideViewPr>
    <p:cSldViewPr snapToGrid="0" snapToObjects="1">
      <p:cViewPr varScale="1">
        <p:scale>
          <a:sx n="203" d="100"/>
          <a:sy n="203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C1836-8858-C84B-8065-9BAF18E58483}" type="datetimeFigureOut">
              <a:rPr lang="en-US" smtClean="0"/>
              <a:t>10/9/19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92846-E7DE-154F-943C-5778E8D3F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05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a week and half ago, we looked at the effect of poisoning attack on SVM. </a:t>
            </a:r>
          </a:p>
          <a:p>
            <a:r>
              <a:rPr lang="en-US" dirty="0"/>
              <a:t>As shown on the figure above, we see an increase in the binary classification error as number of attack points.</a:t>
            </a:r>
          </a:p>
          <a:p>
            <a:r>
              <a:rPr lang="en-US" dirty="0"/>
              <a:t>The context here is that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92846-E7DE-154F-943C-5778E8D3F09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54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raises the question, just how bad can it get? Can we bound the effect?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92846-E7DE-154F-943C-5778E8D3F0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39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Whitebox attack is reasonable to assume because security by obscurity is a bad security practice.</a:t>
            </a:r>
          </a:p>
          <a:p>
            <a:r>
              <a:rPr lang="en-US" dirty="0"/>
              <a:t>	Paper states “reverse engineer necessary system details” i.e. stealing model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92846-E7DE-154F-943C-5778E8D3F0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9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Naively training on poisoned data set will result in poor model performance.</a:t>
            </a:r>
          </a:p>
          <a:p>
            <a:r>
              <a:rPr lang="en-US" dirty="0"/>
              <a:t>So lets filter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92846-E7DE-154F-943C-5778E8D3F09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595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Lets re-define theta hat.</a:t>
                </a:r>
              </a:p>
              <a:p>
                <a:endParaRPr lang="en-US" dirty="0"/>
              </a:p>
              <a:p>
                <a:r>
                  <a:rPr lang="en-US" dirty="0"/>
                  <a:t>Model ends up training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b="0" i="1" dirty="0"/>
              </a:p>
              <a:p>
                <a:pPr lvl="1"/>
                <a:r>
                  <a:rPr lang="en-US" dirty="0"/>
                  <a:t>Resulting in model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Resulting in test loss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Lets re-define theta hat.</a:t>
                </a:r>
              </a:p>
              <a:p>
                <a:endParaRPr lang="en-US" dirty="0"/>
              </a:p>
              <a:p>
                <a:r>
                  <a:rPr lang="en-US" dirty="0"/>
                  <a:t>Model ends up training on </a:t>
                </a:r>
                <a:r>
                  <a:rPr lang="en-US" i="0">
                    <a:latin typeface="Cambria Math" panose="02040503050406030204" pitchFamily="18" charset="0"/>
                  </a:rPr>
                  <a:t>〖</a:t>
                </a:r>
                <a:r>
                  <a:rPr lang="en-US" b="0" i="0">
                    <a:latin typeface="Cambria Math" panose="02040503050406030204" pitchFamily="18" charset="0"/>
                  </a:rPr>
                  <a:t>(𝐷〗_𝑐 </a:t>
                </a:r>
                <a:r>
                  <a:rPr lang="en-US" i="0">
                    <a:latin typeface="Cambria Math" panose="02040503050406030204" pitchFamily="18" charset="0"/>
                  </a:rPr>
                  <a:t>〖</a:t>
                </a:r>
                <a:r>
                  <a:rPr lang="en-US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∪</a:t>
                </a:r>
                <a:r>
                  <a:rPr lang="en-US" b="0" i="0">
                    <a:latin typeface="Cambria Math" panose="02040503050406030204" pitchFamily="18" charset="0"/>
                  </a:rPr>
                  <a:t>𝐷〗_𝑝)</a:t>
                </a: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∩</a:t>
                </a:r>
                <a:r>
                  <a:rPr lang="en-US" b="0" i="0">
                    <a:latin typeface="Cambria Math" panose="02040503050406030204" pitchFamily="18" charset="0"/>
                  </a:rPr>
                  <a:t>𝐹</a:t>
                </a:r>
                <a:endParaRPr lang="en-US" b="0" i="1" dirty="0"/>
              </a:p>
              <a:p>
                <a:pPr lvl="1"/>
                <a:r>
                  <a:rPr lang="en-US" dirty="0"/>
                  <a:t>Resulting in model </a:t>
                </a: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 ̂</a:t>
                </a:r>
                <a:endParaRPr lang="en-US" dirty="0"/>
              </a:p>
              <a:p>
                <a:pPr lvl="1"/>
                <a:r>
                  <a:rPr lang="en-US" dirty="0"/>
                  <a:t>Resulting in test loss </a:t>
                </a:r>
                <a:r>
                  <a:rPr lang="en-US" b="1" i="0">
                    <a:latin typeface="Cambria Math" panose="02040503050406030204" pitchFamily="18" charset="0"/>
                  </a:rPr>
                  <a:t>𝑳</a:t>
                </a:r>
                <a:r>
                  <a:rPr lang="en-US" b="0" i="0">
                    <a:latin typeface="Cambria Math" panose="02040503050406030204" pitchFamily="18" charset="0"/>
                  </a:rPr>
                  <a:t>(</a:t>
                </a: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 ̂</a:t>
                </a:r>
                <a:r>
                  <a:rPr lang="en-US" b="0" i="0">
                    <a:latin typeface="Cambria Math" panose="02040503050406030204" pitchFamily="18" charset="0"/>
                  </a:rPr>
                  <a:t>)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92846-E7DE-154F-943C-5778E8D3F0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31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Slab and sphere defense such that it keeps 70% of the clean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92846-E7DE-154F-943C-5778E8D3F09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423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92846-E7DE-154F-943C-5778E8D3F09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068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92846-E7DE-154F-943C-5778E8D3F09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115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Therefore, we flip the minimax.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92846-E7DE-154F-943C-5778E8D3F09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180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Thus flipping the min and max makes 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92846-E7DE-154F-943C-5778E8D3F09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18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Quadratic program is solved using existing methods such as CVXPY, YALMIP, </a:t>
            </a:r>
            <a:r>
              <a:rPr lang="en-US" dirty="0" err="1"/>
              <a:t>SeDuMi</a:t>
            </a:r>
            <a:r>
              <a:rPr lang="en-US" dirty="0"/>
              <a:t>, </a:t>
            </a:r>
            <a:r>
              <a:rPr lang="en-US" dirty="0" err="1"/>
              <a:t>Gurobi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92846-E7DE-154F-943C-5778E8D3F09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0492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IMDB has large number irrelevant features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92846-E7DE-154F-943C-5778E8D3F09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80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9A85F-FB7C-B444-A9C0-CA00DA4AB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AA8674-F1AA-F14A-A328-77437563F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2654-5323-2B4E-9ED6-6C367635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A5FB-81EE-3B44-AAE4-C728FAFC1D84}" type="datetimeFigureOut">
              <a:rPr lang="en-US" smtClean="0"/>
              <a:t>10/9/19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F3285-62E8-F442-9FEA-597A8CCA4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F59A0-C4C3-C947-A0CE-C857C245C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7A68A-850F-4D43-AD97-3C739F57E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0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21EB6-801F-294C-BF46-C6A140459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66151-C0BE-9B45-AB51-675778B3A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E8C76-D5C2-3A44-9BFF-F9A55F059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A5FB-81EE-3B44-AAE4-C728FAFC1D84}" type="datetimeFigureOut">
              <a:rPr lang="en-US" smtClean="0"/>
              <a:t>10/9/19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D949A-4206-F14B-A7F3-1BA66E4A9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14729-B47D-B94A-AF58-11227DF30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7A68A-850F-4D43-AD97-3C739F57E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505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2BB4A-4FE3-B744-B0C7-AFD6A877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5EF5D-C75F-534A-81D2-F687949AF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A1B19-6B77-5C45-A4DE-E656BA802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A5FB-81EE-3B44-AAE4-C728FAFC1D84}" type="datetimeFigureOut">
              <a:rPr lang="en-US" smtClean="0"/>
              <a:t>10/9/19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45D3A-388F-D94A-B616-B7F0EC2A3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0021F-E508-D64D-AD38-4108DC4F5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7A68A-850F-4D43-AD97-3C739F57E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84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BC931-A637-DA43-BE40-71181B2D8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BA547-3D6B-DC48-AADA-3D39189224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8464F7-D062-A94D-BD9A-5E2B4550FF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6CD712-7FCB-BD46-B2C2-F919D2336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A5FB-81EE-3B44-AAE4-C728FAFC1D84}" type="datetimeFigureOut">
              <a:rPr lang="en-US" smtClean="0"/>
              <a:t>10/9/19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4F30E-DA6A-6B45-8F41-4D7752AD9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3D4BF-1722-7A41-A420-EACC8C48A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7A68A-850F-4D43-AD97-3C739F57E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34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C74F1-3A4C-1D49-93D2-6B6D947BD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AE4D2-86DE-864F-AAD5-6984B95B0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D1F77-012A-A748-9B8F-453B403F0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B0B6A8-C284-AD44-938F-CBAF60AC68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561A9A-91C9-754A-8F24-292C1BA660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0D252E-17DE-184A-B587-64D5158DE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A5FB-81EE-3B44-AAE4-C728FAFC1D84}" type="datetimeFigureOut">
              <a:rPr lang="en-US" smtClean="0"/>
              <a:t>10/9/19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4F449A-88EF-6C49-897A-D1B35BD43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2F8293-72EE-4E49-8F53-46B1FA188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7A68A-850F-4D43-AD97-3C739F57E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526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54A06-31AA-9147-B661-240BF73C6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FDE7C4-86C6-7B43-BDD3-789CF3D1C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A5FB-81EE-3B44-AAE4-C728FAFC1D84}" type="datetimeFigureOut">
              <a:rPr lang="en-US" smtClean="0"/>
              <a:t>10/9/19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926375-5197-8646-B4FB-68BA44362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C5BD3-DBFA-AA42-BC3D-7858C675F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7A68A-850F-4D43-AD97-3C739F57E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50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AE3AC2-4B75-BF42-A405-C4E5DDBB9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A5FB-81EE-3B44-AAE4-C728FAFC1D84}" type="datetimeFigureOut">
              <a:rPr lang="en-US" smtClean="0"/>
              <a:t>10/9/19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F7E5A8-782A-5F40-ADE5-762C44A0A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08A98-FE86-934A-B299-DD163AEF7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7A68A-850F-4D43-AD97-3C739F57E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530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3E300-D70E-974F-A4AB-0C42A74CB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BA4DD-F397-854B-92DF-B2FA3CD23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6C4A5-D03A-D84E-A368-8A3B7244C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8DB22-F2E8-9549-B985-E37BD5BB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A5FB-81EE-3B44-AAE4-C728FAFC1D84}" type="datetimeFigureOut">
              <a:rPr lang="en-US" smtClean="0"/>
              <a:t>10/9/19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EC7DD-2E44-F44C-8FC2-3E7564BF8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F68FB-9EB6-0A4A-ABC5-5D93C92C9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7A68A-850F-4D43-AD97-3C739F57E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21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3D62-3AC1-AF40-A9CB-7883AFECD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2F7B5-CF37-D94F-8882-6E7B8B34D8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3144C4-9CA8-6240-85B9-D64865AFD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1FFDE-1E5B-EC49-9D2C-045F58CE2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A5FB-81EE-3B44-AAE4-C728FAFC1D84}" type="datetimeFigureOut">
              <a:rPr lang="en-US" smtClean="0"/>
              <a:t>10/9/19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C5B448-EAA6-E64E-9E5E-AE530959D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87D77-84CC-804E-AE3F-22369170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7A68A-850F-4D43-AD97-3C739F57E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157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3DF0E-7E1F-7F49-AC5A-00A243690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8BF65D-3CCE-E848-8ECD-A80D0B1A3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CE36A-7524-F343-85A8-7A170EF7B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A5FB-81EE-3B44-AAE4-C728FAFC1D84}" type="datetimeFigureOut">
              <a:rPr lang="en-US" smtClean="0"/>
              <a:t>10/9/19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42AC5-D48A-D344-A625-86C847DEC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0E272-474B-6246-B987-A76659B2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7A68A-850F-4D43-AD97-3C739F57E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095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5CE3C6-21B0-E641-AF87-E85B635FC1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3BE6D-8D1A-2A42-9D25-F8D2635B0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CB777-0C27-A444-B4FB-3D6037B36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A5FB-81EE-3B44-AAE4-C728FAFC1D84}" type="datetimeFigureOut">
              <a:rPr lang="en-US" smtClean="0"/>
              <a:t>10/9/19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7CA44-C606-0743-A86C-C556287E9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13A39-3398-D946-86CF-C4338FF07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7A68A-850F-4D43-AD97-3C739F57E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292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C9E85E-0824-7747-B224-E91F9460E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854AE-A0DE-914B-A324-03312EF55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CE4C5-3A11-A14B-8127-CDAE887B0E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EA5FB-81EE-3B44-AAE4-C728FAFC1D84}" type="datetimeFigureOut">
              <a:rPr lang="en-US" smtClean="0"/>
              <a:t>10/9/19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9839A-6A8C-B44B-8A07-DCF4E929EF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70D8E-0162-314D-9059-D1AA6A687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7A68A-850F-4D43-AD97-3C739F57E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332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CCA4-EF3E-C049-8EFD-FA033FD8F5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Certified Defenses for Data Poisoning Attacks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A0D544-DF6B-0846-9075-61C2AA028E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/>
              <a:t>By Steinhardt et al.</a:t>
            </a:r>
          </a:p>
          <a:p>
            <a:endParaRPr lang="en-US" dirty="0"/>
          </a:p>
          <a:p>
            <a:r>
              <a:rPr lang="en-US" dirty="0"/>
              <a:t>Presented by </a:t>
            </a:r>
            <a:r>
              <a:rPr lang="en-US" dirty="0" err="1"/>
              <a:t>Kyo</a:t>
            </a:r>
            <a:r>
              <a:rPr lang="en-US" dirty="0"/>
              <a:t> Kim</a:t>
            </a:r>
          </a:p>
        </p:txBody>
      </p:sp>
    </p:spTree>
    <p:extLst>
      <p:ext uri="{BB962C8B-B14F-4D97-AF65-F5344CB8AC3E}">
        <p14:creationId xmlns:p14="http://schemas.microsoft.com/office/powerpoint/2010/main" val="3627543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4EF5A-CC3E-1746-A248-0BE4ACEC9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Previously…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A9AE6-98B5-0A46-A229-5DC1C4F33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Biggio</a:t>
            </a:r>
            <a:r>
              <a:rPr lang="en-US" dirty="0"/>
              <a:t> et al. (2012) Poisoning Attacks against Support Vector Machines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4D27CE-ABC2-C446-928A-3945E8838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790" y="2543341"/>
            <a:ext cx="4374420" cy="340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52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E8AE6-9E85-2F48-B16A-38BA7B71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bound it?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6032B2-D223-F74E-9777-AEDED6AD8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96715"/>
            <a:ext cx="4374420" cy="340915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4ED45C7-761A-4540-A6C8-EEE5D4C36475}"/>
              </a:ext>
            </a:extLst>
          </p:cNvPr>
          <p:cNvCxnSpPr>
            <a:cxnSpLocks/>
          </p:cNvCxnSpPr>
          <p:nvPr/>
        </p:nvCxnSpPr>
        <p:spPr>
          <a:xfrm flipV="1">
            <a:off x="5120256" y="2743200"/>
            <a:ext cx="5908988" cy="1224227"/>
          </a:xfrm>
          <a:prstGeom prst="line">
            <a:avLst/>
          </a:prstGeom>
          <a:ln w="12700">
            <a:prstDash val="lgDashDot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69457C9-C2F5-7F4D-829D-CBCA9EF3A1DC}"/>
              </a:ext>
            </a:extLst>
          </p:cNvPr>
          <p:cNvCxnSpPr>
            <a:cxnSpLocks/>
          </p:cNvCxnSpPr>
          <p:nvPr/>
        </p:nvCxnSpPr>
        <p:spPr>
          <a:xfrm flipV="1">
            <a:off x="5120256" y="2296715"/>
            <a:ext cx="5829966" cy="1339742"/>
          </a:xfrm>
          <a:prstGeom prst="line">
            <a:avLst/>
          </a:prstGeom>
          <a:ln w="12700" cap="flat" cmpd="sng" algn="ctr">
            <a:solidFill>
              <a:schemeClr val="accent2"/>
            </a:solidFill>
            <a:prstDash val="lg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2" name="Graphic 11" descr="Question mark">
            <a:extLst>
              <a:ext uri="{FF2B5EF4-FFF2-40B4-BE49-F238E27FC236}">
                <a16:creationId xmlns:a16="http://schemas.microsoft.com/office/drawing/2014/main" id="{905818AB-F997-FC45-A931-08E4E16BDA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4221" y="34036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99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F38E-F14E-914A-9BBC-8C88B8A05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Yes… </a:t>
            </a:r>
            <a:r>
              <a:rPr lang="en-US" sz="2400" dirty="0"/>
              <a:t>With Assumptions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C5D2F1-FA53-A841-A742-7144FD658D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936282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Hinge loss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r>
                  <a:rPr lang="en-US" dirty="0"/>
                  <a:t>Attacker can…</a:t>
                </a:r>
              </a:p>
              <a:p>
                <a:pPr lvl="1"/>
                <a:r>
                  <a:rPr lang="en-US" dirty="0"/>
                  <a:t>Whitebox attack on the model</a:t>
                </a:r>
              </a:p>
              <a:p>
                <a:pPr lvl="1"/>
                <a:r>
                  <a:rPr lang="en-US" dirty="0"/>
                  <a:t>Have access to the clean data set</a:t>
                </a:r>
              </a:p>
              <a:p>
                <a:pPr lvl="1"/>
                <a:r>
                  <a:rPr lang="en-US" dirty="0"/>
                  <a:t>Objective: untargeted attack (i.e. maximize the test loss</a:t>
                </a:r>
              </a:p>
              <a:p>
                <a:r>
                  <a:rPr lang="en-US" dirty="0"/>
                  <a:t>Defender can…</a:t>
                </a:r>
              </a:p>
              <a:p>
                <a:pPr lvl="1"/>
                <a:r>
                  <a:rPr lang="en-US" dirty="0"/>
                  <a:t>Sanitize data</a:t>
                </a:r>
              </a:p>
              <a:p>
                <a:r>
                  <a:rPr lang="en-US" dirty="0"/>
                  <a:t>Tightness depends on the data set</a:t>
                </a:r>
              </a:p>
              <a:p>
                <a:pPr lvl="1"/>
                <a:r>
                  <a:rPr lang="en-US" dirty="0"/>
                  <a:t>MNIST results in tight bound</a:t>
                </a:r>
              </a:p>
              <a:p>
                <a:pPr lvl="1"/>
                <a:r>
                  <a:rPr lang="en-US" dirty="0"/>
                  <a:t>IMDB does not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C5D2F1-FA53-A841-A742-7144FD658D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936282" cy="4351338"/>
              </a:xfrm>
              <a:blipFill>
                <a:blip r:embed="rId3"/>
                <a:stretch>
                  <a:fillRect l="-1278" t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98AB5C-AB04-A942-A9C8-7221EE8D068F}"/>
                  </a:ext>
                </a:extLst>
              </p:cNvPr>
              <p:cNvSpPr txBox="1"/>
              <p:nvPr/>
            </p:nvSpPr>
            <p:spPr>
              <a:xfrm>
                <a:off x="8774482" y="1834976"/>
                <a:ext cx="257931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:= model</a:t>
                </a:r>
              </a:p>
              <a:p>
                <a:pPr algn="ctr"/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98AB5C-AB04-A942-A9C8-7221EE8D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482" y="1834976"/>
                <a:ext cx="2579317" cy="646331"/>
              </a:xfrm>
              <a:prstGeom prst="rect">
                <a:avLst/>
              </a:prstGeom>
              <a:blipFill>
                <a:blip r:embed="rId4"/>
                <a:stretch>
                  <a:fillRect t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6094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E268A6-3456-F840-85BC-0B1F199E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formalize the problem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54381-70AF-D647-910E-22D37F6F0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617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3E519-5B04-9E41-85AA-D82F3AA6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Formalization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9B0C92-9BD0-1642-84D7-BF70B149C3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989" y="1825625"/>
                <a:ext cx="7936282" cy="4351338"/>
              </a:xfrm>
            </p:spPr>
            <p:txBody>
              <a:bodyPr/>
              <a:lstStyle/>
              <a:p>
                <a:r>
                  <a:rPr lang="en-US" dirty="0"/>
                  <a:t>Binary classification</a:t>
                </a:r>
              </a:p>
              <a:p>
                <a:r>
                  <a:rPr lang="en-US" dirty="0"/>
                  <a:t>Hinge loss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⁡(0,1−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Clean data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 with </a:t>
                </a:r>
                <a:r>
                  <a:rPr lang="en-US" i="1" dirty="0"/>
                  <a:t>n</a:t>
                </a:r>
                <a:r>
                  <a:rPr lang="en-US" dirty="0"/>
                  <a:t> data points drawn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Attacker can insert poison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portion of </a:t>
                </a:r>
                <a:r>
                  <a:rPr lang="en-US" i="1" dirty="0"/>
                  <a:t>n </a:t>
                </a:r>
                <a:r>
                  <a:rPr lang="en-US" dirty="0"/>
                  <a:t>(i.e.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Model ends up training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Resulting in model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Resulting in test loss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 lets filter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9B0C92-9BD0-1642-84D7-BF70B149C3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989" y="1825625"/>
                <a:ext cx="7936282" cy="4351338"/>
              </a:xfrm>
              <a:blipFill>
                <a:blip r:embed="rId3"/>
                <a:stretch>
                  <a:fillRect l="-1118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2D9BC1-FAF3-FB44-AF84-697CDA079418}"/>
                  </a:ext>
                </a:extLst>
              </p:cNvPr>
              <p:cNvSpPr txBox="1"/>
              <p:nvPr/>
            </p:nvSpPr>
            <p:spPr>
              <a:xfrm>
                <a:off x="8774482" y="1834976"/>
                <a:ext cx="2579317" cy="19626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:= model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dirty="0"/>
                  <a:t>:= Clean data set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/>
                  <a:t>:= Poisoned data set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:= test loss</a:t>
                </a:r>
              </a:p>
              <a:p>
                <a:pPr algn="ctr"/>
                <a:endParaRPr lang="en-US" sz="2000" dirty="0"/>
              </a:p>
              <a:p>
                <a:pPr algn="ctr"/>
                <a:endParaRPr lang="en-US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2D9BC1-FAF3-FB44-AF84-697CDA079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482" y="1834976"/>
                <a:ext cx="2579317" cy="1962653"/>
              </a:xfrm>
              <a:prstGeom prst="rect">
                <a:avLst/>
              </a:prstGeom>
              <a:blipFill>
                <a:blip r:embed="rId4"/>
                <a:stretch>
                  <a:fillRect t="-1290" r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9215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5746-ECBE-D940-8069-81B54AAD5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Sanitization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553E7-F683-0549-8EA6-80053DCE2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36282" cy="4351338"/>
          </a:xfrm>
        </p:spPr>
        <p:txBody>
          <a:bodyPr/>
          <a:lstStyle/>
          <a:p>
            <a:r>
              <a:rPr lang="en-US" dirty="0"/>
              <a:t>Use feasible set </a:t>
            </a:r>
            <a:r>
              <a:rPr lang="en-US" i="1" dirty="0"/>
              <a:t>F </a:t>
            </a:r>
            <a:r>
              <a:rPr lang="en-US" dirty="0"/>
              <a:t>to filter some of poisoned data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Ball filter</a:t>
            </a:r>
          </a:p>
          <a:p>
            <a:endParaRPr lang="en-US" dirty="0"/>
          </a:p>
          <a:p>
            <a:r>
              <a:rPr lang="en-US" dirty="0"/>
              <a:t>Slab filter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EFF155-579A-7140-88DA-5D5204AF1B58}"/>
                  </a:ext>
                </a:extLst>
              </p:cNvPr>
              <p:cNvSpPr txBox="1"/>
              <p:nvPr/>
            </p:nvSpPr>
            <p:spPr>
              <a:xfrm>
                <a:off x="8774482" y="1834976"/>
                <a:ext cx="2624203" cy="3870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:= model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dirty="0"/>
                  <a:t>:= Clean data set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/>
                  <a:t>:= Poisoned data set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:= test loss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2000" dirty="0"/>
                  <a:t> := model trained on the filtered set</a:t>
                </a:r>
              </a:p>
              <a:p>
                <a:pPr algn="ctr"/>
                <a:r>
                  <a:rPr lang="en-US" sz="2000" dirty="0"/>
                  <a:t>F:=Feasible set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000" dirty="0"/>
                  <a:t>:= Centroid of class y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000" dirty="0"/>
                  <a:t>:= Threshold</a:t>
                </a:r>
              </a:p>
              <a:p>
                <a:pPr algn="ctr"/>
                <a:endParaRPr lang="en-US" sz="2000" dirty="0"/>
              </a:p>
              <a:p>
                <a:pPr algn="ctr"/>
                <a:endParaRPr lang="en-US" sz="2000" dirty="0"/>
              </a:p>
              <a:p>
                <a:pPr algn="ctr"/>
                <a:endParaRPr lang="en-US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EFF155-579A-7140-88DA-5D5204AF1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482" y="1834976"/>
                <a:ext cx="2624203" cy="3870740"/>
              </a:xfrm>
              <a:prstGeom prst="rect">
                <a:avLst/>
              </a:prstGeom>
              <a:blipFill>
                <a:blip r:embed="rId3"/>
                <a:stretch>
                  <a:fillRect t="-656" r="-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332BFBD-F3D9-DE4C-97E2-A9F566FB9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308" y="2390703"/>
            <a:ext cx="7936282" cy="900511"/>
          </a:xfrm>
          <a:prstGeom prst="rect">
            <a:avLst/>
          </a:prstGeom>
        </p:spPr>
      </p:pic>
      <p:pic>
        <p:nvPicPr>
          <p:cNvPr id="8" name="Picture 7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052F7D6B-65D2-FD41-92E7-DF9882C8D3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1635" y="3721360"/>
            <a:ext cx="4986925" cy="7049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C656B6-0CE2-274B-805D-66D897EFE1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1635" y="4895496"/>
            <a:ext cx="6349739" cy="69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56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C252A-5051-E046-B156-C739DBC70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B4824E8A-0895-B74D-BE54-13E2D9F4AB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830301"/>
            <a:ext cx="10515600" cy="4341985"/>
          </a:xfrm>
        </p:spPr>
      </p:pic>
    </p:spTree>
    <p:extLst>
      <p:ext uri="{BB962C8B-B14F-4D97-AF65-F5344CB8AC3E}">
        <p14:creationId xmlns:p14="http://schemas.microsoft.com/office/powerpoint/2010/main" val="2742620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877D7-67F2-F443-97FA-7A41CEDC9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Formally Worst Case Loss is…</a:t>
            </a:r>
          </a:p>
        </p:txBody>
      </p:sp>
      <p:pic>
        <p:nvPicPr>
          <p:cNvPr id="5" name="Content Placeholder 4" descr="A picture containing knife&#10;&#10;Description automatically generated">
            <a:extLst>
              <a:ext uri="{FF2B5EF4-FFF2-40B4-BE49-F238E27FC236}">
                <a16:creationId xmlns:a16="http://schemas.microsoft.com/office/drawing/2014/main" id="{B23BBFC2-4FE5-134D-8EE0-37FB75D90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2795286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6C4BBC-8B3A-DA4E-8F71-E5950DA9F282}"/>
              </a:ext>
            </a:extLst>
          </p:cNvPr>
          <p:cNvSpPr txBox="1"/>
          <p:nvPr/>
        </p:nvSpPr>
        <p:spPr>
          <a:xfrm>
            <a:off x="2082718" y="4493893"/>
            <a:ext cx="8026563" cy="461665"/>
          </a:xfrm>
          <a:prstGeom prst="rect">
            <a:avLst/>
          </a:pr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026563"/>
                      <a:gd name="connsiteY0" fmla="*/ 0 h 461665"/>
                      <a:gd name="connsiteX1" fmla="*/ 493060 w 8026563"/>
                      <a:gd name="connsiteY1" fmla="*/ 0 h 461665"/>
                      <a:gd name="connsiteX2" fmla="*/ 825589 w 8026563"/>
                      <a:gd name="connsiteY2" fmla="*/ 0 h 461665"/>
                      <a:gd name="connsiteX3" fmla="*/ 1559447 w 8026563"/>
                      <a:gd name="connsiteY3" fmla="*/ 0 h 461665"/>
                      <a:gd name="connsiteX4" fmla="*/ 2052507 w 8026563"/>
                      <a:gd name="connsiteY4" fmla="*/ 0 h 461665"/>
                      <a:gd name="connsiteX5" fmla="*/ 2545567 w 8026563"/>
                      <a:gd name="connsiteY5" fmla="*/ 0 h 461665"/>
                      <a:gd name="connsiteX6" fmla="*/ 3279424 w 8026563"/>
                      <a:gd name="connsiteY6" fmla="*/ 0 h 461665"/>
                      <a:gd name="connsiteX7" fmla="*/ 3692219 w 8026563"/>
                      <a:gd name="connsiteY7" fmla="*/ 0 h 461665"/>
                      <a:gd name="connsiteX8" fmla="*/ 4426076 w 8026563"/>
                      <a:gd name="connsiteY8" fmla="*/ 0 h 461665"/>
                      <a:gd name="connsiteX9" fmla="*/ 5159933 w 8026563"/>
                      <a:gd name="connsiteY9" fmla="*/ 0 h 461665"/>
                      <a:gd name="connsiteX10" fmla="*/ 5733259 w 8026563"/>
                      <a:gd name="connsiteY10" fmla="*/ 0 h 461665"/>
                      <a:gd name="connsiteX11" fmla="*/ 6467116 w 8026563"/>
                      <a:gd name="connsiteY11" fmla="*/ 0 h 461665"/>
                      <a:gd name="connsiteX12" fmla="*/ 6960177 w 8026563"/>
                      <a:gd name="connsiteY12" fmla="*/ 0 h 461665"/>
                      <a:gd name="connsiteX13" fmla="*/ 7453237 w 8026563"/>
                      <a:gd name="connsiteY13" fmla="*/ 0 h 461665"/>
                      <a:gd name="connsiteX14" fmla="*/ 8026563 w 8026563"/>
                      <a:gd name="connsiteY14" fmla="*/ 0 h 461665"/>
                      <a:gd name="connsiteX15" fmla="*/ 8026563 w 8026563"/>
                      <a:gd name="connsiteY15" fmla="*/ 461665 h 461665"/>
                      <a:gd name="connsiteX16" fmla="*/ 7453237 w 8026563"/>
                      <a:gd name="connsiteY16" fmla="*/ 461665 h 461665"/>
                      <a:gd name="connsiteX17" fmla="*/ 6719380 w 8026563"/>
                      <a:gd name="connsiteY17" fmla="*/ 461665 h 461665"/>
                      <a:gd name="connsiteX18" fmla="*/ 6146054 w 8026563"/>
                      <a:gd name="connsiteY18" fmla="*/ 461665 h 461665"/>
                      <a:gd name="connsiteX19" fmla="*/ 5813525 w 8026563"/>
                      <a:gd name="connsiteY19" fmla="*/ 461665 h 461665"/>
                      <a:gd name="connsiteX20" fmla="*/ 5400730 w 8026563"/>
                      <a:gd name="connsiteY20" fmla="*/ 461665 h 461665"/>
                      <a:gd name="connsiteX21" fmla="*/ 4666873 w 8026563"/>
                      <a:gd name="connsiteY21" fmla="*/ 461665 h 461665"/>
                      <a:gd name="connsiteX22" fmla="*/ 4093547 w 8026563"/>
                      <a:gd name="connsiteY22" fmla="*/ 461665 h 461665"/>
                      <a:gd name="connsiteX23" fmla="*/ 3680752 w 8026563"/>
                      <a:gd name="connsiteY23" fmla="*/ 461665 h 461665"/>
                      <a:gd name="connsiteX24" fmla="*/ 3107427 w 8026563"/>
                      <a:gd name="connsiteY24" fmla="*/ 461665 h 461665"/>
                      <a:gd name="connsiteX25" fmla="*/ 2774897 w 8026563"/>
                      <a:gd name="connsiteY25" fmla="*/ 461665 h 461665"/>
                      <a:gd name="connsiteX26" fmla="*/ 2442368 w 8026563"/>
                      <a:gd name="connsiteY26" fmla="*/ 461665 h 461665"/>
                      <a:gd name="connsiteX27" fmla="*/ 1869043 w 8026563"/>
                      <a:gd name="connsiteY27" fmla="*/ 461665 h 461665"/>
                      <a:gd name="connsiteX28" fmla="*/ 1456248 w 8026563"/>
                      <a:gd name="connsiteY28" fmla="*/ 461665 h 461665"/>
                      <a:gd name="connsiteX29" fmla="*/ 802656 w 8026563"/>
                      <a:gd name="connsiteY29" fmla="*/ 461665 h 461665"/>
                      <a:gd name="connsiteX30" fmla="*/ 0 w 8026563"/>
                      <a:gd name="connsiteY30" fmla="*/ 461665 h 461665"/>
                      <a:gd name="connsiteX31" fmla="*/ 0 w 8026563"/>
                      <a:gd name="connsiteY31" fmla="*/ 0 h 4616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8026563" h="461665" extrusionOk="0">
                        <a:moveTo>
                          <a:pt x="0" y="0"/>
                        </a:moveTo>
                        <a:cubicBezTo>
                          <a:pt x="150492" y="-14977"/>
                          <a:pt x="358682" y="30301"/>
                          <a:pt x="493060" y="0"/>
                        </a:cubicBezTo>
                        <a:cubicBezTo>
                          <a:pt x="627438" y="-30301"/>
                          <a:pt x="732893" y="14311"/>
                          <a:pt x="825589" y="0"/>
                        </a:cubicBezTo>
                        <a:cubicBezTo>
                          <a:pt x="918285" y="-14311"/>
                          <a:pt x="1366721" y="45250"/>
                          <a:pt x="1559447" y="0"/>
                        </a:cubicBezTo>
                        <a:cubicBezTo>
                          <a:pt x="1752173" y="-45250"/>
                          <a:pt x="1935083" y="39717"/>
                          <a:pt x="2052507" y="0"/>
                        </a:cubicBezTo>
                        <a:cubicBezTo>
                          <a:pt x="2169931" y="-39717"/>
                          <a:pt x="2443781" y="58938"/>
                          <a:pt x="2545567" y="0"/>
                        </a:cubicBezTo>
                        <a:cubicBezTo>
                          <a:pt x="2647353" y="-58938"/>
                          <a:pt x="3015076" y="82201"/>
                          <a:pt x="3279424" y="0"/>
                        </a:cubicBezTo>
                        <a:cubicBezTo>
                          <a:pt x="3543772" y="-82201"/>
                          <a:pt x="3495879" y="29267"/>
                          <a:pt x="3692219" y="0"/>
                        </a:cubicBezTo>
                        <a:cubicBezTo>
                          <a:pt x="3888559" y="-29267"/>
                          <a:pt x="4119337" y="27650"/>
                          <a:pt x="4426076" y="0"/>
                        </a:cubicBezTo>
                        <a:cubicBezTo>
                          <a:pt x="4732815" y="-27650"/>
                          <a:pt x="4893902" y="18722"/>
                          <a:pt x="5159933" y="0"/>
                        </a:cubicBezTo>
                        <a:cubicBezTo>
                          <a:pt x="5425964" y="-18722"/>
                          <a:pt x="5576384" y="26376"/>
                          <a:pt x="5733259" y="0"/>
                        </a:cubicBezTo>
                        <a:cubicBezTo>
                          <a:pt x="5890134" y="-26376"/>
                          <a:pt x="6103596" y="10388"/>
                          <a:pt x="6467116" y="0"/>
                        </a:cubicBezTo>
                        <a:cubicBezTo>
                          <a:pt x="6830636" y="-10388"/>
                          <a:pt x="6755257" y="53064"/>
                          <a:pt x="6960177" y="0"/>
                        </a:cubicBezTo>
                        <a:cubicBezTo>
                          <a:pt x="7165097" y="-53064"/>
                          <a:pt x="7352492" y="53315"/>
                          <a:pt x="7453237" y="0"/>
                        </a:cubicBezTo>
                        <a:cubicBezTo>
                          <a:pt x="7553982" y="-53315"/>
                          <a:pt x="7745230" y="321"/>
                          <a:pt x="8026563" y="0"/>
                        </a:cubicBezTo>
                        <a:cubicBezTo>
                          <a:pt x="8079552" y="131310"/>
                          <a:pt x="8001783" y="251861"/>
                          <a:pt x="8026563" y="461665"/>
                        </a:cubicBezTo>
                        <a:cubicBezTo>
                          <a:pt x="7813538" y="466105"/>
                          <a:pt x="7593892" y="400242"/>
                          <a:pt x="7453237" y="461665"/>
                        </a:cubicBezTo>
                        <a:cubicBezTo>
                          <a:pt x="7312582" y="523088"/>
                          <a:pt x="6945005" y="402948"/>
                          <a:pt x="6719380" y="461665"/>
                        </a:cubicBezTo>
                        <a:cubicBezTo>
                          <a:pt x="6493755" y="520382"/>
                          <a:pt x="6296119" y="450531"/>
                          <a:pt x="6146054" y="461665"/>
                        </a:cubicBezTo>
                        <a:cubicBezTo>
                          <a:pt x="5995989" y="472799"/>
                          <a:pt x="5952016" y="425462"/>
                          <a:pt x="5813525" y="461665"/>
                        </a:cubicBezTo>
                        <a:cubicBezTo>
                          <a:pt x="5675034" y="497868"/>
                          <a:pt x="5511236" y="421207"/>
                          <a:pt x="5400730" y="461665"/>
                        </a:cubicBezTo>
                        <a:cubicBezTo>
                          <a:pt x="5290225" y="502123"/>
                          <a:pt x="4927999" y="435768"/>
                          <a:pt x="4666873" y="461665"/>
                        </a:cubicBezTo>
                        <a:cubicBezTo>
                          <a:pt x="4405747" y="487562"/>
                          <a:pt x="4267695" y="398096"/>
                          <a:pt x="4093547" y="461665"/>
                        </a:cubicBezTo>
                        <a:cubicBezTo>
                          <a:pt x="3919399" y="525234"/>
                          <a:pt x="3844475" y="450964"/>
                          <a:pt x="3680752" y="461665"/>
                        </a:cubicBezTo>
                        <a:cubicBezTo>
                          <a:pt x="3517029" y="472366"/>
                          <a:pt x="3348384" y="411455"/>
                          <a:pt x="3107427" y="461665"/>
                        </a:cubicBezTo>
                        <a:cubicBezTo>
                          <a:pt x="2866471" y="511875"/>
                          <a:pt x="2926375" y="445285"/>
                          <a:pt x="2774897" y="461665"/>
                        </a:cubicBezTo>
                        <a:cubicBezTo>
                          <a:pt x="2623419" y="478045"/>
                          <a:pt x="2523615" y="449692"/>
                          <a:pt x="2442368" y="461665"/>
                        </a:cubicBezTo>
                        <a:cubicBezTo>
                          <a:pt x="2361121" y="473638"/>
                          <a:pt x="2011678" y="429888"/>
                          <a:pt x="1869043" y="461665"/>
                        </a:cubicBezTo>
                        <a:cubicBezTo>
                          <a:pt x="1726409" y="493442"/>
                          <a:pt x="1548593" y="424735"/>
                          <a:pt x="1456248" y="461665"/>
                        </a:cubicBezTo>
                        <a:cubicBezTo>
                          <a:pt x="1363904" y="498595"/>
                          <a:pt x="1045333" y="450365"/>
                          <a:pt x="802656" y="461665"/>
                        </a:cubicBezTo>
                        <a:cubicBezTo>
                          <a:pt x="559979" y="472965"/>
                          <a:pt x="178074" y="406560"/>
                          <a:pt x="0" y="461665"/>
                        </a:cubicBezTo>
                        <a:cubicBezTo>
                          <a:pt x="-39809" y="284554"/>
                          <a:pt x="50270" y="20807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Attacker is trying to maximize the loss given the filter </a:t>
            </a:r>
            <a:r>
              <a:rPr lang="en-US" sz="2400" i="1" dirty="0"/>
              <a:t>F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91535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877D7-67F2-F443-97FA-7A41CEDC9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Formally Worst Case Loss is…</a:t>
            </a:r>
          </a:p>
        </p:txBody>
      </p:sp>
      <p:pic>
        <p:nvPicPr>
          <p:cNvPr id="5" name="Content Placeholder 4" descr="A picture containing knife&#10;&#10;Description automatically generated">
            <a:extLst>
              <a:ext uri="{FF2B5EF4-FFF2-40B4-BE49-F238E27FC236}">
                <a16:creationId xmlns:a16="http://schemas.microsoft.com/office/drawing/2014/main" id="{B23BBFC2-4FE5-134D-8EE0-37FB75D90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2795286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D96428-262C-9B4E-B0F6-26BED802A469}"/>
              </a:ext>
            </a:extLst>
          </p:cNvPr>
          <p:cNvCxnSpPr>
            <a:cxnSpLocks/>
          </p:cNvCxnSpPr>
          <p:nvPr/>
        </p:nvCxnSpPr>
        <p:spPr>
          <a:xfrm flipV="1">
            <a:off x="2780778" y="2542784"/>
            <a:ext cx="0" cy="19431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16C4BBC-8B3A-DA4E-8F71-E5950DA9F282}"/>
              </a:ext>
            </a:extLst>
          </p:cNvPr>
          <p:cNvSpPr txBox="1"/>
          <p:nvPr/>
        </p:nvSpPr>
        <p:spPr>
          <a:xfrm>
            <a:off x="838200" y="4485974"/>
            <a:ext cx="8026563" cy="461665"/>
          </a:xfrm>
          <a:prstGeom prst="rect">
            <a:avLst/>
          </a:prstGeom>
          <a:noFill/>
          <a:ln w="3810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026563"/>
                      <a:gd name="connsiteY0" fmla="*/ 0 h 461665"/>
                      <a:gd name="connsiteX1" fmla="*/ 493060 w 8026563"/>
                      <a:gd name="connsiteY1" fmla="*/ 0 h 461665"/>
                      <a:gd name="connsiteX2" fmla="*/ 825589 w 8026563"/>
                      <a:gd name="connsiteY2" fmla="*/ 0 h 461665"/>
                      <a:gd name="connsiteX3" fmla="*/ 1559447 w 8026563"/>
                      <a:gd name="connsiteY3" fmla="*/ 0 h 461665"/>
                      <a:gd name="connsiteX4" fmla="*/ 2052507 w 8026563"/>
                      <a:gd name="connsiteY4" fmla="*/ 0 h 461665"/>
                      <a:gd name="connsiteX5" fmla="*/ 2545567 w 8026563"/>
                      <a:gd name="connsiteY5" fmla="*/ 0 h 461665"/>
                      <a:gd name="connsiteX6" fmla="*/ 3279424 w 8026563"/>
                      <a:gd name="connsiteY6" fmla="*/ 0 h 461665"/>
                      <a:gd name="connsiteX7" fmla="*/ 3692219 w 8026563"/>
                      <a:gd name="connsiteY7" fmla="*/ 0 h 461665"/>
                      <a:gd name="connsiteX8" fmla="*/ 4426076 w 8026563"/>
                      <a:gd name="connsiteY8" fmla="*/ 0 h 461665"/>
                      <a:gd name="connsiteX9" fmla="*/ 5159933 w 8026563"/>
                      <a:gd name="connsiteY9" fmla="*/ 0 h 461665"/>
                      <a:gd name="connsiteX10" fmla="*/ 5733259 w 8026563"/>
                      <a:gd name="connsiteY10" fmla="*/ 0 h 461665"/>
                      <a:gd name="connsiteX11" fmla="*/ 6467116 w 8026563"/>
                      <a:gd name="connsiteY11" fmla="*/ 0 h 461665"/>
                      <a:gd name="connsiteX12" fmla="*/ 6960177 w 8026563"/>
                      <a:gd name="connsiteY12" fmla="*/ 0 h 461665"/>
                      <a:gd name="connsiteX13" fmla="*/ 7453237 w 8026563"/>
                      <a:gd name="connsiteY13" fmla="*/ 0 h 461665"/>
                      <a:gd name="connsiteX14" fmla="*/ 8026563 w 8026563"/>
                      <a:gd name="connsiteY14" fmla="*/ 0 h 461665"/>
                      <a:gd name="connsiteX15" fmla="*/ 8026563 w 8026563"/>
                      <a:gd name="connsiteY15" fmla="*/ 461665 h 461665"/>
                      <a:gd name="connsiteX16" fmla="*/ 7453237 w 8026563"/>
                      <a:gd name="connsiteY16" fmla="*/ 461665 h 461665"/>
                      <a:gd name="connsiteX17" fmla="*/ 6719380 w 8026563"/>
                      <a:gd name="connsiteY17" fmla="*/ 461665 h 461665"/>
                      <a:gd name="connsiteX18" fmla="*/ 6146054 w 8026563"/>
                      <a:gd name="connsiteY18" fmla="*/ 461665 h 461665"/>
                      <a:gd name="connsiteX19" fmla="*/ 5813525 w 8026563"/>
                      <a:gd name="connsiteY19" fmla="*/ 461665 h 461665"/>
                      <a:gd name="connsiteX20" fmla="*/ 5400730 w 8026563"/>
                      <a:gd name="connsiteY20" fmla="*/ 461665 h 461665"/>
                      <a:gd name="connsiteX21" fmla="*/ 4666873 w 8026563"/>
                      <a:gd name="connsiteY21" fmla="*/ 461665 h 461665"/>
                      <a:gd name="connsiteX22" fmla="*/ 4093547 w 8026563"/>
                      <a:gd name="connsiteY22" fmla="*/ 461665 h 461665"/>
                      <a:gd name="connsiteX23" fmla="*/ 3680752 w 8026563"/>
                      <a:gd name="connsiteY23" fmla="*/ 461665 h 461665"/>
                      <a:gd name="connsiteX24" fmla="*/ 3107427 w 8026563"/>
                      <a:gd name="connsiteY24" fmla="*/ 461665 h 461665"/>
                      <a:gd name="connsiteX25" fmla="*/ 2774897 w 8026563"/>
                      <a:gd name="connsiteY25" fmla="*/ 461665 h 461665"/>
                      <a:gd name="connsiteX26" fmla="*/ 2442368 w 8026563"/>
                      <a:gd name="connsiteY26" fmla="*/ 461665 h 461665"/>
                      <a:gd name="connsiteX27" fmla="*/ 1869043 w 8026563"/>
                      <a:gd name="connsiteY27" fmla="*/ 461665 h 461665"/>
                      <a:gd name="connsiteX28" fmla="*/ 1456248 w 8026563"/>
                      <a:gd name="connsiteY28" fmla="*/ 461665 h 461665"/>
                      <a:gd name="connsiteX29" fmla="*/ 802656 w 8026563"/>
                      <a:gd name="connsiteY29" fmla="*/ 461665 h 461665"/>
                      <a:gd name="connsiteX30" fmla="*/ 0 w 8026563"/>
                      <a:gd name="connsiteY30" fmla="*/ 461665 h 461665"/>
                      <a:gd name="connsiteX31" fmla="*/ 0 w 8026563"/>
                      <a:gd name="connsiteY31" fmla="*/ 0 h 4616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8026563" h="461665" extrusionOk="0">
                        <a:moveTo>
                          <a:pt x="0" y="0"/>
                        </a:moveTo>
                        <a:cubicBezTo>
                          <a:pt x="150492" y="-14977"/>
                          <a:pt x="358682" y="30301"/>
                          <a:pt x="493060" y="0"/>
                        </a:cubicBezTo>
                        <a:cubicBezTo>
                          <a:pt x="627438" y="-30301"/>
                          <a:pt x="732893" y="14311"/>
                          <a:pt x="825589" y="0"/>
                        </a:cubicBezTo>
                        <a:cubicBezTo>
                          <a:pt x="918285" y="-14311"/>
                          <a:pt x="1366721" y="45250"/>
                          <a:pt x="1559447" y="0"/>
                        </a:cubicBezTo>
                        <a:cubicBezTo>
                          <a:pt x="1752173" y="-45250"/>
                          <a:pt x="1935083" y="39717"/>
                          <a:pt x="2052507" y="0"/>
                        </a:cubicBezTo>
                        <a:cubicBezTo>
                          <a:pt x="2169931" y="-39717"/>
                          <a:pt x="2443781" y="58938"/>
                          <a:pt x="2545567" y="0"/>
                        </a:cubicBezTo>
                        <a:cubicBezTo>
                          <a:pt x="2647353" y="-58938"/>
                          <a:pt x="3015076" y="82201"/>
                          <a:pt x="3279424" y="0"/>
                        </a:cubicBezTo>
                        <a:cubicBezTo>
                          <a:pt x="3543772" y="-82201"/>
                          <a:pt x="3495879" y="29267"/>
                          <a:pt x="3692219" y="0"/>
                        </a:cubicBezTo>
                        <a:cubicBezTo>
                          <a:pt x="3888559" y="-29267"/>
                          <a:pt x="4119337" y="27650"/>
                          <a:pt x="4426076" y="0"/>
                        </a:cubicBezTo>
                        <a:cubicBezTo>
                          <a:pt x="4732815" y="-27650"/>
                          <a:pt x="4893902" y="18722"/>
                          <a:pt x="5159933" y="0"/>
                        </a:cubicBezTo>
                        <a:cubicBezTo>
                          <a:pt x="5425964" y="-18722"/>
                          <a:pt x="5576384" y="26376"/>
                          <a:pt x="5733259" y="0"/>
                        </a:cubicBezTo>
                        <a:cubicBezTo>
                          <a:pt x="5890134" y="-26376"/>
                          <a:pt x="6103596" y="10388"/>
                          <a:pt x="6467116" y="0"/>
                        </a:cubicBezTo>
                        <a:cubicBezTo>
                          <a:pt x="6830636" y="-10388"/>
                          <a:pt x="6755257" y="53064"/>
                          <a:pt x="6960177" y="0"/>
                        </a:cubicBezTo>
                        <a:cubicBezTo>
                          <a:pt x="7165097" y="-53064"/>
                          <a:pt x="7352492" y="53315"/>
                          <a:pt x="7453237" y="0"/>
                        </a:cubicBezTo>
                        <a:cubicBezTo>
                          <a:pt x="7553982" y="-53315"/>
                          <a:pt x="7745230" y="321"/>
                          <a:pt x="8026563" y="0"/>
                        </a:cubicBezTo>
                        <a:cubicBezTo>
                          <a:pt x="8079552" y="131310"/>
                          <a:pt x="8001783" y="251861"/>
                          <a:pt x="8026563" y="461665"/>
                        </a:cubicBezTo>
                        <a:cubicBezTo>
                          <a:pt x="7813538" y="466105"/>
                          <a:pt x="7593892" y="400242"/>
                          <a:pt x="7453237" y="461665"/>
                        </a:cubicBezTo>
                        <a:cubicBezTo>
                          <a:pt x="7312582" y="523088"/>
                          <a:pt x="6945005" y="402948"/>
                          <a:pt x="6719380" y="461665"/>
                        </a:cubicBezTo>
                        <a:cubicBezTo>
                          <a:pt x="6493755" y="520382"/>
                          <a:pt x="6296119" y="450531"/>
                          <a:pt x="6146054" y="461665"/>
                        </a:cubicBezTo>
                        <a:cubicBezTo>
                          <a:pt x="5995989" y="472799"/>
                          <a:pt x="5952016" y="425462"/>
                          <a:pt x="5813525" y="461665"/>
                        </a:cubicBezTo>
                        <a:cubicBezTo>
                          <a:pt x="5675034" y="497868"/>
                          <a:pt x="5511236" y="421207"/>
                          <a:pt x="5400730" y="461665"/>
                        </a:cubicBezTo>
                        <a:cubicBezTo>
                          <a:pt x="5290225" y="502123"/>
                          <a:pt x="4927999" y="435768"/>
                          <a:pt x="4666873" y="461665"/>
                        </a:cubicBezTo>
                        <a:cubicBezTo>
                          <a:pt x="4405747" y="487562"/>
                          <a:pt x="4267695" y="398096"/>
                          <a:pt x="4093547" y="461665"/>
                        </a:cubicBezTo>
                        <a:cubicBezTo>
                          <a:pt x="3919399" y="525234"/>
                          <a:pt x="3844475" y="450964"/>
                          <a:pt x="3680752" y="461665"/>
                        </a:cubicBezTo>
                        <a:cubicBezTo>
                          <a:pt x="3517029" y="472366"/>
                          <a:pt x="3348384" y="411455"/>
                          <a:pt x="3107427" y="461665"/>
                        </a:cubicBezTo>
                        <a:cubicBezTo>
                          <a:pt x="2866471" y="511875"/>
                          <a:pt x="2926375" y="445285"/>
                          <a:pt x="2774897" y="461665"/>
                        </a:cubicBezTo>
                        <a:cubicBezTo>
                          <a:pt x="2623419" y="478045"/>
                          <a:pt x="2523615" y="449692"/>
                          <a:pt x="2442368" y="461665"/>
                        </a:cubicBezTo>
                        <a:cubicBezTo>
                          <a:pt x="2361121" y="473638"/>
                          <a:pt x="2011678" y="429888"/>
                          <a:pt x="1869043" y="461665"/>
                        </a:cubicBezTo>
                        <a:cubicBezTo>
                          <a:pt x="1726409" y="493442"/>
                          <a:pt x="1548593" y="424735"/>
                          <a:pt x="1456248" y="461665"/>
                        </a:cubicBezTo>
                        <a:cubicBezTo>
                          <a:pt x="1363904" y="498595"/>
                          <a:pt x="1045333" y="450365"/>
                          <a:pt x="802656" y="461665"/>
                        </a:cubicBezTo>
                        <a:cubicBezTo>
                          <a:pt x="559979" y="472965"/>
                          <a:pt x="178074" y="406560"/>
                          <a:pt x="0" y="461665"/>
                        </a:cubicBezTo>
                        <a:cubicBezTo>
                          <a:pt x="-39809" y="284554"/>
                          <a:pt x="50270" y="20807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Training and test loss are similar assuming model is regularized.</a:t>
            </a:r>
          </a:p>
        </p:txBody>
      </p:sp>
    </p:spTree>
    <p:extLst>
      <p:ext uri="{BB962C8B-B14F-4D97-AF65-F5344CB8AC3E}">
        <p14:creationId xmlns:p14="http://schemas.microsoft.com/office/powerpoint/2010/main" val="1407529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877D7-67F2-F443-97FA-7A41CEDC9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Formally Worst Case Loss is…</a:t>
            </a:r>
          </a:p>
        </p:txBody>
      </p:sp>
      <p:pic>
        <p:nvPicPr>
          <p:cNvPr id="5" name="Content Placeholder 4" descr="A picture containing knife&#10;&#10;Description automatically generated">
            <a:extLst>
              <a:ext uri="{FF2B5EF4-FFF2-40B4-BE49-F238E27FC236}">
                <a16:creationId xmlns:a16="http://schemas.microsoft.com/office/drawing/2014/main" id="{B23BBFC2-4FE5-134D-8EE0-37FB75D90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2795286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9B5EC9-EF65-4D4A-92CD-55C417F6D530}"/>
              </a:ext>
            </a:extLst>
          </p:cNvPr>
          <p:cNvSpPr txBox="1"/>
          <p:nvPr/>
        </p:nvSpPr>
        <p:spPr>
          <a:xfrm>
            <a:off x="838200" y="4485974"/>
            <a:ext cx="9276567" cy="461665"/>
          </a:xfrm>
          <a:prstGeom prst="rect">
            <a:avLst/>
          </a:prstGeom>
          <a:noFill/>
          <a:ln w="381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026563"/>
                      <a:gd name="connsiteY0" fmla="*/ 0 h 461665"/>
                      <a:gd name="connsiteX1" fmla="*/ 493060 w 8026563"/>
                      <a:gd name="connsiteY1" fmla="*/ 0 h 461665"/>
                      <a:gd name="connsiteX2" fmla="*/ 825589 w 8026563"/>
                      <a:gd name="connsiteY2" fmla="*/ 0 h 461665"/>
                      <a:gd name="connsiteX3" fmla="*/ 1559447 w 8026563"/>
                      <a:gd name="connsiteY3" fmla="*/ 0 h 461665"/>
                      <a:gd name="connsiteX4" fmla="*/ 2052507 w 8026563"/>
                      <a:gd name="connsiteY4" fmla="*/ 0 h 461665"/>
                      <a:gd name="connsiteX5" fmla="*/ 2545567 w 8026563"/>
                      <a:gd name="connsiteY5" fmla="*/ 0 h 461665"/>
                      <a:gd name="connsiteX6" fmla="*/ 3279424 w 8026563"/>
                      <a:gd name="connsiteY6" fmla="*/ 0 h 461665"/>
                      <a:gd name="connsiteX7" fmla="*/ 3692219 w 8026563"/>
                      <a:gd name="connsiteY7" fmla="*/ 0 h 461665"/>
                      <a:gd name="connsiteX8" fmla="*/ 4426076 w 8026563"/>
                      <a:gd name="connsiteY8" fmla="*/ 0 h 461665"/>
                      <a:gd name="connsiteX9" fmla="*/ 5159933 w 8026563"/>
                      <a:gd name="connsiteY9" fmla="*/ 0 h 461665"/>
                      <a:gd name="connsiteX10" fmla="*/ 5733259 w 8026563"/>
                      <a:gd name="connsiteY10" fmla="*/ 0 h 461665"/>
                      <a:gd name="connsiteX11" fmla="*/ 6467116 w 8026563"/>
                      <a:gd name="connsiteY11" fmla="*/ 0 h 461665"/>
                      <a:gd name="connsiteX12" fmla="*/ 6960177 w 8026563"/>
                      <a:gd name="connsiteY12" fmla="*/ 0 h 461665"/>
                      <a:gd name="connsiteX13" fmla="*/ 7453237 w 8026563"/>
                      <a:gd name="connsiteY13" fmla="*/ 0 h 461665"/>
                      <a:gd name="connsiteX14" fmla="*/ 8026563 w 8026563"/>
                      <a:gd name="connsiteY14" fmla="*/ 0 h 461665"/>
                      <a:gd name="connsiteX15" fmla="*/ 8026563 w 8026563"/>
                      <a:gd name="connsiteY15" fmla="*/ 461665 h 461665"/>
                      <a:gd name="connsiteX16" fmla="*/ 7453237 w 8026563"/>
                      <a:gd name="connsiteY16" fmla="*/ 461665 h 461665"/>
                      <a:gd name="connsiteX17" fmla="*/ 6719380 w 8026563"/>
                      <a:gd name="connsiteY17" fmla="*/ 461665 h 461665"/>
                      <a:gd name="connsiteX18" fmla="*/ 6146054 w 8026563"/>
                      <a:gd name="connsiteY18" fmla="*/ 461665 h 461665"/>
                      <a:gd name="connsiteX19" fmla="*/ 5813525 w 8026563"/>
                      <a:gd name="connsiteY19" fmla="*/ 461665 h 461665"/>
                      <a:gd name="connsiteX20" fmla="*/ 5400730 w 8026563"/>
                      <a:gd name="connsiteY20" fmla="*/ 461665 h 461665"/>
                      <a:gd name="connsiteX21" fmla="*/ 4666873 w 8026563"/>
                      <a:gd name="connsiteY21" fmla="*/ 461665 h 461665"/>
                      <a:gd name="connsiteX22" fmla="*/ 4093547 w 8026563"/>
                      <a:gd name="connsiteY22" fmla="*/ 461665 h 461665"/>
                      <a:gd name="connsiteX23" fmla="*/ 3680752 w 8026563"/>
                      <a:gd name="connsiteY23" fmla="*/ 461665 h 461665"/>
                      <a:gd name="connsiteX24" fmla="*/ 3107427 w 8026563"/>
                      <a:gd name="connsiteY24" fmla="*/ 461665 h 461665"/>
                      <a:gd name="connsiteX25" fmla="*/ 2774897 w 8026563"/>
                      <a:gd name="connsiteY25" fmla="*/ 461665 h 461665"/>
                      <a:gd name="connsiteX26" fmla="*/ 2442368 w 8026563"/>
                      <a:gd name="connsiteY26" fmla="*/ 461665 h 461665"/>
                      <a:gd name="connsiteX27" fmla="*/ 1869043 w 8026563"/>
                      <a:gd name="connsiteY27" fmla="*/ 461665 h 461665"/>
                      <a:gd name="connsiteX28" fmla="*/ 1456248 w 8026563"/>
                      <a:gd name="connsiteY28" fmla="*/ 461665 h 461665"/>
                      <a:gd name="connsiteX29" fmla="*/ 802656 w 8026563"/>
                      <a:gd name="connsiteY29" fmla="*/ 461665 h 461665"/>
                      <a:gd name="connsiteX30" fmla="*/ 0 w 8026563"/>
                      <a:gd name="connsiteY30" fmla="*/ 461665 h 461665"/>
                      <a:gd name="connsiteX31" fmla="*/ 0 w 8026563"/>
                      <a:gd name="connsiteY31" fmla="*/ 0 h 4616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8026563" h="461665" extrusionOk="0">
                        <a:moveTo>
                          <a:pt x="0" y="0"/>
                        </a:moveTo>
                        <a:cubicBezTo>
                          <a:pt x="150492" y="-14977"/>
                          <a:pt x="358682" y="30301"/>
                          <a:pt x="493060" y="0"/>
                        </a:cubicBezTo>
                        <a:cubicBezTo>
                          <a:pt x="627438" y="-30301"/>
                          <a:pt x="732893" y="14311"/>
                          <a:pt x="825589" y="0"/>
                        </a:cubicBezTo>
                        <a:cubicBezTo>
                          <a:pt x="918285" y="-14311"/>
                          <a:pt x="1366721" y="45250"/>
                          <a:pt x="1559447" y="0"/>
                        </a:cubicBezTo>
                        <a:cubicBezTo>
                          <a:pt x="1752173" y="-45250"/>
                          <a:pt x="1935083" y="39717"/>
                          <a:pt x="2052507" y="0"/>
                        </a:cubicBezTo>
                        <a:cubicBezTo>
                          <a:pt x="2169931" y="-39717"/>
                          <a:pt x="2443781" y="58938"/>
                          <a:pt x="2545567" y="0"/>
                        </a:cubicBezTo>
                        <a:cubicBezTo>
                          <a:pt x="2647353" y="-58938"/>
                          <a:pt x="3015076" y="82201"/>
                          <a:pt x="3279424" y="0"/>
                        </a:cubicBezTo>
                        <a:cubicBezTo>
                          <a:pt x="3543772" y="-82201"/>
                          <a:pt x="3495879" y="29267"/>
                          <a:pt x="3692219" y="0"/>
                        </a:cubicBezTo>
                        <a:cubicBezTo>
                          <a:pt x="3888559" y="-29267"/>
                          <a:pt x="4119337" y="27650"/>
                          <a:pt x="4426076" y="0"/>
                        </a:cubicBezTo>
                        <a:cubicBezTo>
                          <a:pt x="4732815" y="-27650"/>
                          <a:pt x="4893902" y="18722"/>
                          <a:pt x="5159933" y="0"/>
                        </a:cubicBezTo>
                        <a:cubicBezTo>
                          <a:pt x="5425964" y="-18722"/>
                          <a:pt x="5576384" y="26376"/>
                          <a:pt x="5733259" y="0"/>
                        </a:cubicBezTo>
                        <a:cubicBezTo>
                          <a:pt x="5890134" y="-26376"/>
                          <a:pt x="6103596" y="10388"/>
                          <a:pt x="6467116" y="0"/>
                        </a:cubicBezTo>
                        <a:cubicBezTo>
                          <a:pt x="6830636" y="-10388"/>
                          <a:pt x="6755257" y="53064"/>
                          <a:pt x="6960177" y="0"/>
                        </a:cubicBezTo>
                        <a:cubicBezTo>
                          <a:pt x="7165097" y="-53064"/>
                          <a:pt x="7352492" y="53315"/>
                          <a:pt x="7453237" y="0"/>
                        </a:cubicBezTo>
                        <a:cubicBezTo>
                          <a:pt x="7553982" y="-53315"/>
                          <a:pt x="7745230" y="321"/>
                          <a:pt x="8026563" y="0"/>
                        </a:cubicBezTo>
                        <a:cubicBezTo>
                          <a:pt x="8079552" y="131310"/>
                          <a:pt x="8001783" y="251861"/>
                          <a:pt x="8026563" y="461665"/>
                        </a:cubicBezTo>
                        <a:cubicBezTo>
                          <a:pt x="7813538" y="466105"/>
                          <a:pt x="7593892" y="400242"/>
                          <a:pt x="7453237" y="461665"/>
                        </a:cubicBezTo>
                        <a:cubicBezTo>
                          <a:pt x="7312582" y="523088"/>
                          <a:pt x="6945005" y="402948"/>
                          <a:pt x="6719380" y="461665"/>
                        </a:cubicBezTo>
                        <a:cubicBezTo>
                          <a:pt x="6493755" y="520382"/>
                          <a:pt x="6296119" y="450531"/>
                          <a:pt x="6146054" y="461665"/>
                        </a:cubicBezTo>
                        <a:cubicBezTo>
                          <a:pt x="5995989" y="472799"/>
                          <a:pt x="5952016" y="425462"/>
                          <a:pt x="5813525" y="461665"/>
                        </a:cubicBezTo>
                        <a:cubicBezTo>
                          <a:pt x="5675034" y="497868"/>
                          <a:pt x="5511236" y="421207"/>
                          <a:pt x="5400730" y="461665"/>
                        </a:cubicBezTo>
                        <a:cubicBezTo>
                          <a:pt x="5290225" y="502123"/>
                          <a:pt x="4927999" y="435768"/>
                          <a:pt x="4666873" y="461665"/>
                        </a:cubicBezTo>
                        <a:cubicBezTo>
                          <a:pt x="4405747" y="487562"/>
                          <a:pt x="4267695" y="398096"/>
                          <a:pt x="4093547" y="461665"/>
                        </a:cubicBezTo>
                        <a:cubicBezTo>
                          <a:pt x="3919399" y="525234"/>
                          <a:pt x="3844475" y="450964"/>
                          <a:pt x="3680752" y="461665"/>
                        </a:cubicBezTo>
                        <a:cubicBezTo>
                          <a:pt x="3517029" y="472366"/>
                          <a:pt x="3348384" y="411455"/>
                          <a:pt x="3107427" y="461665"/>
                        </a:cubicBezTo>
                        <a:cubicBezTo>
                          <a:pt x="2866471" y="511875"/>
                          <a:pt x="2926375" y="445285"/>
                          <a:pt x="2774897" y="461665"/>
                        </a:cubicBezTo>
                        <a:cubicBezTo>
                          <a:pt x="2623419" y="478045"/>
                          <a:pt x="2523615" y="449692"/>
                          <a:pt x="2442368" y="461665"/>
                        </a:cubicBezTo>
                        <a:cubicBezTo>
                          <a:pt x="2361121" y="473638"/>
                          <a:pt x="2011678" y="429888"/>
                          <a:pt x="1869043" y="461665"/>
                        </a:cubicBezTo>
                        <a:cubicBezTo>
                          <a:pt x="1726409" y="493442"/>
                          <a:pt x="1548593" y="424735"/>
                          <a:pt x="1456248" y="461665"/>
                        </a:cubicBezTo>
                        <a:cubicBezTo>
                          <a:pt x="1363904" y="498595"/>
                          <a:pt x="1045333" y="450365"/>
                          <a:pt x="802656" y="461665"/>
                        </a:cubicBezTo>
                        <a:cubicBezTo>
                          <a:pt x="559979" y="472965"/>
                          <a:pt x="178074" y="406560"/>
                          <a:pt x="0" y="461665"/>
                        </a:cubicBezTo>
                        <a:cubicBezTo>
                          <a:pt x="-39809" y="284554"/>
                          <a:pt x="50270" y="20807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Loss on poisoned data set will always be least great as the clean data set.</a:t>
            </a: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C0449FAA-2D45-4843-B7AE-91E9350486C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105112" y="2941849"/>
            <a:ext cx="2054854" cy="1033397"/>
          </a:xfrm>
          <a:prstGeom prst="bentConnector3">
            <a:avLst>
              <a:gd name="adj1" fmla="val 86575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13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877D7-67F2-F443-97FA-7A41CEDC9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Formally Worst Case Loss is…</a:t>
            </a:r>
          </a:p>
        </p:txBody>
      </p:sp>
      <p:pic>
        <p:nvPicPr>
          <p:cNvPr id="5" name="Content Placeholder 4" descr="A picture containing knife&#10;&#10;Description automatically generated">
            <a:extLst>
              <a:ext uri="{FF2B5EF4-FFF2-40B4-BE49-F238E27FC236}">
                <a16:creationId xmlns:a16="http://schemas.microsoft.com/office/drawing/2014/main" id="{B23BBFC2-4FE5-134D-8EE0-37FB75D90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2795286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9BCBAD-3E60-B34D-9E27-68FE13700896}"/>
              </a:ext>
            </a:extLst>
          </p:cNvPr>
          <p:cNvSpPr txBox="1"/>
          <p:nvPr/>
        </p:nvSpPr>
        <p:spPr>
          <a:xfrm>
            <a:off x="838200" y="4485974"/>
            <a:ext cx="10009339" cy="830997"/>
          </a:xfrm>
          <a:prstGeom prst="rect">
            <a:avLst/>
          </a:pr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026563"/>
                      <a:gd name="connsiteY0" fmla="*/ 0 h 461665"/>
                      <a:gd name="connsiteX1" fmla="*/ 493060 w 8026563"/>
                      <a:gd name="connsiteY1" fmla="*/ 0 h 461665"/>
                      <a:gd name="connsiteX2" fmla="*/ 825589 w 8026563"/>
                      <a:gd name="connsiteY2" fmla="*/ 0 h 461665"/>
                      <a:gd name="connsiteX3" fmla="*/ 1559447 w 8026563"/>
                      <a:gd name="connsiteY3" fmla="*/ 0 h 461665"/>
                      <a:gd name="connsiteX4" fmla="*/ 2052507 w 8026563"/>
                      <a:gd name="connsiteY4" fmla="*/ 0 h 461665"/>
                      <a:gd name="connsiteX5" fmla="*/ 2545567 w 8026563"/>
                      <a:gd name="connsiteY5" fmla="*/ 0 h 461665"/>
                      <a:gd name="connsiteX6" fmla="*/ 3279424 w 8026563"/>
                      <a:gd name="connsiteY6" fmla="*/ 0 h 461665"/>
                      <a:gd name="connsiteX7" fmla="*/ 3692219 w 8026563"/>
                      <a:gd name="connsiteY7" fmla="*/ 0 h 461665"/>
                      <a:gd name="connsiteX8" fmla="*/ 4426076 w 8026563"/>
                      <a:gd name="connsiteY8" fmla="*/ 0 h 461665"/>
                      <a:gd name="connsiteX9" fmla="*/ 5159933 w 8026563"/>
                      <a:gd name="connsiteY9" fmla="*/ 0 h 461665"/>
                      <a:gd name="connsiteX10" fmla="*/ 5733259 w 8026563"/>
                      <a:gd name="connsiteY10" fmla="*/ 0 h 461665"/>
                      <a:gd name="connsiteX11" fmla="*/ 6467116 w 8026563"/>
                      <a:gd name="connsiteY11" fmla="*/ 0 h 461665"/>
                      <a:gd name="connsiteX12" fmla="*/ 6960177 w 8026563"/>
                      <a:gd name="connsiteY12" fmla="*/ 0 h 461665"/>
                      <a:gd name="connsiteX13" fmla="*/ 7453237 w 8026563"/>
                      <a:gd name="connsiteY13" fmla="*/ 0 h 461665"/>
                      <a:gd name="connsiteX14" fmla="*/ 8026563 w 8026563"/>
                      <a:gd name="connsiteY14" fmla="*/ 0 h 461665"/>
                      <a:gd name="connsiteX15" fmla="*/ 8026563 w 8026563"/>
                      <a:gd name="connsiteY15" fmla="*/ 461665 h 461665"/>
                      <a:gd name="connsiteX16" fmla="*/ 7453237 w 8026563"/>
                      <a:gd name="connsiteY16" fmla="*/ 461665 h 461665"/>
                      <a:gd name="connsiteX17" fmla="*/ 6719380 w 8026563"/>
                      <a:gd name="connsiteY17" fmla="*/ 461665 h 461665"/>
                      <a:gd name="connsiteX18" fmla="*/ 6146054 w 8026563"/>
                      <a:gd name="connsiteY18" fmla="*/ 461665 h 461665"/>
                      <a:gd name="connsiteX19" fmla="*/ 5813525 w 8026563"/>
                      <a:gd name="connsiteY19" fmla="*/ 461665 h 461665"/>
                      <a:gd name="connsiteX20" fmla="*/ 5400730 w 8026563"/>
                      <a:gd name="connsiteY20" fmla="*/ 461665 h 461665"/>
                      <a:gd name="connsiteX21" fmla="*/ 4666873 w 8026563"/>
                      <a:gd name="connsiteY21" fmla="*/ 461665 h 461665"/>
                      <a:gd name="connsiteX22" fmla="*/ 4093547 w 8026563"/>
                      <a:gd name="connsiteY22" fmla="*/ 461665 h 461665"/>
                      <a:gd name="connsiteX23" fmla="*/ 3680752 w 8026563"/>
                      <a:gd name="connsiteY23" fmla="*/ 461665 h 461665"/>
                      <a:gd name="connsiteX24" fmla="*/ 3107427 w 8026563"/>
                      <a:gd name="connsiteY24" fmla="*/ 461665 h 461665"/>
                      <a:gd name="connsiteX25" fmla="*/ 2774897 w 8026563"/>
                      <a:gd name="connsiteY25" fmla="*/ 461665 h 461665"/>
                      <a:gd name="connsiteX26" fmla="*/ 2442368 w 8026563"/>
                      <a:gd name="connsiteY26" fmla="*/ 461665 h 461665"/>
                      <a:gd name="connsiteX27" fmla="*/ 1869043 w 8026563"/>
                      <a:gd name="connsiteY27" fmla="*/ 461665 h 461665"/>
                      <a:gd name="connsiteX28" fmla="*/ 1456248 w 8026563"/>
                      <a:gd name="connsiteY28" fmla="*/ 461665 h 461665"/>
                      <a:gd name="connsiteX29" fmla="*/ 802656 w 8026563"/>
                      <a:gd name="connsiteY29" fmla="*/ 461665 h 461665"/>
                      <a:gd name="connsiteX30" fmla="*/ 0 w 8026563"/>
                      <a:gd name="connsiteY30" fmla="*/ 461665 h 461665"/>
                      <a:gd name="connsiteX31" fmla="*/ 0 w 8026563"/>
                      <a:gd name="connsiteY31" fmla="*/ 0 h 4616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8026563" h="461665" extrusionOk="0">
                        <a:moveTo>
                          <a:pt x="0" y="0"/>
                        </a:moveTo>
                        <a:cubicBezTo>
                          <a:pt x="150492" y="-14977"/>
                          <a:pt x="358682" y="30301"/>
                          <a:pt x="493060" y="0"/>
                        </a:cubicBezTo>
                        <a:cubicBezTo>
                          <a:pt x="627438" y="-30301"/>
                          <a:pt x="732893" y="14311"/>
                          <a:pt x="825589" y="0"/>
                        </a:cubicBezTo>
                        <a:cubicBezTo>
                          <a:pt x="918285" y="-14311"/>
                          <a:pt x="1366721" y="45250"/>
                          <a:pt x="1559447" y="0"/>
                        </a:cubicBezTo>
                        <a:cubicBezTo>
                          <a:pt x="1752173" y="-45250"/>
                          <a:pt x="1935083" y="39717"/>
                          <a:pt x="2052507" y="0"/>
                        </a:cubicBezTo>
                        <a:cubicBezTo>
                          <a:pt x="2169931" y="-39717"/>
                          <a:pt x="2443781" y="58938"/>
                          <a:pt x="2545567" y="0"/>
                        </a:cubicBezTo>
                        <a:cubicBezTo>
                          <a:pt x="2647353" y="-58938"/>
                          <a:pt x="3015076" y="82201"/>
                          <a:pt x="3279424" y="0"/>
                        </a:cubicBezTo>
                        <a:cubicBezTo>
                          <a:pt x="3543772" y="-82201"/>
                          <a:pt x="3495879" y="29267"/>
                          <a:pt x="3692219" y="0"/>
                        </a:cubicBezTo>
                        <a:cubicBezTo>
                          <a:pt x="3888559" y="-29267"/>
                          <a:pt x="4119337" y="27650"/>
                          <a:pt x="4426076" y="0"/>
                        </a:cubicBezTo>
                        <a:cubicBezTo>
                          <a:pt x="4732815" y="-27650"/>
                          <a:pt x="4893902" y="18722"/>
                          <a:pt x="5159933" y="0"/>
                        </a:cubicBezTo>
                        <a:cubicBezTo>
                          <a:pt x="5425964" y="-18722"/>
                          <a:pt x="5576384" y="26376"/>
                          <a:pt x="5733259" y="0"/>
                        </a:cubicBezTo>
                        <a:cubicBezTo>
                          <a:pt x="5890134" y="-26376"/>
                          <a:pt x="6103596" y="10388"/>
                          <a:pt x="6467116" y="0"/>
                        </a:cubicBezTo>
                        <a:cubicBezTo>
                          <a:pt x="6830636" y="-10388"/>
                          <a:pt x="6755257" y="53064"/>
                          <a:pt x="6960177" y="0"/>
                        </a:cubicBezTo>
                        <a:cubicBezTo>
                          <a:pt x="7165097" y="-53064"/>
                          <a:pt x="7352492" y="53315"/>
                          <a:pt x="7453237" y="0"/>
                        </a:cubicBezTo>
                        <a:cubicBezTo>
                          <a:pt x="7553982" y="-53315"/>
                          <a:pt x="7745230" y="321"/>
                          <a:pt x="8026563" y="0"/>
                        </a:cubicBezTo>
                        <a:cubicBezTo>
                          <a:pt x="8079552" y="131310"/>
                          <a:pt x="8001783" y="251861"/>
                          <a:pt x="8026563" y="461665"/>
                        </a:cubicBezTo>
                        <a:cubicBezTo>
                          <a:pt x="7813538" y="466105"/>
                          <a:pt x="7593892" y="400242"/>
                          <a:pt x="7453237" y="461665"/>
                        </a:cubicBezTo>
                        <a:cubicBezTo>
                          <a:pt x="7312582" y="523088"/>
                          <a:pt x="6945005" y="402948"/>
                          <a:pt x="6719380" y="461665"/>
                        </a:cubicBezTo>
                        <a:cubicBezTo>
                          <a:pt x="6493755" y="520382"/>
                          <a:pt x="6296119" y="450531"/>
                          <a:pt x="6146054" y="461665"/>
                        </a:cubicBezTo>
                        <a:cubicBezTo>
                          <a:pt x="5995989" y="472799"/>
                          <a:pt x="5952016" y="425462"/>
                          <a:pt x="5813525" y="461665"/>
                        </a:cubicBezTo>
                        <a:cubicBezTo>
                          <a:pt x="5675034" y="497868"/>
                          <a:pt x="5511236" y="421207"/>
                          <a:pt x="5400730" y="461665"/>
                        </a:cubicBezTo>
                        <a:cubicBezTo>
                          <a:pt x="5290225" y="502123"/>
                          <a:pt x="4927999" y="435768"/>
                          <a:pt x="4666873" y="461665"/>
                        </a:cubicBezTo>
                        <a:cubicBezTo>
                          <a:pt x="4405747" y="487562"/>
                          <a:pt x="4267695" y="398096"/>
                          <a:pt x="4093547" y="461665"/>
                        </a:cubicBezTo>
                        <a:cubicBezTo>
                          <a:pt x="3919399" y="525234"/>
                          <a:pt x="3844475" y="450964"/>
                          <a:pt x="3680752" y="461665"/>
                        </a:cubicBezTo>
                        <a:cubicBezTo>
                          <a:pt x="3517029" y="472366"/>
                          <a:pt x="3348384" y="411455"/>
                          <a:pt x="3107427" y="461665"/>
                        </a:cubicBezTo>
                        <a:cubicBezTo>
                          <a:pt x="2866471" y="511875"/>
                          <a:pt x="2926375" y="445285"/>
                          <a:pt x="2774897" y="461665"/>
                        </a:cubicBezTo>
                        <a:cubicBezTo>
                          <a:pt x="2623419" y="478045"/>
                          <a:pt x="2523615" y="449692"/>
                          <a:pt x="2442368" y="461665"/>
                        </a:cubicBezTo>
                        <a:cubicBezTo>
                          <a:pt x="2361121" y="473638"/>
                          <a:pt x="2011678" y="429888"/>
                          <a:pt x="1869043" y="461665"/>
                        </a:cubicBezTo>
                        <a:cubicBezTo>
                          <a:pt x="1726409" y="493442"/>
                          <a:pt x="1548593" y="424735"/>
                          <a:pt x="1456248" y="461665"/>
                        </a:cubicBezTo>
                        <a:cubicBezTo>
                          <a:pt x="1363904" y="498595"/>
                          <a:pt x="1045333" y="450365"/>
                          <a:pt x="802656" y="461665"/>
                        </a:cubicBezTo>
                        <a:cubicBezTo>
                          <a:pt x="559979" y="472965"/>
                          <a:pt x="178074" y="406560"/>
                          <a:pt x="0" y="461665"/>
                        </a:cubicBezTo>
                        <a:cubicBezTo>
                          <a:pt x="-39809" y="284554"/>
                          <a:pt x="50270" y="20807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About the same as minimax loss because minimax has property that will result in optimal attack.</a:t>
            </a:r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A48677CD-4B9E-AE46-8ACB-FE2F020E61B1}"/>
              </a:ext>
            </a:extLst>
          </p:cNvPr>
          <p:cNvCxnSpPr/>
          <p:nvPr/>
        </p:nvCxnSpPr>
        <p:spPr>
          <a:xfrm rot="5400000" flipH="1" flipV="1">
            <a:off x="4245495" y="3213755"/>
            <a:ext cx="1373256" cy="1171183"/>
          </a:xfrm>
          <a:prstGeom prst="bentConnector3">
            <a:avLst>
              <a:gd name="adj1" fmla="val 9971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2696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724BD-0DE7-5849-8B36-85BB057A5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Attack Method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81B2A700-3A43-184C-8E8B-E5F05CBF35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140969"/>
            <a:ext cx="10515600" cy="372064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FE0C6E-5FD5-BB42-B3F9-0067D0A92628}"/>
              </a:ext>
            </a:extLst>
          </p:cNvPr>
          <p:cNvSpPr txBox="1"/>
          <p:nvPr/>
        </p:nvSpPr>
        <p:spPr>
          <a:xfrm>
            <a:off x="3476627" y="5861618"/>
            <a:ext cx="5238745" cy="461665"/>
          </a:xfrm>
          <a:prstGeom prst="rect">
            <a:avLst/>
          </a:pr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026563"/>
                      <a:gd name="connsiteY0" fmla="*/ 0 h 461665"/>
                      <a:gd name="connsiteX1" fmla="*/ 493060 w 8026563"/>
                      <a:gd name="connsiteY1" fmla="*/ 0 h 461665"/>
                      <a:gd name="connsiteX2" fmla="*/ 825589 w 8026563"/>
                      <a:gd name="connsiteY2" fmla="*/ 0 h 461665"/>
                      <a:gd name="connsiteX3" fmla="*/ 1559447 w 8026563"/>
                      <a:gd name="connsiteY3" fmla="*/ 0 h 461665"/>
                      <a:gd name="connsiteX4" fmla="*/ 2052507 w 8026563"/>
                      <a:gd name="connsiteY4" fmla="*/ 0 h 461665"/>
                      <a:gd name="connsiteX5" fmla="*/ 2545567 w 8026563"/>
                      <a:gd name="connsiteY5" fmla="*/ 0 h 461665"/>
                      <a:gd name="connsiteX6" fmla="*/ 3279424 w 8026563"/>
                      <a:gd name="connsiteY6" fmla="*/ 0 h 461665"/>
                      <a:gd name="connsiteX7" fmla="*/ 3692219 w 8026563"/>
                      <a:gd name="connsiteY7" fmla="*/ 0 h 461665"/>
                      <a:gd name="connsiteX8" fmla="*/ 4426076 w 8026563"/>
                      <a:gd name="connsiteY8" fmla="*/ 0 h 461665"/>
                      <a:gd name="connsiteX9" fmla="*/ 5159933 w 8026563"/>
                      <a:gd name="connsiteY9" fmla="*/ 0 h 461665"/>
                      <a:gd name="connsiteX10" fmla="*/ 5733259 w 8026563"/>
                      <a:gd name="connsiteY10" fmla="*/ 0 h 461665"/>
                      <a:gd name="connsiteX11" fmla="*/ 6467116 w 8026563"/>
                      <a:gd name="connsiteY11" fmla="*/ 0 h 461665"/>
                      <a:gd name="connsiteX12" fmla="*/ 6960177 w 8026563"/>
                      <a:gd name="connsiteY12" fmla="*/ 0 h 461665"/>
                      <a:gd name="connsiteX13" fmla="*/ 7453237 w 8026563"/>
                      <a:gd name="connsiteY13" fmla="*/ 0 h 461665"/>
                      <a:gd name="connsiteX14" fmla="*/ 8026563 w 8026563"/>
                      <a:gd name="connsiteY14" fmla="*/ 0 h 461665"/>
                      <a:gd name="connsiteX15" fmla="*/ 8026563 w 8026563"/>
                      <a:gd name="connsiteY15" fmla="*/ 461665 h 461665"/>
                      <a:gd name="connsiteX16" fmla="*/ 7453237 w 8026563"/>
                      <a:gd name="connsiteY16" fmla="*/ 461665 h 461665"/>
                      <a:gd name="connsiteX17" fmla="*/ 6719380 w 8026563"/>
                      <a:gd name="connsiteY17" fmla="*/ 461665 h 461665"/>
                      <a:gd name="connsiteX18" fmla="*/ 6146054 w 8026563"/>
                      <a:gd name="connsiteY18" fmla="*/ 461665 h 461665"/>
                      <a:gd name="connsiteX19" fmla="*/ 5813525 w 8026563"/>
                      <a:gd name="connsiteY19" fmla="*/ 461665 h 461665"/>
                      <a:gd name="connsiteX20" fmla="*/ 5400730 w 8026563"/>
                      <a:gd name="connsiteY20" fmla="*/ 461665 h 461665"/>
                      <a:gd name="connsiteX21" fmla="*/ 4666873 w 8026563"/>
                      <a:gd name="connsiteY21" fmla="*/ 461665 h 461665"/>
                      <a:gd name="connsiteX22" fmla="*/ 4093547 w 8026563"/>
                      <a:gd name="connsiteY22" fmla="*/ 461665 h 461665"/>
                      <a:gd name="connsiteX23" fmla="*/ 3680752 w 8026563"/>
                      <a:gd name="connsiteY23" fmla="*/ 461665 h 461665"/>
                      <a:gd name="connsiteX24" fmla="*/ 3107427 w 8026563"/>
                      <a:gd name="connsiteY24" fmla="*/ 461665 h 461665"/>
                      <a:gd name="connsiteX25" fmla="*/ 2774897 w 8026563"/>
                      <a:gd name="connsiteY25" fmla="*/ 461665 h 461665"/>
                      <a:gd name="connsiteX26" fmla="*/ 2442368 w 8026563"/>
                      <a:gd name="connsiteY26" fmla="*/ 461665 h 461665"/>
                      <a:gd name="connsiteX27" fmla="*/ 1869043 w 8026563"/>
                      <a:gd name="connsiteY27" fmla="*/ 461665 h 461665"/>
                      <a:gd name="connsiteX28" fmla="*/ 1456248 w 8026563"/>
                      <a:gd name="connsiteY28" fmla="*/ 461665 h 461665"/>
                      <a:gd name="connsiteX29" fmla="*/ 802656 w 8026563"/>
                      <a:gd name="connsiteY29" fmla="*/ 461665 h 461665"/>
                      <a:gd name="connsiteX30" fmla="*/ 0 w 8026563"/>
                      <a:gd name="connsiteY30" fmla="*/ 461665 h 461665"/>
                      <a:gd name="connsiteX31" fmla="*/ 0 w 8026563"/>
                      <a:gd name="connsiteY31" fmla="*/ 0 h 4616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8026563" h="461665" extrusionOk="0">
                        <a:moveTo>
                          <a:pt x="0" y="0"/>
                        </a:moveTo>
                        <a:cubicBezTo>
                          <a:pt x="150492" y="-14977"/>
                          <a:pt x="358682" y="30301"/>
                          <a:pt x="493060" y="0"/>
                        </a:cubicBezTo>
                        <a:cubicBezTo>
                          <a:pt x="627438" y="-30301"/>
                          <a:pt x="732893" y="14311"/>
                          <a:pt x="825589" y="0"/>
                        </a:cubicBezTo>
                        <a:cubicBezTo>
                          <a:pt x="918285" y="-14311"/>
                          <a:pt x="1366721" y="45250"/>
                          <a:pt x="1559447" y="0"/>
                        </a:cubicBezTo>
                        <a:cubicBezTo>
                          <a:pt x="1752173" y="-45250"/>
                          <a:pt x="1935083" y="39717"/>
                          <a:pt x="2052507" y="0"/>
                        </a:cubicBezTo>
                        <a:cubicBezTo>
                          <a:pt x="2169931" y="-39717"/>
                          <a:pt x="2443781" y="58938"/>
                          <a:pt x="2545567" y="0"/>
                        </a:cubicBezTo>
                        <a:cubicBezTo>
                          <a:pt x="2647353" y="-58938"/>
                          <a:pt x="3015076" y="82201"/>
                          <a:pt x="3279424" y="0"/>
                        </a:cubicBezTo>
                        <a:cubicBezTo>
                          <a:pt x="3543772" y="-82201"/>
                          <a:pt x="3495879" y="29267"/>
                          <a:pt x="3692219" y="0"/>
                        </a:cubicBezTo>
                        <a:cubicBezTo>
                          <a:pt x="3888559" y="-29267"/>
                          <a:pt x="4119337" y="27650"/>
                          <a:pt x="4426076" y="0"/>
                        </a:cubicBezTo>
                        <a:cubicBezTo>
                          <a:pt x="4732815" y="-27650"/>
                          <a:pt x="4893902" y="18722"/>
                          <a:pt x="5159933" y="0"/>
                        </a:cubicBezTo>
                        <a:cubicBezTo>
                          <a:pt x="5425964" y="-18722"/>
                          <a:pt x="5576384" y="26376"/>
                          <a:pt x="5733259" y="0"/>
                        </a:cubicBezTo>
                        <a:cubicBezTo>
                          <a:pt x="5890134" y="-26376"/>
                          <a:pt x="6103596" y="10388"/>
                          <a:pt x="6467116" y="0"/>
                        </a:cubicBezTo>
                        <a:cubicBezTo>
                          <a:pt x="6830636" y="-10388"/>
                          <a:pt x="6755257" y="53064"/>
                          <a:pt x="6960177" y="0"/>
                        </a:cubicBezTo>
                        <a:cubicBezTo>
                          <a:pt x="7165097" y="-53064"/>
                          <a:pt x="7352492" y="53315"/>
                          <a:pt x="7453237" y="0"/>
                        </a:cubicBezTo>
                        <a:cubicBezTo>
                          <a:pt x="7553982" y="-53315"/>
                          <a:pt x="7745230" y="321"/>
                          <a:pt x="8026563" y="0"/>
                        </a:cubicBezTo>
                        <a:cubicBezTo>
                          <a:pt x="8079552" y="131310"/>
                          <a:pt x="8001783" y="251861"/>
                          <a:pt x="8026563" y="461665"/>
                        </a:cubicBezTo>
                        <a:cubicBezTo>
                          <a:pt x="7813538" y="466105"/>
                          <a:pt x="7593892" y="400242"/>
                          <a:pt x="7453237" y="461665"/>
                        </a:cubicBezTo>
                        <a:cubicBezTo>
                          <a:pt x="7312582" y="523088"/>
                          <a:pt x="6945005" y="402948"/>
                          <a:pt x="6719380" y="461665"/>
                        </a:cubicBezTo>
                        <a:cubicBezTo>
                          <a:pt x="6493755" y="520382"/>
                          <a:pt x="6296119" y="450531"/>
                          <a:pt x="6146054" y="461665"/>
                        </a:cubicBezTo>
                        <a:cubicBezTo>
                          <a:pt x="5995989" y="472799"/>
                          <a:pt x="5952016" y="425462"/>
                          <a:pt x="5813525" y="461665"/>
                        </a:cubicBezTo>
                        <a:cubicBezTo>
                          <a:pt x="5675034" y="497868"/>
                          <a:pt x="5511236" y="421207"/>
                          <a:pt x="5400730" y="461665"/>
                        </a:cubicBezTo>
                        <a:cubicBezTo>
                          <a:pt x="5290225" y="502123"/>
                          <a:pt x="4927999" y="435768"/>
                          <a:pt x="4666873" y="461665"/>
                        </a:cubicBezTo>
                        <a:cubicBezTo>
                          <a:pt x="4405747" y="487562"/>
                          <a:pt x="4267695" y="398096"/>
                          <a:pt x="4093547" y="461665"/>
                        </a:cubicBezTo>
                        <a:cubicBezTo>
                          <a:pt x="3919399" y="525234"/>
                          <a:pt x="3844475" y="450964"/>
                          <a:pt x="3680752" y="461665"/>
                        </a:cubicBezTo>
                        <a:cubicBezTo>
                          <a:pt x="3517029" y="472366"/>
                          <a:pt x="3348384" y="411455"/>
                          <a:pt x="3107427" y="461665"/>
                        </a:cubicBezTo>
                        <a:cubicBezTo>
                          <a:pt x="2866471" y="511875"/>
                          <a:pt x="2926375" y="445285"/>
                          <a:pt x="2774897" y="461665"/>
                        </a:cubicBezTo>
                        <a:cubicBezTo>
                          <a:pt x="2623419" y="478045"/>
                          <a:pt x="2523615" y="449692"/>
                          <a:pt x="2442368" y="461665"/>
                        </a:cubicBezTo>
                        <a:cubicBezTo>
                          <a:pt x="2361121" y="473638"/>
                          <a:pt x="2011678" y="429888"/>
                          <a:pt x="1869043" y="461665"/>
                        </a:cubicBezTo>
                        <a:cubicBezTo>
                          <a:pt x="1726409" y="493442"/>
                          <a:pt x="1548593" y="424735"/>
                          <a:pt x="1456248" y="461665"/>
                        </a:cubicBezTo>
                        <a:cubicBezTo>
                          <a:pt x="1363904" y="498595"/>
                          <a:pt x="1045333" y="450365"/>
                          <a:pt x="802656" y="461665"/>
                        </a:cubicBezTo>
                        <a:cubicBezTo>
                          <a:pt x="559979" y="472965"/>
                          <a:pt x="178074" y="406560"/>
                          <a:pt x="0" y="461665"/>
                        </a:cubicBezTo>
                        <a:cubicBezTo>
                          <a:pt x="-39809" y="284554"/>
                          <a:pt x="50270" y="20807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Find worst attack point for each iteration</a:t>
            </a:r>
          </a:p>
        </p:txBody>
      </p:sp>
    </p:spTree>
    <p:extLst>
      <p:ext uri="{BB962C8B-B14F-4D97-AF65-F5344CB8AC3E}">
        <p14:creationId xmlns:p14="http://schemas.microsoft.com/office/powerpoint/2010/main" val="109587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40C94-AB90-544D-9B79-F2D415648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Defense Methods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82AC17-4047-1844-AFDD-7ED6D3D015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936282" cy="4351338"/>
              </a:xfrm>
            </p:spPr>
            <p:txBody>
              <a:bodyPr/>
              <a:lstStyle/>
              <a:p>
                <a:r>
                  <a:rPr lang="en-US" dirty="0"/>
                  <a:t>Oracle Defense</a:t>
                </a:r>
              </a:p>
              <a:p>
                <a:pPr lvl="1"/>
                <a:r>
                  <a:rPr lang="en-US" dirty="0"/>
                  <a:t>Filtering depends on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Data-dependent Defense</a:t>
                </a:r>
              </a:p>
              <a:p>
                <a:pPr lvl="1"/>
                <a:r>
                  <a:rPr lang="en-US" dirty="0"/>
                  <a:t>Estimate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Therefore filtering 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82AC17-4047-1844-AFDD-7ED6D3D015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936282" cy="4351338"/>
              </a:xfrm>
              <a:blipFill>
                <a:blip r:embed="rId3"/>
                <a:stretch>
                  <a:fillRect l="-1278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5D28BD-B7CB-1540-A61C-4285F69545F3}"/>
                  </a:ext>
                </a:extLst>
              </p:cNvPr>
              <p:cNvSpPr txBox="1"/>
              <p:nvPr/>
            </p:nvSpPr>
            <p:spPr>
              <a:xfrm>
                <a:off x="8774482" y="1834976"/>
                <a:ext cx="2579317" cy="28990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/>
                  <a:t>:=True distribution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:= Model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dirty="0"/>
                  <a:t>:= Clean data set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/>
                  <a:t>:= Poisoned data set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:= Test loss</a:t>
                </a:r>
              </a:p>
              <a:p>
                <a:pPr algn="ctr"/>
                <a:r>
                  <a:rPr lang="en-US" sz="2000" dirty="0"/>
                  <a:t>L(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):=Train loss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2000" dirty="0"/>
                  <a:t> := Model trained on the filtered set</a:t>
                </a:r>
              </a:p>
              <a:p>
                <a:pPr algn="ctr"/>
                <a:endParaRPr lang="en-US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5D28BD-B7CB-1540-A61C-4285F6954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482" y="1834976"/>
                <a:ext cx="2579317" cy="2899063"/>
              </a:xfrm>
              <a:prstGeom prst="rect">
                <a:avLst/>
              </a:prstGeom>
              <a:blipFill>
                <a:blip r:embed="rId4"/>
                <a:stretch>
                  <a:fillRect t="-873" r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2414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36741A-2D4D-4E40-AD93-2CE2BE06A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Oracle Defense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A68941-4AE3-2F46-B072-293E0B17A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27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27394-9B91-034F-8BFC-3E9D974D0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Oracle Defense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05C0E1-32AF-B743-B6C8-C738FDC9C1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 does is not affected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(i.e. the set created under no poisoning)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05C0E1-32AF-B743-B6C8-C738FDC9C1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2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12B7276-A62E-D643-9EAA-2FE19E9AA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2357817"/>
            <a:ext cx="10650843" cy="7235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1AED8E-2DD1-2C49-A290-B516B842FEBF}"/>
                  </a:ext>
                </a:extLst>
              </p:cNvPr>
              <p:cNvSpPr txBox="1"/>
              <p:nvPr/>
            </p:nvSpPr>
            <p:spPr>
              <a:xfrm>
                <a:off x="8909725" y="3216340"/>
                <a:ext cx="2579317" cy="2270430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/>
                  <a:t>:=True distribution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:= Model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dirty="0"/>
                  <a:t>:= Clean data set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/>
                  <a:t>:= Poisoned data set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:= Test loss</a:t>
                </a:r>
              </a:p>
              <a:p>
                <a:pPr algn="ctr"/>
                <a:r>
                  <a:rPr lang="en-US" sz="2000" dirty="0"/>
                  <a:t>L(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):=Train loss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000" dirty="0"/>
                  <a:t>:=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ball radius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1AED8E-2DD1-2C49-A290-B516B842F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9725" y="3216340"/>
                <a:ext cx="2579317" cy="2270430"/>
              </a:xfrm>
              <a:prstGeom prst="rect">
                <a:avLst/>
              </a:prstGeom>
              <a:blipFill>
                <a:blip r:embed="rId5"/>
                <a:stretch>
                  <a:fillRect t="-1099" r="-483" b="-2747"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48451C-4E34-1840-94E3-0CF103C77047}"/>
                  </a:ext>
                </a:extLst>
              </p:cNvPr>
              <p:cNvSpPr txBox="1"/>
              <p:nvPr/>
            </p:nvSpPr>
            <p:spPr>
              <a:xfrm>
                <a:off x="838199" y="3844002"/>
                <a:ext cx="7936272" cy="859531"/>
              </a:xfrm>
              <a:prstGeom prst="rect">
                <a:avLst/>
              </a:prstGeom>
              <a:noFill/>
              <a:ln w="38100">
                <a:solidFill>
                  <a:schemeClr val="tx2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8026563"/>
                          <a:gd name="connsiteY0" fmla="*/ 0 h 461665"/>
                          <a:gd name="connsiteX1" fmla="*/ 493060 w 8026563"/>
                          <a:gd name="connsiteY1" fmla="*/ 0 h 461665"/>
                          <a:gd name="connsiteX2" fmla="*/ 825589 w 8026563"/>
                          <a:gd name="connsiteY2" fmla="*/ 0 h 461665"/>
                          <a:gd name="connsiteX3" fmla="*/ 1559447 w 8026563"/>
                          <a:gd name="connsiteY3" fmla="*/ 0 h 461665"/>
                          <a:gd name="connsiteX4" fmla="*/ 2052507 w 8026563"/>
                          <a:gd name="connsiteY4" fmla="*/ 0 h 461665"/>
                          <a:gd name="connsiteX5" fmla="*/ 2545567 w 8026563"/>
                          <a:gd name="connsiteY5" fmla="*/ 0 h 461665"/>
                          <a:gd name="connsiteX6" fmla="*/ 3279424 w 8026563"/>
                          <a:gd name="connsiteY6" fmla="*/ 0 h 461665"/>
                          <a:gd name="connsiteX7" fmla="*/ 3692219 w 8026563"/>
                          <a:gd name="connsiteY7" fmla="*/ 0 h 461665"/>
                          <a:gd name="connsiteX8" fmla="*/ 4426076 w 8026563"/>
                          <a:gd name="connsiteY8" fmla="*/ 0 h 461665"/>
                          <a:gd name="connsiteX9" fmla="*/ 5159933 w 8026563"/>
                          <a:gd name="connsiteY9" fmla="*/ 0 h 461665"/>
                          <a:gd name="connsiteX10" fmla="*/ 5733259 w 8026563"/>
                          <a:gd name="connsiteY10" fmla="*/ 0 h 461665"/>
                          <a:gd name="connsiteX11" fmla="*/ 6467116 w 8026563"/>
                          <a:gd name="connsiteY11" fmla="*/ 0 h 461665"/>
                          <a:gd name="connsiteX12" fmla="*/ 6960177 w 8026563"/>
                          <a:gd name="connsiteY12" fmla="*/ 0 h 461665"/>
                          <a:gd name="connsiteX13" fmla="*/ 7453237 w 8026563"/>
                          <a:gd name="connsiteY13" fmla="*/ 0 h 461665"/>
                          <a:gd name="connsiteX14" fmla="*/ 8026563 w 8026563"/>
                          <a:gd name="connsiteY14" fmla="*/ 0 h 461665"/>
                          <a:gd name="connsiteX15" fmla="*/ 8026563 w 8026563"/>
                          <a:gd name="connsiteY15" fmla="*/ 461665 h 461665"/>
                          <a:gd name="connsiteX16" fmla="*/ 7453237 w 8026563"/>
                          <a:gd name="connsiteY16" fmla="*/ 461665 h 461665"/>
                          <a:gd name="connsiteX17" fmla="*/ 6719380 w 8026563"/>
                          <a:gd name="connsiteY17" fmla="*/ 461665 h 461665"/>
                          <a:gd name="connsiteX18" fmla="*/ 6146054 w 8026563"/>
                          <a:gd name="connsiteY18" fmla="*/ 461665 h 461665"/>
                          <a:gd name="connsiteX19" fmla="*/ 5813525 w 8026563"/>
                          <a:gd name="connsiteY19" fmla="*/ 461665 h 461665"/>
                          <a:gd name="connsiteX20" fmla="*/ 5400730 w 8026563"/>
                          <a:gd name="connsiteY20" fmla="*/ 461665 h 461665"/>
                          <a:gd name="connsiteX21" fmla="*/ 4666873 w 8026563"/>
                          <a:gd name="connsiteY21" fmla="*/ 461665 h 461665"/>
                          <a:gd name="connsiteX22" fmla="*/ 4093547 w 8026563"/>
                          <a:gd name="connsiteY22" fmla="*/ 461665 h 461665"/>
                          <a:gd name="connsiteX23" fmla="*/ 3680752 w 8026563"/>
                          <a:gd name="connsiteY23" fmla="*/ 461665 h 461665"/>
                          <a:gd name="connsiteX24" fmla="*/ 3107427 w 8026563"/>
                          <a:gd name="connsiteY24" fmla="*/ 461665 h 461665"/>
                          <a:gd name="connsiteX25" fmla="*/ 2774897 w 8026563"/>
                          <a:gd name="connsiteY25" fmla="*/ 461665 h 461665"/>
                          <a:gd name="connsiteX26" fmla="*/ 2442368 w 8026563"/>
                          <a:gd name="connsiteY26" fmla="*/ 461665 h 461665"/>
                          <a:gd name="connsiteX27" fmla="*/ 1869043 w 8026563"/>
                          <a:gd name="connsiteY27" fmla="*/ 461665 h 461665"/>
                          <a:gd name="connsiteX28" fmla="*/ 1456248 w 8026563"/>
                          <a:gd name="connsiteY28" fmla="*/ 461665 h 461665"/>
                          <a:gd name="connsiteX29" fmla="*/ 802656 w 8026563"/>
                          <a:gd name="connsiteY29" fmla="*/ 461665 h 461665"/>
                          <a:gd name="connsiteX30" fmla="*/ 0 w 8026563"/>
                          <a:gd name="connsiteY30" fmla="*/ 461665 h 461665"/>
                          <a:gd name="connsiteX31" fmla="*/ 0 w 8026563"/>
                          <a:gd name="connsiteY31" fmla="*/ 0 h 46166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</a:cxnLst>
                        <a:rect l="l" t="t" r="r" b="b"/>
                        <a:pathLst>
                          <a:path w="8026563" h="461665" extrusionOk="0">
                            <a:moveTo>
                              <a:pt x="0" y="0"/>
                            </a:moveTo>
                            <a:cubicBezTo>
                              <a:pt x="150492" y="-14977"/>
                              <a:pt x="358682" y="30301"/>
                              <a:pt x="493060" y="0"/>
                            </a:cubicBezTo>
                            <a:cubicBezTo>
                              <a:pt x="627438" y="-30301"/>
                              <a:pt x="732893" y="14311"/>
                              <a:pt x="825589" y="0"/>
                            </a:cubicBezTo>
                            <a:cubicBezTo>
                              <a:pt x="918285" y="-14311"/>
                              <a:pt x="1366721" y="45250"/>
                              <a:pt x="1559447" y="0"/>
                            </a:cubicBezTo>
                            <a:cubicBezTo>
                              <a:pt x="1752173" y="-45250"/>
                              <a:pt x="1935083" y="39717"/>
                              <a:pt x="2052507" y="0"/>
                            </a:cubicBezTo>
                            <a:cubicBezTo>
                              <a:pt x="2169931" y="-39717"/>
                              <a:pt x="2443781" y="58938"/>
                              <a:pt x="2545567" y="0"/>
                            </a:cubicBezTo>
                            <a:cubicBezTo>
                              <a:pt x="2647353" y="-58938"/>
                              <a:pt x="3015076" y="82201"/>
                              <a:pt x="3279424" y="0"/>
                            </a:cubicBezTo>
                            <a:cubicBezTo>
                              <a:pt x="3543772" y="-82201"/>
                              <a:pt x="3495879" y="29267"/>
                              <a:pt x="3692219" y="0"/>
                            </a:cubicBezTo>
                            <a:cubicBezTo>
                              <a:pt x="3888559" y="-29267"/>
                              <a:pt x="4119337" y="27650"/>
                              <a:pt x="4426076" y="0"/>
                            </a:cubicBezTo>
                            <a:cubicBezTo>
                              <a:pt x="4732815" y="-27650"/>
                              <a:pt x="4893902" y="18722"/>
                              <a:pt x="5159933" y="0"/>
                            </a:cubicBezTo>
                            <a:cubicBezTo>
                              <a:pt x="5425964" y="-18722"/>
                              <a:pt x="5576384" y="26376"/>
                              <a:pt x="5733259" y="0"/>
                            </a:cubicBezTo>
                            <a:cubicBezTo>
                              <a:pt x="5890134" y="-26376"/>
                              <a:pt x="6103596" y="10388"/>
                              <a:pt x="6467116" y="0"/>
                            </a:cubicBezTo>
                            <a:cubicBezTo>
                              <a:pt x="6830636" y="-10388"/>
                              <a:pt x="6755257" y="53064"/>
                              <a:pt x="6960177" y="0"/>
                            </a:cubicBezTo>
                            <a:cubicBezTo>
                              <a:pt x="7165097" y="-53064"/>
                              <a:pt x="7352492" y="53315"/>
                              <a:pt x="7453237" y="0"/>
                            </a:cubicBezTo>
                            <a:cubicBezTo>
                              <a:pt x="7553982" y="-53315"/>
                              <a:pt x="7745230" y="321"/>
                              <a:pt x="8026563" y="0"/>
                            </a:cubicBezTo>
                            <a:cubicBezTo>
                              <a:pt x="8079552" y="131310"/>
                              <a:pt x="8001783" y="251861"/>
                              <a:pt x="8026563" y="461665"/>
                            </a:cubicBezTo>
                            <a:cubicBezTo>
                              <a:pt x="7813538" y="466105"/>
                              <a:pt x="7593892" y="400242"/>
                              <a:pt x="7453237" y="461665"/>
                            </a:cubicBezTo>
                            <a:cubicBezTo>
                              <a:pt x="7312582" y="523088"/>
                              <a:pt x="6945005" y="402948"/>
                              <a:pt x="6719380" y="461665"/>
                            </a:cubicBezTo>
                            <a:cubicBezTo>
                              <a:pt x="6493755" y="520382"/>
                              <a:pt x="6296119" y="450531"/>
                              <a:pt x="6146054" y="461665"/>
                            </a:cubicBezTo>
                            <a:cubicBezTo>
                              <a:pt x="5995989" y="472799"/>
                              <a:pt x="5952016" y="425462"/>
                              <a:pt x="5813525" y="461665"/>
                            </a:cubicBezTo>
                            <a:cubicBezTo>
                              <a:pt x="5675034" y="497868"/>
                              <a:pt x="5511236" y="421207"/>
                              <a:pt x="5400730" y="461665"/>
                            </a:cubicBezTo>
                            <a:cubicBezTo>
                              <a:pt x="5290225" y="502123"/>
                              <a:pt x="4927999" y="435768"/>
                              <a:pt x="4666873" y="461665"/>
                            </a:cubicBezTo>
                            <a:cubicBezTo>
                              <a:pt x="4405747" y="487562"/>
                              <a:pt x="4267695" y="398096"/>
                              <a:pt x="4093547" y="461665"/>
                            </a:cubicBezTo>
                            <a:cubicBezTo>
                              <a:pt x="3919399" y="525234"/>
                              <a:pt x="3844475" y="450964"/>
                              <a:pt x="3680752" y="461665"/>
                            </a:cubicBezTo>
                            <a:cubicBezTo>
                              <a:pt x="3517029" y="472366"/>
                              <a:pt x="3348384" y="411455"/>
                              <a:pt x="3107427" y="461665"/>
                            </a:cubicBezTo>
                            <a:cubicBezTo>
                              <a:pt x="2866471" y="511875"/>
                              <a:pt x="2926375" y="445285"/>
                              <a:pt x="2774897" y="461665"/>
                            </a:cubicBezTo>
                            <a:cubicBezTo>
                              <a:pt x="2623419" y="478045"/>
                              <a:pt x="2523615" y="449692"/>
                              <a:pt x="2442368" y="461665"/>
                            </a:cubicBezTo>
                            <a:cubicBezTo>
                              <a:pt x="2361121" y="473638"/>
                              <a:pt x="2011678" y="429888"/>
                              <a:pt x="1869043" y="461665"/>
                            </a:cubicBezTo>
                            <a:cubicBezTo>
                              <a:pt x="1726409" y="493442"/>
                              <a:pt x="1548593" y="424735"/>
                              <a:pt x="1456248" y="461665"/>
                            </a:cubicBezTo>
                            <a:cubicBezTo>
                              <a:pt x="1363904" y="498595"/>
                              <a:pt x="1045333" y="450365"/>
                              <a:pt x="802656" y="461665"/>
                            </a:cubicBezTo>
                            <a:cubicBezTo>
                              <a:pt x="559979" y="472965"/>
                              <a:pt x="178074" y="406560"/>
                              <a:pt x="0" y="461665"/>
                            </a:cubicBezTo>
                            <a:cubicBezTo>
                              <a:pt x="-39809" y="284554"/>
                              <a:pt x="50270" y="208070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After attacker chose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400" dirty="0"/>
                  <a:t>to maximize M, defender tries to minimize the loss. 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48451C-4E34-1840-94E3-0CF103C77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844002"/>
                <a:ext cx="7936272" cy="859531"/>
              </a:xfrm>
              <a:prstGeom prst="rect">
                <a:avLst/>
              </a:prstGeom>
              <a:blipFill>
                <a:blip r:embed="rId6"/>
                <a:stretch>
                  <a:fillRect l="-954" t="-1408" b="-11268"/>
                </a:stretch>
              </a:blipFill>
              <a:ln w="38100">
                <a:solidFill>
                  <a:schemeClr val="tx2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8026563"/>
                          <a:gd name="connsiteY0" fmla="*/ 0 h 461665"/>
                          <a:gd name="connsiteX1" fmla="*/ 493060 w 8026563"/>
                          <a:gd name="connsiteY1" fmla="*/ 0 h 461665"/>
                          <a:gd name="connsiteX2" fmla="*/ 825589 w 8026563"/>
                          <a:gd name="connsiteY2" fmla="*/ 0 h 461665"/>
                          <a:gd name="connsiteX3" fmla="*/ 1559447 w 8026563"/>
                          <a:gd name="connsiteY3" fmla="*/ 0 h 461665"/>
                          <a:gd name="connsiteX4" fmla="*/ 2052507 w 8026563"/>
                          <a:gd name="connsiteY4" fmla="*/ 0 h 461665"/>
                          <a:gd name="connsiteX5" fmla="*/ 2545567 w 8026563"/>
                          <a:gd name="connsiteY5" fmla="*/ 0 h 461665"/>
                          <a:gd name="connsiteX6" fmla="*/ 3279424 w 8026563"/>
                          <a:gd name="connsiteY6" fmla="*/ 0 h 461665"/>
                          <a:gd name="connsiteX7" fmla="*/ 3692219 w 8026563"/>
                          <a:gd name="connsiteY7" fmla="*/ 0 h 461665"/>
                          <a:gd name="connsiteX8" fmla="*/ 4426076 w 8026563"/>
                          <a:gd name="connsiteY8" fmla="*/ 0 h 461665"/>
                          <a:gd name="connsiteX9" fmla="*/ 5159933 w 8026563"/>
                          <a:gd name="connsiteY9" fmla="*/ 0 h 461665"/>
                          <a:gd name="connsiteX10" fmla="*/ 5733259 w 8026563"/>
                          <a:gd name="connsiteY10" fmla="*/ 0 h 461665"/>
                          <a:gd name="connsiteX11" fmla="*/ 6467116 w 8026563"/>
                          <a:gd name="connsiteY11" fmla="*/ 0 h 461665"/>
                          <a:gd name="connsiteX12" fmla="*/ 6960177 w 8026563"/>
                          <a:gd name="connsiteY12" fmla="*/ 0 h 461665"/>
                          <a:gd name="connsiteX13" fmla="*/ 7453237 w 8026563"/>
                          <a:gd name="connsiteY13" fmla="*/ 0 h 461665"/>
                          <a:gd name="connsiteX14" fmla="*/ 8026563 w 8026563"/>
                          <a:gd name="connsiteY14" fmla="*/ 0 h 461665"/>
                          <a:gd name="connsiteX15" fmla="*/ 8026563 w 8026563"/>
                          <a:gd name="connsiteY15" fmla="*/ 461665 h 461665"/>
                          <a:gd name="connsiteX16" fmla="*/ 7453237 w 8026563"/>
                          <a:gd name="connsiteY16" fmla="*/ 461665 h 461665"/>
                          <a:gd name="connsiteX17" fmla="*/ 6719380 w 8026563"/>
                          <a:gd name="connsiteY17" fmla="*/ 461665 h 461665"/>
                          <a:gd name="connsiteX18" fmla="*/ 6146054 w 8026563"/>
                          <a:gd name="connsiteY18" fmla="*/ 461665 h 461665"/>
                          <a:gd name="connsiteX19" fmla="*/ 5813525 w 8026563"/>
                          <a:gd name="connsiteY19" fmla="*/ 461665 h 461665"/>
                          <a:gd name="connsiteX20" fmla="*/ 5400730 w 8026563"/>
                          <a:gd name="connsiteY20" fmla="*/ 461665 h 461665"/>
                          <a:gd name="connsiteX21" fmla="*/ 4666873 w 8026563"/>
                          <a:gd name="connsiteY21" fmla="*/ 461665 h 461665"/>
                          <a:gd name="connsiteX22" fmla="*/ 4093547 w 8026563"/>
                          <a:gd name="connsiteY22" fmla="*/ 461665 h 461665"/>
                          <a:gd name="connsiteX23" fmla="*/ 3680752 w 8026563"/>
                          <a:gd name="connsiteY23" fmla="*/ 461665 h 461665"/>
                          <a:gd name="connsiteX24" fmla="*/ 3107427 w 8026563"/>
                          <a:gd name="connsiteY24" fmla="*/ 461665 h 461665"/>
                          <a:gd name="connsiteX25" fmla="*/ 2774897 w 8026563"/>
                          <a:gd name="connsiteY25" fmla="*/ 461665 h 461665"/>
                          <a:gd name="connsiteX26" fmla="*/ 2442368 w 8026563"/>
                          <a:gd name="connsiteY26" fmla="*/ 461665 h 461665"/>
                          <a:gd name="connsiteX27" fmla="*/ 1869043 w 8026563"/>
                          <a:gd name="connsiteY27" fmla="*/ 461665 h 461665"/>
                          <a:gd name="connsiteX28" fmla="*/ 1456248 w 8026563"/>
                          <a:gd name="connsiteY28" fmla="*/ 461665 h 461665"/>
                          <a:gd name="connsiteX29" fmla="*/ 802656 w 8026563"/>
                          <a:gd name="connsiteY29" fmla="*/ 461665 h 461665"/>
                          <a:gd name="connsiteX30" fmla="*/ 0 w 8026563"/>
                          <a:gd name="connsiteY30" fmla="*/ 461665 h 461665"/>
                          <a:gd name="connsiteX31" fmla="*/ 0 w 8026563"/>
                          <a:gd name="connsiteY31" fmla="*/ 0 h 46166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</a:cxnLst>
                        <a:rect l="l" t="t" r="r" b="b"/>
                        <a:pathLst>
                          <a:path w="8026563" h="461665" extrusionOk="0">
                            <a:moveTo>
                              <a:pt x="0" y="0"/>
                            </a:moveTo>
                            <a:cubicBezTo>
                              <a:pt x="150492" y="-14977"/>
                              <a:pt x="358682" y="30301"/>
                              <a:pt x="493060" y="0"/>
                            </a:cubicBezTo>
                            <a:cubicBezTo>
                              <a:pt x="627438" y="-30301"/>
                              <a:pt x="732893" y="14311"/>
                              <a:pt x="825589" y="0"/>
                            </a:cubicBezTo>
                            <a:cubicBezTo>
                              <a:pt x="918285" y="-14311"/>
                              <a:pt x="1366721" y="45250"/>
                              <a:pt x="1559447" y="0"/>
                            </a:cubicBezTo>
                            <a:cubicBezTo>
                              <a:pt x="1752173" y="-45250"/>
                              <a:pt x="1935083" y="39717"/>
                              <a:pt x="2052507" y="0"/>
                            </a:cubicBezTo>
                            <a:cubicBezTo>
                              <a:pt x="2169931" y="-39717"/>
                              <a:pt x="2443781" y="58938"/>
                              <a:pt x="2545567" y="0"/>
                            </a:cubicBezTo>
                            <a:cubicBezTo>
                              <a:pt x="2647353" y="-58938"/>
                              <a:pt x="3015076" y="82201"/>
                              <a:pt x="3279424" y="0"/>
                            </a:cubicBezTo>
                            <a:cubicBezTo>
                              <a:pt x="3543772" y="-82201"/>
                              <a:pt x="3495879" y="29267"/>
                              <a:pt x="3692219" y="0"/>
                            </a:cubicBezTo>
                            <a:cubicBezTo>
                              <a:pt x="3888559" y="-29267"/>
                              <a:pt x="4119337" y="27650"/>
                              <a:pt x="4426076" y="0"/>
                            </a:cubicBezTo>
                            <a:cubicBezTo>
                              <a:pt x="4732815" y="-27650"/>
                              <a:pt x="4893902" y="18722"/>
                              <a:pt x="5159933" y="0"/>
                            </a:cubicBezTo>
                            <a:cubicBezTo>
                              <a:pt x="5425964" y="-18722"/>
                              <a:pt x="5576384" y="26376"/>
                              <a:pt x="5733259" y="0"/>
                            </a:cubicBezTo>
                            <a:cubicBezTo>
                              <a:pt x="5890134" y="-26376"/>
                              <a:pt x="6103596" y="10388"/>
                              <a:pt x="6467116" y="0"/>
                            </a:cubicBezTo>
                            <a:cubicBezTo>
                              <a:pt x="6830636" y="-10388"/>
                              <a:pt x="6755257" y="53064"/>
                              <a:pt x="6960177" y="0"/>
                            </a:cubicBezTo>
                            <a:cubicBezTo>
                              <a:pt x="7165097" y="-53064"/>
                              <a:pt x="7352492" y="53315"/>
                              <a:pt x="7453237" y="0"/>
                            </a:cubicBezTo>
                            <a:cubicBezTo>
                              <a:pt x="7553982" y="-53315"/>
                              <a:pt x="7745230" y="321"/>
                              <a:pt x="8026563" y="0"/>
                            </a:cubicBezTo>
                            <a:cubicBezTo>
                              <a:pt x="8079552" y="131310"/>
                              <a:pt x="8001783" y="251861"/>
                              <a:pt x="8026563" y="461665"/>
                            </a:cubicBezTo>
                            <a:cubicBezTo>
                              <a:pt x="7813538" y="466105"/>
                              <a:pt x="7593892" y="400242"/>
                              <a:pt x="7453237" y="461665"/>
                            </a:cubicBezTo>
                            <a:cubicBezTo>
                              <a:pt x="7312582" y="523088"/>
                              <a:pt x="6945005" y="402948"/>
                              <a:pt x="6719380" y="461665"/>
                            </a:cubicBezTo>
                            <a:cubicBezTo>
                              <a:pt x="6493755" y="520382"/>
                              <a:pt x="6296119" y="450531"/>
                              <a:pt x="6146054" y="461665"/>
                            </a:cubicBezTo>
                            <a:cubicBezTo>
                              <a:pt x="5995989" y="472799"/>
                              <a:pt x="5952016" y="425462"/>
                              <a:pt x="5813525" y="461665"/>
                            </a:cubicBezTo>
                            <a:cubicBezTo>
                              <a:pt x="5675034" y="497868"/>
                              <a:pt x="5511236" y="421207"/>
                              <a:pt x="5400730" y="461665"/>
                            </a:cubicBezTo>
                            <a:cubicBezTo>
                              <a:pt x="5290225" y="502123"/>
                              <a:pt x="4927999" y="435768"/>
                              <a:pt x="4666873" y="461665"/>
                            </a:cubicBezTo>
                            <a:cubicBezTo>
                              <a:pt x="4405747" y="487562"/>
                              <a:pt x="4267695" y="398096"/>
                              <a:pt x="4093547" y="461665"/>
                            </a:cubicBezTo>
                            <a:cubicBezTo>
                              <a:pt x="3919399" y="525234"/>
                              <a:pt x="3844475" y="450964"/>
                              <a:pt x="3680752" y="461665"/>
                            </a:cubicBezTo>
                            <a:cubicBezTo>
                              <a:pt x="3517029" y="472366"/>
                              <a:pt x="3348384" y="411455"/>
                              <a:pt x="3107427" y="461665"/>
                            </a:cubicBezTo>
                            <a:cubicBezTo>
                              <a:pt x="2866471" y="511875"/>
                              <a:pt x="2926375" y="445285"/>
                              <a:pt x="2774897" y="461665"/>
                            </a:cubicBezTo>
                            <a:cubicBezTo>
                              <a:pt x="2623419" y="478045"/>
                              <a:pt x="2523615" y="449692"/>
                              <a:pt x="2442368" y="461665"/>
                            </a:cubicBezTo>
                            <a:cubicBezTo>
                              <a:pt x="2361121" y="473638"/>
                              <a:pt x="2011678" y="429888"/>
                              <a:pt x="1869043" y="461665"/>
                            </a:cubicBezTo>
                            <a:cubicBezTo>
                              <a:pt x="1726409" y="493442"/>
                              <a:pt x="1548593" y="424735"/>
                              <a:pt x="1456248" y="461665"/>
                            </a:cubicBezTo>
                            <a:cubicBezTo>
                              <a:pt x="1363904" y="498595"/>
                              <a:pt x="1045333" y="450365"/>
                              <a:pt x="802656" y="461665"/>
                            </a:cubicBezTo>
                            <a:cubicBezTo>
                              <a:pt x="559979" y="472965"/>
                              <a:pt x="178074" y="406560"/>
                              <a:pt x="0" y="461665"/>
                            </a:cubicBezTo>
                            <a:cubicBezTo>
                              <a:pt x="-39809" y="284554"/>
                              <a:pt x="50270" y="208070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226FC34F-4D03-9444-9749-003748E2147F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6479" y="3377322"/>
            <a:ext cx="930043" cy="3"/>
          </a:xfrm>
          <a:prstGeom prst="bentConnector3">
            <a:avLst>
              <a:gd name="adj1" fmla="val 50000"/>
            </a:avLst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449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27394-9B91-034F-8BFC-3E9D974D0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Oracle Defense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5C0E1-32AF-B743-B6C8-C738FDC9C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Lets bound M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B7276-A62E-D643-9EAA-2FE19E9AA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357817"/>
            <a:ext cx="10650843" cy="7235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1AED8E-2DD1-2C49-A290-B516B842FEBF}"/>
                  </a:ext>
                </a:extLst>
              </p:cNvPr>
              <p:cNvSpPr txBox="1"/>
              <p:nvPr/>
            </p:nvSpPr>
            <p:spPr>
              <a:xfrm>
                <a:off x="8909725" y="3216340"/>
                <a:ext cx="2579317" cy="2578206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/>
                  <a:t>:=True distribution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:= Model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dirty="0"/>
                  <a:t>:= Clean data set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/>
                  <a:t>:= Poisoned data set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:= Test loss</a:t>
                </a:r>
              </a:p>
              <a:p>
                <a:pPr algn="ctr"/>
                <a:r>
                  <a:rPr lang="en-US" sz="2000" dirty="0"/>
                  <a:t>L(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):=Train loss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000" dirty="0"/>
                  <a:t>:= Portion of adversarial example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1AED8E-2DD1-2C49-A290-B516B842F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9725" y="3216340"/>
                <a:ext cx="2579317" cy="2578206"/>
              </a:xfrm>
              <a:prstGeom prst="rect">
                <a:avLst/>
              </a:prstGeom>
              <a:blipFill>
                <a:blip r:embed="rId4"/>
                <a:stretch>
                  <a:fillRect t="-971" r="-483" b="-2427"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48451C-4E34-1840-94E3-0CF103C77047}"/>
                  </a:ext>
                </a:extLst>
              </p:cNvPr>
              <p:cNvSpPr txBox="1"/>
              <p:nvPr/>
            </p:nvSpPr>
            <p:spPr>
              <a:xfrm>
                <a:off x="838199" y="3844002"/>
                <a:ext cx="7936272" cy="1228863"/>
              </a:xfrm>
              <a:prstGeom prst="rect">
                <a:avLst/>
              </a:prstGeom>
              <a:noFill/>
              <a:ln w="38100">
                <a:solidFill>
                  <a:schemeClr val="accent6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8026563"/>
                          <a:gd name="connsiteY0" fmla="*/ 0 h 461665"/>
                          <a:gd name="connsiteX1" fmla="*/ 493060 w 8026563"/>
                          <a:gd name="connsiteY1" fmla="*/ 0 h 461665"/>
                          <a:gd name="connsiteX2" fmla="*/ 825589 w 8026563"/>
                          <a:gd name="connsiteY2" fmla="*/ 0 h 461665"/>
                          <a:gd name="connsiteX3" fmla="*/ 1559447 w 8026563"/>
                          <a:gd name="connsiteY3" fmla="*/ 0 h 461665"/>
                          <a:gd name="connsiteX4" fmla="*/ 2052507 w 8026563"/>
                          <a:gd name="connsiteY4" fmla="*/ 0 h 461665"/>
                          <a:gd name="connsiteX5" fmla="*/ 2545567 w 8026563"/>
                          <a:gd name="connsiteY5" fmla="*/ 0 h 461665"/>
                          <a:gd name="connsiteX6" fmla="*/ 3279424 w 8026563"/>
                          <a:gd name="connsiteY6" fmla="*/ 0 h 461665"/>
                          <a:gd name="connsiteX7" fmla="*/ 3692219 w 8026563"/>
                          <a:gd name="connsiteY7" fmla="*/ 0 h 461665"/>
                          <a:gd name="connsiteX8" fmla="*/ 4426076 w 8026563"/>
                          <a:gd name="connsiteY8" fmla="*/ 0 h 461665"/>
                          <a:gd name="connsiteX9" fmla="*/ 5159933 w 8026563"/>
                          <a:gd name="connsiteY9" fmla="*/ 0 h 461665"/>
                          <a:gd name="connsiteX10" fmla="*/ 5733259 w 8026563"/>
                          <a:gd name="connsiteY10" fmla="*/ 0 h 461665"/>
                          <a:gd name="connsiteX11" fmla="*/ 6467116 w 8026563"/>
                          <a:gd name="connsiteY11" fmla="*/ 0 h 461665"/>
                          <a:gd name="connsiteX12" fmla="*/ 6960177 w 8026563"/>
                          <a:gd name="connsiteY12" fmla="*/ 0 h 461665"/>
                          <a:gd name="connsiteX13" fmla="*/ 7453237 w 8026563"/>
                          <a:gd name="connsiteY13" fmla="*/ 0 h 461665"/>
                          <a:gd name="connsiteX14" fmla="*/ 8026563 w 8026563"/>
                          <a:gd name="connsiteY14" fmla="*/ 0 h 461665"/>
                          <a:gd name="connsiteX15" fmla="*/ 8026563 w 8026563"/>
                          <a:gd name="connsiteY15" fmla="*/ 461665 h 461665"/>
                          <a:gd name="connsiteX16" fmla="*/ 7453237 w 8026563"/>
                          <a:gd name="connsiteY16" fmla="*/ 461665 h 461665"/>
                          <a:gd name="connsiteX17" fmla="*/ 6719380 w 8026563"/>
                          <a:gd name="connsiteY17" fmla="*/ 461665 h 461665"/>
                          <a:gd name="connsiteX18" fmla="*/ 6146054 w 8026563"/>
                          <a:gd name="connsiteY18" fmla="*/ 461665 h 461665"/>
                          <a:gd name="connsiteX19" fmla="*/ 5813525 w 8026563"/>
                          <a:gd name="connsiteY19" fmla="*/ 461665 h 461665"/>
                          <a:gd name="connsiteX20" fmla="*/ 5400730 w 8026563"/>
                          <a:gd name="connsiteY20" fmla="*/ 461665 h 461665"/>
                          <a:gd name="connsiteX21" fmla="*/ 4666873 w 8026563"/>
                          <a:gd name="connsiteY21" fmla="*/ 461665 h 461665"/>
                          <a:gd name="connsiteX22" fmla="*/ 4093547 w 8026563"/>
                          <a:gd name="connsiteY22" fmla="*/ 461665 h 461665"/>
                          <a:gd name="connsiteX23" fmla="*/ 3680752 w 8026563"/>
                          <a:gd name="connsiteY23" fmla="*/ 461665 h 461665"/>
                          <a:gd name="connsiteX24" fmla="*/ 3107427 w 8026563"/>
                          <a:gd name="connsiteY24" fmla="*/ 461665 h 461665"/>
                          <a:gd name="connsiteX25" fmla="*/ 2774897 w 8026563"/>
                          <a:gd name="connsiteY25" fmla="*/ 461665 h 461665"/>
                          <a:gd name="connsiteX26" fmla="*/ 2442368 w 8026563"/>
                          <a:gd name="connsiteY26" fmla="*/ 461665 h 461665"/>
                          <a:gd name="connsiteX27" fmla="*/ 1869043 w 8026563"/>
                          <a:gd name="connsiteY27" fmla="*/ 461665 h 461665"/>
                          <a:gd name="connsiteX28" fmla="*/ 1456248 w 8026563"/>
                          <a:gd name="connsiteY28" fmla="*/ 461665 h 461665"/>
                          <a:gd name="connsiteX29" fmla="*/ 802656 w 8026563"/>
                          <a:gd name="connsiteY29" fmla="*/ 461665 h 461665"/>
                          <a:gd name="connsiteX30" fmla="*/ 0 w 8026563"/>
                          <a:gd name="connsiteY30" fmla="*/ 461665 h 461665"/>
                          <a:gd name="connsiteX31" fmla="*/ 0 w 8026563"/>
                          <a:gd name="connsiteY31" fmla="*/ 0 h 46166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</a:cxnLst>
                        <a:rect l="l" t="t" r="r" b="b"/>
                        <a:pathLst>
                          <a:path w="8026563" h="461665" extrusionOk="0">
                            <a:moveTo>
                              <a:pt x="0" y="0"/>
                            </a:moveTo>
                            <a:cubicBezTo>
                              <a:pt x="150492" y="-14977"/>
                              <a:pt x="358682" y="30301"/>
                              <a:pt x="493060" y="0"/>
                            </a:cubicBezTo>
                            <a:cubicBezTo>
                              <a:pt x="627438" y="-30301"/>
                              <a:pt x="732893" y="14311"/>
                              <a:pt x="825589" y="0"/>
                            </a:cubicBezTo>
                            <a:cubicBezTo>
                              <a:pt x="918285" y="-14311"/>
                              <a:pt x="1366721" y="45250"/>
                              <a:pt x="1559447" y="0"/>
                            </a:cubicBezTo>
                            <a:cubicBezTo>
                              <a:pt x="1752173" y="-45250"/>
                              <a:pt x="1935083" y="39717"/>
                              <a:pt x="2052507" y="0"/>
                            </a:cubicBezTo>
                            <a:cubicBezTo>
                              <a:pt x="2169931" y="-39717"/>
                              <a:pt x="2443781" y="58938"/>
                              <a:pt x="2545567" y="0"/>
                            </a:cubicBezTo>
                            <a:cubicBezTo>
                              <a:pt x="2647353" y="-58938"/>
                              <a:pt x="3015076" y="82201"/>
                              <a:pt x="3279424" y="0"/>
                            </a:cubicBezTo>
                            <a:cubicBezTo>
                              <a:pt x="3543772" y="-82201"/>
                              <a:pt x="3495879" y="29267"/>
                              <a:pt x="3692219" y="0"/>
                            </a:cubicBezTo>
                            <a:cubicBezTo>
                              <a:pt x="3888559" y="-29267"/>
                              <a:pt x="4119337" y="27650"/>
                              <a:pt x="4426076" y="0"/>
                            </a:cubicBezTo>
                            <a:cubicBezTo>
                              <a:pt x="4732815" y="-27650"/>
                              <a:pt x="4893902" y="18722"/>
                              <a:pt x="5159933" y="0"/>
                            </a:cubicBezTo>
                            <a:cubicBezTo>
                              <a:pt x="5425964" y="-18722"/>
                              <a:pt x="5576384" y="26376"/>
                              <a:pt x="5733259" y="0"/>
                            </a:cubicBezTo>
                            <a:cubicBezTo>
                              <a:pt x="5890134" y="-26376"/>
                              <a:pt x="6103596" y="10388"/>
                              <a:pt x="6467116" y="0"/>
                            </a:cubicBezTo>
                            <a:cubicBezTo>
                              <a:pt x="6830636" y="-10388"/>
                              <a:pt x="6755257" y="53064"/>
                              <a:pt x="6960177" y="0"/>
                            </a:cubicBezTo>
                            <a:cubicBezTo>
                              <a:pt x="7165097" y="-53064"/>
                              <a:pt x="7352492" y="53315"/>
                              <a:pt x="7453237" y="0"/>
                            </a:cubicBezTo>
                            <a:cubicBezTo>
                              <a:pt x="7553982" y="-53315"/>
                              <a:pt x="7745230" y="321"/>
                              <a:pt x="8026563" y="0"/>
                            </a:cubicBezTo>
                            <a:cubicBezTo>
                              <a:pt x="8079552" y="131310"/>
                              <a:pt x="8001783" y="251861"/>
                              <a:pt x="8026563" y="461665"/>
                            </a:cubicBezTo>
                            <a:cubicBezTo>
                              <a:pt x="7813538" y="466105"/>
                              <a:pt x="7593892" y="400242"/>
                              <a:pt x="7453237" y="461665"/>
                            </a:cubicBezTo>
                            <a:cubicBezTo>
                              <a:pt x="7312582" y="523088"/>
                              <a:pt x="6945005" y="402948"/>
                              <a:pt x="6719380" y="461665"/>
                            </a:cubicBezTo>
                            <a:cubicBezTo>
                              <a:pt x="6493755" y="520382"/>
                              <a:pt x="6296119" y="450531"/>
                              <a:pt x="6146054" y="461665"/>
                            </a:cubicBezTo>
                            <a:cubicBezTo>
                              <a:pt x="5995989" y="472799"/>
                              <a:pt x="5952016" y="425462"/>
                              <a:pt x="5813525" y="461665"/>
                            </a:cubicBezTo>
                            <a:cubicBezTo>
                              <a:pt x="5675034" y="497868"/>
                              <a:pt x="5511236" y="421207"/>
                              <a:pt x="5400730" y="461665"/>
                            </a:cubicBezTo>
                            <a:cubicBezTo>
                              <a:pt x="5290225" y="502123"/>
                              <a:pt x="4927999" y="435768"/>
                              <a:pt x="4666873" y="461665"/>
                            </a:cubicBezTo>
                            <a:cubicBezTo>
                              <a:pt x="4405747" y="487562"/>
                              <a:pt x="4267695" y="398096"/>
                              <a:pt x="4093547" y="461665"/>
                            </a:cubicBezTo>
                            <a:cubicBezTo>
                              <a:pt x="3919399" y="525234"/>
                              <a:pt x="3844475" y="450964"/>
                              <a:pt x="3680752" y="461665"/>
                            </a:cubicBezTo>
                            <a:cubicBezTo>
                              <a:pt x="3517029" y="472366"/>
                              <a:pt x="3348384" y="411455"/>
                              <a:pt x="3107427" y="461665"/>
                            </a:cubicBezTo>
                            <a:cubicBezTo>
                              <a:pt x="2866471" y="511875"/>
                              <a:pt x="2926375" y="445285"/>
                              <a:pt x="2774897" y="461665"/>
                            </a:cubicBezTo>
                            <a:cubicBezTo>
                              <a:pt x="2623419" y="478045"/>
                              <a:pt x="2523615" y="449692"/>
                              <a:pt x="2442368" y="461665"/>
                            </a:cubicBezTo>
                            <a:cubicBezTo>
                              <a:pt x="2361121" y="473638"/>
                              <a:pt x="2011678" y="429888"/>
                              <a:pt x="1869043" y="461665"/>
                            </a:cubicBezTo>
                            <a:cubicBezTo>
                              <a:pt x="1726409" y="493442"/>
                              <a:pt x="1548593" y="424735"/>
                              <a:pt x="1456248" y="461665"/>
                            </a:cubicBezTo>
                            <a:cubicBezTo>
                              <a:pt x="1363904" y="498595"/>
                              <a:pt x="1045333" y="450365"/>
                              <a:pt x="802656" y="461665"/>
                            </a:cubicBezTo>
                            <a:cubicBezTo>
                              <a:pt x="559979" y="472965"/>
                              <a:pt x="178074" y="406560"/>
                              <a:pt x="0" y="461665"/>
                            </a:cubicBezTo>
                            <a:cubicBezTo>
                              <a:pt x="-39809" y="284554"/>
                              <a:pt x="50270" y="208070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Equivalent to loss of having a model trained on clean dataset and adding worst case loss due to adversarial portion on the filtered data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).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48451C-4E34-1840-94E3-0CF103C77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844002"/>
                <a:ext cx="7936272" cy="1228863"/>
              </a:xfrm>
              <a:prstGeom prst="rect">
                <a:avLst/>
              </a:prstGeom>
              <a:blipFill>
                <a:blip r:embed="rId5"/>
                <a:stretch>
                  <a:fillRect l="-954" t="-3000" b="-6000"/>
                </a:stretch>
              </a:blipFill>
              <a:ln w="38100">
                <a:solidFill>
                  <a:schemeClr val="accent6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8026563"/>
                          <a:gd name="connsiteY0" fmla="*/ 0 h 461665"/>
                          <a:gd name="connsiteX1" fmla="*/ 493060 w 8026563"/>
                          <a:gd name="connsiteY1" fmla="*/ 0 h 461665"/>
                          <a:gd name="connsiteX2" fmla="*/ 825589 w 8026563"/>
                          <a:gd name="connsiteY2" fmla="*/ 0 h 461665"/>
                          <a:gd name="connsiteX3" fmla="*/ 1559447 w 8026563"/>
                          <a:gd name="connsiteY3" fmla="*/ 0 h 461665"/>
                          <a:gd name="connsiteX4" fmla="*/ 2052507 w 8026563"/>
                          <a:gd name="connsiteY4" fmla="*/ 0 h 461665"/>
                          <a:gd name="connsiteX5" fmla="*/ 2545567 w 8026563"/>
                          <a:gd name="connsiteY5" fmla="*/ 0 h 461665"/>
                          <a:gd name="connsiteX6" fmla="*/ 3279424 w 8026563"/>
                          <a:gd name="connsiteY6" fmla="*/ 0 h 461665"/>
                          <a:gd name="connsiteX7" fmla="*/ 3692219 w 8026563"/>
                          <a:gd name="connsiteY7" fmla="*/ 0 h 461665"/>
                          <a:gd name="connsiteX8" fmla="*/ 4426076 w 8026563"/>
                          <a:gd name="connsiteY8" fmla="*/ 0 h 461665"/>
                          <a:gd name="connsiteX9" fmla="*/ 5159933 w 8026563"/>
                          <a:gd name="connsiteY9" fmla="*/ 0 h 461665"/>
                          <a:gd name="connsiteX10" fmla="*/ 5733259 w 8026563"/>
                          <a:gd name="connsiteY10" fmla="*/ 0 h 461665"/>
                          <a:gd name="connsiteX11" fmla="*/ 6467116 w 8026563"/>
                          <a:gd name="connsiteY11" fmla="*/ 0 h 461665"/>
                          <a:gd name="connsiteX12" fmla="*/ 6960177 w 8026563"/>
                          <a:gd name="connsiteY12" fmla="*/ 0 h 461665"/>
                          <a:gd name="connsiteX13" fmla="*/ 7453237 w 8026563"/>
                          <a:gd name="connsiteY13" fmla="*/ 0 h 461665"/>
                          <a:gd name="connsiteX14" fmla="*/ 8026563 w 8026563"/>
                          <a:gd name="connsiteY14" fmla="*/ 0 h 461665"/>
                          <a:gd name="connsiteX15" fmla="*/ 8026563 w 8026563"/>
                          <a:gd name="connsiteY15" fmla="*/ 461665 h 461665"/>
                          <a:gd name="connsiteX16" fmla="*/ 7453237 w 8026563"/>
                          <a:gd name="connsiteY16" fmla="*/ 461665 h 461665"/>
                          <a:gd name="connsiteX17" fmla="*/ 6719380 w 8026563"/>
                          <a:gd name="connsiteY17" fmla="*/ 461665 h 461665"/>
                          <a:gd name="connsiteX18" fmla="*/ 6146054 w 8026563"/>
                          <a:gd name="connsiteY18" fmla="*/ 461665 h 461665"/>
                          <a:gd name="connsiteX19" fmla="*/ 5813525 w 8026563"/>
                          <a:gd name="connsiteY19" fmla="*/ 461665 h 461665"/>
                          <a:gd name="connsiteX20" fmla="*/ 5400730 w 8026563"/>
                          <a:gd name="connsiteY20" fmla="*/ 461665 h 461665"/>
                          <a:gd name="connsiteX21" fmla="*/ 4666873 w 8026563"/>
                          <a:gd name="connsiteY21" fmla="*/ 461665 h 461665"/>
                          <a:gd name="connsiteX22" fmla="*/ 4093547 w 8026563"/>
                          <a:gd name="connsiteY22" fmla="*/ 461665 h 461665"/>
                          <a:gd name="connsiteX23" fmla="*/ 3680752 w 8026563"/>
                          <a:gd name="connsiteY23" fmla="*/ 461665 h 461665"/>
                          <a:gd name="connsiteX24" fmla="*/ 3107427 w 8026563"/>
                          <a:gd name="connsiteY24" fmla="*/ 461665 h 461665"/>
                          <a:gd name="connsiteX25" fmla="*/ 2774897 w 8026563"/>
                          <a:gd name="connsiteY25" fmla="*/ 461665 h 461665"/>
                          <a:gd name="connsiteX26" fmla="*/ 2442368 w 8026563"/>
                          <a:gd name="connsiteY26" fmla="*/ 461665 h 461665"/>
                          <a:gd name="connsiteX27" fmla="*/ 1869043 w 8026563"/>
                          <a:gd name="connsiteY27" fmla="*/ 461665 h 461665"/>
                          <a:gd name="connsiteX28" fmla="*/ 1456248 w 8026563"/>
                          <a:gd name="connsiteY28" fmla="*/ 461665 h 461665"/>
                          <a:gd name="connsiteX29" fmla="*/ 802656 w 8026563"/>
                          <a:gd name="connsiteY29" fmla="*/ 461665 h 461665"/>
                          <a:gd name="connsiteX30" fmla="*/ 0 w 8026563"/>
                          <a:gd name="connsiteY30" fmla="*/ 461665 h 461665"/>
                          <a:gd name="connsiteX31" fmla="*/ 0 w 8026563"/>
                          <a:gd name="connsiteY31" fmla="*/ 0 h 46166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</a:cxnLst>
                        <a:rect l="l" t="t" r="r" b="b"/>
                        <a:pathLst>
                          <a:path w="8026563" h="461665" extrusionOk="0">
                            <a:moveTo>
                              <a:pt x="0" y="0"/>
                            </a:moveTo>
                            <a:cubicBezTo>
                              <a:pt x="150492" y="-14977"/>
                              <a:pt x="358682" y="30301"/>
                              <a:pt x="493060" y="0"/>
                            </a:cubicBezTo>
                            <a:cubicBezTo>
                              <a:pt x="627438" y="-30301"/>
                              <a:pt x="732893" y="14311"/>
                              <a:pt x="825589" y="0"/>
                            </a:cubicBezTo>
                            <a:cubicBezTo>
                              <a:pt x="918285" y="-14311"/>
                              <a:pt x="1366721" y="45250"/>
                              <a:pt x="1559447" y="0"/>
                            </a:cubicBezTo>
                            <a:cubicBezTo>
                              <a:pt x="1752173" y="-45250"/>
                              <a:pt x="1935083" y="39717"/>
                              <a:pt x="2052507" y="0"/>
                            </a:cubicBezTo>
                            <a:cubicBezTo>
                              <a:pt x="2169931" y="-39717"/>
                              <a:pt x="2443781" y="58938"/>
                              <a:pt x="2545567" y="0"/>
                            </a:cubicBezTo>
                            <a:cubicBezTo>
                              <a:pt x="2647353" y="-58938"/>
                              <a:pt x="3015076" y="82201"/>
                              <a:pt x="3279424" y="0"/>
                            </a:cubicBezTo>
                            <a:cubicBezTo>
                              <a:pt x="3543772" y="-82201"/>
                              <a:pt x="3495879" y="29267"/>
                              <a:pt x="3692219" y="0"/>
                            </a:cubicBezTo>
                            <a:cubicBezTo>
                              <a:pt x="3888559" y="-29267"/>
                              <a:pt x="4119337" y="27650"/>
                              <a:pt x="4426076" y="0"/>
                            </a:cubicBezTo>
                            <a:cubicBezTo>
                              <a:pt x="4732815" y="-27650"/>
                              <a:pt x="4893902" y="18722"/>
                              <a:pt x="5159933" y="0"/>
                            </a:cubicBezTo>
                            <a:cubicBezTo>
                              <a:pt x="5425964" y="-18722"/>
                              <a:pt x="5576384" y="26376"/>
                              <a:pt x="5733259" y="0"/>
                            </a:cubicBezTo>
                            <a:cubicBezTo>
                              <a:pt x="5890134" y="-26376"/>
                              <a:pt x="6103596" y="10388"/>
                              <a:pt x="6467116" y="0"/>
                            </a:cubicBezTo>
                            <a:cubicBezTo>
                              <a:pt x="6830636" y="-10388"/>
                              <a:pt x="6755257" y="53064"/>
                              <a:pt x="6960177" y="0"/>
                            </a:cubicBezTo>
                            <a:cubicBezTo>
                              <a:pt x="7165097" y="-53064"/>
                              <a:pt x="7352492" y="53315"/>
                              <a:pt x="7453237" y="0"/>
                            </a:cubicBezTo>
                            <a:cubicBezTo>
                              <a:pt x="7553982" y="-53315"/>
                              <a:pt x="7745230" y="321"/>
                              <a:pt x="8026563" y="0"/>
                            </a:cubicBezTo>
                            <a:cubicBezTo>
                              <a:pt x="8079552" y="131310"/>
                              <a:pt x="8001783" y="251861"/>
                              <a:pt x="8026563" y="461665"/>
                            </a:cubicBezTo>
                            <a:cubicBezTo>
                              <a:pt x="7813538" y="466105"/>
                              <a:pt x="7593892" y="400242"/>
                              <a:pt x="7453237" y="461665"/>
                            </a:cubicBezTo>
                            <a:cubicBezTo>
                              <a:pt x="7312582" y="523088"/>
                              <a:pt x="6945005" y="402948"/>
                              <a:pt x="6719380" y="461665"/>
                            </a:cubicBezTo>
                            <a:cubicBezTo>
                              <a:pt x="6493755" y="520382"/>
                              <a:pt x="6296119" y="450531"/>
                              <a:pt x="6146054" y="461665"/>
                            </a:cubicBezTo>
                            <a:cubicBezTo>
                              <a:pt x="5995989" y="472799"/>
                              <a:pt x="5952016" y="425462"/>
                              <a:pt x="5813525" y="461665"/>
                            </a:cubicBezTo>
                            <a:cubicBezTo>
                              <a:pt x="5675034" y="497868"/>
                              <a:pt x="5511236" y="421207"/>
                              <a:pt x="5400730" y="461665"/>
                            </a:cubicBezTo>
                            <a:cubicBezTo>
                              <a:pt x="5290225" y="502123"/>
                              <a:pt x="4927999" y="435768"/>
                              <a:pt x="4666873" y="461665"/>
                            </a:cubicBezTo>
                            <a:cubicBezTo>
                              <a:pt x="4405747" y="487562"/>
                              <a:pt x="4267695" y="398096"/>
                              <a:pt x="4093547" y="461665"/>
                            </a:cubicBezTo>
                            <a:cubicBezTo>
                              <a:pt x="3919399" y="525234"/>
                              <a:pt x="3844475" y="450964"/>
                              <a:pt x="3680752" y="461665"/>
                            </a:cubicBezTo>
                            <a:cubicBezTo>
                              <a:pt x="3517029" y="472366"/>
                              <a:pt x="3348384" y="411455"/>
                              <a:pt x="3107427" y="461665"/>
                            </a:cubicBezTo>
                            <a:cubicBezTo>
                              <a:pt x="2866471" y="511875"/>
                              <a:pt x="2926375" y="445285"/>
                              <a:pt x="2774897" y="461665"/>
                            </a:cubicBezTo>
                            <a:cubicBezTo>
                              <a:pt x="2623419" y="478045"/>
                              <a:pt x="2523615" y="449692"/>
                              <a:pt x="2442368" y="461665"/>
                            </a:cubicBezTo>
                            <a:cubicBezTo>
                              <a:pt x="2361121" y="473638"/>
                              <a:pt x="2011678" y="429888"/>
                              <a:pt x="1869043" y="461665"/>
                            </a:cubicBezTo>
                            <a:cubicBezTo>
                              <a:pt x="1726409" y="493442"/>
                              <a:pt x="1548593" y="424735"/>
                              <a:pt x="1456248" y="461665"/>
                            </a:cubicBezTo>
                            <a:cubicBezTo>
                              <a:pt x="1363904" y="498595"/>
                              <a:pt x="1045333" y="450365"/>
                              <a:pt x="802656" y="461665"/>
                            </a:cubicBezTo>
                            <a:cubicBezTo>
                              <a:pt x="559979" y="472965"/>
                              <a:pt x="178074" y="406560"/>
                              <a:pt x="0" y="461665"/>
                            </a:cubicBezTo>
                            <a:cubicBezTo>
                              <a:pt x="-39809" y="284554"/>
                              <a:pt x="50270" y="208070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226FC34F-4D03-9444-9749-003748E2147F}"/>
              </a:ext>
            </a:extLst>
          </p:cNvPr>
          <p:cNvCxnSpPr>
            <a:cxnSpLocks/>
          </p:cNvCxnSpPr>
          <p:nvPr/>
        </p:nvCxnSpPr>
        <p:spPr>
          <a:xfrm rot="16200000" flipV="1">
            <a:off x="6079140" y="3465877"/>
            <a:ext cx="756248" cy="2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FF125BB-CF61-6742-B3C5-29B1D1E30E69}"/>
              </a:ext>
            </a:extLst>
          </p:cNvPr>
          <p:cNvSpPr/>
          <p:nvPr/>
        </p:nvSpPr>
        <p:spPr>
          <a:xfrm>
            <a:off x="4528159" y="2406133"/>
            <a:ext cx="6960883" cy="675270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466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EC41D00-1001-E640-B71B-6C6CD7EA23C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Can there be good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under oracle defense?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EC41D00-1001-E640-B71B-6C6CD7EA23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4F48C35D-698A-E646-A1B1-E3018586EF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96143"/>
            <a:ext cx="10515600" cy="2231606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37A6DB-B96C-7046-BCF0-6485289E0E39}"/>
                  </a:ext>
                </a:extLst>
              </p:cNvPr>
              <p:cNvSpPr txBox="1"/>
              <p:nvPr/>
            </p:nvSpPr>
            <p:spPr>
              <a:xfrm>
                <a:off x="3266187" y="4681887"/>
                <a:ext cx="5659626" cy="390748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If the average regret is small, then there will be a good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37A6DB-B96C-7046-BCF0-6485289E0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187" y="4681887"/>
                <a:ext cx="5659626" cy="390748"/>
              </a:xfrm>
              <a:prstGeom prst="rect">
                <a:avLst/>
              </a:prstGeom>
              <a:blipFill>
                <a:blip r:embed="rId4"/>
                <a:stretch>
                  <a:fillRect l="-667" t="-2941" b="-11765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BD60F0-1667-0F40-9C26-7D1297B1E0E6}"/>
                  </a:ext>
                </a:extLst>
              </p:cNvPr>
              <p:cNvSpPr txBox="1"/>
              <p:nvPr/>
            </p:nvSpPr>
            <p:spPr>
              <a:xfrm>
                <a:off x="9612683" y="4227749"/>
                <a:ext cx="2579317" cy="2578206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/>
                  <a:t>:=True distribution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:= Model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dirty="0"/>
                  <a:t>:= Clean data set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/>
                  <a:t>:= Poisoned data set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:= Test loss</a:t>
                </a:r>
              </a:p>
              <a:p>
                <a:pPr algn="ctr"/>
                <a:r>
                  <a:rPr lang="en-US" sz="2000" dirty="0"/>
                  <a:t>L(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):=Train loss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/>
                  <a:t>:= </a:t>
                </a:r>
                <a:r>
                  <a:rPr lang="en-US" sz="2000" dirty="0" err="1"/>
                  <a:t>Alg</a:t>
                </a:r>
                <a:r>
                  <a:rPr lang="en-US" sz="2000" dirty="0"/>
                  <a:t> 1 output (upper bound)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BD60F0-1667-0F40-9C26-7D1297B1E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2683" y="4227749"/>
                <a:ext cx="2579317" cy="2578206"/>
              </a:xfrm>
              <a:prstGeom prst="rect">
                <a:avLst/>
              </a:prstGeom>
              <a:blipFill>
                <a:blip r:embed="rId5"/>
                <a:stretch>
                  <a:fillRect t="-483" r="-971" b="-1932"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2877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B01E7-1CF9-3447-B784-FF54FE6FA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Data-Dependent Defense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AB5AE3-694F-4141-86BA-01296F621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09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E1246-6A53-7F41-99E9-CC98A2D65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Data-Dependent Defense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FD4749-2EF0-4842-9584-1C0E646088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 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:= </a:t>
                </a:r>
                <a:r>
                  <a:rPr lang="en-US" dirty="0" err="1"/>
                  <a:t>Emperical</a:t>
                </a:r>
                <a:r>
                  <a:rPr lang="en-US" dirty="0"/>
                  <a:t> centroid of class y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FD4749-2EF0-4842-9584-1C0E646088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B8B52C-3E20-A84C-BE3B-A55E57F65A59}"/>
                  </a:ext>
                </a:extLst>
              </p:cNvPr>
              <p:cNvSpPr txBox="1"/>
              <p:nvPr/>
            </p:nvSpPr>
            <p:spPr>
              <a:xfrm>
                <a:off x="9612683" y="4227749"/>
                <a:ext cx="2579317" cy="2578206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/>
                  <a:t>:=True distribution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:= Model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dirty="0"/>
                  <a:t>:= Clean data set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/>
                  <a:t>:= Poisoned data set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:= Test loss</a:t>
                </a:r>
              </a:p>
              <a:p>
                <a:pPr algn="ctr"/>
                <a:r>
                  <a:rPr lang="en-US" sz="2000" dirty="0"/>
                  <a:t>L(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):=Train loss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/>
                  <a:t>:= </a:t>
                </a:r>
                <a:r>
                  <a:rPr lang="en-US" sz="2000" dirty="0" err="1"/>
                  <a:t>Alg</a:t>
                </a:r>
                <a:r>
                  <a:rPr lang="en-US" sz="2000" dirty="0"/>
                  <a:t> 1 output (upper bound)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B8B52C-3E20-A84C-BE3B-A55E57F65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2683" y="4227749"/>
                <a:ext cx="2579317" cy="2578206"/>
              </a:xfrm>
              <a:prstGeom prst="rect">
                <a:avLst/>
              </a:prstGeom>
              <a:blipFill>
                <a:blip r:embed="rId3"/>
                <a:stretch>
                  <a:fillRect t="-483" r="-971" b="-1932"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F7238F3-3C83-D44F-8FF7-F8C4395E2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020883"/>
            <a:ext cx="10253928" cy="81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472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1BFFB7-7127-1B48-BED4-5E6183279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383050-284C-D146-A184-C11288A52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9956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665E1D-743E-F44A-BA7D-3C8E0C5B2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94DBC3E-EEA1-5443-A869-C1EE076718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All experiments use binary SVM</a:t>
                </a:r>
              </a:p>
              <a:p>
                <a:r>
                  <a:rPr lang="en-US" dirty="0"/>
                  <a:t>Both ball and slab filtering are used.</a:t>
                </a:r>
              </a:p>
              <a:p>
                <a:r>
                  <a:rPr lang="en-US" dirty="0"/>
                  <a:t>Maximizing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is equivalent to minimizing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This is quadratic program (QP) for each y=1 and y=-1</a:t>
                </a:r>
              </a:p>
              <a:p>
                <a:r>
                  <a:rPr lang="en-US" dirty="0"/>
                  <a:t>Dataset: MNIST, Dogfish, Enron, IMDB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94DBC3E-EEA1-5443-A869-C1EE076718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80B9577-0302-9547-8C31-B5A324BF2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" y="3580695"/>
            <a:ext cx="11684000" cy="6223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78BD0A-AE01-F940-AB6C-3A7B4C092AA8}"/>
                  </a:ext>
                </a:extLst>
              </p:cNvPr>
              <p:cNvSpPr txBox="1"/>
              <p:nvPr/>
            </p:nvSpPr>
            <p:spPr>
              <a:xfrm>
                <a:off x="9313797" y="1574082"/>
                <a:ext cx="2624203" cy="1703223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:= model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dirty="0"/>
                  <a:t>:= Clean data set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/>
                  <a:t>:= Poisoned data set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000" dirty="0"/>
                  <a:t>:= Centroid of class y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000" dirty="0"/>
                  <a:t>:= Threshold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78BD0A-AE01-F940-AB6C-3A7B4C092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3797" y="1574082"/>
                <a:ext cx="2624203" cy="1703223"/>
              </a:xfrm>
              <a:prstGeom prst="rect">
                <a:avLst/>
              </a:prstGeom>
              <a:blipFill>
                <a:blip r:embed="rId5"/>
                <a:stretch>
                  <a:fillRect t="-725" r="-476" b="-2899"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72440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B2243-ED41-6241-A463-FE064BF83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Dataset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E225F-3DFD-8A48-B055-FFEB8D52A6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QP becomes Integer QP (IQP) because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Use </a:t>
                </a:r>
                <a:r>
                  <a:rPr lang="en-US" dirty="0" err="1"/>
                  <a:t>Gurobi</a:t>
                </a:r>
                <a:r>
                  <a:rPr lang="en-US" dirty="0"/>
                  <a:t> to find approximately optimal feasible x</a:t>
                </a:r>
              </a:p>
              <a:p>
                <a:r>
                  <a:rPr lang="en-US" dirty="0"/>
                  <a:t>Valid attack but potentially not optimal</a:t>
                </a:r>
              </a:p>
              <a:p>
                <a:r>
                  <a:rPr lang="en-US" dirty="0"/>
                  <a:t>High dimensionality of IMDB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E225F-3DFD-8A48-B055-FFEB8D52A6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0841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0BC1F-B9B4-5743-B9B6-C0E9CA455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Oracle Defense Result</a:t>
            </a:r>
          </a:p>
        </p:txBody>
      </p:sp>
      <p:pic>
        <p:nvPicPr>
          <p:cNvPr id="9" name="Picture 8" descr="A picture containing screenshot&#10;&#10;Description automatically generated">
            <a:extLst>
              <a:ext uri="{FF2B5EF4-FFF2-40B4-BE49-F238E27FC236}">
                <a16:creationId xmlns:a16="http://schemas.microsoft.com/office/drawing/2014/main" id="{6889739D-A882-E248-A625-CFF683728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72676"/>
            <a:ext cx="12192000" cy="311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689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A7E79-7A4F-524A-BBEB-9A5538C1F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Data-Dependent Defense Result</a:t>
            </a:r>
          </a:p>
        </p:txBody>
      </p:sp>
      <p:pic>
        <p:nvPicPr>
          <p:cNvPr id="11" name="Content Placeholder 10" descr="A close up of a map&#10;&#10;Description automatically generated">
            <a:extLst>
              <a:ext uri="{FF2B5EF4-FFF2-40B4-BE49-F238E27FC236}">
                <a16:creationId xmlns:a16="http://schemas.microsoft.com/office/drawing/2014/main" id="{6DC89343-B4B5-824F-BDD5-B0C722226D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90688"/>
            <a:ext cx="12197614" cy="3814174"/>
          </a:xfrm>
        </p:spPr>
      </p:pic>
    </p:spTree>
    <p:extLst>
      <p:ext uri="{BB962C8B-B14F-4D97-AF65-F5344CB8AC3E}">
        <p14:creationId xmlns:p14="http://schemas.microsoft.com/office/powerpoint/2010/main" val="1141456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AE73F-95E4-5C4F-9E1D-23853A293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data-dependent defense cause worse bound?</a:t>
            </a:r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88DF6C18-8653-B149-8862-B7A72BF006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21718"/>
            <a:ext cx="10515600" cy="3759151"/>
          </a:xfrm>
        </p:spPr>
      </p:pic>
    </p:spTree>
    <p:extLst>
      <p:ext uri="{BB962C8B-B14F-4D97-AF65-F5344CB8AC3E}">
        <p14:creationId xmlns:p14="http://schemas.microsoft.com/office/powerpoint/2010/main" val="3435666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3E149-5ACD-644D-8CB4-68C2CAB6C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34FD20-DD04-D848-B7C3-044BFB1455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bounds tightness depend on the dataset and the defense</a:t>
                </a:r>
              </a:p>
              <a:p>
                <a:pPr lvl="1"/>
                <a:r>
                  <a:rPr lang="en-US" dirty="0"/>
                  <a:t>Oracle defense provides tight bound for image dataset</a:t>
                </a:r>
              </a:p>
              <a:p>
                <a:r>
                  <a:rPr lang="en-US" dirty="0"/>
                  <a:t>Text data set is more vulnerable due to sparseness of the features</a:t>
                </a:r>
              </a:p>
              <a:p>
                <a:r>
                  <a:rPr lang="en-US" dirty="0"/>
                  <a:t>Data dependent defense is ineffective under ball and slab defense</a:t>
                </a:r>
              </a:p>
              <a:p>
                <a:pPr lvl="1"/>
                <a:r>
                  <a:rPr lang="en-US" dirty="0"/>
                  <a:t>For MNIST-1-7, 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=0.3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2"/>
                <a:r>
                  <a:rPr lang="en-US" dirty="0"/>
                  <a:t>Hinge loss of 0.69 (compared to 0.03 in oracle defense)</a:t>
                </a:r>
              </a:p>
              <a:p>
                <a:pPr lvl="2"/>
                <a:r>
                  <a:rPr lang="en-US" dirty="0"/>
                  <a:t>0-1 loss of 0.4 (compared to 0.01 in oracle defense)</a:t>
                </a:r>
              </a:p>
              <a:p>
                <a:pPr lvl="1"/>
                <a:r>
                  <a:rPr lang="en-US" dirty="0"/>
                  <a:t>For Dogfish, at 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=0.3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Hinge loss of 0.59 (compared to 0.05)</a:t>
                </a:r>
              </a:p>
              <a:p>
                <a:pPr lvl="2"/>
                <a:r>
                  <a:rPr lang="en-US" dirty="0"/>
                  <a:t>0-1 loss of 0.22 (compared to 0.01)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34FD20-DD04-D848-B7C3-044BFB1455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1342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4506</TotalTime>
  <Words>1057</Words>
  <Application>Microsoft Macintosh PowerPoint</Application>
  <PresentationFormat>Widescreen</PresentationFormat>
  <Paragraphs>177</Paragraphs>
  <Slides>27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Office Theme</vt:lpstr>
      <vt:lpstr>Certified Defenses for Data Poisoning Attacks</vt:lpstr>
      <vt:lpstr>Previously…</vt:lpstr>
      <vt:lpstr>Can we bound it?</vt:lpstr>
      <vt:lpstr>Yes… With Assumptions</vt:lpstr>
      <vt:lpstr>Lets formalize the problem</vt:lpstr>
      <vt:lpstr>Problem Formalization</vt:lpstr>
      <vt:lpstr>Data Sanitization Methods</vt:lpstr>
      <vt:lpstr>PowerPoint Presentation</vt:lpstr>
      <vt:lpstr>Formally Worst Case Loss is…</vt:lpstr>
      <vt:lpstr>Formally Worst Case Loss is…</vt:lpstr>
      <vt:lpstr>Formally Worst Case Loss is…</vt:lpstr>
      <vt:lpstr>Formally Worst Case Loss is…</vt:lpstr>
      <vt:lpstr>Attack Method</vt:lpstr>
      <vt:lpstr>Defense Methods</vt:lpstr>
      <vt:lpstr>Oracle Defense</vt:lpstr>
      <vt:lpstr>Oracle Defense</vt:lpstr>
      <vt:lpstr>Oracle Defense</vt:lpstr>
      <vt:lpstr>Can there be good D_punder oracle defense?</vt:lpstr>
      <vt:lpstr>Data-Dependent Defense</vt:lpstr>
      <vt:lpstr>Data-Dependent Defense</vt:lpstr>
      <vt:lpstr>Experiments</vt:lpstr>
      <vt:lpstr>Setup</vt:lpstr>
      <vt:lpstr>Text Dataset</vt:lpstr>
      <vt:lpstr>Oracle Defense Result</vt:lpstr>
      <vt:lpstr>Data-Dependent Defense Result</vt:lpstr>
      <vt:lpstr>Why does data-dependent defense cause worse bound?</vt:lpstr>
      <vt:lpstr>Takeaway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Certified Defenses for Data Poisoning Attacks</dc:title>
  <dc:creator>Kim, Kyo Hyun</dc:creator>
  <cp:lastModifiedBy>Kim, Kyo Hyun</cp:lastModifiedBy>
  <cp:revision>6</cp:revision>
  <dcterms:created xsi:type="dcterms:W3CDTF">2019-10-10T00:50:28Z</dcterms:created>
  <dcterms:modified xsi:type="dcterms:W3CDTF">2019-10-13T03:56:30Z</dcterms:modified>
</cp:coreProperties>
</file>