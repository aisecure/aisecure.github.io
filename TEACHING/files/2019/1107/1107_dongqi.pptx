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1" r:id="rId2"/>
    <p:sldId id="262" r:id="rId3"/>
    <p:sldId id="264" r:id="rId4"/>
    <p:sldId id="265" r:id="rId5"/>
    <p:sldId id="266" r:id="rId6"/>
    <p:sldId id="268" r:id="rId7"/>
    <p:sldId id="269" r:id="rId8"/>
    <p:sldId id="270" r:id="rId9"/>
    <p:sldId id="273" r:id="rId10"/>
    <p:sldId id="271" r:id="rId11"/>
    <p:sldId id="288" r:id="rId12"/>
    <p:sldId id="283" r:id="rId13"/>
    <p:sldId id="284" r:id="rId14"/>
    <p:sldId id="285" r:id="rId15"/>
    <p:sldId id="286" r:id="rId16"/>
    <p:sldId id="289" r:id="rId17"/>
    <p:sldId id="287" r:id="rId18"/>
    <p:sldId id="272" r:id="rId19"/>
    <p:sldId id="267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4B"/>
    <a:srgbClr val="E84A27"/>
    <a:srgbClr val="FA6300"/>
    <a:srgbClr val="13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7"/>
    <p:restoredTop sz="94705"/>
  </p:normalViewPr>
  <p:slideViewPr>
    <p:cSldViewPr snapToGrid="0" snapToObjects="1">
      <p:cViewPr varScale="1">
        <p:scale>
          <a:sx n="108" d="100"/>
          <a:sy n="108" d="100"/>
        </p:scale>
        <p:origin x="115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EA5D1-EA62-498B-8748-E87F906BFE97}" type="datetimeFigureOut">
              <a:rPr lang="en-US" smtClean="0"/>
              <a:t>11/6/2019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826E6-07E3-4CA6-BA08-B9A6E0BDB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94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d’ and d’’ has the considerable probability to generate y, then y is able to be released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37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17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26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65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61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47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38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0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0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15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59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that the attribute </a:t>
            </a:r>
            <a:r>
              <a:rPr lang="en-US" dirty="0" err="1"/>
              <a:t>i</a:t>
            </a:r>
            <a:r>
              <a:rPr lang="en-US" dirty="0"/>
              <a:t> equals to value l can be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17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71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85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33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61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key parts: (1) an ensemble of n teacher models; (2) an aggregation mechanism and (3) a student model</a:t>
            </a:r>
          </a:p>
          <a:p>
            <a:r>
              <a:rPr lang="en-US" dirty="0"/>
              <a:t>When expose to all un-labeled data, it will reveal the privacy of the aggregation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59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10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47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4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87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6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9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559525"/>
            <a:ext cx="4768200" cy="1730075"/>
          </a:xfrm>
          <a:prstGeom prst="rect">
            <a:avLst/>
          </a:prstGeom>
        </p:spPr>
        <p:txBody>
          <a:bodyPr/>
          <a:lstStyle>
            <a:lvl1pPr algn="l">
              <a:defRPr baseline="0">
                <a:solidFill>
                  <a:srgbClr val="FA6300"/>
                </a:solidFill>
              </a:defRPr>
            </a:lvl1pPr>
          </a:lstStyle>
          <a:p>
            <a:r>
              <a:rPr lang="en-US" dirty="0"/>
              <a:t>Title Here: </a:t>
            </a:r>
            <a:r>
              <a:rPr lang="en-US"/>
              <a:t>Tell Your Illinois Story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228600" y="2382838"/>
            <a:ext cx="4768850" cy="942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Name 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Date</a:t>
            </a:r>
          </a:p>
          <a:p>
            <a:pPr lvl="0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4" y="6008552"/>
            <a:ext cx="184381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8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819400" y="274638"/>
            <a:ext cx="5867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819400" y="1600200"/>
            <a:ext cx="5867400" cy="4525963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28157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  <a:prstGeom prst="rect">
            <a:avLst/>
          </a:prstGeom>
        </p:spPr>
        <p:txBody>
          <a:bodyPr/>
          <a:lstStyle/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3402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08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31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7495" y="768326"/>
            <a:ext cx="8577721" cy="1255784"/>
          </a:xfrm>
        </p:spPr>
        <p:txBody>
          <a:bodyPr/>
          <a:lstStyle/>
          <a:p>
            <a:r>
              <a:rPr lang="en-US" sz="3200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Introduction of “Plausible Deniability for Privacy-Preserving Data Synthesis”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447395" y="2337046"/>
            <a:ext cx="7808838" cy="1666783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 Title: Plausible Deniability for Privacy-Preserving Data Synthesis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Author: Vincent </a:t>
            </a:r>
            <a:r>
              <a:rPr lang="en-US" sz="2000" dirty="0" err="1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Bindschaedler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, Reza Shokri, Carl A. Gunter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Venue: VLDB’2017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Presenter: Dongqi Fu</a:t>
            </a:r>
          </a:p>
        </p:txBody>
      </p:sp>
    </p:spTree>
    <p:extLst>
      <p:ext uri="{BB962C8B-B14F-4D97-AF65-F5344CB8AC3E}">
        <p14:creationId xmlns:p14="http://schemas.microsoft.com/office/powerpoint/2010/main" val="25516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Roadmap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7045036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Motivation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Illustration of the Idea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Definition of Plausible Deniability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Proposed Algorithm for Realization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Experiments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08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Motivation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7045036" cy="433878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Releasing highly-sensitive data is dangerous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Current de-identification methods depend on background knowledge of adversaries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Current de-identification methods are computationally impractical to use for releasing high dimensional data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BC8781-13BA-43CB-8EF6-FC234C32B5AD}"/>
              </a:ext>
            </a:extLst>
          </p:cNvPr>
          <p:cNvSpPr txBox="1">
            <a:spLocks/>
          </p:cNvSpPr>
          <p:nvPr/>
        </p:nvSpPr>
        <p:spPr>
          <a:xfrm>
            <a:off x="381000" y="4231679"/>
            <a:ext cx="7045036" cy="152474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Hence, this paper aims to propose a method which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does not depend on background knowledge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of an adversary; also, it can be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efficiently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checked by privacy test.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6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Illustration of the Idea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52FCEF70-5C95-4E29-AA3D-71300FA4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40" y="2955894"/>
            <a:ext cx="2394012" cy="239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11C30F-226F-4BD6-ABFA-1AB43C708C7C}"/>
              </a:ext>
            </a:extLst>
          </p:cNvPr>
          <p:cNvSpPr txBox="1">
            <a:spLocks/>
          </p:cNvSpPr>
          <p:nvPr/>
        </p:nvSpPr>
        <p:spPr>
          <a:xfrm>
            <a:off x="579139" y="5349906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Database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028" name="Picture 4" descr="Image result for extract icon">
            <a:extLst>
              <a:ext uri="{FF2B5EF4-FFF2-40B4-BE49-F238E27FC236}">
                <a16:creationId xmlns:a16="http://schemas.microsoft.com/office/drawing/2014/main" id="{232633CF-4202-4D6F-914F-C044C3911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874" y="2569345"/>
            <a:ext cx="1353474" cy="82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879E98-8E0B-43BB-84FB-7997FAA3F2F2}"/>
              </a:ext>
            </a:extLst>
          </p:cNvPr>
          <p:cNvSpPr txBox="1">
            <a:spLocks/>
          </p:cNvSpPr>
          <p:nvPr/>
        </p:nvSpPr>
        <p:spPr>
          <a:xfrm>
            <a:off x="2888443" y="2979752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030" name="Picture 6" descr="Related image">
            <a:extLst>
              <a:ext uri="{FF2B5EF4-FFF2-40B4-BE49-F238E27FC236}">
                <a16:creationId xmlns:a16="http://schemas.microsoft.com/office/drawing/2014/main" id="{22DD2854-5089-402C-9DB7-B0364114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248" y="2178950"/>
            <a:ext cx="882559" cy="77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blackbox icon">
            <a:extLst>
              <a:ext uri="{FF2B5EF4-FFF2-40B4-BE49-F238E27FC236}">
                <a16:creationId xmlns:a16="http://schemas.microsoft.com/office/drawing/2014/main" id="{A6E76273-DE32-4EA2-B348-90936C045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238" y="2074970"/>
            <a:ext cx="1353475" cy="135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5C246C-B015-47B3-B28C-AE0502028134}"/>
              </a:ext>
            </a:extLst>
          </p:cNvPr>
          <p:cNvSpPr txBox="1">
            <a:spLocks/>
          </p:cNvSpPr>
          <p:nvPr/>
        </p:nvSpPr>
        <p:spPr>
          <a:xfrm>
            <a:off x="5277327" y="3447922"/>
            <a:ext cx="3101215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Generative model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M</a:t>
            </a:r>
            <a:endParaRPr lang="en-US" b="1" i="1" dirty="0"/>
          </a:p>
        </p:txBody>
      </p:sp>
      <p:pic>
        <p:nvPicPr>
          <p:cNvPr id="1042" name="Picture 18" descr="Image result for arrow icon">
            <a:extLst>
              <a:ext uri="{FF2B5EF4-FFF2-40B4-BE49-F238E27FC236}">
                <a16:creationId xmlns:a16="http://schemas.microsoft.com/office/drawing/2014/main" id="{439E98E9-C9C3-4BB5-B6D5-87AA5E528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755" y="2281310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Related image">
            <a:extLst>
              <a:ext uri="{FF2B5EF4-FFF2-40B4-BE49-F238E27FC236}">
                <a16:creationId xmlns:a16="http://schemas.microsoft.com/office/drawing/2014/main" id="{8B62F4FD-C7EA-4064-A605-9EA42628F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760" y="3972742"/>
            <a:ext cx="846430" cy="84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Related image">
            <a:extLst>
              <a:ext uri="{FF2B5EF4-FFF2-40B4-BE49-F238E27FC236}">
                <a16:creationId xmlns:a16="http://schemas.microsoft.com/office/drawing/2014/main" id="{0A3BF974-EF59-4890-A74B-1AC4C7DE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370" y="4826492"/>
            <a:ext cx="1115298" cy="111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6E5BBB8-5E75-4C98-A766-BFF599E1BB52}"/>
              </a:ext>
            </a:extLst>
          </p:cNvPr>
          <p:cNvSpPr txBox="1">
            <a:spLocks/>
          </p:cNvSpPr>
          <p:nvPr/>
        </p:nvSpPr>
        <p:spPr>
          <a:xfrm>
            <a:off x="5277327" y="5904419"/>
            <a:ext cx="2980883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y</a:t>
            </a:r>
            <a:endParaRPr lang="en-US" b="1" i="1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845D502-BBB3-4D12-B891-8F40EB1B5C57}"/>
              </a:ext>
            </a:extLst>
          </p:cNvPr>
          <p:cNvSpPr txBox="1">
            <a:spLocks/>
          </p:cNvSpPr>
          <p:nvPr/>
        </p:nvSpPr>
        <p:spPr>
          <a:xfrm>
            <a:off x="381000" y="1167038"/>
            <a:ext cx="8185951" cy="54015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The first core question: How can we camouflage the real data?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33377-BDEB-4F3D-AD43-6007873AF609}"/>
              </a:ext>
            </a:extLst>
          </p:cNvPr>
          <p:cNvSpPr/>
          <p:nvPr/>
        </p:nvSpPr>
        <p:spPr>
          <a:xfrm>
            <a:off x="5277327" y="1775534"/>
            <a:ext cx="2863496" cy="219720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2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Illustration of the Idea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5C246C-B015-47B3-B28C-AE0502028134}"/>
              </a:ext>
            </a:extLst>
          </p:cNvPr>
          <p:cNvSpPr txBox="1">
            <a:spLocks/>
          </p:cNvSpPr>
          <p:nvPr/>
        </p:nvSpPr>
        <p:spPr>
          <a:xfrm>
            <a:off x="381000" y="1278909"/>
            <a:ext cx="8185951" cy="100265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The second core question: Once we get a synthetic data,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when can we release privacy-preserving 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cs typeface="Calibri" charset="0"/>
              </a:rPr>
              <a:t>y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?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BA86AA-E177-4D87-BB08-8D427B4D525F}"/>
              </a:ext>
            </a:extLst>
          </p:cNvPr>
          <p:cNvGrpSpPr/>
          <p:nvPr/>
        </p:nvGrpSpPr>
        <p:grpSpPr>
          <a:xfrm>
            <a:off x="902200" y="2373252"/>
            <a:ext cx="6501961" cy="3897754"/>
            <a:chOff x="873212" y="2857653"/>
            <a:chExt cx="6501961" cy="3897754"/>
          </a:xfrm>
        </p:grpSpPr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9A3FEC1C-E937-4396-8F3D-9F0AE1C89C3C}"/>
                </a:ext>
              </a:extLst>
            </p:cNvPr>
            <p:cNvSpPr txBox="1">
              <a:spLocks/>
            </p:cNvSpPr>
            <p:nvPr/>
          </p:nvSpPr>
          <p:spPr>
            <a:xfrm>
              <a:off x="873212" y="3894152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</a:t>
              </a:r>
              <a:endParaRPr lang="en-US" b="1" i="1" dirty="0"/>
            </a:p>
          </p:txBody>
        </p:sp>
        <p:pic>
          <p:nvPicPr>
            <p:cNvPr id="15" name="Picture 6" descr="Related image">
              <a:extLst>
                <a:ext uri="{FF2B5EF4-FFF2-40B4-BE49-F238E27FC236}">
                  <a16:creationId xmlns:a16="http://schemas.microsoft.com/office/drawing/2014/main" id="{36CC08A5-3F6B-45CA-9F5E-721536BA3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1017" y="3093350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2" descr="Related image">
              <a:extLst>
                <a:ext uri="{FF2B5EF4-FFF2-40B4-BE49-F238E27FC236}">
                  <a16:creationId xmlns:a16="http://schemas.microsoft.com/office/drawing/2014/main" id="{A1BCE633-1AA6-46D1-80F3-A108707CA1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3717" y="2857653"/>
              <a:ext cx="1115298" cy="1115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ADDC29D8-9CBF-4B1A-9FF3-95F0D6A672A6}"/>
                </a:ext>
              </a:extLst>
            </p:cNvPr>
            <p:cNvSpPr txBox="1">
              <a:spLocks/>
            </p:cNvSpPr>
            <p:nvPr/>
          </p:nvSpPr>
          <p:spPr>
            <a:xfrm>
              <a:off x="4190674" y="3935580"/>
              <a:ext cx="2980883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Synthetic 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y</a:t>
              </a:r>
              <a:endParaRPr lang="en-US" b="1" i="1" dirty="0"/>
            </a:p>
          </p:txBody>
        </p:sp>
        <p:pic>
          <p:nvPicPr>
            <p:cNvPr id="18" name="Picture 18" descr="Image result for arrow icon">
              <a:extLst>
                <a:ext uri="{FF2B5EF4-FFF2-40B4-BE49-F238E27FC236}">
                  <a16:creationId xmlns:a16="http://schemas.microsoft.com/office/drawing/2014/main" id="{1EBFDA72-5F53-4D8B-9A8A-40F5867CF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09" y="3093350"/>
              <a:ext cx="1068455" cy="1002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0ECFDCEB-2DD2-4857-BA0D-07A376271BC8}"/>
                </a:ext>
              </a:extLst>
            </p:cNvPr>
            <p:cNvSpPr txBox="1">
              <a:spLocks/>
            </p:cNvSpPr>
            <p:nvPr/>
          </p:nvSpPr>
          <p:spPr>
            <a:xfrm>
              <a:off x="3857566" y="6161241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d’</a:t>
              </a:r>
              <a:endParaRPr lang="en-US" b="1" i="1" dirty="0"/>
            </a:p>
          </p:txBody>
        </p:sp>
        <p:pic>
          <p:nvPicPr>
            <p:cNvPr id="23" name="Picture 6" descr="Related image">
              <a:extLst>
                <a:ext uri="{FF2B5EF4-FFF2-40B4-BE49-F238E27FC236}">
                  <a16:creationId xmlns:a16="http://schemas.microsoft.com/office/drawing/2014/main" id="{FF7D7227-ACE2-4284-903F-A7BD4D466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5371" y="5360439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5A8B929-72A1-4DB9-9A09-42A40616B6FE}"/>
                </a:ext>
              </a:extLst>
            </p:cNvPr>
            <p:cNvGrpSpPr/>
            <p:nvPr/>
          </p:nvGrpSpPr>
          <p:grpSpPr>
            <a:xfrm>
              <a:off x="5900382" y="4256250"/>
              <a:ext cx="1002652" cy="1068455"/>
              <a:chOff x="5530607" y="4175216"/>
              <a:chExt cx="1002652" cy="1068455"/>
            </a:xfrm>
          </p:grpSpPr>
          <p:pic>
            <p:nvPicPr>
              <p:cNvPr id="3074" name="Picture 2" descr="Image result for question icon">
                <a:extLst>
                  <a:ext uri="{FF2B5EF4-FFF2-40B4-BE49-F238E27FC236}">
                    <a16:creationId xmlns:a16="http://schemas.microsoft.com/office/drawing/2014/main" id="{748E52AF-B13E-4920-B2D2-5218CAA2EC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1776" y="4613207"/>
                <a:ext cx="420311" cy="4203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18" descr="Image result for arrow icon">
                <a:extLst>
                  <a:ext uri="{FF2B5EF4-FFF2-40B4-BE49-F238E27FC236}">
                    <a16:creationId xmlns:a16="http://schemas.microsoft.com/office/drawing/2014/main" id="{E0457C90-BC72-4A5F-9594-832AA8B94E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497705" y="4208118"/>
                <a:ext cx="1068455" cy="10026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6C7AF9F-6175-4D9A-B6EB-2F073A19E142}"/>
                </a:ext>
              </a:extLst>
            </p:cNvPr>
            <p:cNvGrpSpPr/>
            <p:nvPr/>
          </p:nvGrpSpPr>
          <p:grpSpPr>
            <a:xfrm>
              <a:off x="4153182" y="4236636"/>
              <a:ext cx="1002652" cy="1068455"/>
              <a:chOff x="5530607" y="4175216"/>
              <a:chExt cx="1002652" cy="1068455"/>
            </a:xfrm>
          </p:grpSpPr>
          <p:pic>
            <p:nvPicPr>
              <p:cNvPr id="30" name="Picture 2" descr="Image result for question icon">
                <a:extLst>
                  <a:ext uri="{FF2B5EF4-FFF2-40B4-BE49-F238E27FC236}">
                    <a16:creationId xmlns:a16="http://schemas.microsoft.com/office/drawing/2014/main" id="{52C331EA-1694-4BA1-BAE3-CE6DE2A3E1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1776" y="4613207"/>
                <a:ext cx="420311" cy="4203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18" descr="Image result for arrow icon">
                <a:extLst>
                  <a:ext uri="{FF2B5EF4-FFF2-40B4-BE49-F238E27FC236}">
                    <a16:creationId xmlns:a16="http://schemas.microsoft.com/office/drawing/2014/main" id="{ED923792-955F-4F96-A7F5-EA403C3BBF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497705" y="4208118"/>
                <a:ext cx="1068455" cy="10026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C9FD7B0F-7625-4E4B-A241-3ABE273E71F1}"/>
                </a:ext>
              </a:extLst>
            </p:cNvPr>
            <p:cNvSpPr txBox="1">
              <a:spLocks/>
            </p:cNvSpPr>
            <p:nvPr/>
          </p:nvSpPr>
          <p:spPr>
            <a:xfrm>
              <a:off x="5582624" y="6160752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d’’</a:t>
              </a:r>
              <a:endParaRPr lang="en-US" b="1" i="1" dirty="0"/>
            </a:p>
          </p:txBody>
        </p:sp>
        <p:pic>
          <p:nvPicPr>
            <p:cNvPr id="33" name="Picture 6" descr="Related image">
              <a:extLst>
                <a:ext uri="{FF2B5EF4-FFF2-40B4-BE49-F238E27FC236}">
                  <a16:creationId xmlns:a16="http://schemas.microsoft.com/office/drawing/2014/main" id="{D5A0CFDD-E6E5-43CC-87C7-A04F343B9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429" y="5359950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Related image">
              <a:extLst>
                <a:ext uri="{FF2B5EF4-FFF2-40B4-BE49-F238E27FC236}">
                  <a16:creationId xmlns:a16="http://schemas.microsoft.com/office/drawing/2014/main" id="{D8DEDB8D-0BFC-4358-8876-E4EEFD0E18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823" y="4770864"/>
              <a:ext cx="1792549" cy="1792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F579B0D7-2432-4B3E-BE97-14F23456C6E8}"/>
                </a:ext>
              </a:extLst>
            </p:cNvPr>
            <p:cNvSpPr txBox="1">
              <a:spLocks/>
            </p:cNvSpPr>
            <p:nvPr/>
          </p:nvSpPr>
          <p:spPr>
            <a:xfrm>
              <a:off x="970823" y="6368858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Database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</a:t>
              </a:r>
              <a:endParaRPr lang="en-US" b="1" i="1" dirty="0"/>
            </a:p>
          </p:txBody>
        </p:sp>
        <p:pic>
          <p:nvPicPr>
            <p:cNvPr id="36" name="Picture 4" descr="Image result for extract icon">
              <a:extLst>
                <a:ext uri="{FF2B5EF4-FFF2-40B4-BE49-F238E27FC236}">
                  <a16:creationId xmlns:a16="http://schemas.microsoft.com/office/drawing/2014/main" id="{75267E39-059A-4CDB-B757-97B49B6E76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757789">
              <a:off x="1371391" y="4389902"/>
              <a:ext cx="796189" cy="482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Image result for extract icon">
              <a:extLst>
                <a:ext uri="{FF2B5EF4-FFF2-40B4-BE49-F238E27FC236}">
                  <a16:creationId xmlns:a16="http://schemas.microsoft.com/office/drawing/2014/main" id="{12469799-E646-4BF2-804C-A01989CDF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19124" flipV="1">
              <a:off x="2862610" y="5787108"/>
              <a:ext cx="796189" cy="482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7B46E30-C707-4AA0-9EC3-4439C13999D9}"/>
                </a:ext>
              </a:extLst>
            </p:cNvPr>
            <p:cNvSpPr/>
            <p:nvPr/>
          </p:nvSpPr>
          <p:spPr>
            <a:xfrm>
              <a:off x="4147343" y="4318423"/>
              <a:ext cx="2863496" cy="987284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ntent Placeholder 2">
              <a:extLst>
                <a:ext uri="{FF2B5EF4-FFF2-40B4-BE49-F238E27FC236}">
                  <a16:creationId xmlns:a16="http://schemas.microsoft.com/office/drawing/2014/main" id="{F1E413B3-1454-43B2-A87F-1970ECD47A0F}"/>
                </a:ext>
              </a:extLst>
            </p:cNvPr>
            <p:cNvSpPr txBox="1">
              <a:spLocks/>
            </p:cNvSpPr>
            <p:nvPr/>
          </p:nvSpPr>
          <p:spPr>
            <a:xfrm>
              <a:off x="4872375" y="4391682"/>
              <a:ext cx="1792549" cy="778107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Plausible Deniability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1657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Definition of Plausible Deniability</a:t>
            </a:r>
            <a:endParaRPr lang="en-US" dirty="0">
              <a:solidFill>
                <a:srgbClr val="13294B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FB56CA-BAED-498B-B9D7-7B19BB7DB27F}"/>
              </a:ext>
            </a:extLst>
          </p:cNvPr>
          <p:cNvGrpSpPr/>
          <p:nvPr/>
        </p:nvGrpSpPr>
        <p:grpSpPr>
          <a:xfrm>
            <a:off x="478653" y="2052010"/>
            <a:ext cx="5637320" cy="2533870"/>
            <a:chOff x="380999" y="2076424"/>
            <a:chExt cx="5637320" cy="25338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185710-5C50-48C2-A7FC-7D3597534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999" y="2091960"/>
              <a:ext cx="5637320" cy="251833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FCBC7E-4E5F-4E2E-818C-446497DB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8638" y="3750561"/>
              <a:ext cx="323895" cy="33342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E2C1DE-22F0-4874-8F55-D855667F5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8995" y="2076424"/>
              <a:ext cx="323895" cy="33342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3D9EA65-AF4C-4FA7-AFC9-5C6CFC548DEE}"/>
              </a:ext>
            </a:extLst>
          </p:cNvPr>
          <p:cNvSpPr/>
          <p:nvPr/>
        </p:nvSpPr>
        <p:spPr>
          <a:xfrm>
            <a:off x="727411" y="5528050"/>
            <a:ext cx="7546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Informally, plausible deniability states that an adversary (with any background knowledge) cannot deduce that a particular record in the input (real) dataset was significantly more responsible for an observed output (synthetic record) than was a collection of other input records.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B89444-A11C-433F-BA47-87D5011CC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841" y="1858476"/>
            <a:ext cx="2198897" cy="2402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444E2AF-F19A-41FF-BD19-1C702EAE4C00}"/>
                  </a:ext>
                </a:extLst>
              </p:cNvPr>
              <p:cNvSpPr/>
              <p:nvPr/>
            </p:nvSpPr>
            <p:spPr>
              <a:xfrm>
                <a:off x="727411" y="4702119"/>
                <a:ext cx="776833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≥1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an integer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𝛾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≥1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a real number, they are privacy parameters</a:t>
                </a: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Synthetic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is releasable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passes the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,</m:t>
                    </m:r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𝛾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)-plausible deniability</a:t>
                </a: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444E2AF-F19A-41FF-BD19-1C702EAE4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11" y="4702119"/>
                <a:ext cx="7768333" cy="646331"/>
              </a:xfrm>
              <a:prstGeom prst="rect">
                <a:avLst/>
              </a:prstGeom>
              <a:blipFill>
                <a:blip r:embed="rId6"/>
                <a:stretch>
                  <a:fillRect l="-62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52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</a:t>
            </a:r>
            <a:endParaRPr lang="en-US" dirty="0">
              <a:solidFill>
                <a:srgbClr val="1329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7872EEC-A11D-492C-8B46-9EF52D3AFB3A}"/>
                  </a:ext>
                </a:extLst>
              </p:cNvPr>
              <p:cNvSpPr/>
              <p:nvPr/>
            </p:nvSpPr>
            <p:spPr>
              <a:xfrm>
                <a:off x="380999" y="1160237"/>
                <a:ext cx="754676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In the paper, authors named it as “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Mechanism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𝑭</m:t>
                    </m:r>
                  </m:oMath>
                </a14:m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with Plausible Deniability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” for realizing the plausible deniability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7872EEC-A11D-492C-8B46-9EF52D3AF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160237"/>
                <a:ext cx="7546761" cy="646331"/>
              </a:xfrm>
              <a:prstGeom prst="rect">
                <a:avLst/>
              </a:prstGeom>
              <a:blipFill>
                <a:blip r:embed="rId3"/>
                <a:stretch>
                  <a:fillRect l="-64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E169B3F-C329-4F1E-A5F2-102FF0DE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96" y="2303237"/>
            <a:ext cx="7139502" cy="2717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D0DFA-DA6E-4D98-AA97-28DAD12BC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473" y="2192086"/>
            <a:ext cx="371527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Privacy Test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F4ADC4-8141-46F9-8CDD-EA58C5A44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0" y="1846149"/>
            <a:ext cx="6628237" cy="355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73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Privacy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8EC59-E30D-4E7D-BB06-B1918B8BF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28" y="1618122"/>
            <a:ext cx="6165774" cy="4362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E29EF7D-5D53-47D8-9BA6-76E1056158A2}"/>
                  </a:ext>
                </a:extLst>
              </p:cNvPr>
              <p:cNvSpPr/>
              <p:nvPr/>
            </p:nvSpPr>
            <p:spPr>
              <a:xfrm>
                <a:off x="798619" y="6214030"/>
                <a:ext cx="75467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Privacy test 2 is identical to Privacy test 1 except is randomizes the threshold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E29EF7D-5D53-47D8-9BA6-76E1056158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19" y="6214030"/>
                <a:ext cx="7546761" cy="369332"/>
              </a:xfrm>
              <a:prstGeom prst="rect">
                <a:avLst/>
              </a:prstGeom>
              <a:blipFill>
                <a:blip r:embed="rId4"/>
                <a:stretch>
                  <a:fillRect l="-646" t="-8197" r="-2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3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DB5226-FF0A-45DE-92F4-20856F39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355" y="1434573"/>
            <a:ext cx="1864774" cy="14547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9D3C64-3005-4CF0-81E3-722F7A6B62D5}"/>
              </a:ext>
            </a:extLst>
          </p:cNvPr>
          <p:cNvSpPr txBox="1">
            <a:spLocks/>
          </p:cNvSpPr>
          <p:nvPr/>
        </p:nvSpPr>
        <p:spPr>
          <a:xfrm>
            <a:off x="861576" y="2490210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1" name="Picture 6" descr="Related image">
            <a:extLst>
              <a:ext uri="{FF2B5EF4-FFF2-40B4-BE49-F238E27FC236}">
                <a16:creationId xmlns:a16="http://schemas.microsoft.com/office/drawing/2014/main" id="{3641D026-A8AA-44F1-B309-EB9EE69C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381" y="1689408"/>
            <a:ext cx="882559" cy="77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Image result for arrow icon">
            <a:extLst>
              <a:ext uri="{FF2B5EF4-FFF2-40B4-BE49-F238E27FC236}">
                <a16:creationId xmlns:a16="http://schemas.microsoft.com/office/drawing/2014/main" id="{84ECB091-7483-48A5-80E3-16838E8A0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888" y="1791768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Image result for arrow icon">
            <a:extLst>
              <a:ext uri="{FF2B5EF4-FFF2-40B4-BE49-F238E27FC236}">
                <a16:creationId xmlns:a16="http://schemas.microsoft.com/office/drawing/2014/main" id="{DCFDCB0F-0FE6-4B41-BEEC-398E8AA24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703" y="1791768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Related image">
            <a:extLst>
              <a:ext uri="{FF2B5EF4-FFF2-40B4-BE49-F238E27FC236}">
                <a16:creationId xmlns:a16="http://schemas.microsoft.com/office/drawing/2014/main" id="{2C447FE5-6942-49D9-9EAF-16B3836D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35" y="1563624"/>
            <a:ext cx="1030729" cy="10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A1AD80B-71F5-46D0-A6D7-7CF10F012940}"/>
              </a:ext>
            </a:extLst>
          </p:cNvPr>
          <p:cNvSpPr txBox="1">
            <a:spLocks/>
          </p:cNvSpPr>
          <p:nvPr/>
        </p:nvSpPr>
        <p:spPr>
          <a:xfrm>
            <a:off x="5443775" y="2494757"/>
            <a:ext cx="2838650" cy="36933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861576" y="3471655"/>
            <a:ext cx="7546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At the beginning, the generative model is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given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Next,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</p:spTree>
    <p:extLst>
      <p:ext uri="{BB962C8B-B14F-4D97-AF65-F5344CB8AC3E}">
        <p14:creationId xmlns:p14="http://schemas.microsoft.com/office/powerpoint/2010/main" val="558156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/>
              <p:nvPr/>
            </p:nvSpPr>
            <p:spPr>
              <a:xfrm>
                <a:off x="380999" y="2434923"/>
                <a:ext cx="7955133" cy="1780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,…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} be the set of random variables associated with the attributes of the data records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𝑫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generative model is a directed acyclic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where the nodes are the random variables, and the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indicates the probabilistic dependence of attribute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to attribute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434923"/>
                <a:ext cx="7955133" cy="1780616"/>
              </a:xfrm>
              <a:prstGeom prst="rect">
                <a:avLst/>
              </a:prstGeom>
              <a:blipFill>
                <a:blip r:embed="rId3"/>
                <a:stretch>
                  <a:fillRect l="-613" t="-1706" b="-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24D722E-729B-4759-8FD3-7506A30BD0D7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1028" name="Picture 4" descr="Image result for directed acyclic graph">
              <a:extLst>
                <a:ext uri="{FF2B5EF4-FFF2-40B4-BE49-F238E27FC236}">
                  <a16:creationId xmlns:a16="http://schemas.microsoft.com/office/drawing/2014/main" id="{C269D91D-53B7-4E6B-BC64-83D064A21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39B4AA-662F-434C-83ED-E5BCA5A7A138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50154E-DCF2-4B8B-A6F3-2EFCC6E896D4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22AFAAF-7756-44E9-82BB-0D9FCF4722A2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E67C4DF-47A0-47D5-8368-08B569F59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B8BDC34-4D81-4422-BB2D-C34A82D6E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19B9B78-FE20-4ABE-B622-F02829CDAA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A08F213-DEB4-4CD0-B372-EA84DB7E28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C212169-F263-4A55-BF0C-AF0798462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A3648C9-271B-4A81-8CA0-90C8ED30D3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BC385DE-8D04-4911-822C-EEC822E8F6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6A603C0D-FDAE-48C6-A8E6-701C10907569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6A603C0D-FDAE-48C6-A8E6-701C109075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D963287-8485-4AB5-A76C-865365C89575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D963287-8485-4AB5-A76C-865365C895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39832A4-D0E4-413C-9679-E96DDBDE65FF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39832A4-D0E4-413C-9679-E96DDBDE65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2718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/>
              <p:nvPr/>
            </p:nvSpPr>
            <p:spPr>
              <a:xfrm>
                <a:off x="380999" y="2434923"/>
                <a:ext cx="795513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)</m:t>
                    </m:r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be the set of parents od random variable </a:t>
                </a:r>
                <a14:m>
                  <m:oMath xmlns:m="http://schemas.openxmlformats.org/officeDocument/2006/math">
                    <m:r>
                      <a:rPr lang="en-US" b="0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according to the dependency graph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model to generate synthetic data is written as the joint probability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434923"/>
                <a:ext cx="7955133" cy="1200329"/>
              </a:xfrm>
              <a:prstGeom prst="rect">
                <a:avLst/>
              </a:prstGeom>
              <a:blipFill>
                <a:blip r:embed="rId3"/>
                <a:stretch>
                  <a:fillRect l="-613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20D32F-E213-4A78-BA5B-75FF44AA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92" y="3680851"/>
            <a:ext cx="6125430" cy="9716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4F67822-E830-47F0-8049-40B24334BEF3}"/>
                  </a:ext>
                </a:extLst>
              </p:cNvPr>
              <p:cNvSpPr/>
              <p:nvPr/>
            </p:nvSpPr>
            <p:spPr>
              <a:xfrm>
                <a:off x="380999" y="4698136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model is based on a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structure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and a set of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parameters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that constructs the conditional probabilities.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4F67822-E830-47F0-8049-40B24334B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4698136"/>
                <a:ext cx="4572000" cy="923330"/>
              </a:xfrm>
              <a:prstGeom prst="rect">
                <a:avLst/>
              </a:prstGeom>
              <a:blipFill>
                <a:blip r:embed="rId5"/>
                <a:stretch>
                  <a:fillRect l="-1067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BA13E36-9BB3-4E42-B034-4577BABE075D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34" name="Picture 4" descr="Image result for directed acyclic graph">
              <a:extLst>
                <a:ext uri="{FF2B5EF4-FFF2-40B4-BE49-F238E27FC236}">
                  <a16:creationId xmlns:a16="http://schemas.microsoft.com/office/drawing/2014/main" id="{51319A54-60D9-48FC-950C-11FECEA56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224F59-4A3D-455D-9A1D-D5824EFF870D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CA910C5-36FF-4C6D-8C71-11115FF36FAC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A6224BE-2059-49E5-B154-A88F6E590EFE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0844215-8B48-499D-911C-1484CB6B8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DBFA0F6-200E-41DC-84B1-D5008B6D3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BBBB125B-8416-4969-87C3-F23D68EA2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33E89761-4AD8-4AD1-A341-78DE7FD670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90842B9C-666B-42F8-BC1F-9E52D8919A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D9DEEF1-14A1-4599-88BD-1E15CB9137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B745488-0AC0-4768-86F9-DC409316EC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2FE4CF6-C8B0-423C-8C96-AE4C40AE04FA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2FE4CF6-C8B0-423C-8C96-AE4C40AE04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AC12279-0B67-41D0-82F2-9F79744BAC3B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AC12279-0B67-41D0-82F2-9F79744BAC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F2A19B2-D045-411E-916D-F92F34511DB0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F2A19B2-D045-411E-916D-F92F34511D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0562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77AC231B-8404-4ADB-9B7B-79A4A9704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006" y="2442641"/>
            <a:ext cx="1780102" cy="178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C24D61-B45C-467E-B2C6-D7D2C0E57CE9}"/>
              </a:ext>
            </a:extLst>
          </p:cNvPr>
          <p:cNvSpPr txBox="1">
            <a:spLocks/>
          </p:cNvSpPr>
          <p:nvPr/>
        </p:nvSpPr>
        <p:spPr>
          <a:xfrm>
            <a:off x="3147006" y="4218291"/>
            <a:ext cx="1780102" cy="3963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Database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1AB3EBD6-8E0F-48CB-A7D6-2C793AB88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255" y="4943640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lated image">
            <a:extLst>
              <a:ext uri="{FF2B5EF4-FFF2-40B4-BE49-F238E27FC236}">
                <a16:creationId xmlns:a16="http://schemas.microsoft.com/office/drawing/2014/main" id="{686092A0-4211-4FFF-B1E1-FBDD1F6AE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929" y="4943639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lated image">
            <a:extLst>
              <a:ext uri="{FF2B5EF4-FFF2-40B4-BE49-F238E27FC236}">
                <a16:creationId xmlns:a16="http://schemas.microsoft.com/office/drawing/2014/main" id="{DA013787-DCDF-4D9D-A1F3-C3A469EB3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603" y="4943640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400158C-EDE9-4EF5-968E-90E20A58E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7570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400158C-EDE9-4EF5-968E-90E20A58E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70" y="6187014"/>
                <a:ext cx="624905" cy="396348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BDAB16C-4EA8-4BC5-9CF1-F50239358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8534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BDAB16C-4EA8-4BC5-9CF1-F50239358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534" y="6187014"/>
                <a:ext cx="624905" cy="396348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E5E4FF6-5F42-4994-B98E-E88A13FA3A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8277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E5E4FF6-5F42-4994-B98E-E88A13FA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277" y="6187014"/>
                <a:ext cx="624905" cy="396348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C7C950D-478E-4278-90E3-809AF7E5A067}"/>
              </a:ext>
            </a:extLst>
          </p:cNvPr>
          <p:cNvSpPr txBox="1">
            <a:spLocks/>
          </p:cNvSpPr>
          <p:nvPr/>
        </p:nvSpPr>
        <p:spPr>
          <a:xfrm>
            <a:off x="716147" y="6512894"/>
            <a:ext cx="2177973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structure learning</a:t>
            </a:r>
            <a:endParaRPr lang="en-US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F400F6-F27A-4EA6-8D36-9FE08215E60C}"/>
              </a:ext>
            </a:extLst>
          </p:cNvPr>
          <p:cNvSpPr txBox="1">
            <a:spLocks/>
          </p:cNvSpPr>
          <p:nvPr/>
        </p:nvSpPr>
        <p:spPr>
          <a:xfrm>
            <a:off x="2948069" y="6512894"/>
            <a:ext cx="2334145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parameter learning</a:t>
            </a:r>
            <a:endParaRPr lang="en-US" sz="1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2D8D82-29C9-4506-BF84-371D0DBFD93A}"/>
              </a:ext>
            </a:extLst>
          </p:cNvPr>
          <p:cNvSpPr txBox="1">
            <a:spLocks/>
          </p:cNvSpPr>
          <p:nvPr/>
        </p:nvSpPr>
        <p:spPr>
          <a:xfrm>
            <a:off x="5466109" y="6512894"/>
            <a:ext cx="2674714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transforming real data</a:t>
            </a:r>
            <a:endParaRPr lang="en-US" sz="18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444DC2-02F2-4D4C-80DB-6344B24F21A9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>
            <a:off x="1753383" y="4416465"/>
            <a:ext cx="1393623" cy="52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36B6C0-71BD-4E5F-8192-F33BB54B2EDB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4037057" y="4614639"/>
            <a:ext cx="0" cy="32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F721BA-C6B2-40BC-B6F5-5B454E0DF344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>
            <a:off x="4927108" y="4416465"/>
            <a:ext cx="1393623" cy="52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00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structure learning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2DD7E-397A-4AF2-AB53-A0AF090A86C7}"/>
              </a:ext>
            </a:extLst>
          </p:cNvPr>
          <p:cNvSpPr/>
          <p:nvPr/>
        </p:nvSpPr>
        <p:spPr>
          <a:xfrm>
            <a:off x="380999" y="2782669"/>
            <a:ext cx="7866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For each attribute, the goal is to find the best set of features (among all attributes) to predict it and add them as the attributes through maximizing a scoring function.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8E03A5-C135-4C08-84F0-E63B12D6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93" y="3613174"/>
            <a:ext cx="6100767" cy="109055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090F03E-0F12-4841-9FB6-2CF4586AE7C7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24" name="Picture 4" descr="Image result for directed acyclic graph">
              <a:extLst>
                <a:ext uri="{FF2B5EF4-FFF2-40B4-BE49-F238E27FC236}">
                  <a16:creationId xmlns:a16="http://schemas.microsoft.com/office/drawing/2014/main" id="{D96079C9-83B4-44DE-8ACF-D61F48226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5630405-DC4A-45B5-B93C-1DA0E2813730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A275326-8446-46CD-8BF4-8EB72ADDFB42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B009BB0-947E-44FF-BA5C-EF147FC0D2DD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D168AA1-706A-4B51-8C68-23DA28005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7EACF2D-E577-4845-8BDA-66803B2DE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2D6D538-E310-46EB-8A49-9205DF19B0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3AB677C6-0E9C-4AC4-A9FE-03AAEAC7D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A1E8BC9-53EA-4F85-BBA6-39B3234642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F01CFCF-1456-4A66-8381-48058A6B1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6042065-DD5C-4CAA-A710-A18E30240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6568521-F7FE-448A-8A33-E7B5326DC98C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6568521-F7FE-448A-8A33-E7B5326DC9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6120E17-6507-4964-82BB-441812CD2C60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6120E17-6507-4964-82BB-441812CD2C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4054FA5-9B86-43FB-B738-60A4A4EC2ED6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4054FA5-9B86-43FB-B738-60A4A4EC2E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04424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parameter learning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A1F94-D1F5-4920-8308-42ECE1AE815C}"/>
                  </a:ext>
                </a:extLst>
              </p:cNvPr>
              <p:cNvSpPr/>
              <p:nvPr/>
            </p:nvSpPr>
            <p:spPr>
              <a:xfrm>
                <a:off x="380998" y="2707573"/>
                <a:ext cx="8301363" cy="678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Having a dependency structure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we need to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compute the conditional probabilities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for predicting each of the attributes given its parent set.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A1F94-D1F5-4920-8308-42ECE1AE8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2707573"/>
                <a:ext cx="8301363" cy="678904"/>
              </a:xfrm>
              <a:prstGeom prst="rect">
                <a:avLst/>
              </a:prstGeom>
              <a:blipFill>
                <a:blip r:embed="rId3"/>
                <a:stretch>
                  <a:fillRect l="-587" t="-26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E143F1-15E2-472A-9DD0-B60AD5087BEF}"/>
                  </a:ext>
                </a:extLst>
              </p:cNvPr>
              <p:cNvSpPr/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|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the number of distinct values that attribute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can take,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E143F1-15E2-472A-9DD0-B60AD5087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  <a:blipFill>
                <a:blip r:embed="rId4"/>
                <a:stretch>
                  <a:fillRect l="-61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6CAC44-8A5D-4F13-B1CF-281801478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507" y="3894325"/>
            <a:ext cx="3658111" cy="4572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2C9FA9-7E9C-4E5C-B7CE-5FA6CA769263}"/>
                  </a:ext>
                </a:extLst>
              </p:cNvPr>
              <p:cNvSpPr/>
              <p:nvPr/>
            </p:nvSpPr>
            <p:spPr>
              <a:xfrm>
                <a:off x="380998" y="4439707"/>
                <a:ext cx="595765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To predict attribute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under configuration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  <m:t>𝐺</m:t>
                            </m:r>
                          </m:e>
                        </m:acc>
                      </m:sub>
                    </m:sSub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(</m:t>
                    </m:r>
                    <m:r>
                      <a:rPr lang="en-US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)</m:t>
                    </m:r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2C9FA9-7E9C-4E5C-B7CE-5FA6CA769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4439707"/>
                <a:ext cx="5957657" cy="369332"/>
              </a:xfrm>
              <a:prstGeom prst="rect">
                <a:avLst/>
              </a:prstGeom>
              <a:blipFill>
                <a:blip r:embed="rId6"/>
                <a:stretch>
                  <a:fillRect l="-81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B13FC19-E50C-4FAF-A47E-FE3E30BE2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83808"/>
            <a:ext cx="466790" cy="67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19515-C6DF-4264-B152-FFC1ACDE24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507" y="4897159"/>
            <a:ext cx="4217148" cy="5119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F8DAA75-7E1B-4254-807F-9B9F31CBC907}"/>
                  </a:ext>
                </a:extLst>
              </p:cNvPr>
              <p:cNvSpPr/>
              <p:nvPr/>
            </p:nvSpPr>
            <p:spPr>
              <a:xfrm>
                <a:off x="653220" y="5470215"/>
                <a:ext cx="7682911" cy="12663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is the vector of default hyper-parameters for the Dirichlet distribution,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en-US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p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is the vector for the number of data records with different values for attribute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(i.e., element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𝑙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is the number of records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>
                            <a:solidFill>
                              <a:srgbClr val="13294B"/>
                            </a:solidFill>
                            <a:latin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13294B"/>
                            </a:solidFill>
                            <a:latin typeface="Calibri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dirty="0">
                            <a:solidFill>
                              <a:srgbClr val="13294B"/>
                            </a:solidFill>
                            <a:latin typeface="Calibri" charset="0"/>
                            <a:cs typeface="Calibri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𝑙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>
                            <a:solidFill>
                              <a:srgbClr val="13294B"/>
                            </a:solidFill>
                            <a:latin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13294B"/>
                            </a:solidFill>
                            <a:latin typeface="Calibri" charset="0"/>
                            <a:cs typeface="Calibri" charset="0"/>
                          </a:rPr>
                          <m:t>𝑷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>
                                <a:solidFill>
                                  <a:srgbClr val="13294B"/>
                                </a:solidFill>
                                <a:latin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solidFill>
                                  <a:srgbClr val="13294B"/>
                                </a:solidFill>
                                <a:latin typeface="Calibri" charset="0"/>
                                <a:cs typeface="Calibri" charset="0"/>
                              </a:rPr>
                              <m:t>𝐺</m:t>
                            </m:r>
                          </m:e>
                        </m:acc>
                      </m:sub>
                    </m:sSub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(</m:t>
                    </m:r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𝑖</m:t>
                    </m:r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configuration is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libri" charset="0"/>
                        <a:cs typeface="Calibri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).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F8DAA75-7E1B-4254-807F-9B9F31CBC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20" y="5470215"/>
                <a:ext cx="7682911" cy="1266372"/>
              </a:xfrm>
              <a:prstGeom prst="rect">
                <a:avLst/>
              </a:prstGeom>
              <a:blipFill>
                <a:blip r:embed="rId9"/>
                <a:stretch>
                  <a:fillRect l="-635" t="-481" r="-1032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2A15B55-D5C6-4248-AACB-CD2FADAEA2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4198" y="6475149"/>
            <a:ext cx="2344592" cy="3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1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parameter learning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C9FA9-7E9C-4E5C-B7CE-5FA6CA769263}"/>
              </a:ext>
            </a:extLst>
          </p:cNvPr>
          <p:cNvSpPr/>
          <p:nvPr/>
        </p:nvSpPr>
        <p:spPr>
          <a:xfrm>
            <a:off x="653220" y="3265480"/>
            <a:ext cx="59576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Derived from the above assumption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3FC19-E50C-4FAF-A47E-FE3E30BE2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83808"/>
            <a:ext cx="466790" cy="67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19515-C6DF-4264-B152-FFC1ACDE2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805" y="2653215"/>
            <a:ext cx="4217148" cy="511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88AFCC-EF33-406F-800E-D75CD285B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04" y="3746278"/>
            <a:ext cx="2600688" cy="1009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C0DC81-2131-4656-AD5D-6BF9917C5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381" y="4857994"/>
            <a:ext cx="4505458" cy="32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6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transforming real data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0DD3E-91E8-4E96-BA0C-7FA578A647D9}"/>
              </a:ext>
            </a:extLst>
          </p:cNvPr>
          <p:cNvSpPr/>
          <p:nvPr/>
        </p:nvSpPr>
        <p:spPr>
          <a:xfrm>
            <a:off x="380998" y="2686677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Using a generative model, we probabilistically transform a real data record (called the seed) into a synthetic data record, by updating its attributes.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2ABA98-0A19-4586-89DB-CC071B108367}"/>
                  </a:ext>
                </a:extLst>
              </p:cNvPr>
              <p:cNvSpPr/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…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} be the values of a randomly selected data record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2ABA98-0A19-4586-89DB-CC071B1083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  <a:blipFill>
                <a:blip r:embed="rId3"/>
                <a:stretch>
                  <a:fillRect l="-61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B30BB8D-B4AB-4D01-9D2F-FDBF8FC58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662851"/>
              </p:ext>
            </p:extLst>
          </p:nvPr>
        </p:nvGraphicFramePr>
        <p:xfrm>
          <a:off x="769398" y="4416627"/>
          <a:ext cx="609600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1530274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607844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474322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20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508775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231808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5750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892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80988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B1D50F8F-ED66-43C0-B3DD-B37B3FE34C7D}"/>
              </a:ext>
            </a:extLst>
          </p:cNvPr>
          <p:cNvSpPr/>
          <p:nvPr/>
        </p:nvSpPr>
        <p:spPr>
          <a:xfrm rot="16200000">
            <a:off x="2252708" y="3588692"/>
            <a:ext cx="97655" cy="2942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F5A188D-4272-4B97-8DA1-439B9A5169C8}"/>
              </a:ext>
            </a:extLst>
          </p:cNvPr>
          <p:cNvSpPr/>
          <p:nvPr/>
        </p:nvSpPr>
        <p:spPr>
          <a:xfrm rot="16200000">
            <a:off x="5318462" y="3588692"/>
            <a:ext cx="97655" cy="2942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7B0E9-13AF-4821-8A4E-5CE72EEBFBEF}"/>
                  </a:ext>
                </a:extLst>
              </p:cNvPr>
              <p:cNvSpPr/>
              <p:nvPr/>
            </p:nvSpPr>
            <p:spPr>
              <a:xfrm>
                <a:off x="1637506" y="3970810"/>
                <a:ext cx="163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Length: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7B0E9-13AF-4821-8A4E-5CE72EEBF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506" y="3970810"/>
                <a:ext cx="1637756" cy="369332"/>
              </a:xfrm>
              <a:prstGeom prst="rect">
                <a:avLst/>
              </a:prstGeom>
              <a:blipFill>
                <a:blip r:embed="rId4"/>
                <a:stretch>
                  <a:fillRect l="-335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6BD22E-5C4E-4104-A6B3-C1D1DED84EE4}"/>
                  </a:ext>
                </a:extLst>
              </p:cNvPr>
              <p:cNvSpPr/>
              <p:nvPr/>
            </p:nvSpPr>
            <p:spPr>
              <a:xfrm>
                <a:off x="4548411" y="4004841"/>
                <a:ext cx="11641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Length: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6BD22E-5C4E-4104-A6B3-C1D1DED84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411" y="4004841"/>
                <a:ext cx="1164101" cy="369332"/>
              </a:xfrm>
              <a:prstGeom prst="rect">
                <a:avLst/>
              </a:prstGeom>
              <a:blipFill>
                <a:blip r:embed="rId5"/>
                <a:stretch>
                  <a:fillRect l="-418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CD9077F0-3154-4257-B1C3-08B4DB626CDA}"/>
              </a:ext>
            </a:extLst>
          </p:cNvPr>
          <p:cNvSpPr/>
          <p:nvPr/>
        </p:nvSpPr>
        <p:spPr>
          <a:xfrm>
            <a:off x="2097793" y="5255697"/>
            <a:ext cx="442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B8CD02-1D3E-41E9-9478-06EF26F40C1C}"/>
                  </a:ext>
                </a:extLst>
              </p:cNvPr>
              <p:cNvSpPr/>
              <p:nvPr/>
            </p:nvSpPr>
            <p:spPr>
              <a:xfrm>
                <a:off x="3773010" y="5252283"/>
                <a:ext cx="38563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Modify according to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B8CD02-1D3E-41E9-9478-06EF26F40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010" y="5252283"/>
                <a:ext cx="3856377" cy="369332"/>
              </a:xfrm>
              <a:prstGeom prst="rect">
                <a:avLst/>
              </a:prstGeom>
              <a:blipFill>
                <a:blip r:embed="rId6"/>
                <a:stretch>
                  <a:fillRect l="-14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70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785747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Experiments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1D516-9152-46A8-A3A3-76C9D291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17" y="1322753"/>
            <a:ext cx="6552461" cy="2525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E88F10-3B69-4B27-B060-218CCEE7C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68" y="4087393"/>
            <a:ext cx="7430610" cy="24192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CE9702-52DC-4147-A772-29AB337328EE}"/>
              </a:ext>
            </a:extLst>
          </p:cNvPr>
          <p:cNvSpPr/>
          <p:nvPr/>
        </p:nvSpPr>
        <p:spPr>
          <a:xfrm>
            <a:off x="3852167" y="953421"/>
            <a:ext cx="26640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Data set (personal data)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61260-67AF-4739-9CEA-883DD5E3BF9D}"/>
              </a:ext>
            </a:extLst>
          </p:cNvPr>
          <p:cNvSpPr/>
          <p:nvPr/>
        </p:nvSpPr>
        <p:spPr>
          <a:xfrm>
            <a:off x="3852166" y="3848607"/>
            <a:ext cx="3436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Machine learning task measures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3EB1B-17C2-480C-9B0A-B45FC5A91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701" y="3944498"/>
            <a:ext cx="22863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2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7495" y="768326"/>
            <a:ext cx="8577721" cy="1255784"/>
          </a:xfrm>
        </p:spPr>
        <p:txBody>
          <a:bodyPr/>
          <a:lstStyle/>
          <a:p>
            <a:r>
              <a:rPr lang="en-US" sz="3200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Introduction of “Scalable Private Learning with PATE”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447395" y="2337046"/>
            <a:ext cx="7808838" cy="1666783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 Title: 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Scalable Private Learning with PATE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Author: Nicolas </a:t>
            </a:r>
            <a:r>
              <a:rPr lang="en-US" sz="2000" dirty="0" err="1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Papernot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et al.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Venue: ICLR’2018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Presenter: Dongqi Fu</a:t>
            </a:r>
          </a:p>
        </p:txBody>
      </p:sp>
    </p:spTree>
    <p:extLst>
      <p:ext uri="{BB962C8B-B14F-4D97-AF65-F5344CB8AC3E}">
        <p14:creationId xmlns:p14="http://schemas.microsoft.com/office/powerpoint/2010/main" val="715849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Roadmap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2B240-1EBE-4408-8009-93552DA21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7045036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PATE Framework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PATE Aggregation Mechanism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Improved Aggregation Mechanism for PATE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Experiments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87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Framework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2B240-1EBE-4408-8009-93552DA21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147439"/>
            <a:ext cx="7830845" cy="121402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PATE(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P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rivate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ggregation of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T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eacher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E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nsembles) enables knowledge transfer from the teacher models to the student models while enforcing privacy.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3D8C1-52A3-4B9E-8A61-A3B20D60D5E6}"/>
              </a:ext>
            </a:extLst>
          </p:cNvPr>
          <p:cNvSpPr/>
          <p:nvPr/>
        </p:nvSpPr>
        <p:spPr>
          <a:xfrm>
            <a:off x="380999" y="2745989"/>
            <a:ext cx="78308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In the PATE approach, multiple teachers are trained on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disjoint sensitive data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, and uses the teachers’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aggregate consensus answers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in a black-box fashion to supervise the training of a “student” model. 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Publish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only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the student model (keeping the teachers private) and add carefully-calibrated Laplacian noise to the aggregate answers used to train the student.</a:t>
            </a:r>
          </a:p>
        </p:txBody>
      </p:sp>
    </p:spTree>
    <p:extLst>
      <p:ext uri="{BB962C8B-B14F-4D97-AF65-F5344CB8AC3E}">
        <p14:creationId xmlns:p14="http://schemas.microsoft.com/office/powerpoint/2010/main" val="202554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Framework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D21D47-FDCC-4053-82FE-027225BB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6617"/>
            <a:ext cx="8327254" cy="21969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30510F-262D-4AD6-A09C-D23B19CA1961}"/>
              </a:ext>
            </a:extLst>
          </p:cNvPr>
          <p:cNvSpPr/>
          <p:nvPr/>
        </p:nvSpPr>
        <p:spPr>
          <a:xfrm>
            <a:off x="380999" y="3599911"/>
            <a:ext cx="78308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Teacher model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Each teacher is a model trained independently on a subset of the data whose privacy one wishes to protect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Aggregation mechanism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When there is a strong consensus among teachers, the label they almost all agree on does not depend on the model learned by any given teacher. The original PATE framework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counts votes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assigned to each class and adds noise, outputs the class with the highest votes.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Student model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The student model only sees public data and privacy-preserving labels. And trained itself in a semi-supervised way, because the author notes each ensemble prediction increase the privacy cost.</a:t>
            </a:r>
          </a:p>
        </p:txBody>
      </p:sp>
    </p:spTree>
    <p:extLst>
      <p:ext uri="{BB962C8B-B14F-4D97-AF65-F5344CB8AC3E}">
        <p14:creationId xmlns:p14="http://schemas.microsoft.com/office/powerpoint/2010/main" val="161265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Aggregation Mechanism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07E68-1F31-4C2C-B2A3-525EF3C32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7437"/>
            <a:ext cx="8327254" cy="2196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E65232-CB19-49CA-B9B1-B8B28C5AB17F}"/>
              </a:ext>
            </a:extLst>
          </p:cNvPr>
          <p:cNvSpPr/>
          <p:nvPr/>
        </p:nvSpPr>
        <p:spPr>
          <a:xfrm>
            <a:off x="380999" y="3919508"/>
            <a:ext cx="78308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Aggregation mechanism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When there is a strong consensus among teachers, the label they almost all agree on does not depend on the model learned by any given teacher. The original PATE framework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counts votes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assigned to each class and adds noise, outputs the class with the highest votes.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65CB95-E475-4C3B-8E98-99A9822EBEEE}"/>
              </a:ext>
            </a:extLst>
          </p:cNvPr>
          <p:cNvGrpSpPr/>
          <p:nvPr/>
        </p:nvGrpSpPr>
        <p:grpSpPr>
          <a:xfrm>
            <a:off x="947916" y="5371002"/>
            <a:ext cx="6697011" cy="742402"/>
            <a:chOff x="947916" y="5173198"/>
            <a:chExt cx="6697011" cy="7424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E6CE2BD-DFF9-42B4-A539-676263257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7916" y="5173198"/>
              <a:ext cx="6697010" cy="67636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ACA25B-6DBD-4AF5-B6EA-2FDBF7983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05683" y="5629810"/>
              <a:ext cx="3939244" cy="2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92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4191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First, replace the Laplace noise added to teacher votes with Gaussian noise.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Second, the aggregation mechanism is now selective: teacher votes are analyzed to decide which student queries are worth answering. This considers both the privacy cost of each query and its payout in improving the student’s utility.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Third, they propose and study an interactive mechanism that considers not only teacher votes on a queried example but possible student predictions on that query.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76FE9BA-0D04-414D-AAE4-2286207DFC4E}"/>
              </a:ext>
            </a:extLst>
          </p:cNvPr>
          <p:cNvSpPr/>
          <p:nvPr/>
        </p:nvSpPr>
        <p:spPr>
          <a:xfrm>
            <a:off x="4429957" y="3355759"/>
            <a:ext cx="284086" cy="27698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 descr="Image result for arrow icon">
            <a:extLst>
              <a:ext uri="{FF2B5EF4-FFF2-40B4-BE49-F238E27FC236}">
                <a16:creationId xmlns:a16="http://schemas.microsoft.com/office/drawing/2014/main" id="{80BD0040-5E75-4CD4-A594-04C8FEE02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043" y="4370495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Image result for arrow icon">
            <a:extLst>
              <a:ext uri="{FF2B5EF4-FFF2-40B4-BE49-F238E27FC236}">
                <a16:creationId xmlns:a16="http://schemas.microsoft.com/office/drawing/2014/main" id="{B6C67AA4-817D-4727-9547-29A5618C6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043" y="2030250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DE7635-E781-49E5-9A61-0D626ACE2050}"/>
              </a:ext>
            </a:extLst>
          </p:cNvPr>
          <p:cNvSpPr/>
          <p:nvPr/>
        </p:nvSpPr>
        <p:spPr>
          <a:xfrm>
            <a:off x="5596446" y="1946097"/>
            <a:ext cx="2615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Gaussian distribution is more concentrated then Laplace distribution. Increase the aggregation utility when number of classes is large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45E0C-3460-4FA3-A7C9-C1ED749C3C4E}"/>
              </a:ext>
            </a:extLst>
          </p:cNvPr>
          <p:cNvSpPr/>
          <p:nvPr/>
        </p:nvSpPr>
        <p:spPr>
          <a:xfrm>
            <a:off x="5596446" y="4292407"/>
            <a:ext cx="23845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Select student queries which are worthwhile answering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70B32-B054-4CBE-99E8-A23915A3C1FD}"/>
              </a:ext>
            </a:extLst>
          </p:cNvPr>
          <p:cNvSpPr/>
          <p:nvPr/>
        </p:nvSpPr>
        <p:spPr>
          <a:xfrm>
            <a:off x="1639687" y="1596651"/>
            <a:ext cx="261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Improvements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847FA-4575-4015-AE57-45D64B0DC21F}"/>
              </a:ext>
            </a:extLst>
          </p:cNvPr>
          <p:cNvSpPr/>
          <p:nvPr/>
        </p:nvSpPr>
        <p:spPr>
          <a:xfrm>
            <a:off x="6151023" y="1596879"/>
            <a:ext cx="11641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Reason</a:t>
            </a:r>
          </a:p>
        </p:txBody>
      </p:sp>
    </p:spTree>
    <p:extLst>
      <p:ext uri="{BB962C8B-B14F-4D97-AF65-F5344CB8AC3E}">
        <p14:creationId xmlns:p14="http://schemas.microsoft.com/office/powerpoint/2010/main" val="1514647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910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First, replace the Laplace noise added to teacher votes with Gaussian noise.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A5F6DF-2618-496C-B848-6F157B8D241D}"/>
              </a:ext>
            </a:extLst>
          </p:cNvPr>
          <p:cNvGrpSpPr/>
          <p:nvPr/>
        </p:nvGrpSpPr>
        <p:grpSpPr>
          <a:xfrm>
            <a:off x="945470" y="2795557"/>
            <a:ext cx="7097699" cy="1571844"/>
            <a:chOff x="945470" y="2795557"/>
            <a:chExt cx="7097699" cy="15718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8ECFA12-F2ED-4D5B-95CC-B1A46CE05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470" y="2795557"/>
              <a:ext cx="6649378" cy="138131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7C5399C-D479-48EC-A35C-919605188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7949" y="3986348"/>
              <a:ext cx="2095220" cy="381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2582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4313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Second, the aggregation mechanism is now selective: teacher votes are analyzed to decide which student queries are worth answering. This considers both the privacy cost of each query and its payout in improving the student’s utility.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B57637-B0D5-4F03-9842-A1C50D3BC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81" y="3500988"/>
            <a:ext cx="6847749" cy="172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44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8752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Third, they propose and study an interactive mechanism that considers not only teacher votes on a queried example but possible student predictions on that query.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CECE11-E867-42B7-9EC9-85D8CB32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06" y="3140729"/>
            <a:ext cx="7326220" cy="265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13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Experiments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530890-1F45-4A55-9B93-C93A6174E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0518"/>
            <a:ext cx="8290507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Illinois">
      <a:dk1>
        <a:srgbClr val="131F33"/>
      </a:dk1>
      <a:lt1>
        <a:srgbClr val="FFFFFF"/>
      </a:lt1>
      <a:dk2>
        <a:srgbClr val="FA6300"/>
      </a:dk2>
      <a:lt2>
        <a:srgbClr val="FAFAFA"/>
      </a:lt2>
      <a:accent1>
        <a:srgbClr val="131F33"/>
      </a:accent1>
      <a:accent2>
        <a:srgbClr val="FA6300"/>
      </a:accent2>
      <a:accent3>
        <a:srgbClr val="555555"/>
      </a:accent3>
      <a:accent4>
        <a:srgbClr val="888888"/>
      </a:accent4>
      <a:accent5>
        <a:srgbClr val="4BACC6"/>
      </a:accent5>
      <a:accent6>
        <a:srgbClr val="F79646"/>
      </a:accent6>
      <a:hlink>
        <a:srgbClr val="666666"/>
      </a:hlink>
      <a:folHlink>
        <a:srgbClr val="AAAAAA"/>
      </a:folHlink>
    </a:clrScheme>
    <a:fontScheme name="Test">
      <a:majorFont>
        <a:latin typeface="Calibri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1513</Words>
  <Application>Microsoft Office PowerPoint</Application>
  <PresentationFormat>On-screen Show (4:3)</PresentationFormat>
  <Paragraphs>194</Paragraphs>
  <Slides>28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Wingdings</vt:lpstr>
      <vt:lpstr>Office Theme</vt:lpstr>
      <vt:lpstr>Introduction of “Plausible Deniability for Privacy-Preserving Data Synthesis”</vt:lpstr>
      <vt:lpstr>Roadmap</vt:lpstr>
      <vt:lpstr>Motivation</vt:lpstr>
      <vt:lpstr>Illustration of the Idea</vt:lpstr>
      <vt:lpstr>Illustration of the Idea</vt:lpstr>
      <vt:lpstr>Definition of Plausible Deniability</vt:lpstr>
      <vt:lpstr>Proposed Algorithm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Experiments</vt:lpstr>
      <vt:lpstr>Introduction of “Scalable Private Learning with PATE”</vt:lpstr>
      <vt:lpstr>Roadmap</vt:lpstr>
      <vt:lpstr>PATE Framework</vt:lpstr>
      <vt:lpstr>PATE Framework</vt:lpstr>
      <vt:lpstr>PATE Aggregation Mechanism</vt:lpstr>
      <vt:lpstr>Improved Aggregation Mechanism for PATE</vt:lpstr>
      <vt:lpstr>Improved Aggregation Mechanism for PATE</vt:lpstr>
      <vt:lpstr>Improved Aggregation Mechanism for PATE</vt:lpstr>
      <vt:lpstr>Improved Aggregation Mechanism for PATE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Hoerr</dc:creator>
  <cp:lastModifiedBy>Fu, Dongqi</cp:lastModifiedBy>
  <cp:revision>69</cp:revision>
  <dcterms:created xsi:type="dcterms:W3CDTF">2016-01-13T21:18:08Z</dcterms:created>
  <dcterms:modified xsi:type="dcterms:W3CDTF">2019-11-07T02:28:10Z</dcterms:modified>
</cp:coreProperties>
</file>