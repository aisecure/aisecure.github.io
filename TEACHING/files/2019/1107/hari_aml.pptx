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288" r:id="rId3"/>
    <p:sldId id="260" r:id="rId4"/>
    <p:sldId id="315" r:id="rId5"/>
    <p:sldId id="258" r:id="rId6"/>
    <p:sldId id="290" r:id="rId7"/>
    <p:sldId id="298" r:id="rId8"/>
    <p:sldId id="297" r:id="rId9"/>
    <p:sldId id="316" r:id="rId10"/>
    <p:sldId id="300" r:id="rId11"/>
    <p:sldId id="299" r:id="rId12"/>
    <p:sldId id="301" r:id="rId13"/>
    <p:sldId id="291" r:id="rId14"/>
    <p:sldId id="292" r:id="rId15"/>
    <p:sldId id="295" r:id="rId16"/>
    <p:sldId id="317" r:id="rId17"/>
    <p:sldId id="293" r:id="rId18"/>
    <p:sldId id="306" r:id="rId19"/>
    <p:sldId id="259" r:id="rId20"/>
    <p:sldId id="303" r:id="rId21"/>
    <p:sldId id="307" r:id="rId22"/>
    <p:sldId id="304" r:id="rId23"/>
    <p:sldId id="257" r:id="rId24"/>
    <p:sldId id="294" r:id="rId25"/>
    <p:sldId id="308" r:id="rId26"/>
    <p:sldId id="305" r:id="rId27"/>
    <p:sldId id="296" r:id="rId28"/>
    <p:sldId id="312" r:id="rId29"/>
    <p:sldId id="311" r:id="rId30"/>
    <p:sldId id="309" r:id="rId31"/>
    <p:sldId id="310" r:id="rId32"/>
    <p:sldId id="31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sh Goel" initials="AG" lastIdx="2" clrIdx="0">
    <p:extLst>
      <p:ext uri="{19B8F6BF-5375-455C-9EA6-DF929625EA0E}">
        <p15:presenceInfo xmlns:p15="http://schemas.microsoft.com/office/powerpoint/2012/main" userId="2490b12d8422969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21" autoAdjust="0"/>
    <p:restoredTop sz="94660"/>
  </p:normalViewPr>
  <p:slideViewPr>
    <p:cSldViewPr snapToGrid="0">
      <p:cViewPr>
        <p:scale>
          <a:sx n="107" d="100"/>
          <a:sy n="107" d="100"/>
        </p:scale>
        <p:origin x="104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1E0D-34DB-4426-BBD5-9782CCE28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AE742-9D7C-4F43-A093-860EBDBB8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96CCC-B972-4026-AD34-70E3B716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4A890-E2E5-4E10-B047-E1CB60E3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60ED8-64CD-417C-A9A9-2CAEC3AB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6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85C8-6564-4CCD-8347-3865E9BB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C5CAD-0E2E-4B79-9AFC-9E7AE2ED4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61589-6E96-44BF-B256-337C173E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AA334-DFCE-4C44-956A-D09CF14B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C4E04-EC68-4E63-893D-7FD7EA71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50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963C-E2D1-4E79-92F9-2843AAB15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7C6FC-379A-44A8-8E18-AE0601084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43F8F-6843-4821-B46E-B625B906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11338-E39D-4210-B7CD-7A161168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CCE11-732A-4BA5-8310-600AB2B5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03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DED78-9D47-4495-A1D8-A11BE40D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1F74-4FB3-4877-A36E-EEA909EA3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23EF8-2825-472A-92E5-CB1CFD321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55EB8-8DC4-449C-A155-CAA07463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48B2A-D106-4F72-B02A-F8562484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7163E-103C-44D9-A609-BD40F172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5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F047-C309-4417-9A87-2DBCBA21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3F52B-639A-4777-B67F-247265129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C20DB-172A-46C9-94B9-F6CC4BF01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51409E-F965-4D75-95FA-957BB015F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E90E-8ACA-46DE-AF89-B35F25EF2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12E38-BDD9-4AA6-BE89-9568B018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0064F-5C32-4978-BE25-23054EFB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67EF5A-8B0C-497C-A6B2-26A3DF63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8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6EB0-AE0D-4C61-A62A-1D756E97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CCF04-18FF-4BA4-8342-243ADBB5F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980E2-A870-4901-9E3D-73E8F25A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C4753-61BE-4AA2-AA87-56071C78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0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00D53-9717-4E47-98C3-E237C6DB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8D522-2D57-41B4-959B-2568C550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8B578-5B91-483E-9C13-5ABAAA42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2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EA1F-F61C-4F7B-9975-3A49C2C83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DBA00-77AD-48FA-858B-712C64CD0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99579-47A7-41E3-B5E2-47EBC9A04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0FD10-9D45-4E4D-AC6C-BDFBC0DE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F323D-2651-4C56-9C8B-2EAD9A20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DDAF1-3BF3-4646-81DB-5F2774E6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6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E05F-A8CD-47B3-B6D0-EDF8CAA8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B9FE6-45E8-4548-AFD4-E3233306D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924C2-33BA-42EA-A00A-D31103EC2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11297-19F2-497A-9FA9-267DFEC33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F3E91-8E9F-43DE-8BAC-F73CD110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91AE0-67C1-4405-88D6-D59F8454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9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F7DE-A71D-4D76-96D2-38EA4A81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798EA-AFB4-4E66-88D6-F85460F4E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A02F-D2D0-4ADF-BEFF-A697DD24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0C002-BB83-4B7A-A05B-0924F4DBB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F170B-F980-4A28-9B14-18FC3A68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1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B4865F-92EE-41B6-A6BE-254877B2A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7C35E-CEFD-4735-9694-E1ACB003B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C4696-88A6-452E-A0B3-70581BAB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18F96-4258-4D8F-BAC4-7A02130A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7B7E1-DCE6-4CF0-AB00-C8651B62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1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3ACEBD-1D25-4801-897A-8F15F0EE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6440A-1046-474F-901C-7C6382015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3CF29-C053-464C-BBDE-EEB212784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E31B9-159D-4EB3-B4D8-25E2B65BB27C}" type="datetimeFigureOut">
              <a:rPr lang="en-US" smtClean="0"/>
              <a:t>11/6/19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896E-2468-4A64-8E17-667B6935B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35B07-4FE2-45C8-9CCD-CC848EA16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8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17CF27-792A-E740-B064-FA16A1168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08" y="1835515"/>
            <a:ext cx="9336505" cy="28717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8B1047-5EF2-A94E-9769-D7020F5DB6DB}"/>
              </a:ext>
            </a:extLst>
          </p:cNvPr>
          <p:cNvSpPr txBox="1"/>
          <p:nvPr/>
        </p:nvSpPr>
        <p:spPr>
          <a:xfrm>
            <a:off x="4718462" y="5272644"/>
            <a:ext cx="275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 Hari </a:t>
            </a:r>
            <a:r>
              <a:rPr lang="en-US" dirty="0" err="1"/>
              <a:t>Cheruvu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21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3E36-55C3-2446-981A-84D862FBB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EBD58-6545-0B48-99CD-D38C8EB93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protect sensitive training data</a:t>
            </a:r>
          </a:p>
          <a:p>
            <a:r>
              <a:rPr lang="en-US" dirty="0"/>
              <a:t>Model should not change much with a single training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6606F-E86D-AD48-8DD6-0FC3F9FD9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618" y="3617612"/>
            <a:ext cx="6594764" cy="2559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220A7C-8887-2E4B-8FFE-6C494209E4C5}"/>
              </a:ext>
            </a:extLst>
          </p:cNvPr>
          <p:cNvSpPr txBox="1"/>
          <p:nvPr/>
        </p:nvSpPr>
        <p:spPr>
          <a:xfrm>
            <a:off x="3657600" y="6317673"/>
            <a:ext cx="5361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CCS 2016 Presentation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60E3F3-4F3A-0243-B66B-C56CB5482BCE}"/>
              </a:ext>
            </a:extLst>
          </p:cNvPr>
          <p:cNvCxnSpPr>
            <a:cxnSpLocks/>
          </p:cNvCxnSpPr>
          <p:nvPr/>
        </p:nvCxnSpPr>
        <p:spPr>
          <a:xfrm>
            <a:off x="2798618" y="6176963"/>
            <a:ext cx="6594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82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7B9D39-3640-4A23-BFA4-A7722686BB9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d>
                  </m:oMath>
                </a14:m>
                <a:r>
                  <a:rPr lang="en-US" b="0" dirty="0"/>
                  <a:t>- Differential Privacy</a:t>
                </a:r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7B9D39-3640-4A23-BFA4-A7722686BB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686E7EC-67FD-EB4E-A383-51EE8D76D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" y="2478648"/>
            <a:ext cx="12192000" cy="3045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25C019-015F-B042-A419-BCD2B2AB9B5C}"/>
              </a:ext>
            </a:extLst>
          </p:cNvPr>
          <p:cNvSpPr txBox="1"/>
          <p:nvPr/>
        </p:nvSpPr>
        <p:spPr>
          <a:xfrm>
            <a:off x="5029198" y="5942567"/>
            <a:ext cx="1676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Privacy Loss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46269-2D1B-834A-8454-8A718539CD30}"/>
              </a:ext>
            </a:extLst>
          </p:cNvPr>
          <p:cNvSpPr txBox="1"/>
          <p:nvPr/>
        </p:nvSpPr>
        <p:spPr>
          <a:xfrm>
            <a:off x="8548254" y="5846544"/>
            <a:ext cx="2140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Allows for small probability of failure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AD541B-E411-7448-8799-41F3322EC469}"/>
              </a:ext>
            </a:extLst>
          </p:cNvPr>
          <p:cNvCxnSpPr>
            <a:cxnSpLocks/>
          </p:cNvCxnSpPr>
          <p:nvPr/>
        </p:nvCxnSpPr>
        <p:spPr>
          <a:xfrm flipV="1">
            <a:off x="5721927" y="5276053"/>
            <a:ext cx="0" cy="57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0C5DE2-EB62-9A45-A8D1-7C9B87830C58}"/>
              </a:ext>
            </a:extLst>
          </p:cNvPr>
          <p:cNvCxnSpPr>
            <a:cxnSpLocks/>
          </p:cNvCxnSpPr>
          <p:nvPr/>
        </p:nvCxnSpPr>
        <p:spPr>
          <a:xfrm flipV="1">
            <a:off x="9426049" y="5276053"/>
            <a:ext cx="0" cy="57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49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91C1-18BD-B640-9545-AEA680F6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Differentially Private SGD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358DF-D48D-2042-8AC1-F78D535A4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91" y="2582590"/>
            <a:ext cx="9750014" cy="28374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24B5F6B-F009-1D43-8261-CA9F6C511B02}"/>
              </a:ext>
            </a:extLst>
          </p:cNvPr>
          <p:cNvSpPr/>
          <p:nvPr/>
        </p:nvSpPr>
        <p:spPr>
          <a:xfrm>
            <a:off x="129092" y="4109421"/>
            <a:ext cx="1420009" cy="1581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F5BA59-1489-254C-B446-54EB336234F6}"/>
              </a:ext>
            </a:extLst>
          </p:cNvPr>
          <p:cNvSpPr/>
          <p:nvPr/>
        </p:nvSpPr>
        <p:spPr>
          <a:xfrm>
            <a:off x="281492" y="4261821"/>
            <a:ext cx="1420009" cy="1581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5459D5-6298-8442-BE9C-34383FF96751}"/>
              </a:ext>
            </a:extLst>
          </p:cNvPr>
          <p:cNvSpPr/>
          <p:nvPr/>
        </p:nvSpPr>
        <p:spPr>
          <a:xfrm>
            <a:off x="453614" y="1693233"/>
            <a:ext cx="1420009" cy="1581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0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978A-0D93-4519-AE9A-E8E546AC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Differentially Private SGD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11404-8232-FC4D-B3D5-3C4A8EF0D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600" y="1537161"/>
            <a:ext cx="6338800" cy="522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6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E8A0-FFD0-824A-8C36-6FD5FDEBB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B7A8E-1168-884A-B694-106D5C2FB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 clipping, adding noise</a:t>
            </a:r>
          </a:p>
          <a:p>
            <a:r>
              <a:rPr lang="en-US" dirty="0"/>
              <a:t>Lots (separate from batch)</a:t>
            </a:r>
          </a:p>
          <a:p>
            <a:r>
              <a:rPr lang="en-US" dirty="0"/>
              <a:t>Moments Accountant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4A54F1-46AB-6F4D-8010-D204AD1D9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90688"/>
            <a:ext cx="4875760" cy="40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55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4BE5-F231-A243-80A1-C4B73177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Composition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E58BE9D-CB8B-F74F-9B7C-1B6E52DB10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0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-DP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b="0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-DP, </a:t>
                </a:r>
              </a:p>
              <a:p>
                <a:pPr marL="0" indent="0">
                  <a:buNone/>
                </a:pPr>
                <a:r>
                  <a:rPr lang="en-US" dirty="0"/>
                  <a:t>		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b="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-DP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E58BE9D-CB8B-F74F-9B7C-1B6E52DB10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1123D02-6FFB-A64E-AC43-4077AC4E2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55" y="3033968"/>
            <a:ext cx="8772090" cy="314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05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3105-DFAD-9344-AB76-1E9F476F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Strong Composition Theorem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FF0F9-87EB-864A-93C1-64A33A23E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50" y="2106651"/>
            <a:ext cx="8674100" cy="838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D9F78C-6A59-6346-8DF0-1EC1741D7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071" y="3183227"/>
            <a:ext cx="7209857" cy="259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42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656D-7BBC-E042-BA0B-DFB5D5D0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Notice Sampling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FB9FB-DBB1-884C-A77C-521E8A245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45" y="2050303"/>
            <a:ext cx="9399710" cy="362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2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68BE-8F41-4248-94C0-54C87BAE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Preliminary Definitions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DF8AB-8297-A845-ACD4-BB93BD80C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527" y="2417800"/>
            <a:ext cx="6810236" cy="1011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ECC9EB-3FAB-7144-9D01-6F64D2C48284}"/>
                  </a:ext>
                </a:extLst>
              </p:cNvPr>
              <p:cNvSpPr txBox="1"/>
              <p:nvPr/>
            </p:nvSpPr>
            <p:spPr>
              <a:xfrm>
                <a:off x="825190" y="2752297"/>
                <a:ext cx="2308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Privacy Loss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ECC9EB-3FAB-7144-9D01-6F64D2C48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190" y="2752297"/>
                <a:ext cx="2308303" cy="369332"/>
              </a:xfrm>
              <a:prstGeom prst="rect">
                <a:avLst/>
              </a:prstGeom>
              <a:blipFill>
                <a:blip r:embed="rId3"/>
                <a:stretch>
                  <a:fillRect l="-2186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445E57-BE1C-6847-9B15-F91410591E92}"/>
                  </a:ext>
                </a:extLst>
              </p:cNvPr>
              <p:cNvSpPr txBox="1"/>
              <p:nvPr/>
            </p:nvSpPr>
            <p:spPr>
              <a:xfrm>
                <a:off x="925551" y="3702205"/>
                <a:ext cx="206297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b="0" dirty="0"/>
                  <a:t>-th moment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is the log of the moment-generating function evaluated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  </a:t>
                </a:r>
              </a:p>
              <a:p>
                <a:endParaRPr lang="en-US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445E57-BE1C-6847-9B15-F91410591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51" y="3702205"/>
                <a:ext cx="2062976" cy="2031325"/>
              </a:xfrm>
              <a:prstGeom prst="rect">
                <a:avLst/>
              </a:prstGeom>
              <a:blipFill>
                <a:blip r:embed="rId4"/>
                <a:stretch>
                  <a:fillRect l="-2454" t="-1250" r="-3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100DAD3F-3468-BE46-83FE-4414A09EF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8527" y="3439116"/>
            <a:ext cx="8590665" cy="1234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9BB90C-120B-0547-AFEE-09A9D4CEE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8527" y="5255556"/>
            <a:ext cx="5429645" cy="96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30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C5B8F1-340C-EE4D-B4DB-61FF39F6B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347" y="2798618"/>
            <a:ext cx="5283561" cy="1565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5CCFE7-53D8-2E44-AD7A-8075E2B39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32" y="1058936"/>
            <a:ext cx="5634094" cy="21691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2F0193-5A6E-6043-B741-E82620C05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92" y="3629891"/>
            <a:ext cx="5183979" cy="279562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9A3346-44B7-0646-8757-23998BF78871}"/>
              </a:ext>
            </a:extLst>
          </p:cNvPr>
          <p:cNvCxnSpPr>
            <a:cxnSpLocks/>
          </p:cNvCxnSpPr>
          <p:nvPr/>
        </p:nvCxnSpPr>
        <p:spPr>
          <a:xfrm>
            <a:off x="6575626" y="1533923"/>
            <a:ext cx="916147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67EB0A-0A35-8F40-B853-6FB767F094E1}"/>
              </a:ext>
            </a:extLst>
          </p:cNvPr>
          <p:cNvCxnSpPr>
            <a:cxnSpLocks/>
          </p:cNvCxnSpPr>
          <p:nvPr/>
        </p:nvCxnSpPr>
        <p:spPr>
          <a:xfrm flipV="1">
            <a:off x="6096000" y="4348876"/>
            <a:ext cx="1025236" cy="1025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015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2B8B9-0ABB-7B46-8201-19BE5174F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Contribution is Obtaining a Tighter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2A1AF-499C-334D-BC91-A60B0BF12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 Use Moments Accountant to obtain this tighter bound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EFE71-0F29-E144-871E-52945A2EF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36" y="2861632"/>
            <a:ext cx="8583528" cy="331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33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53E7-4613-814E-BB0C-1B4CC575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vs Epsilon for MNIST Classification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9C4E19-5F46-A44D-8B54-B59B60A0E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5882" y="1690688"/>
            <a:ext cx="54202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66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F5F6-2744-494F-85AF-581B43BC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660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14A31-5C86-8F4B-94D6-75875BA6D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30" y="1094103"/>
            <a:ext cx="8306267" cy="297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DF081-6AE9-B94C-96FC-B54477D1C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31" y="3947532"/>
            <a:ext cx="8200854" cy="28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77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11F4-5E43-8047-8F2D-BD739CFC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Advantages +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24DB-DE93-8341-ACFB-8CF607FB1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Advantage:</a:t>
            </a:r>
          </a:p>
          <a:p>
            <a:r>
              <a:rPr lang="en-US" dirty="0"/>
              <a:t>Greatly Improved Bounds Through Moments Accountant</a:t>
            </a:r>
          </a:p>
          <a:p>
            <a:r>
              <a:rPr lang="en-US" dirty="0"/>
              <a:t>Introduced differentially private SGD which bounds sensitivity of updates</a:t>
            </a:r>
          </a:p>
          <a:p>
            <a:r>
              <a:rPr lang="en-US" dirty="0"/>
              <a:t>Applies to Large Complex Models</a:t>
            </a:r>
          </a:p>
          <a:p>
            <a:pPr marL="0" indent="0">
              <a:buNone/>
            </a:pPr>
            <a:r>
              <a:rPr lang="en-US" dirty="0"/>
              <a:t>Drawback:</a:t>
            </a:r>
          </a:p>
          <a:p>
            <a:r>
              <a:rPr lang="en-US" dirty="0"/>
              <a:t>Not generalizable to all models</a:t>
            </a:r>
          </a:p>
          <a:p>
            <a:r>
              <a:rPr lang="en-US" dirty="0"/>
              <a:t>Lower accuracy</a:t>
            </a:r>
          </a:p>
        </p:txBody>
      </p:sp>
    </p:spTree>
    <p:extLst>
      <p:ext uri="{BB962C8B-B14F-4D97-AF65-F5344CB8AC3E}">
        <p14:creationId xmlns:p14="http://schemas.microsoft.com/office/powerpoint/2010/main" val="678491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71B5-3D27-C046-9EFB-B7DE953D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24A75-3744-E544-B768-B0F78FE54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Accuracy</a:t>
            </a:r>
          </a:p>
          <a:p>
            <a:r>
              <a:rPr lang="en-US" dirty="0"/>
              <a:t>Apply to other models and tasks such as LSTM and language modeling</a:t>
            </a:r>
          </a:p>
        </p:txBody>
      </p:sp>
    </p:spTree>
    <p:extLst>
      <p:ext uri="{BB962C8B-B14F-4D97-AF65-F5344CB8AC3E}">
        <p14:creationId xmlns:p14="http://schemas.microsoft.com/office/powerpoint/2010/main" val="523695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021873-B011-4CFD-B646-87E576BE9A92}"/>
              </a:ext>
            </a:extLst>
          </p:cNvPr>
          <p:cNvSpPr txBox="1"/>
          <p:nvPr/>
        </p:nvSpPr>
        <p:spPr>
          <a:xfrm>
            <a:off x="2503107" y="4454507"/>
            <a:ext cx="6676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BCE98-55B0-E040-AAB7-2B1CFE9F6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74" y="1092906"/>
            <a:ext cx="10635917" cy="382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60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6420-1F38-8142-B2CD-2BCC3BF7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51A9C-DEC4-0A47-85FC-B77B9DCB2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framework for any model</a:t>
            </a:r>
          </a:p>
          <a:p>
            <a:r>
              <a:rPr lang="en-US" dirty="0"/>
              <a:t>Previous strategy (</a:t>
            </a:r>
            <a:r>
              <a:rPr lang="en-US" dirty="0" err="1"/>
              <a:t>Dietterich</a:t>
            </a:r>
            <a:r>
              <a:rPr lang="en-US" dirty="0"/>
              <a:t>, 2000) uses teacher ensembles trained on disjoint sets of training data for privacy</a:t>
            </a:r>
          </a:p>
          <a:p>
            <a:r>
              <a:rPr lang="en-US" dirty="0"/>
              <a:t>PATE strengthens this by restricting student training to limited number of teacher votes and only revealing topmost vote after adding random noise </a:t>
            </a:r>
          </a:p>
          <a:p>
            <a:r>
              <a:rPr lang="en-US" dirty="0"/>
              <a:t>Defend against black-box and white-box adversaries</a:t>
            </a:r>
          </a:p>
        </p:txBody>
      </p:sp>
    </p:spTree>
    <p:extLst>
      <p:ext uri="{BB962C8B-B14F-4D97-AF65-F5344CB8AC3E}">
        <p14:creationId xmlns:p14="http://schemas.microsoft.com/office/powerpoint/2010/main" val="2945142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217E-D96B-41E5-87FB-E3433708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Framework for PATE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A3B3B-F445-4043-97B6-D7CEFDD7C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6" y="1587336"/>
            <a:ext cx="11166088" cy="395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49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B0E1-B0AD-9549-9D53-C1E37C32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Drawbacks of Naïve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1D661-F93C-D44E-8D55-895C8EB8E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Single training example could have large effect if teachers disagree</a:t>
            </a:r>
          </a:p>
          <a:p>
            <a:endParaRPr lang="en-US" dirty="0"/>
          </a:p>
          <a:p>
            <a:r>
              <a:rPr lang="en-US" dirty="0"/>
              <a:t>Solution: Introduce noise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Key Idea: Classification can no longer depend on a single teacher/training example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F13357-E884-8C47-A8AB-9739DE45B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655" y="3998738"/>
            <a:ext cx="6968690" cy="1429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D9B45D-9DD1-3042-8E7C-98EC30FC7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356" y="1825625"/>
            <a:ext cx="8033288" cy="65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2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EFCC-D211-604B-8A5B-35D6CAFC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Details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1074C-95EA-6F43-9CF0-C673D8F9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6" y="1587336"/>
            <a:ext cx="6739919" cy="23889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F3693-3F91-5540-9779-86C5012D1513}"/>
              </a:ext>
            </a:extLst>
          </p:cNvPr>
          <p:cNvSpPr txBox="1"/>
          <p:nvPr/>
        </p:nvSpPr>
        <p:spPr>
          <a:xfrm>
            <a:off x="838199" y="4532000"/>
            <a:ext cx="10148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Student is trained using fixed number of queries to the teacher. After that when an adversary queries the student model the total privacy loss is not increased</a:t>
            </a:r>
          </a:p>
        </p:txBody>
      </p:sp>
    </p:spTree>
    <p:extLst>
      <p:ext uri="{BB962C8B-B14F-4D97-AF65-F5344CB8AC3E}">
        <p14:creationId xmlns:p14="http://schemas.microsoft.com/office/powerpoint/2010/main" val="2379380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4987-9CC9-5C4B-A83C-625F402D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PATE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F9E2F-7210-A84E-9764-FB20F47B3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547668"/>
            <a:ext cx="5384800" cy="417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A21A40-F712-0E45-AB7D-408FF59A7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47668"/>
            <a:ext cx="5480050" cy="4186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A76A0A-D24C-5A4B-9D42-2D1581865CE9}"/>
              </a:ext>
            </a:extLst>
          </p:cNvPr>
          <p:cNvSpPr txBox="1"/>
          <p:nvPr/>
        </p:nvSpPr>
        <p:spPr>
          <a:xfrm>
            <a:off x="6519553" y="6044540"/>
            <a:ext cx="4952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Gap increases as number of teachers increases -&gt; Less Privacy Loss, but there will be acc. tradeoffs</a:t>
            </a:r>
          </a:p>
        </p:txBody>
      </p:sp>
    </p:spTree>
    <p:extLst>
      <p:ext uri="{BB962C8B-B14F-4D97-AF65-F5344CB8AC3E}">
        <p14:creationId xmlns:p14="http://schemas.microsoft.com/office/powerpoint/2010/main" val="266828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04F5-D66C-48FB-9ABD-9C1BA169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Analysis- Using Moments Accountant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B8B1E-0847-4CD4-A776-7DAF36F83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1FCF9-7ACC-A645-BEB5-14E3E4411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0095"/>
            <a:ext cx="9268691" cy="3420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8B490F-731C-E54E-9E77-DFEE51007F0A}"/>
              </a:ext>
            </a:extLst>
          </p:cNvPr>
          <p:cNvSpPr txBox="1"/>
          <p:nvPr/>
        </p:nvSpPr>
        <p:spPr>
          <a:xfrm>
            <a:off x="1316182" y="5181600"/>
            <a:ext cx="8950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Intuition: When quorum among teachers is large, then the majority outcome has high likelihood, which implies that the privacy cost is small</a:t>
            </a:r>
          </a:p>
        </p:txBody>
      </p:sp>
    </p:spTree>
    <p:extLst>
      <p:ext uri="{BB962C8B-B14F-4D97-AF65-F5344CB8AC3E}">
        <p14:creationId xmlns:p14="http://schemas.microsoft.com/office/powerpoint/2010/main" val="515703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BCCC9-198A-FD4E-8C1F-4B5BAE1A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Semi-Supervised Variant (PATE-G)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45975-8E26-1540-8358-664F693B6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6733"/>
            <a:ext cx="9523142" cy="456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84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7F65-7AFB-DF46-AF41-D05F0385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Details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2BB0D-CBF5-E24E-ABDD-83DDA04A4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6733"/>
            <a:ext cx="5781274" cy="27704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9DFDF7-8552-0A47-A834-D4D9A1BF0F6A}"/>
                  </a:ext>
                </a:extLst>
              </p:cNvPr>
              <p:cNvSpPr txBox="1"/>
              <p:nvPr/>
            </p:nvSpPr>
            <p:spPr>
              <a:xfrm>
                <a:off x="838199" y="4669718"/>
                <a:ext cx="1051559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Discriminator is a multi-class classifier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classes, the original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dirty="0"/>
                  <a:t> and a fake class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0" dirty="0"/>
                  <a:t>Unlabeled data should go to any </a:t>
                </a:r>
                <a:r>
                  <a:rPr lang="en-US" sz="2400" dirty="0"/>
                  <a:t>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classes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0" dirty="0"/>
                  <a:t>Trained to classify data from aggregated teacher samples into the correct class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9DFDF7-8552-0A47-A834-D4D9A1BF0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669718"/>
                <a:ext cx="10515599" cy="1938992"/>
              </a:xfrm>
              <a:prstGeom prst="rect">
                <a:avLst/>
              </a:prstGeom>
              <a:blipFill>
                <a:blip r:embed="rId3"/>
                <a:stretch>
                  <a:fillRect l="-724" t="-1961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409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0040-5DF4-1249-8DE5-48605164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PATE-G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7E48A-1A61-AA4F-8822-CA0D6C8D8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89" y="2289744"/>
            <a:ext cx="9914022" cy="22785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C1BE69-E2A1-294F-ABD4-B6484A517782}"/>
                  </a:ext>
                </a:extLst>
              </p:cNvPr>
              <p:cNvSpPr txBox="1"/>
              <p:nvPr/>
            </p:nvSpPr>
            <p:spPr>
              <a:xfrm>
                <a:off x="1290918" y="5013064"/>
                <a:ext cx="7433534" cy="372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Previous paper achieved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privacy bound and 97% accuracy on MNIST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C1BE69-E2A1-294F-ABD4-B6484A517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918" y="5013064"/>
                <a:ext cx="7433534" cy="372410"/>
              </a:xfrm>
              <a:prstGeom prst="rect">
                <a:avLst/>
              </a:prstGeom>
              <a:blipFill>
                <a:blip r:embed="rId3"/>
                <a:stretch>
                  <a:fillRect l="-683" t="-6667" r="-51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659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EBB4-D986-9441-8888-68CBB21D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D8DB1-F105-7F4E-977F-E7A05757A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Advantages:</a:t>
            </a:r>
          </a:p>
          <a:p>
            <a:r>
              <a:rPr lang="en-US" dirty="0"/>
              <a:t>Works well whether partitioning is random or not</a:t>
            </a:r>
          </a:p>
          <a:p>
            <a:r>
              <a:rPr lang="en-US" dirty="0"/>
              <a:t>Easily extendable to any model</a:t>
            </a:r>
          </a:p>
          <a:p>
            <a:r>
              <a:rPr lang="en-US" dirty="0"/>
              <a:t>SOTA Tradeoffs between accuracy and privacy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Disadvantages:</a:t>
            </a:r>
          </a:p>
          <a:p>
            <a:r>
              <a:rPr lang="en-US" dirty="0"/>
              <a:t>Currently assume that teacher classifier arbitrarily changes with just one training example change -&gt; Bound could potentially be made tighter</a:t>
            </a:r>
          </a:p>
        </p:txBody>
      </p:sp>
    </p:spTree>
    <p:extLst>
      <p:ext uri="{BB962C8B-B14F-4D97-AF65-F5344CB8AC3E}">
        <p14:creationId xmlns:p14="http://schemas.microsoft.com/office/powerpoint/2010/main" val="2697697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C79ABB-E5C4-AC41-9961-6B705CDD5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470" y="1323994"/>
            <a:ext cx="9853060" cy="421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28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E8C8-E0A0-8F44-A14D-E7890A72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DPGAN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AEDB3-42E8-CB41-A018-ABB3EF1FC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625" y="1875825"/>
            <a:ext cx="7854749" cy="40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57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67B7-9710-E844-B52C-69859333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/>
              <a:t>PATE-GAN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CCDB6-0F6E-EF45-A9A1-1EF7AAF65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531" y="1375644"/>
            <a:ext cx="4534937" cy="22839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EA3438-4D59-B04E-B17B-27E230973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605" y="3659583"/>
            <a:ext cx="7360787" cy="2738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6E6ECA-7021-AB47-84EC-4806F94BAEA1}"/>
              </a:ext>
            </a:extLst>
          </p:cNvPr>
          <p:cNvSpPr txBox="1"/>
          <p:nvPr/>
        </p:nvSpPr>
        <p:spPr>
          <a:xfrm>
            <a:off x="1116531" y="1809549"/>
            <a:ext cx="2492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Procedure for Teacher Discriminators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0E8DA2-A7CB-9148-8945-E93FB937808A}"/>
              </a:ext>
            </a:extLst>
          </p:cNvPr>
          <p:cNvSpPr txBox="1"/>
          <p:nvPr/>
        </p:nvSpPr>
        <p:spPr>
          <a:xfrm>
            <a:off x="768417" y="3896627"/>
            <a:ext cx="2492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Procedure for Generator and Student</a:t>
            </a:r>
          </a:p>
        </p:txBody>
      </p:sp>
    </p:spTree>
    <p:extLst>
      <p:ext uri="{BB962C8B-B14F-4D97-AF65-F5344CB8AC3E}">
        <p14:creationId xmlns:p14="http://schemas.microsoft.com/office/powerpoint/2010/main" val="2897006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60B4-F552-B248-9446-E6E7674C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EE4BD-778B-A647-BD7A-E47CCC7DF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936" y="1363429"/>
            <a:ext cx="7018127" cy="470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00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9754-FAF4-C84C-8EAF-9B378860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C33BD-933E-6546-847A-6360442B5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with Differential Privacy, Abadi et al. 2016.</a:t>
            </a:r>
          </a:p>
          <a:p>
            <a:r>
              <a:rPr lang="en-US" dirty="0"/>
              <a:t>Deep Learning with Differential Privacy, CCS 2016 Presentation.</a:t>
            </a:r>
          </a:p>
          <a:p>
            <a:r>
              <a:rPr lang="en-US" dirty="0"/>
              <a:t> Semi-Supervised Knowledge Transfer for Deep Learning from Private Training Data, </a:t>
            </a:r>
            <a:r>
              <a:rPr lang="en-US" dirty="0" err="1"/>
              <a:t>Papernot</a:t>
            </a:r>
            <a:r>
              <a:rPr lang="en-US" dirty="0"/>
              <a:t> et al. 2017.</a:t>
            </a:r>
          </a:p>
          <a:p>
            <a:r>
              <a:rPr lang="en-US" dirty="0"/>
              <a:t>Semi-Supervised Knowledge Transfer for Deep Learning from Private Training Data, ICLR 2017 Presentation.</a:t>
            </a:r>
          </a:p>
          <a:p>
            <a:r>
              <a:rPr lang="en-US" dirty="0"/>
              <a:t>PATE-GAN: Generating Synthetic Data with Differential Privacy Guarantees, Jordan et al. 2019.</a:t>
            </a:r>
          </a:p>
        </p:txBody>
      </p:sp>
    </p:spTree>
    <p:extLst>
      <p:ext uri="{BB962C8B-B14F-4D97-AF65-F5344CB8AC3E}">
        <p14:creationId xmlns:p14="http://schemas.microsoft.com/office/powerpoint/2010/main" val="516303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{9121F494-D4D3-E54F-997F-187CA1AB7F75}tf16401378</Template>
  <TotalTime>12423</TotalTime>
  <Words>556</Words>
  <Application>Microsoft Macintosh PowerPoint</Application>
  <PresentationFormat>Widescreen</PresentationFormat>
  <Paragraphs>93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Office Theme</vt:lpstr>
      <vt:lpstr>PowerPoint Presentation</vt:lpstr>
      <vt:lpstr>Motivation</vt:lpstr>
      <vt:lpstr>(ϵ,δ)- Differential Privacy </vt:lpstr>
      <vt:lpstr>Differentially Private SGD</vt:lpstr>
      <vt:lpstr>Differentially Private SGD</vt:lpstr>
      <vt:lpstr>Key Ideas</vt:lpstr>
      <vt:lpstr>Basic Composition Theorem</vt:lpstr>
      <vt:lpstr>Strong Composition Theorem</vt:lpstr>
      <vt:lpstr>Notice Sampling</vt:lpstr>
      <vt:lpstr>Preliminary Definitions</vt:lpstr>
      <vt:lpstr>PowerPoint Presentation</vt:lpstr>
      <vt:lpstr>Key Contribution is Obtaining a Tighter Bound</vt:lpstr>
      <vt:lpstr>Accuracy vs Epsilon for MNIST Classification</vt:lpstr>
      <vt:lpstr>Results</vt:lpstr>
      <vt:lpstr>Advantages + Drawbacks</vt:lpstr>
      <vt:lpstr>Future Directions</vt:lpstr>
      <vt:lpstr>PowerPoint Presentation</vt:lpstr>
      <vt:lpstr>Idea</vt:lpstr>
      <vt:lpstr>Framework for PATE</vt:lpstr>
      <vt:lpstr>Drawbacks of Naïve Aggregation</vt:lpstr>
      <vt:lpstr>Details</vt:lpstr>
      <vt:lpstr>PATE Results</vt:lpstr>
      <vt:lpstr>Privacy Analysis- Using Moments Accountant</vt:lpstr>
      <vt:lpstr>Semi-Supervised Variant (PATE-G)</vt:lpstr>
      <vt:lpstr>Details</vt:lpstr>
      <vt:lpstr>PATE-G Results</vt:lpstr>
      <vt:lpstr>Conclusion</vt:lpstr>
      <vt:lpstr>PowerPoint Presentation</vt:lpstr>
      <vt:lpstr>DPGAN</vt:lpstr>
      <vt:lpstr>PATE-GAN</vt:lpstr>
      <vt:lpstr>Results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Attacks on Graphical Data</dc:title>
  <dc:creator>Amish Goel</dc:creator>
  <cp:lastModifiedBy>Cheruvu, Hari</cp:lastModifiedBy>
  <cp:revision>130</cp:revision>
  <dcterms:created xsi:type="dcterms:W3CDTF">2019-10-27T16:24:46Z</dcterms:created>
  <dcterms:modified xsi:type="dcterms:W3CDTF">2019-11-07T20:46:30Z</dcterms:modified>
</cp:coreProperties>
</file>