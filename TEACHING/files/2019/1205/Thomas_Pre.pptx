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6858000" cy="9144000"/>
  <p:embeddedFontLst>
    <p:embeddedFont>
      <p:font typeface="Dosis" panose="020B0604020202020204" charset="0"/>
      <p:regular r:id="rId46"/>
      <p:bold r:id="rId47"/>
    </p:embeddedFont>
    <p:embeddedFont>
      <p:font typeface="Dosis ExtraLight" panose="020B0604020202020204" charset="0"/>
      <p:regular r:id="rId48"/>
      <p:bold r:id="rId49"/>
    </p:embeddedFont>
    <p:embeddedFont>
      <p:font typeface="Titillium Web" panose="020B0604020202020204" charset="0"/>
      <p:regular r:id="rId50"/>
      <p:bold r:id="rId51"/>
      <p:italic r:id="rId52"/>
      <p:boldItalic r:id="rId53"/>
    </p:embeddedFont>
    <p:embeddedFont>
      <p:font typeface="Titillium Web Light" panose="020B0604020202020204" charset="0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4" name="Google Shape;38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5" name="Google Shape;38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" name="Google Shape;3850;g7a7e4633fe_5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1" name="Google Shape;3851;g7a7e4633fe_5_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9" name="Google Shape;3859;g7a7e4633fe_5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0" name="Google Shape;3860;g7a7e4633fe_5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g7a7e4633fe_5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g7a7e4633fe_5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" name="Google Shape;3880;g78dd01c4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1" name="Google Shape;3881;g78dd01c4f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4" name="Google Shape;3894;g7a7e4633fe_5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5" name="Google Shape;3895;g7a7e4633fe_5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9" name="Google Shape;3899;g7a7229e96d_3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0" name="Google Shape;3900;g7a7229e96d_3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6" name="Google Shape;3906;g7a7229e96d_3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7" name="Google Shape;3907;g7a7229e96d_3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2" name="Google Shape;3912;g7a7e4633fe_5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3" name="Google Shape;3913;g7a7e4633fe_5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5" name="Google Shape;3925;g78dd01c4f0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6" name="Google Shape;3926;g78dd01c4f0_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1" name="Google Shape;3931;g78dd01c4f0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2" name="Google Shape;3932;g78dd01c4f0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9" name="Google Shape;3959;g78dd01c4f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0" name="Google Shape;3960;g78dd01c4f0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1" name="Google Shape;3971;g6adf01c375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2" name="Google Shape;3972;g6adf01c375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7" name="Google Shape;3987;g78dd01c4f0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8" name="Google Shape;3988;g78dd01c4f0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1" name="Google Shape;4001;g78dd01c4f0_1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2" name="Google Shape;4002;g78dd01c4f0_1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7" name="Google Shape;4027;g7a71afd4d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8" name="Google Shape;4028;g7a71afd4da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2" name="Google Shape;4032;g7a71afd4da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3" name="Google Shape;4033;g7a71afd4da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9" name="Google Shape;4039;g7a7229e96d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0" name="Google Shape;4040;g7a7229e96d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6" name="Google Shape;4046;g7a7229e96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7" name="Google Shape;4047;g7a7229e96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3" name="Google Shape;4053;g7a7e4633fe_5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4" name="Google Shape;4054;g7a7e4633fe_5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8" name="Google Shape;4058;g7a7e4633fe_5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9" name="Google Shape;4059;g7a7e4633fe_5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4" name="Google Shape;4064;g78dd01c4f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5" name="Google Shape;4065;g78dd01c4f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0" name="Google Shape;4080;g7a7229e96d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1" name="Google Shape;4081;g7a7229e96d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" name="Google Shape;4085;g7a7e4633fe_5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6" name="Google Shape;4086;g7a7e4633fe_5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Google Shape;4098;g7a7e4633fe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9" name="Google Shape;4099;g7a7e4633fe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Google Shape;4105;g78dd01c4f0_1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6" name="Google Shape;4106;g78dd01c4f0_1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1" name="Google Shape;4111;g7a7e4633fe_5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2" name="Google Shape;4112;g7a7e4633fe_5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2" name="Google Shape;4122;g7a7e4633fe_5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3" name="Google Shape;4123;g7a7e4633fe_5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2" name="Google Shape;4132;g7a7e4633fe_5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3" name="Google Shape;4133;g7a7e4633fe_5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1" name="Google Shape;4141;g7a7e4633fe_5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2" name="Google Shape;4142;g7a7e4633fe_5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3" name="Google Shape;4153;g7a7e4633fe_5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4" name="Google Shape;4154;g7a7e4633fe_5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8" name="Google Shape;4158;g7a7e4633fe_5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9" name="Google Shape;4159;g7a7e4633fe_5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3" name="Google Shape;4163;g7a7e4633fe_5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4" name="Google Shape;4164;g7a7e4633fe_5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0" name="Google Shape;4170;g7a7229e96d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1" name="Google Shape;4171;g7a7229e96d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5" name="Google Shape;4175;g7a7229e96d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6" name="Google Shape;4176;g7a7229e96d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1" name="Google Shape;4181;g7a7229e96d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2" name="Google Shape;4182;g7a7229e96d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" name="Google Shape;4188;g7a7229e96d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9" name="Google Shape;4189;g7a7229e96d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5" name="Google Shape;4195;g7a7229e96d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6" name="Google Shape;4196;g7a7229e96d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2" name="Google Shape;4202;g7a7229e96d_3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3" name="Google Shape;4203;g7a7229e96d_3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9" name="Google Shape;4209;g6adf01c375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0" name="Google Shape;4210;g6adf01c375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4" name="Google Shape;4214;g7a7e4633fe_5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5" name="Google Shape;4215;g7a7e4633fe_5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0" name="Google Shape;4220;g755de137b1_0_30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1" name="Google Shape;4221;g755de137b1_0_30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5" name="Google Shape;4225;g7a71afd4da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6" name="Google Shape;4226;g7a71afd4da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2" name="Google Shape;12;p2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2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93" name="Google Shape;93;p2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2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213" name="Google Shape;213;p2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2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423" name="Google Shape;423;p2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"/>
          <p:cNvSpPr txBox="1">
            <a:spLocks noGrp="1"/>
          </p:cNvSpPr>
          <p:nvPr>
            <p:ph type="ctrTitle"/>
          </p:nvPr>
        </p:nvSpPr>
        <p:spPr>
          <a:xfrm>
            <a:off x="685800" y="2878750"/>
            <a:ext cx="52689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28" name="Google Shape;528;p3"/>
          <p:cNvSpPr txBox="1">
            <a:spLocks noGrp="1"/>
          </p:cNvSpPr>
          <p:nvPr>
            <p:ph type="subTitle" idx="1"/>
          </p:nvPr>
        </p:nvSpPr>
        <p:spPr>
          <a:xfrm>
            <a:off x="685800" y="3983055"/>
            <a:ext cx="52689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grpSp>
        <p:nvGrpSpPr>
          <p:cNvPr id="529" name="Google Shape;529;p3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530" name="Google Shape;530;p3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0" name="Google Shape;610;p3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611" name="Google Shape;611;p3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3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731" name="Google Shape;731;p3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0" name="Google Shape;940;p3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941" name="Google Shape;941;p3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solidFill>
          <a:schemeClr val="accent3"/>
        </a:solidFill>
        <a:effectLst/>
      </p:bgPr>
    </p:bg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4"/>
          <p:cNvSpPr txBox="1">
            <a:spLocks noGrp="1"/>
          </p:cNvSpPr>
          <p:nvPr>
            <p:ph type="body" idx="1"/>
          </p:nvPr>
        </p:nvSpPr>
        <p:spPr>
          <a:xfrm>
            <a:off x="1278575" y="739550"/>
            <a:ext cx="4281000" cy="36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Char char="▪"/>
              <a:defRPr sz="3000" i="1">
                <a:solidFill>
                  <a:schemeClr val="lt1"/>
                </a:solidFill>
              </a:defRPr>
            </a:lvl1pPr>
            <a:lvl2pPr marL="914400" lvl="1" indent="-419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▫"/>
              <a:defRPr sz="3000" i="1">
                <a:solidFill>
                  <a:schemeClr val="lt1"/>
                </a:solidFill>
              </a:defRPr>
            </a:lvl2pPr>
            <a:lvl3pPr marL="1371600" lvl="2" indent="-419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▫"/>
              <a:defRPr sz="3000" i="1">
                <a:solidFill>
                  <a:schemeClr val="lt1"/>
                </a:solidFill>
              </a:defRPr>
            </a:lvl3pPr>
            <a:lvl4pPr marL="1828800" lvl="3" indent="-419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▫"/>
              <a:defRPr sz="3000" i="1">
                <a:solidFill>
                  <a:schemeClr val="lt1"/>
                </a:solidFill>
              </a:defRPr>
            </a:lvl4pPr>
            <a:lvl5pPr marL="2286000" lvl="4" indent="-419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▫"/>
              <a:defRPr sz="3000" i="1">
                <a:solidFill>
                  <a:schemeClr val="lt1"/>
                </a:solidFill>
              </a:defRPr>
            </a:lvl5pPr>
            <a:lvl6pPr marL="2743200" lvl="5" indent="-419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▫"/>
              <a:defRPr sz="3000" i="1">
                <a:solidFill>
                  <a:schemeClr val="lt1"/>
                </a:solidFill>
              </a:defRPr>
            </a:lvl6pPr>
            <a:lvl7pPr marL="3200400" lvl="6" indent="-419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  <a:defRPr sz="3000" i="1">
                <a:solidFill>
                  <a:schemeClr val="lt1"/>
                </a:solidFill>
              </a:defRPr>
            </a:lvl7pPr>
            <a:lvl8pPr marL="3657600" lvl="7" indent="-419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  <a:defRPr sz="3000" i="1">
                <a:solidFill>
                  <a:schemeClr val="lt1"/>
                </a:solidFill>
              </a:defRPr>
            </a:lvl8pPr>
            <a:lvl9pPr marL="4114800" lvl="8" indent="-419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■"/>
              <a:defRPr sz="3000" i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46" name="Google Shape;1046;p4"/>
          <p:cNvSpPr txBox="1"/>
          <p:nvPr/>
        </p:nvSpPr>
        <p:spPr>
          <a:xfrm>
            <a:off x="659925" y="414075"/>
            <a:ext cx="7524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“</a:t>
            </a:r>
            <a:endParaRPr sz="12000">
              <a:solidFill>
                <a:schemeClr val="accen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47" name="Google Shape;1047;p4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48" name="Google Shape;1048;p4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049" name="Google Shape;1049;p4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4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9" name="Google Shape;1129;p4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1130" name="Google Shape;1130;p4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9" name="Google Shape;1249;p4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1250" name="Google Shape;1250;p4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4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4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4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4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4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4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4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4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4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4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4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4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4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4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4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4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4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4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4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4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4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4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4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9" name="Google Shape;1459;p4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1460" name="Google Shape;1460;p4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4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6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843" name="Google Shape;1843;p6"/>
          <p:cNvSpPr txBox="1">
            <a:spLocks noGrp="1"/>
          </p:cNvSpPr>
          <p:nvPr>
            <p:ph type="body" idx="1"/>
          </p:nvPr>
        </p:nvSpPr>
        <p:spPr>
          <a:xfrm>
            <a:off x="718300" y="1762650"/>
            <a:ext cx="3242400" cy="30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844" name="Google Shape;1844;p6"/>
          <p:cNvSpPr txBox="1">
            <a:spLocks noGrp="1"/>
          </p:cNvSpPr>
          <p:nvPr>
            <p:ph type="body" idx="2"/>
          </p:nvPr>
        </p:nvSpPr>
        <p:spPr>
          <a:xfrm>
            <a:off x="4156071" y="1762650"/>
            <a:ext cx="3242400" cy="30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845" name="Google Shape;1845;p6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846" name="Google Shape;1846;p6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847" name="Google Shape;1847;p6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6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6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6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6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6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6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6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6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6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6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6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6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6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6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6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6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6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6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6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6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6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6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6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6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6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6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6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6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6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6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6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6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6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6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6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6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6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6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6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6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6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6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6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6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6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6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6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6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6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6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6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6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6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6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6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6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4" name="Google Shape;1904;p6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905" name="Google Shape;1905;p6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6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6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6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6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6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6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6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6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6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6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6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6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6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6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6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6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6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6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6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6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6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6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6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6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6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6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6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6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6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6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6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6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6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6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6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6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6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6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6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6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6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6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6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6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6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6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6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6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6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6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6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6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6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6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6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6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6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6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6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6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6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7" name="Google Shape;1967;p6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968" name="Google Shape;1968;p6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6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6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6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6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6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6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6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6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6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6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6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6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6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6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6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6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6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6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6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6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6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6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6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6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6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6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6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6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6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6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6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6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6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6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6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6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6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6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6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6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6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6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6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6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6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6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6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6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6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6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6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6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6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6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6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6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6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6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6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6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6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6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6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6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6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6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6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6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6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6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6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6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6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6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6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6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6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6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6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6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6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6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6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6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6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6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6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6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6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6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6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6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6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6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6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6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6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6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6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6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9" name="Google Shape;2069;p6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2070" name="Google Shape;2070;p6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6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6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6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6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6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6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6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6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6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6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6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6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6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6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6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6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6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6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6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6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6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6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6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6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6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6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6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6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6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6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6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6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6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6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6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6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6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6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6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6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6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6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6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6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6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6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6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6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6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7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22" name="Google Shape;2122;p7"/>
          <p:cNvSpPr txBox="1">
            <a:spLocks noGrp="1"/>
          </p:cNvSpPr>
          <p:nvPr>
            <p:ph type="body" idx="1"/>
          </p:nvPr>
        </p:nvSpPr>
        <p:spPr>
          <a:xfrm>
            <a:off x="718300" y="1755475"/>
            <a:ext cx="2179200" cy="30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123" name="Google Shape;2123;p7"/>
          <p:cNvSpPr txBox="1">
            <a:spLocks noGrp="1"/>
          </p:cNvSpPr>
          <p:nvPr>
            <p:ph type="body" idx="2"/>
          </p:nvPr>
        </p:nvSpPr>
        <p:spPr>
          <a:xfrm>
            <a:off x="3009263" y="1755475"/>
            <a:ext cx="2179200" cy="30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124" name="Google Shape;2124;p7"/>
          <p:cNvSpPr txBox="1">
            <a:spLocks noGrp="1"/>
          </p:cNvSpPr>
          <p:nvPr>
            <p:ph type="body" idx="3"/>
          </p:nvPr>
        </p:nvSpPr>
        <p:spPr>
          <a:xfrm>
            <a:off x="5300226" y="1755475"/>
            <a:ext cx="2179200" cy="30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▫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125" name="Google Shape;2125;p7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26" name="Google Shape;2126;p7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2127" name="Google Shape;2127;p7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7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7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7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7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7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7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7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7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7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7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7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7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7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7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7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7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7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7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7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7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7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7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7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7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7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7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7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7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7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7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7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7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7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7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7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7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7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7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7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7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7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7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7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7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7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7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7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7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7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7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7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7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7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7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7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7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4" name="Google Shape;2184;p7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2185" name="Google Shape;2185;p7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7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7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7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7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7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7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7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7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7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7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7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7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7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7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7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7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7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7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7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7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7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7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7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7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7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7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7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7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7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7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7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7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7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7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7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7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7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7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7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7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7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7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7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7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7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7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7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7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7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7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7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7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7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7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7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7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7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7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7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7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7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7" name="Google Shape;2247;p7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2248" name="Google Shape;2248;p7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7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7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7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7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7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7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7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7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7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7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7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7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7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7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7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7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7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7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7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7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7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7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7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7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7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7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7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7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7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7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7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7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7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7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7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7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7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7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7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7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7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7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7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7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7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7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7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7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7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7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7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7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7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7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7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7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7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7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7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7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7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7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7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7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7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7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7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7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7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7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7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7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7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7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7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7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7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7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7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7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7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7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7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7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7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7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7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7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7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7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7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7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7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7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9" name="Google Shape;2349;p7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2350" name="Google Shape;2350;p7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7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7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7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7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7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7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7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7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7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7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7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7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7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7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7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7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7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7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7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7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7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7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7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7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7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7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7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7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7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7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7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7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7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7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7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7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7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7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7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7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7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7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7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7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7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7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7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7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7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p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02" name="Google Shape;2402;p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403" name="Google Shape;2403;p8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2404" name="Google Shape;2404;p8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8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8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8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8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8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8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8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8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8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8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8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8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8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8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8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8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8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8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8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8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8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8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8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8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8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8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8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8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8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8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8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8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8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8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8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8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8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8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8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8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8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8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8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8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8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8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8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8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8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8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8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8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8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8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8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8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1" name="Google Shape;2461;p8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2462" name="Google Shape;2462;p8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8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8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8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8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8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8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8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8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8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8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8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8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8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8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8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8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8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8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8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8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8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8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8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8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8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8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8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8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8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8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8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8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8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8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8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8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8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8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8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8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8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8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8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8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8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8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8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8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8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8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8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8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8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8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8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8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8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8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8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8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8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4" name="Google Shape;2524;p8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2525" name="Google Shape;2525;p8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8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8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8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8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8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8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8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8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8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8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8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8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8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8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8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8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8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8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8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8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8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8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8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8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8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8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8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8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8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8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8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8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8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8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8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8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8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8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8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8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8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8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8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8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8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8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8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8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8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8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8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8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8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8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8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8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8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8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8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8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8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8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8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8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8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8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8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8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8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8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8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8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8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8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8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8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8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8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8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8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8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8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8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8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8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8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8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8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8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8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8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8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8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8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8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8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8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8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8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8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6" name="Google Shape;2626;p8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2627" name="Google Shape;2627;p8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8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8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8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8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8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8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8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8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8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8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8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8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8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8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8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8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8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8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8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8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8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8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8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8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8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8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8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8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8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8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8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8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8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8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8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8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8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8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8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8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8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8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8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8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8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8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8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8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8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8" name="Google Shape;2678;p9"/>
          <p:cNvSpPr txBox="1">
            <a:spLocks noGrp="1"/>
          </p:cNvSpPr>
          <p:nvPr>
            <p:ph type="body" idx="1"/>
          </p:nvPr>
        </p:nvSpPr>
        <p:spPr>
          <a:xfrm>
            <a:off x="624925" y="4177700"/>
            <a:ext cx="67593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2679" name="Google Shape;2679;p9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680" name="Google Shape;2680;p9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2681" name="Google Shape;2681;p9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9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9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9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9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9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9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9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9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9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9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9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9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9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9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9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9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9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9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9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9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9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9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9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9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9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9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9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9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9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9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9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9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9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9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9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9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9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9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9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9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9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9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9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9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9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9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9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9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9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9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9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9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9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9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9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9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38" name="Google Shape;2738;p9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2739" name="Google Shape;2739;p9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9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9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9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9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9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9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9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9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9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9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9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9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9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9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9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9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9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9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9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9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9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9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9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9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9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9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9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9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9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9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9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9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9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9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9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9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9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9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9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9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9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9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9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9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9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9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9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9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9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9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9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9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9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9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9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9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9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9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9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9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9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1" name="Google Shape;2801;p9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2802" name="Google Shape;2802;p9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9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9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9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9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9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9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9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9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9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9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9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9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9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9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9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9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9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9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9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9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9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9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9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9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9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9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9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9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9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9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9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9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9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9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9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9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9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9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9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9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9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9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9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9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9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9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9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9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9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9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9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9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9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9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9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9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9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9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9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9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9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9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9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9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9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9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9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9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9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9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9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9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9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9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9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9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9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9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9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9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9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9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9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9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9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9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9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9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9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9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9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9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9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9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9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9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9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9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9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9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3" name="Google Shape;2903;p9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2904" name="Google Shape;2904;p9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9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9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9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9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9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9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9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9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9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9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9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9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9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9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9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9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9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9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9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9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9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9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9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9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9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9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9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9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9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9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9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9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9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9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9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9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9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9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9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9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9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9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9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9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9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9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9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9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9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5" name="Google Shape;2955;p10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956" name="Google Shape;2956;p10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2957" name="Google Shape;2957;p10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10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10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10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10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10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10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10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10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10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10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10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10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10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10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10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10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10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10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10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10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10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10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10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10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10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10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10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10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10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10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10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10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10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10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10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10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10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10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10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10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10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10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10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10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10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10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10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10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10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10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10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10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10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10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10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10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4" name="Google Shape;3014;p10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3015" name="Google Shape;3015;p10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10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10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10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10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10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10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10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10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10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10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10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10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10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10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10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10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10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10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10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10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10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10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10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10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10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10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10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10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10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10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10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10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10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10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10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10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10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10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10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10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10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10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10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10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10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10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10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10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10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10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10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10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10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10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10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10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10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10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10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10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10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7" name="Google Shape;3077;p10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3078" name="Google Shape;3078;p10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10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10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10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10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10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10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10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10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10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10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10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10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10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10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10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10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10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10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10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10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10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10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10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10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10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10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10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10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10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10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10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10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10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10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10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10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10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10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10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10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10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10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10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10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10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10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10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10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10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10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10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10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10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10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10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10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10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10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10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10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10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10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10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10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10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10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10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10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10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10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10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10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10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10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10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10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10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10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10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10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10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10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10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10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10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10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10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10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10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10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10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10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10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10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10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10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10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10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10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10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9" name="Google Shape;3179;p10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3180" name="Google Shape;3180;p10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10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10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10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10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10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10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10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10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10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10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10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10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10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10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10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10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10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10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10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10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10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10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10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10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10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10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10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10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10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10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10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10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10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10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10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10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10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10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10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10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10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10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10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10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10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10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10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10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10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accent5"/>
        </a:solidFill>
        <a:effectLst/>
      </p:bgPr>
    </p:bg>
    <p:spTree>
      <p:nvGrpSpPr>
        <p:cNvPr id="1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1" name="Google Shape;3231;p11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3232" name="Google Shape;3232;p11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11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11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11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11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11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11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11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11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11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11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11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11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11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11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11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11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11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11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11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11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11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11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11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11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11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11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11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11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11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11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11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11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11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11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11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11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11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11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11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11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11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11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11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11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11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11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11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11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11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11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11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11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11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11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11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11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89" name="Google Shape;3289;p11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3290" name="Google Shape;3290;p11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11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11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11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11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11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11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11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11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11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11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11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11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11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11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11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11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11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11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11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11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11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11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11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11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11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11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11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11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11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11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11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11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11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11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11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11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11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11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11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11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11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11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11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11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11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11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11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11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11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11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11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11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11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11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11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11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11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11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11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11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11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2" name="Google Shape;3352;p11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3353" name="Google Shape;3353;p11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11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11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11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11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11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11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11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11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11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11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11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11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11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11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11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11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11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11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11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11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11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11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11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11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11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11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11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11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11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11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11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11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11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11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11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11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11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11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11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11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11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11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11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11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11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11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11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11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11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11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11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11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11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11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11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11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11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11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11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11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11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11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11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11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11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11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11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11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11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11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11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11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11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11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11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11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11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11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11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11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11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11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11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11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11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11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11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11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11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11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11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11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11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11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11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11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11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11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11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11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4" name="Google Shape;3454;p11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3455" name="Google Shape;3455;p11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11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11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11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11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11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11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11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11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11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11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11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11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11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11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11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11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11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11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11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11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11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11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11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11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11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11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11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11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11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11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11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11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11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11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11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11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11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11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11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11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11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11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11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11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11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11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11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11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11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05" name="Google Shape;3505;p11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2"/>
                </a:solidFill>
              </a:defRPr>
            </a:lvl1pPr>
            <a:lvl2pPr lvl="1">
              <a:buNone/>
              <a:defRPr>
                <a:solidFill>
                  <a:schemeClr val="accent2"/>
                </a:solidFill>
              </a:defRPr>
            </a:lvl2pPr>
            <a:lvl3pPr lvl="2">
              <a:buNone/>
              <a:defRPr>
                <a:solidFill>
                  <a:schemeClr val="accent2"/>
                </a:solidFill>
              </a:defRPr>
            </a:lvl3pPr>
            <a:lvl4pPr lvl="3">
              <a:buNone/>
              <a:defRPr>
                <a:solidFill>
                  <a:schemeClr val="accent2"/>
                </a:solidFill>
              </a:defRPr>
            </a:lvl4pPr>
            <a:lvl5pPr lvl="4">
              <a:buNone/>
              <a:defRPr>
                <a:solidFill>
                  <a:schemeClr val="accent2"/>
                </a:solidFill>
              </a:defRPr>
            </a:lvl5pPr>
            <a:lvl6pPr lvl="5">
              <a:buNone/>
              <a:defRPr>
                <a:solidFill>
                  <a:schemeClr val="accent2"/>
                </a:solidFill>
              </a:defRPr>
            </a:lvl6pPr>
            <a:lvl7pPr lvl="6">
              <a:buNone/>
              <a:defRPr>
                <a:solidFill>
                  <a:schemeClr val="accent2"/>
                </a:solidFill>
              </a:defRPr>
            </a:lvl7pPr>
            <a:lvl8pPr lvl="7">
              <a:buNone/>
              <a:defRPr>
                <a:solidFill>
                  <a:schemeClr val="accent2"/>
                </a:solidFill>
              </a:defRPr>
            </a:lvl8pPr>
            <a:lvl9pPr lvl="8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834" name="Google Shape;383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835" name="Google Shape;383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7" name="Google Shape;3837;p1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38" name="Google Shape;383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" name="Google Shape;3840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41" name="Google Shape;3841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▫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▫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▫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▫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▫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42" name="Google Shape;384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60" r:id="rId12"/>
    <p:sldLayoutId id="2147483661" r:id="rId13"/>
  </p:sldLayoutIdLst>
  <p:transition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7" name="Google Shape;3847;p16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29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Adversarial Reinforcement Learning</a:t>
            </a:r>
            <a:endParaRPr/>
          </a:p>
        </p:txBody>
      </p:sp>
      <p:sp>
        <p:nvSpPr>
          <p:cNvPr id="3848" name="Google Shape;3848;p16"/>
          <p:cNvSpPr txBox="1">
            <a:spLocks noGrp="1"/>
          </p:cNvSpPr>
          <p:nvPr>
            <p:ph type="subTitle" idx="4294967295"/>
          </p:nvPr>
        </p:nvSpPr>
        <p:spPr>
          <a:xfrm>
            <a:off x="762000" y="3663725"/>
            <a:ext cx="46659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 Presentation by Thomas Warther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3" name="Google Shape;3853;p17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7124100" cy="6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Generalization Problem</a:t>
            </a:r>
            <a:endParaRPr/>
          </a:p>
        </p:txBody>
      </p:sp>
      <p:pic>
        <p:nvPicPr>
          <p:cNvPr id="3854" name="Google Shape;385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488" y="1190613"/>
            <a:ext cx="5097020" cy="904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55" name="Google Shape;3855;p17"/>
          <p:cNvSpPr txBox="1">
            <a:spLocks noGrp="1"/>
          </p:cNvSpPr>
          <p:nvPr>
            <p:ph type="body" idx="1"/>
          </p:nvPr>
        </p:nvSpPr>
        <p:spPr>
          <a:xfrm>
            <a:off x="457450" y="2629750"/>
            <a:ext cx="7124100" cy="17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Many policies learned by optimizing the expected reward over all transition functions fail to generalize.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Optimizes mean performance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Risk neutral formulation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Assumes known distribution over model parameters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856" name="Google Shape;3856;p17"/>
          <p:cNvSpPr/>
          <p:nvPr/>
        </p:nvSpPr>
        <p:spPr>
          <a:xfrm>
            <a:off x="3752750" y="1146025"/>
            <a:ext cx="3240600" cy="994500"/>
          </a:xfrm>
          <a:prstGeom prst="rect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7" name="Google Shape;3857;p17"/>
          <p:cNvSpPr txBox="1">
            <a:spLocks noGrp="1"/>
          </p:cNvSpPr>
          <p:nvPr>
            <p:ph type="body" idx="1"/>
          </p:nvPr>
        </p:nvSpPr>
        <p:spPr>
          <a:xfrm>
            <a:off x="3634250" y="2139950"/>
            <a:ext cx="34776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8761D"/>
                </a:solidFill>
                <a:latin typeface="Titillium Web"/>
                <a:ea typeface="Titillium Web"/>
                <a:cs typeface="Titillium Web"/>
                <a:sym typeface="Titillium Web"/>
              </a:rPr>
              <a:t>Reinforcement learning objective</a:t>
            </a:r>
            <a:endParaRPr b="1">
              <a:solidFill>
                <a:srgbClr val="38761D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2" name="Google Shape;3862;p18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7124100" cy="6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Adversarial Training</a:t>
            </a:r>
            <a:endParaRPr/>
          </a:p>
        </p:txBody>
      </p:sp>
      <p:pic>
        <p:nvPicPr>
          <p:cNvPr id="3863" name="Google Shape;386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488" y="1146013"/>
            <a:ext cx="5097020" cy="904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4" name="Google Shape;3864;p18"/>
          <p:cNvSpPr txBox="1">
            <a:spLocks noGrp="1"/>
          </p:cNvSpPr>
          <p:nvPr>
            <p:ph type="body" idx="1"/>
          </p:nvPr>
        </p:nvSpPr>
        <p:spPr>
          <a:xfrm>
            <a:off x="457450" y="2050750"/>
            <a:ext cx="7124100" cy="29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In unconstrained scenarios, the space of possible disturbances could be larger than the space of possible actions.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Solution: Sample the worst possible (alpha-quantile) disturbances with adversarial training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3865" name="Google Shape;386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238" y="3941675"/>
            <a:ext cx="7627526" cy="90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9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6813900" cy="6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Addressed by Today’s Papers</a:t>
            </a:r>
            <a:endParaRPr/>
          </a:p>
        </p:txBody>
      </p:sp>
      <p:sp>
        <p:nvSpPr>
          <p:cNvPr id="3871" name="Google Shape;3871;p19"/>
          <p:cNvSpPr txBox="1">
            <a:spLocks noGrp="1"/>
          </p:cNvSpPr>
          <p:nvPr>
            <p:ph type="body" idx="1"/>
          </p:nvPr>
        </p:nvSpPr>
        <p:spPr>
          <a:xfrm>
            <a:off x="457450" y="1146025"/>
            <a:ext cx="4311900" cy="36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Titillium Web"/>
              <a:buAutoNum type="arabicPeriod"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Most current RL-based approaches fail to generalize.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/>
              <a:t>The gap between simulation and the real world is large.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/>
              <a:t>Data is scarce, even when policy learning is done in the real world.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tillium Web"/>
              <a:buAutoNum type="arabicPeriod"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Robots are vulnerable to malicious intervention.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Contributions: Adversarial training approaches to improve the robustness of reinforcement learning.</a:t>
            </a:r>
            <a:endParaRPr/>
          </a:p>
        </p:txBody>
      </p:sp>
      <p:pic>
        <p:nvPicPr>
          <p:cNvPr id="3872" name="Google Shape;387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6300" y="3550189"/>
            <a:ext cx="2253301" cy="116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3" name="Google Shape;387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6299" y="1644697"/>
            <a:ext cx="2253299" cy="126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4" name="Google Shape;387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1475" y="4130875"/>
            <a:ext cx="588125" cy="58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875" name="Google Shape;3875;p19"/>
          <p:cNvSpPr txBox="1">
            <a:spLocks noGrp="1"/>
          </p:cNvSpPr>
          <p:nvPr>
            <p:ph type="body" idx="1"/>
          </p:nvPr>
        </p:nvSpPr>
        <p:spPr>
          <a:xfrm>
            <a:off x="5606300" y="1165875"/>
            <a:ext cx="18996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Training Scenario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876" name="Google Shape;3876;p19"/>
          <p:cNvSpPr txBox="1">
            <a:spLocks noGrp="1"/>
          </p:cNvSpPr>
          <p:nvPr>
            <p:ph type="body" idx="1"/>
          </p:nvPr>
        </p:nvSpPr>
        <p:spPr>
          <a:xfrm>
            <a:off x="5606300" y="3046500"/>
            <a:ext cx="15015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Test Scenario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877" name="Google Shape;3877;p19"/>
          <p:cNvSpPr/>
          <p:nvPr/>
        </p:nvSpPr>
        <p:spPr>
          <a:xfrm rot="-5400000">
            <a:off x="7090488" y="3370338"/>
            <a:ext cx="950100" cy="302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78" name="Google Shape;387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1475" y="2324075"/>
            <a:ext cx="588125" cy="58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3" name="Google Shape;3883;p20"/>
          <p:cNvSpPr txBox="1">
            <a:spLocks noGrp="1"/>
          </p:cNvSpPr>
          <p:nvPr>
            <p:ph type="ctrTitle"/>
          </p:nvPr>
        </p:nvSpPr>
        <p:spPr>
          <a:xfrm>
            <a:off x="2038650" y="441550"/>
            <a:ext cx="5066700" cy="12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Robust Adversarial Reinforcement Learning</a:t>
            </a:r>
            <a:endParaRPr sz="3600"/>
          </a:p>
        </p:txBody>
      </p:sp>
      <p:sp>
        <p:nvSpPr>
          <p:cNvPr id="3884" name="Google Shape;3884;p20"/>
          <p:cNvSpPr txBox="1">
            <a:spLocks noGrp="1"/>
          </p:cNvSpPr>
          <p:nvPr>
            <p:ph type="subTitle" idx="1"/>
          </p:nvPr>
        </p:nvSpPr>
        <p:spPr>
          <a:xfrm>
            <a:off x="997075" y="1819775"/>
            <a:ext cx="1896600" cy="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b="1"/>
              <a:t>Lerrel Pinto</a:t>
            </a:r>
            <a:endParaRPr sz="2400" b="1"/>
          </a:p>
        </p:txBody>
      </p:sp>
      <p:sp>
        <p:nvSpPr>
          <p:cNvPr id="3885" name="Google Shape;3885;p20"/>
          <p:cNvSpPr txBox="1">
            <a:spLocks noGrp="1"/>
          </p:cNvSpPr>
          <p:nvPr>
            <p:ph type="subTitle" idx="1"/>
          </p:nvPr>
        </p:nvSpPr>
        <p:spPr>
          <a:xfrm>
            <a:off x="634525" y="3058425"/>
            <a:ext cx="2621700" cy="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b="1"/>
              <a:t>James Davidson</a:t>
            </a:r>
            <a:endParaRPr sz="2400" b="1"/>
          </a:p>
        </p:txBody>
      </p:sp>
      <p:sp>
        <p:nvSpPr>
          <p:cNvPr id="3886" name="Google Shape;3886;p20"/>
          <p:cNvSpPr txBox="1">
            <a:spLocks noGrp="1"/>
          </p:cNvSpPr>
          <p:nvPr>
            <p:ph type="subTitle" idx="1"/>
          </p:nvPr>
        </p:nvSpPr>
        <p:spPr>
          <a:xfrm>
            <a:off x="5878975" y="1819775"/>
            <a:ext cx="2782500" cy="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b="1"/>
              <a:t>Rahul Sukthankar</a:t>
            </a:r>
            <a:endParaRPr sz="2400" b="1"/>
          </a:p>
        </p:txBody>
      </p:sp>
      <p:sp>
        <p:nvSpPr>
          <p:cNvPr id="3887" name="Google Shape;3887;p20"/>
          <p:cNvSpPr txBox="1">
            <a:spLocks noGrp="1"/>
          </p:cNvSpPr>
          <p:nvPr>
            <p:ph type="subTitle" idx="1"/>
          </p:nvPr>
        </p:nvSpPr>
        <p:spPr>
          <a:xfrm>
            <a:off x="6059275" y="3062925"/>
            <a:ext cx="2421900" cy="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b="1"/>
              <a:t>Abhinav Gupta</a:t>
            </a:r>
            <a:endParaRPr sz="2400" b="1"/>
          </a:p>
        </p:txBody>
      </p:sp>
      <p:sp>
        <p:nvSpPr>
          <p:cNvPr id="3888" name="Google Shape;3888;p20"/>
          <p:cNvSpPr txBox="1">
            <a:spLocks noGrp="1"/>
          </p:cNvSpPr>
          <p:nvPr>
            <p:ph type="subTitle" idx="1"/>
          </p:nvPr>
        </p:nvSpPr>
        <p:spPr>
          <a:xfrm>
            <a:off x="783025" y="2285663"/>
            <a:ext cx="2324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Carnegie Mellon University</a:t>
            </a:r>
            <a:endParaRPr sz="1400"/>
          </a:p>
        </p:txBody>
      </p:sp>
      <p:sp>
        <p:nvSpPr>
          <p:cNvPr id="3889" name="Google Shape;3889;p20"/>
          <p:cNvSpPr txBox="1">
            <a:spLocks noGrp="1"/>
          </p:cNvSpPr>
          <p:nvPr>
            <p:ph type="subTitle" idx="1"/>
          </p:nvPr>
        </p:nvSpPr>
        <p:spPr>
          <a:xfrm>
            <a:off x="1327675" y="3524325"/>
            <a:ext cx="12354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Google Brain</a:t>
            </a:r>
            <a:endParaRPr sz="1400"/>
          </a:p>
        </p:txBody>
      </p:sp>
      <p:sp>
        <p:nvSpPr>
          <p:cNvPr id="3890" name="Google Shape;3890;p20"/>
          <p:cNvSpPr txBox="1">
            <a:spLocks noGrp="1"/>
          </p:cNvSpPr>
          <p:nvPr>
            <p:ph type="subTitle" idx="1"/>
          </p:nvPr>
        </p:nvSpPr>
        <p:spPr>
          <a:xfrm>
            <a:off x="6476125" y="2285675"/>
            <a:ext cx="15882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Google Research</a:t>
            </a:r>
            <a:endParaRPr sz="1400"/>
          </a:p>
        </p:txBody>
      </p:sp>
      <p:sp>
        <p:nvSpPr>
          <p:cNvPr id="3891" name="Google Shape;3891;p20"/>
          <p:cNvSpPr txBox="1">
            <a:spLocks noGrp="1"/>
          </p:cNvSpPr>
          <p:nvPr>
            <p:ph type="subTitle" idx="1"/>
          </p:nvPr>
        </p:nvSpPr>
        <p:spPr>
          <a:xfrm>
            <a:off x="6476125" y="3824625"/>
            <a:ext cx="15882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Google Research</a:t>
            </a:r>
            <a:endParaRPr sz="1400"/>
          </a:p>
        </p:txBody>
      </p:sp>
      <p:sp>
        <p:nvSpPr>
          <p:cNvPr id="3892" name="Google Shape;3892;p20"/>
          <p:cNvSpPr txBox="1">
            <a:spLocks noGrp="1"/>
          </p:cNvSpPr>
          <p:nvPr>
            <p:ph type="subTitle" idx="1"/>
          </p:nvPr>
        </p:nvSpPr>
        <p:spPr>
          <a:xfrm>
            <a:off x="6107875" y="3524325"/>
            <a:ext cx="2324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Carnegie Mellon University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7" name="Google Shape;3897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2" name="Google Shape;3902;p22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7857900" cy="6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Adversarial Agents for Modeling Disturbances</a:t>
            </a:r>
            <a:endParaRPr/>
          </a:p>
        </p:txBody>
      </p:sp>
      <p:sp>
        <p:nvSpPr>
          <p:cNvPr id="3903" name="Google Shape;3903;p22"/>
          <p:cNvSpPr txBox="1">
            <a:spLocks noGrp="1"/>
          </p:cNvSpPr>
          <p:nvPr>
            <p:ph type="body" idx="1"/>
          </p:nvPr>
        </p:nvSpPr>
        <p:spPr>
          <a:xfrm>
            <a:off x="457450" y="1146025"/>
            <a:ext cx="6846000" cy="24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Train a second agent (the “adversary”) to impede the original agent (the “protagonist”)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Adversary applies destabilizing forces to protagonist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Reward adversary for protagonist’s failure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Adversary learns to sample hard examples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Protagonist learns policy robust to any of the adversary’s disturbances</a:t>
            </a:r>
            <a:endParaRPr/>
          </a:p>
        </p:txBody>
      </p:sp>
      <p:pic>
        <p:nvPicPr>
          <p:cNvPr id="3904" name="Google Shape;390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274" y="3547925"/>
            <a:ext cx="6642350" cy="144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9" name="Google Shape;3909;p23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6400500" cy="6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Adversaries with Domain Knowledge</a:t>
            </a:r>
            <a:endParaRPr/>
          </a:p>
        </p:txBody>
      </p:sp>
      <p:sp>
        <p:nvSpPr>
          <p:cNvPr id="3910" name="Google Shape;3910;p23"/>
          <p:cNvSpPr txBox="1">
            <a:spLocks noGrp="1"/>
          </p:cNvSpPr>
          <p:nvPr>
            <p:ph type="body" idx="1"/>
          </p:nvPr>
        </p:nvSpPr>
        <p:spPr>
          <a:xfrm>
            <a:off x="457450" y="1146025"/>
            <a:ext cx="7273800" cy="36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Exploit domain knowledge to focus on protagonist’s weaknesses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affect the protagonist and environment in ways the protagonist can’t (i.e. </a:t>
            </a: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“super-powers”</a:t>
            </a:r>
            <a:r>
              <a:rPr lang="en"/>
              <a:t>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i="1"/>
              <a:t>Examples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Can exert 2D forces while protagonist can only exert 1D forces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Can change physical parameters, such as frictional coefficient or mass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5" name="Google Shape;3915;p24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7840500" cy="6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by Playing a Zero-Sum Markov Game</a:t>
            </a:r>
            <a:endParaRPr/>
          </a:p>
        </p:txBody>
      </p:sp>
      <p:pic>
        <p:nvPicPr>
          <p:cNvPr id="3916" name="Google Shape;391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450" y="4244278"/>
            <a:ext cx="6016493" cy="59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7" name="Google Shape;391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450" y="2452449"/>
            <a:ext cx="5475445" cy="983412"/>
          </a:xfrm>
          <a:prstGeom prst="rect">
            <a:avLst/>
          </a:prstGeom>
          <a:noFill/>
          <a:ln>
            <a:noFill/>
          </a:ln>
        </p:spPr>
      </p:pic>
      <p:sp>
        <p:nvSpPr>
          <p:cNvPr id="3918" name="Google Shape;3918;p24"/>
          <p:cNvSpPr txBox="1">
            <a:spLocks noGrp="1"/>
          </p:cNvSpPr>
          <p:nvPr>
            <p:ph type="body" idx="1"/>
          </p:nvPr>
        </p:nvSpPr>
        <p:spPr>
          <a:xfrm>
            <a:off x="457450" y="3435850"/>
            <a:ext cx="5292000" cy="4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Nash equilibrium is the optimal equilibrium reward.</a:t>
            </a:r>
            <a:endParaRPr/>
          </a:p>
        </p:txBody>
      </p:sp>
      <p:pic>
        <p:nvPicPr>
          <p:cNvPr id="3919" name="Google Shape;3919;p24" descr="\mu\left(s\right)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800" y="1271350"/>
            <a:ext cx="673700" cy="40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0" name="Google Shape;3920;p24" descr="\nu\left(s\right)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2900" y="1263762"/>
            <a:ext cx="673700" cy="417699"/>
          </a:xfrm>
          <a:prstGeom prst="rect">
            <a:avLst/>
          </a:prstGeom>
          <a:noFill/>
          <a:ln>
            <a:noFill/>
          </a:ln>
        </p:spPr>
      </p:pic>
      <p:sp>
        <p:nvSpPr>
          <p:cNvPr id="3921" name="Google Shape;3921;p24"/>
          <p:cNvSpPr txBox="1">
            <a:spLocks noGrp="1"/>
          </p:cNvSpPr>
          <p:nvPr>
            <p:ph type="body" idx="1"/>
          </p:nvPr>
        </p:nvSpPr>
        <p:spPr>
          <a:xfrm>
            <a:off x="457450" y="1799225"/>
            <a:ext cx="5222400" cy="4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Protagonist maximizes rewards against adversary.</a:t>
            </a:r>
            <a:endParaRPr/>
          </a:p>
        </p:txBody>
      </p:sp>
      <p:sp>
        <p:nvSpPr>
          <p:cNvPr id="3922" name="Google Shape;3922;p24"/>
          <p:cNvSpPr txBox="1">
            <a:spLocks noGrp="1"/>
          </p:cNvSpPr>
          <p:nvPr>
            <p:ph type="body" idx="1"/>
          </p:nvPr>
        </p:nvSpPr>
        <p:spPr>
          <a:xfrm>
            <a:off x="457450" y="1146013"/>
            <a:ext cx="2352900" cy="4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Protagonist’s Policy :</a:t>
            </a:r>
            <a:endParaRPr/>
          </a:p>
        </p:txBody>
      </p:sp>
      <p:sp>
        <p:nvSpPr>
          <p:cNvPr id="3923" name="Google Shape;3923;p24"/>
          <p:cNvSpPr txBox="1">
            <a:spLocks noGrp="1"/>
          </p:cNvSpPr>
          <p:nvPr>
            <p:ph type="body" idx="1"/>
          </p:nvPr>
        </p:nvSpPr>
        <p:spPr>
          <a:xfrm>
            <a:off x="3827600" y="1146013"/>
            <a:ext cx="2177100" cy="4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Adversary’s Policy :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8" name="Google Shape;39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0061" y="1152475"/>
            <a:ext cx="3943881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9" name="Google Shape;3929;p25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2907300" cy="6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RARL Algorithm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4" name="Google Shape;39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0061" y="1152475"/>
            <a:ext cx="3943881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5" name="Google Shape;3935;p26"/>
          <p:cNvSpPr/>
          <p:nvPr/>
        </p:nvSpPr>
        <p:spPr>
          <a:xfrm>
            <a:off x="3448075" y="2381500"/>
            <a:ext cx="293400" cy="2763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6" name="Google Shape;3936;p26"/>
          <p:cNvSpPr/>
          <p:nvPr/>
        </p:nvSpPr>
        <p:spPr>
          <a:xfrm>
            <a:off x="4012425" y="2352700"/>
            <a:ext cx="252000" cy="3051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7" name="Google Shape;3937;p26"/>
          <p:cNvSpPr/>
          <p:nvPr/>
        </p:nvSpPr>
        <p:spPr>
          <a:xfrm>
            <a:off x="5027750" y="2600350"/>
            <a:ext cx="252000" cy="3051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8" name="Google Shape;3938;p26"/>
          <p:cNvSpPr/>
          <p:nvPr/>
        </p:nvSpPr>
        <p:spPr>
          <a:xfrm>
            <a:off x="5279750" y="2600350"/>
            <a:ext cx="293400" cy="3051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9" name="Google Shape;3939;p26"/>
          <p:cNvSpPr/>
          <p:nvPr/>
        </p:nvSpPr>
        <p:spPr>
          <a:xfrm>
            <a:off x="5348300" y="2352700"/>
            <a:ext cx="293400" cy="3051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0" name="Google Shape;3940;p26"/>
          <p:cNvSpPr/>
          <p:nvPr/>
        </p:nvSpPr>
        <p:spPr>
          <a:xfrm>
            <a:off x="3079900" y="2614750"/>
            <a:ext cx="252000" cy="2763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1" name="Google Shape;3941;p26"/>
          <p:cNvSpPr/>
          <p:nvPr/>
        </p:nvSpPr>
        <p:spPr>
          <a:xfrm>
            <a:off x="2905150" y="1986150"/>
            <a:ext cx="293400" cy="2763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2" name="Google Shape;3942;p26"/>
          <p:cNvSpPr/>
          <p:nvPr/>
        </p:nvSpPr>
        <p:spPr>
          <a:xfrm>
            <a:off x="3331900" y="1957400"/>
            <a:ext cx="409500" cy="3051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3" name="Google Shape;3943;p26"/>
          <p:cNvSpPr/>
          <p:nvPr/>
        </p:nvSpPr>
        <p:spPr>
          <a:xfrm>
            <a:off x="3079900" y="3605350"/>
            <a:ext cx="252000" cy="276300"/>
          </a:xfrm>
          <a:prstGeom prst="ellipse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4" name="Google Shape;3944;p26"/>
          <p:cNvSpPr/>
          <p:nvPr/>
        </p:nvSpPr>
        <p:spPr>
          <a:xfrm>
            <a:off x="3331900" y="3000400"/>
            <a:ext cx="409500" cy="305100"/>
          </a:xfrm>
          <a:prstGeom prst="ellipse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5" name="Google Shape;3945;p26"/>
          <p:cNvSpPr/>
          <p:nvPr/>
        </p:nvSpPr>
        <p:spPr>
          <a:xfrm>
            <a:off x="2905150" y="3014800"/>
            <a:ext cx="293400" cy="276300"/>
          </a:xfrm>
          <a:prstGeom prst="ellipse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6" name="Google Shape;3946;p26"/>
          <p:cNvSpPr/>
          <p:nvPr/>
        </p:nvSpPr>
        <p:spPr>
          <a:xfrm>
            <a:off x="3741475" y="3405450"/>
            <a:ext cx="293400" cy="276300"/>
          </a:xfrm>
          <a:prstGeom prst="ellipse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7" name="Google Shape;3947;p26"/>
          <p:cNvSpPr/>
          <p:nvPr/>
        </p:nvSpPr>
        <p:spPr>
          <a:xfrm>
            <a:off x="4283875" y="3376650"/>
            <a:ext cx="252000" cy="305100"/>
          </a:xfrm>
          <a:prstGeom prst="ellipse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8" name="Google Shape;3948;p26"/>
          <p:cNvSpPr/>
          <p:nvPr/>
        </p:nvSpPr>
        <p:spPr>
          <a:xfrm>
            <a:off x="5027750" y="3590950"/>
            <a:ext cx="252000" cy="305100"/>
          </a:xfrm>
          <a:prstGeom prst="ellipse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9" name="Google Shape;3949;p26"/>
          <p:cNvSpPr/>
          <p:nvPr/>
        </p:nvSpPr>
        <p:spPr>
          <a:xfrm>
            <a:off x="5279750" y="3590950"/>
            <a:ext cx="293400" cy="305100"/>
          </a:xfrm>
          <a:prstGeom prst="ellipse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0" name="Google Shape;3950;p26"/>
          <p:cNvSpPr/>
          <p:nvPr/>
        </p:nvSpPr>
        <p:spPr>
          <a:xfrm>
            <a:off x="5672150" y="3391050"/>
            <a:ext cx="293400" cy="305100"/>
          </a:xfrm>
          <a:prstGeom prst="ellipse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1" name="Google Shape;3951;p26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2907300" cy="6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RARL Algorithm</a:t>
            </a:r>
            <a:endParaRPr/>
          </a:p>
        </p:txBody>
      </p:sp>
      <p:sp>
        <p:nvSpPr>
          <p:cNvPr id="3952" name="Google Shape;3952;p26"/>
          <p:cNvSpPr txBox="1">
            <a:spLocks noGrp="1"/>
          </p:cNvSpPr>
          <p:nvPr>
            <p:ph type="body" idx="1"/>
          </p:nvPr>
        </p:nvSpPr>
        <p:spPr>
          <a:xfrm>
            <a:off x="457450" y="2010625"/>
            <a:ext cx="17958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Protagonist</a:t>
            </a:r>
            <a:endParaRPr b="1">
              <a:solidFill>
                <a:srgbClr val="FF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953" name="Google Shape;3953;p26"/>
          <p:cNvSpPr txBox="1">
            <a:spLocks noGrp="1"/>
          </p:cNvSpPr>
          <p:nvPr>
            <p:ph type="body" idx="1"/>
          </p:nvPr>
        </p:nvSpPr>
        <p:spPr>
          <a:xfrm>
            <a:off x="591025" y="3107850"/>
            <a:ext cx="15369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  <a:latin typeface="Titillium Web"/>
                <a:ea typeface="Titillium Web"/>
                <a:cs typeface="Titillium Web"/>
                <a:sym typeface="Titillium Web"/>
              </a:rPr>
              <a:t>Adversary</a:t>
            </a:r>
            <a:endParaRPr b="1">
              <a:solidFill>
                <a:srgbClr val="0000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954" name="Google Shape;3954;p26"/>
          <p:cNvSpPr/>
          <p:nvPr/>
        </p:nvSpPr>
        <p:spPr>
          <a:xfrm>
            <a:off x="5641700" y="2600350"/>
            <a:ext cx="252000" cy="3051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5" name="Google Shape;3955;p26"/>
          <p:cNvSpPr/>
          <p:nvPr/>
        </p:nvSpPr>
        <p:spPr>
          <a:xfrm>
            <a:off x="5893700" y="2600350"/>
            <a:ext cx="252000" cy="3051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6" name="Google Shape;3956;p26"/>
          <p:cNvSpPr/>
          <p:nvPr/>
        </p:nvSpPr>
        <p:spPr>
          <a:xfrm>
            <a:off x="5648425" y="3590950"/>
            <a:ext cx="194400" cy="305100"/>
          </a:xfrm>
          <a:prstGeom prst="ellipse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7" name="Google Shape;3957;p26"/>
          <p:cNvSpPr/>
          <p:nvPr/>
        </p:nvSpPr>
        <p:spPr>
          <a:xfrm>
            <a:off x="5842925" y="3590950"/>
            <a:ext cx="252000" cy="305100"/>
          </a:xfrm>
          <a:prstGeom prst="ellipse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2" name="Google Shape;39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0061" y="1152475"/>
            <a:ext cx="3943881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3" name="Google Shape;3963;p27"/>
          <p:cNvSpPr/>
          <p:nvPr/>
        </p:nvSpPr>
        <p:spPr>
          <a:xfrm>
            <a:off x="2754000" y="1819275"/>
            <a:ext cx="3789900" cy="2428200"/>
          </a:xfrm>
          <a:prstGeom prst="rect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4" name="Google Shape;3964;p27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2907300" cy="6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RARL Algorithm</a:t>
            </a:r>
            <a:endParaRPr/>
          </a:p>
        </p:txBody>
      </p:sp>
      <p:sp>
        <p:nvSpPr>
          <p:cNvPr id="3965" name="Google Shape;3965;p27"/>
          <p:cNvSpPr txBox="1">
            <a:spLocks noGrp="1"/>
          </p:cNvSpPr>
          <p:nvPr>
            <p:ph type="body" idx="1"/>
          </p:nvPr>
        </p:nvSpPr>
        <p:spPr>
          <a:xfrm>
            <a:off x="161400" y="1579650"/>
            <a:ext cx="2244600" cy="12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8761D"/>
                </a:solidFill>
                <a:latin typeface="Titillium Web"/>
                <a:ea typeface="Titillium Web"/>
                <a:cs typeface="Titillium Web"/>
                <a:sym typeface="Titillium Web"/>
              </a:rPr>
              <a:t>Alternate optimization of and</a:t>
            </a:r>
            <a:endParaRPr b="1">
              <a:solidFill>
                <a:srgbClr val="38761D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966" name="Google Shape;3966;p27"/>
          <p:cNvSpPr txBox="1">
            <a:spLocks noGrp="1"/>
          </p:cNvSpPr>
          <p:nvPr>
            <p:ph type="body" idx="1"/>
          </p:nvPr>
        </p:nvSpPr>
        <p:spPr>
          <a:xfrm>
            <a:off x="457450" y="3673575"/>
            <a:ext cx="15141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8761D"/>
                </a:solidFill>
                <a:latin typeface="Titillium Web"/>
                <a:ea typeface="Titillium Web"/>
                <a:cs typeface="Titillium Web"/>
                <a:sym typeface="Titillium Web"/>
              </a:rPr>
              <a:t>iterations</a:t>
            </a:r>
            <a:endParaRPr b="1">
              <a:solidFill>
                <a:srgbClr val="38761D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3967" name="Google Shape;3967;p27" descr="N_{iter}" title="MathEquation,#38761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850" y="3218950"/>
            <a:ext cx="1209300" cy="60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8" name="Google Shape;3968;p27" descr="\theta^{\mu}" title="MathEquation,#38761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275" y="2465289"/>
            <a:ext cx="440426" cy="400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9" name="Google Shape;3969;p27" descr="\theta^{\nu}" title="MathEquation,#38761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4137" y="2454551"/>
            <a:ext cx="440420" cy="4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4" name="Google Shape;39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0061" y="1152475"/>
            <a:ext cx="3943881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5" name="Google Shape;3975;p28"/>
          <p:cNvSpPr/>
          <p:nvPr/>
        </p:nvSpPr>
        <p:spPr>
          <a:xfrm>
            <a:off x="2907975" y="3043250"/>
            <a:ext cx="3636000" cy="100980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6" name="Google Shape;3976;p28"/>
          <p:cNvSpPr/>
          <p:nvPr/>
        </p:nvSpPr>
        <p:spPr>
          <a:xfrm>
            <a:off x="2907975" y="1995500"/>
            <a:ext cx="3636000" cy="1009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7" name="Google Shape;3977;p28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2907300" cy="6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RARL Algorithm</a:t>
            </a:r>
            <a:endParaRPr/>
          </a:p>
        </p:txBody>
      </p:sp>
      <p:sp>
        <p:nvSpPr>
          <p:cNvPr id="3978" name="Google Shape;3978;p28"/>
          <p:cNvSpPr txBox="1">
            <a:spLocks noGrp="1"/>
          </p:cNvSpPr>
          <p:nvPr>
            <p:ph type="body" idx="1"/>
          </p:nvPr>
        </p:nvSpPr>
        <p:spPr>
          <a:xfrm>
            <a:off x="457450" y="2416288"/>
            <a:ext cx="13974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Optimize</a:t>
            </a:r>
            <a:endParaRPr b="1">
              <a:solidFill>
                <a:srgbClr val="FF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979" name="Google Shape;3979;p28"/>
          <p:cNvSpPr txBox="1">
            <a:spLocks noGrp="1"/>
          </p:cNvSpPr>
          <p:nvPr>
            <p:ph type="body" idx="1"/>
          </p:nvPr>
        </p:nvSpPr>
        <p:spPr>
          <a:xfrm>
            <a:off x="457450" y="2010613"/>
            <a:ext cx="5712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Fix</a:t>
            </a:r>
            <a:endParaRPr b="1">
              <a:solidFill>
                <a:srgbClr val="FF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3980" name="Google Shape;3980;p28" descr="\theta^{\nu}" title="MathEquation,#ff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1663" y="2212899"/>
            <a:ext cx="388122" cy="3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1" name="Google Shape;3981;p28" descr="\theta^{\mu}" title="MathEquation,#ff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4849" y="2584500"/>
            <a:ext cx="408938" cy="371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2" name="Google Shape;3982;p28" descr="\theta^{\mu}" title="MathEquation,#0000f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1250" y="3260629"/>
            <a:ext cx="408950" cy="371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3" name="Google Shape;3983;p28" descr="\theta^{\nu}" title="MathEquation,#0000f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65254" y="3632264"/>
            <a:ext cx="388124" cy="371636"/>
          </a:xfrm>
          <a:prstGeom prst="rect">
            <a:avLst/>
          </a:prstGeom>
          <a:noFill/>
          <a:ln>
            <a:noFill/>
          </a:ln>
        </p:spPr>
      </p:pic>
      <p:sp>
        <p:nvSpPr>
          <p:cNvPr id="3984" name="Google Shape;3984;p28"/>
          <p:cNvSpPr txBox="1">
            <a:spLocks noGrp="1"/>
          </p:cNvSpPr>
          <p:nvPr>
            <p:ph type="body" idx="1"/>
          </p:nvPr>
        </p:nvSpPr>
        <p:spPr>
          <a:xfrm>
            <a:off x="457450" y="3464038"/>
            <a:ext cx="13974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  <a:latin typeface="Titillium Web"/>
                <a:ea typeface="Titillium Web"/>
                <a:cs typeface="Titillium Web"/>
                <a:sym typeface="Titillium Web"/>
              </a:rPr>
              <a:t>Optimize</a:t>
            </a:r>
            <a:endParaRPr b="1">
              <a:solidFill>
                <a:srgbClr val="0000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985" name="Google Shape;3985;p28"/>
          <p:cNvSpPr txBox="1">
            <a:spLocks noGrp="1"/>
          </p:cNvSpPr>
          <p:nvPr>
            <p:ph type="body" idx="1"/>
          </p:nvPr>
        </p:nvSpPr>
        <p:spPr>
          <a:xfrm>
            <a:off x="457450" y="3058363"/>
            <a:ext cx="5712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  <a:latin typeface="Titillium Web"/>
                <a:ea typeface="Titillium Web"/>
                <a:cs typeface="Titillium Web"/>
                <a:sym typeface="Titillium Web"/>
              </a:rPr>
              <a:t>Fix</a:t>
            </a:r>
            <a:endParaRPr b="1">
              <a:solidFill>
                <a:srgbClr val="0000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0" name="Google Shape;39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0061" y="1152475"/>
            <a:ext cx="3943881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1" name="Google Shape;3991;p29"/>
          <p:cNvSpPr/>
          <p:nvPr/>
        </p:nvSpPr>
        <p:spPr>
          <a:xfrm>
            <a:off x="2907975" y="2400475"/>
            <a:ext cx="3636000" cy="2475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2" name="Google Shape;3992;p29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2907300" cy="6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RARL Algorithm</a:t>
            </a:r>
            <a:endParaRPr/>
          </a:p>
        </p:txBody>
      </p:sp>
      <p:sp>
        <p:nvSpPr>
          <p:cNvPr id="3993" name="Google Shape;3993;p29"/>
          <p:cNvSpPr txBox="1">
            <a:spLocks noGrp="1"/>
          </p:cNvSpPr>
          <p:nvPr>
            <p:ph type="body" idx="1"/>
          </p:nvPr>
        </p:nvSpPr>
        <p:spPr>
          <a:xfrm>
            <a:off x="621813" y="1453638"/>
            <a:ext cx="12030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Sample</a:t>
            </a:r>
            <a:endParaRPr b="1">
              <a:solidFill>
                <a:srgbClr val="FF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994" name="Google Shape;3994;p29"/>
          <p:cNvSpPr txBox="1">
            <a:spLocks noGrp="1"/>
          </p:cNvSpPr>
          <p:nvPr>
            <p:ph type="body" idx="1"/>
          </p:nvPr>
        </p:nvSpPr>
        <p:spPr>
          <a:xfrm>
            <a:off x="481213" y="1787400"/>
            <a:ext cx="1828800" cy="13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trajectories with current policies</a:t>
            </a:r>
            <a:endParaRPr b="1">
              <a:solidFill>
                <a:srgbClr val="FF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3995" name="Google Shape;3995;p29" descr="N_{traj}" title="MathEquation,#ff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0838" y="1647225"/>
            <a:ext cx="712556" cy="380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6" name="Google Shape;3996;p29"/>
          <p:cNvSpPr txBox="1">
            <a:spLocks noGrp="1"/>
          </p:cNvSpPr>
          <p:nvPr>
            <p:ph type="body" idx="1"/>
          </p:nvPr>
        </p:nvSpPr>
        <p:spPr>
          <a:xfrm>
            <a:off x="621825" y="3112788"/>
            <a:ext cx="12030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  <a:latin typeface="Titillium Web"/>
                <a:ea typeface="Titillium Web"/>
                <a:cs typeface="Titillium Web"/>
                <a:sym typeface="Titillium Web"/>
              </a:rPr>
              <a:t>Sample</a:t>
            </a:r>
            <a:endParaRPr b="1">
              <a:solidFill>
                <a:srgbClr val="0000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997" name="Google Shape;3997;p29"/>
          <p:cNvSpPr txBox="1">
            <a:spLocks noGrp="1"/>
          </p:cNvSpPr>
          <p:nvPr>
            <p:ph type="body" idx="1"/>
          </p:nvPr>
        </p:nvSpPr>
        <p:spPr>
          <a:xfrm>
            <a:off x="481225" y="3446550"/>
            <a:ext cx="1828800" cy="13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  <a:latin typeface="Titillium Web"/>
                <a:ea typeface="Titillium Web"/>
                <a:cs typeface="Titillium Web"/>
                <a:sym typeface="Titillium Web"/>
              </a:rPr>
              <a:t>trajectories with current policies</a:t>
            </a:r>
            <a:endParaRPr b="1">
              <a:solidFill>
                <a:srgbClr val="0000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3998" name="Google Shape;3998;p29" descr="N_{traj}" title="MathEquation,#0000f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0850" y="3306375"/>
            <a:ext cx="712556" cy="380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9" name="Google Shape;3999;p29"/>
          <p:cNvSpPr/>
          <p:nvPr/>
        </p:nvSpPr>
        <p:spPr>
          <a:xfrm>
            <a:off x="2907975" y="3410712"/>
            <a:ext cx="3636000" cy="2475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4" name="Google Shape;400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0061" y="1152475"/>
            <a:ext cx="3943881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5" name="Google Shape;4005;p30"/>
          <p:cNvSpPr/>
          <p:nvPr/>
        </p:nvSpPr>
        <p:spPr>
          <a:xfrm>
            <a:off x="2907950" y="2640500"/>
            <a:ext cx="3636000" cy="212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6" name="Google Shape;4006;p30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2907300" cy="6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RARL Algorithm</a:t>
            </a:r>
            <a:endParaRPr/>
          </a:p>
        </p:txBody>
      </p:sp>
      <p:sp>
        <p:nvSpPr>
          <p:cNvPr id="4007" name="Google Shape;4007;p30"/>
          <p:cNvSpPr txBox="1">
            <a:spLocks noGrp="1"/>
          </p:cNvSpPr>
          <p:nvPr>
            <p:ph type="body" idx="1"/>
          </p:nvPr>
        </p:nvSpPr>
        <p:spPr>
          <a:xfrm>
            <a:off x="809013" y="1927100"/>
            <a:ext cx="8001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with</a:t>
            </a:r>
            <a:endParaRPr b="1">
              <a:solidFill>
                <a:srgbClr val="FF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4008" name="Google Shape;4008;p30" descr="N_{traj}" title="MathEquation,#ff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5425" y="2114213"/>
            <a:ext cx="712556" cy="3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9" name="Google Shape;4009;p30" descr="N_{traj}" title="MathEquation,#0000f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5425" y="3719238"/>
            <a:ext cx="712556" cy="3803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0" name="Google Shape;4010;p30"/>
          <p:cNvSpPr txBox="1">
            <a:spLocks noGrp="1"/>
          </p:cNvSpPr>
          <p:nvPr>
            <p:ph type="body" idx="1"/>
          </p:nvPr>
        </p:nvSpPr>
        <p:spPr>
          <a:xfrm>
            <a:off x="656613" y="1540313"/>
            <a:ext cx="13974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Optimize</a:t>
            </a:r>
            <a:endParaRPr b="1">
              <a:solidFill>
                <a:srgbClr val="FF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11" name="Google Shape;4011;p30"/>
          <p:cNvSpPr txBox="1">
            <a:spLocks noGrp="1"/>
          </p:cNvSpPr>
          <p:nvPr>
            <p:ph type="body" idx="1"/>
          </p:nvPr>
        </p:nvSpPr>
        <p:spPr>
          <a:xfrm>
            <a:off x="726188" y="2267038"/>
            <a:ext cx="17520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trajectories</a:t>
            </a:r>
            <a:endParaRPr b="1">
              <a:solidFill>
                <a:srgbClr val="FF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4012" name="Google Shape;4012;p30" descr="\theta^{\mu}" title="MathEquation,#ff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54012" y="1708525"/>
            <a:ext cx="408938" cy="371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3" name="Google Shape;4013;p30" descr="\theta^{\nu}" title="MathEquation,#0000f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64416" y="3304826"/>
            <a:ext cx="388124" cy="371636"/>
          </a:xfrm>
          <a:prstGeom prst="rect">
            <a:avLst/>
          </a:prstGeom>
          <a:noFill/>
          <a:ln>
            <a:noFill/>
          </a:ln>
        </p:spPr>
      </p:pic>
      <p:sp>
        <p:nvSpPr>
          <p:cNvPr id="4014" name="Google Shape;4014;p30"/>
          <p:cNvSpPr txBox="1">
            <a:spLocks noGrp="1"/>
          </p:cNvSpPr>
          <p:nvPr>
            <p:ph type="body" idx="1"/>
          </p:nvPr>
        </p:nvSpPr>
        <p:spPr>
          <a:xfrm>
            <a:off x="774225" y="3532125"/>
            <a:ext cx="8001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  <a:latin typeface="Titillium Web"/>
                <a:ea typeface="Titillium Web"/>
                <a:cs typeface="Titillium Web"/>
                <a:sym typeface="Titillium Web"/>
              </a:rPr>
              <a:t>with</a:t>
            </a:r>
            <a:endParaRPr b="1">
              <a:solidFill>
                <a:srgbClr val="0000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15" name="Google Shape;4015;p30"/>
          <p:cNvSpPr txBox="1">
            <a:spLocks noGrp="1"/>
          </p:cNvSpPr>
          <p:nvPr>
            <p:ph type="body" idx="1"/>
          </p:nvPr>
        </p:nvSpPr>
        <p:spPr>
          <a:xfrm>
            <a:off x="621825" y="3145338"/>
            <a:ext cx="13974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  <a:latin typeface="Titillium Web"/>
                <a:ea typeface="Titillium Web"/>
                <a:cs typeface="Titillium Web"/>
                <a:sym typeface="Titillium Web"/>
              </a:rPr>
              <a:t>Optimize</a:t>
            </a:r>
            <a:endParaRPr b="1">
              <a:solidFill>
                <a:srgbClr val="0000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16" name="Google Shape;4016;p30"/>
          <p:cNvSpPr txBox="1">
            <a:spLocks noGrp="1"/>
          </p:cNvSpPr>
          <p:nvPr>
            <p:ph type="body" idx="1"/>
          </p:nvPr>
        </p:nvSpPr>
        <p:spPr>
          <a:xfrm>
            <a:off x="691400" y="3872063"/>
            <a:ext cx="17520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  <a:latin typeface="Titillium Web"/>
                <a:ea typeface="Titillium Web"/>
                <a:cs typeface="Titillium Web"/>
                <a:sym typeface="Titillium Web"/>
              </a:rPr>
              <a:t>trajectories</a:t>
            </a:r>
            <a:endParaRPr b="1">
              <a:solidFill>
                <a:srgbClr val="0000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17" name="Google Shape;4017;p30"/>
          <p:cNvSpPr/>
          <p:nvPr/>
        </p:nvSpPr>
        <p:spPr>
          <a:xfrm>
            <a:off x="2907950" y="3659675"/>
            <a:ext cx="3636000" cy="2124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8" name="Google Shape;4018;p30"/>
          <p:cNvSpPr/>
          <p:nvPr/>
        </p:nvSpPr>
        <p:spPr>
          <a:xfrm>
            <a:off x="3448075" y="2381500"/>
            <a:ext cx="293400" cy="2763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9" name="Google Shape;4019;p30"/>
          <p:cNvSpPr/>
          <p:nvPr/>
        </p:nvSpPr>
        <p:spPr>
          <a:xfrm>
            <a:off x="4012425" y="2352700"/>
            <a:ext cx="252000" cy="3051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0" name="Google Shape;4020;p30"/>
          <p:cNvSpPr/>
          <p:nvPr/>
        </p:nvSpPr>
        <p:spPr>
          <a:xfrm>
            <a:off x="5027750" y="2600350"/>
            <a:ext cx="252000" cy="3051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1" name="Google Shape;4021;p30"/>
          <p:cNvSpPr/>
          <p:nvPr/>
        </p:nvSpPr>
        <p:spPr>
          <a:xfrm>
            <a:off x="5279750" y="2600350"/>
            <a:ext cx="293400" cy="3051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2" name="Google Shape;4022;p30"/>
          <p:cNvSpPr/>
          <p:nvPr/>
        </p:nvSpPr>
        <p:spPr>
          <a:xfrm>
            <a:off x="3741475" y="3405450"/>
            <a:ext cx="293400" cy="276300"/>
          </a:xfrm>
          <a:prstGeom prst="ellipse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3" name="Google Shape;4023;p30"/>
          <p:cNvSpPr/>
          <p:nvPr/>
        </p:nvSpPr>
        <p:spPr>
          <a:xfrm>
            <a:off x="4283875" y="3376650"/>
            <a:ext cx="252000" cy="305100"/>
          </a:xfrm>
          <a:prstGeom prst="ellipse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4" name="Google Shape;4024;p30"/>
          <p:cNvSpPr/>
          <p:nvPr/>
        </p:nvSpPr>
        <p:spPr>
          <a:xfrm>
            <a:off x="5027750" y="3590950"/>
            <a:ext cx="252000" cy="305100"/>
          </a:xfrm>
          <a:prstGeom prst="ellipse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5" name="Google Shape;4025;p30"/>
          <p:cNvSpPr/>
          <p:nvPr/>
        </p:nvSpPr>
        <p:spPr>
          <a:xfrm>
            <a:off x="5279750" y="3590950"/>
            <a:ext cx="293400" cy="305100"/>
          </a:xfrm>
          <a:prstGeom prst="ellipse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0" name="Google Shape;4030;p3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5" name="Google Shape;4035;p32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7198800" cy="6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Rewards Sometimes Better than TRPO</a:t>
            </a:r>
            <a:endParaRPr/>
          </a:p>
        </p:txBody>
      </p:sp>
      <p:sp>
        <p:nvSpPr>
          <p:cNvPr id="4036" name="Google Shape;4036;p32"/>
          <p:cNvSpPr txBox="1">
            <a:spLocks noGrp="1"/>
          </p:cNvSpPr>
          <p:nvPr>
            <p:ph type="body" idx="1"/>
          </p:nvPr>
        </p:nvSpPr>
        <p:spPr>
          <a:xfrm>
            <a:off x="457450" y="1067725"/>
            <a:ext cx="2923800" cy="37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With no adversary...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i="1">
                <a:latin typeface="Titillium Web"/>
                <a:ea typeface="Titillium Web"/>
                <a:cs typeface="Titillium Web"/>
                <a:sym typeface="Titillium Web"/>
              </a:rPr>
              <a:t>HalfCheetah &amp; Swimmer</a:t>
            </a:r>
            <a:endParaRPr b="1" i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RARL gets better mean rewards.</a:t>
            </a:r>
            <a:endParaRPr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i="1">
                <a:latin typeface="Titillium Web"/>
                <a:ea typeface="Titillium Web"/>
                <a:cs typeface="Titillium Web"/>
                <a:sym typeface="Titillium Web"/>
              </a:rPr>
              <a:t>Hopper &amp; Walker2d</a:t>
            </a:r>
            <a:endParaRPr i="1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RARL does not get significantly better mean rewards.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With adversary, results are similar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4037" name="Google Shape;403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3948" y="1067725"/>
            <a:ext cx="4166257" cy="36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2" name="Google Shape;4042;p33"/>
          <p:cNvSpPr txBox="1">
            <a:spLocks noGrp="1"/>
          </p:cNvSpPr>
          <p:nvPr>
            <p:ph type="title"/>
          </p:nvPr>
        </p:nvSpPr>
        <p:spPr>
          <a:xfrm>
            <a:off x="457450" y="74850"/>
            <a:ext cx="7198800" cy="114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Robust to Changes in Mass and Friction than TRPO</a:t>
            </a:r>
            <a:endParaRPr/>
          </a:p>
        </p:txBody>
      </p:sp>
      <p:sp>
        <p:nvSpPr>
          <p:cNvPr id="4043" name="Google Shape;4043;p33"/>
          <p:cNvSpPr txBox="1">
            <a:spLocks noGrp="1"/>
          </p:cNvSpPr>
          <p:nvPr>
            <p:ph type="body" idx="1"/>
          </p:nvPr>
        </p:nvSpPr>
        <p:spPr>
          <a:xfrm>
            <a:off x="457450" y="1217550"/>
            <a:ext cx="2923800" cy="36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HalfCheetah &amp; Hopper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RARL gets better reward values, especially across different masses.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4044" name="Google Shape;404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3951" y="944976"/>
            <a:ext cx="3759209" cy="37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9" name="Google Shape;4049;p34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5918400" cy="6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Adversary Learns Intuitive Policy</a:t>
            </a:r>
            <a:endParaRPr/>
          </a:p>
        </p:txBody>
      </p:sp>
      <p:sp>
        <p:nvSpPr>
          <p:cNvPr id="4050" name="Google Shape;4050;p34"/>
          <p:cNvSpPr txBox="1">
            <a:spLocks noGrp="1"/>
          </p:cNvSpPr>
          <p:nvPr>
            <p:ph type="body" idx="1"/>
          </p:nvPr>
        </p:nvSpPr>
        <p:spPr>
          <a:xfrm>
            <a:off x="457450" y="1067725"/>
            <a:ext cx="2923800" cy="37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Stationary Pendulum (a and b)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Adversary accentuates the pendulum’s tilt.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Moving Pendulum (c and d)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Adversary pushes in the direction of motion.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i="1"/>
              <a:t>Pushing in the opposite direction is less effective because the protagonist can slow the cart down.</a:t>
            </a:r>
            <a:endParaRPr i="1"/>
          </a:p>
        </p:txBody>
      </p:sp>
      <p:pic>
        <p:nvPicPr>
          <p:cNvPr id="4051" name="Google Shape;405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251" y="1067725"/>
            <a:ext cx="4508576" cy="365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6" name="Google Shape;4056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Critiques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1" name="Google Shape;4061;p36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5698200" cy="6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Disadvantages</a:t>
            </a:r>
            <a:endParaRPr/>
          </a:p>
        </p:txBody>
      </p:sp>
      <p:sp>
        <p:nvSpPr>
          <p:cNvPr id="4062" name="Google Shape;4062;p36"/>
          <p:cNvSpPr txBox="1">
            <a:spLocks noGrp="1"/>
          </p:cNvSpPr>
          <p:nvPr>
            <p:ph type="body" idx="1"/>
          </p:nvPr>
        </p:nvSpPr>
        <p:spPr>
          <a:xfrm>
            <a:off x="457450" y="1146025"/>
            <a:ext cx="6846000" cy="3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Adversarial approaches show improvements for simple simulations, but hardly any difference for more complex simulations.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TRPO is the only baseline.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7" name="Google Shape;4067;p37"/>
          <p:cNvSpPr txBox="1">
            <a:spLocks noGrp="1"/>
          </p:cNvSpPr>
          <p:nvPr>
            <p:ph type="ctrTitle"/>
          </p:nvPr>
        </p:nvSpPr>
        <p:spPr>
          <a:xfrm>
            <a:off x="466800" y="444050"/>
            <a:ext cx="8210400" cy="170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/>
              <a:t>Adversarially Robust Policy Learning: Active Construction of Physically-Plausible Perturbations</a:t>
            </a:r>
            <a:endParaRPr sz="3600"/>
          </a:p>
        </p:txBody>
      </p:sp>
      <p:sp>
        <p:nvSpPr>
          <p:cNvPr id="4068" name="Google Shape;4068;p37"/>
          <p:cNvSpPr txBox="1">
            <a:spLocks noGrp="1"/>
          </p:cNvSpPr>
          <p:nvPr>
            <p:ph type="subTitle" idx="1"/>
          </p:nvPr>
        </p:nvSpPr>
        <p:spPr>
          <a:xfrm>
            <a:off x="472075" y="2237200"/>
            <a:ext cx="2421900" cy="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/>
              <a:t>Ajay Mandlekar</a:t>
            </a:r>
            <a:endParaRPr sz="2400" b="1"/>
          </a:p>
        </p:txBody>
      </p:sp>
      <p:sp>
        <p:nvSpPr>
          <p:cNvPr id="4069" name="Google Shape;4069;p37"/>
          <p:cNvSpPr txBox="1">
            <a:spLocks noGrp="1"/>
          </p:cNvSpPr>
          <p:nvPr>
            <p:ph type="subTitle" idx="1"/>
          </p:nvPr>
        </p:nvSpPr>
        <p:spPr>
          <a:xfrm>
            <a:off x="6278550" y="2237188"/>
            <a:ext cx="2312400" cy="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/>
              <a:t>Animesh Garg</a:t>
            </a:r>
            <a:endParaRPr sz="2400" b="1"/>
          </a:p>
        </p:txBody>
      </p:sp>
      <p:sp>
        <p:nvSpPr>
          <p:cNvPr id="4070" name="Google Shape;4070;p37"/>
          <p:cNvSpPr txBox="1">
            <a:spLocks noGrp="1"/>
          </p:cNvSpPr>
          <p:nvPr>
            <p:ph type="subTitle" idx="1"/>
          </p:nvPr>
        </p:nvSpPr>
        <p:spPr>
          <a:xfrm>
            <a:off x="895225" y="3190425"/>
            <a:ext cx="1575600" cy="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/>
              <a:t>Yuke Zhu</a:t>
            </a:r>
            <a:endParaRPr sz="2400" b="1"/>
          </a:p>
        </p:txBody>
      </p:sp>
      <p:sp>
        <p:nvSpPr>
          <p:cNvPr id="4071" name="Google Shape;4071;p37"/>
          <p:cNvSpPr txBox="1">
            <a:spLocks noGrp="1"/>
          </p:cNvSpPr>
          <p:nvPr>
            <p:ph type="subTitle" idx="1"/>
          </p:nvPr>
        </p:nvSpPr>
        <p:spPr>
          <a:xfrm>
            <a:off x="6646950" y="3190425"/>
            <a:ext cx="1575600" cy="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/>
              <a:t>Li Fei-Fei</a:t>
            </a:r>
            <a:endParaRPr sz="2400" b="1"/>
          </a:p>
        </p:txBody>
      </p:sp>
      <p:sp>
        <p:nvSpPr>
          <p:cNvPr id="4072" name="Google Shape;4072;p37"/>
          <p:cNvSpPr txBox="1">
            <a:spLocks noGrp="1"/>
          </p:cNvSpPr>
          <p:nvPr>
            <p:ph type="subTitle" idx="1"/>
          </p:nvPr>
        </p:nvSpPr>
        <p:spPr>
          <a:xfrm>
            <a:off x="2083325" y="4432525"/>
            <a:ext cx="51531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All authors are affiliated to AI Lab, Stanford University, CA US</a:t>
            </a:r>
            <a:endParaRPr sz="1400"/>
          </a:p>
        </p:txBody>
      </p:sp>
      <p:sp>
        <p:nvSpPr>
          <p:cNvPr id="4073" name="Google Shape;4073;p37"/>
          <p:cNvSpPr txBox="1">
            <a:spLocks noGrp="1"/>
          </p:cNvSpPr>
          <p:nvPr>
            <p:ph type="subTitle" idx="1"/>
          </p:nvPr>
        </p:nvSpPr>
        <p:spPr>
          <a:xfrm>
            <a:off x="3361050" y="2711250"/>
            <a:ext cx="2421900" cy="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b="1"/>
              <a:t>Silvio Savarese</a:t>
            </a:r>
            <a:endParaRPr sz="2400" b="1"/>
          </a:p>
        </p:txBody>
      </p:sp>
      <p:sp>
        <p:nvSpPr>
          <p:cNvPr id="4074" name="Google Shape;4074;p37"/>
          <p:cNvSpPr txBox="1">
            <a:spLocks noGrp="1"/>
          </p:cNvSpPr>
          <p:nvPr>
            <p:ph type="subTitle" idx="1"/>
          </p:nvPr>
        </p:nvSpPr>
        <p:spPr>
          <a:xfrm>
            <a:off x="603925" y="2734600"/>
            <a:ext cx="21582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amandlek@stanford.edu</a:t>
            </a:r>
            <a:endParaRPr sz="1400"/>
          </a:p>
        </p:txBody>
      </p:sp>
      <p:sp>
        <p:nvSpPr>
          <p:cNvPr id="4075" name="Google Shape;4075;p37"/>
          <p:cNvSpPr txBox="1">
            <a:spLocks noGrp="1"/>
          </p:cNvSpPr>
          <p:nvPr>
            <p:ph type="subTitle" idx="1"/>
          </p:nvPr>
        </p:nvSpPr>
        <p:spPr>
          <a:xfrm>
            <a:off x="3741875" y="3177150"/>
            <a:ext cx="18360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ssilvio@stanford.edu</a:t>
            </a:r>
            <a:endParaRPr sz="1400"/>
          </a:p>
        </p:txBody>
      </p:sp>
      <p:sp>
        <p:nvSpPr>
          <p:cNvPr id="4076" name="Google Shape;4076;p37"/>
          <p:cNvSpPr txBox="1">
            <a:spLocks noGrp="1"/>
          </p:cNvSpPr>
          <p:nvPr>
            <p:ph type="subTitle" idx="1"/>
          </p:nvPr>
        </p:nvSpPr>
        <p:spPr>
          <a:xfrm>
            <a:off x="6516750" y="3623250"/>
            <a:ext cx="18360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feifeili@stanford.edu</a:t>
            </a:r>
            <a:endParaRPr sz="1400"/>
          </a:p>
        </p:txBody>
      </p:sp>
      <p:sp>
        <p:nvSpPr>
          <p:cNvPr id="4077" name="Google Shape;4077;p37"/>
          <p:cNvSpPr txBox="1">
            <a:spLocks noGrp="1"/>
          </p:cNvSpPr>
          <p:nvPr>
            <p:ph type="subTitle" idx="1"/>
          </p:nvPr>
        </p:nvSpPr>
        <p:spPr>
          <a:xfrm>
            <a:off x="6192300" y="2703100"/>
            <a:ext cx="24849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animesh.garg@stanford.edu</a:t>
            </a:r>
            <a:endParaRPr sz="1400"/>
          </a:p>
        </p:txBody>
      </p:sp>
      <p:sp>
        <p:nvSpPr>
          <p:cNvPr id="4078" name="Google Shape;4078;p37"/>
          <p:cNvSpPr txBox="1">
            <a:spLocks noGrp="1"/>
          </p:cNvSpPr>
          <p:nvPr>
            <p:ph type="subTitle" idx="1"/>
          </p:nvPr>
        </p:nvSpPr>
        <p:spPr>
          <a:xfrm>
            <a:off x="765025" y="3623250"/>
            <a:ext cx="18360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yukez@stanford.edu</a:t>
            </a:r>
            <a:endParaRPr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3" name="Google Shape;4083;p3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8" name="Google Shape;4088;p39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7000500" cy="6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Noise to Physical Dynamical System</a:t>
            </a:r>
            <a:endParaRPr/>
          </a:p>
        </p:txBody>
      </p:sp>
      <p:pic>
        <p:nvPicPr>
          <p:cNvPr id="4089" name="Google Shape;408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413" y="1453287"/>
            <a:ext cx="6044577" cy="8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0" name="Google Shape;4090;p39"/>
          <p:cNvSpPr txBox="1">
            <a:spLocks noGrp="1"/>
          </p:cNvSpPr>
          <p:nvPr>
            <p:ph type="body" idx="1"/>
          </p:nvPr>
        </p:nvSpPr>
        <p:spPr>
          <a:xfrm>
            <a:off x="4681550" y="3335100"/>
            <a:ext cx="1184100" cy="8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Dynamics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Noise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91" name="Google Shape;4091;p39"/>
          <p:cNvSpPr txBox="1">
            <a:spLocks noGrp="1"/>
          </p:cNvSpPr>
          <p:nvPr>
            <p:ph type="body" idx="1"/>
          </p:nvPr>
        </p:nvSpPr>
        <p:spPr>
          <a:xfrm>
            <a:off x="6238750" y="3361950"/>
            <a:ext cx="961200" cy="8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Process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Noise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92" name="Google Shape;4092;p39"/>
          <p:cNvSpPr/>
          <p:nvPr/>
        </p:nvSpPr>
        <p:spPr>
          <a:xfrm rot="5400000">
            <a:off x="4785200" y="2664150"/>
            <a:ext cx="976800" cy="3651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93" name="Google Shape;409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8850" y="2717863"/>
            <a:ext cx="615174" cy="5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4094" name="Google Shape;4094;p39"/>
          <p:cNvSpPr txBox="1">
            <a:spLocks noGrp="1"/>
          </p:cNvSpPr>
          <p:nvPr>
            <p:ph type="body" idx="1"/>
          </p:nvPr>
        </p:nvSpPr>
        <p:spPr>
          <a:xfrm>
            <a:off x="457450" y="2571750"/>
            <a:ext cx="4170600" cy="20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Dynamics Noise:</a:t>
            </a:r>
            <a:r>
              <a:rPr lang="en"/>
              <a:t> Uncertainty in physical parameters (mass, friction, inertia, etc.)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Process Noise:</a:t>
            </a:r>
            <a:r>
              <a:rPr lang="en"/>
              <a:t> Direct perturbations of state</a:t>
            </a:r>
            <a:endParaRPr/>
          </a:p>
        </p:txBody>
      </p:sp>
      <p:sp>
        <p:nvSpPr>
          <p:cNvPr id="4095" name="Google Shape;4095;p39"/>
          <p:cNvSpPr/>
          <p:nvPr/>
        </p:nvSpPr>
        <p:spPr>
          <a:xfrm rot="5400000">
            <a:off x="6230950" y="2691000"/>
            <a:ext cx="976800" cy="3651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96" name="Google Shape;409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1900" y="2717863"/>
            <a:ext cx="615174" cy="59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Google Shape;4101;p40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7000500" cy="6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the Optimal Noise</a:t>
            </a:r>
            <a:endParaRPr/>
          </a:p>
        </p:txBody>
      </p:sp>
      <p:pic>
        <p:nvPicPr>
          <p:cNvPr id="4102" name="Google Shape;410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913" y="1537037"/>
            <a:ext cx="4149575" cy="643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3" name="Google Shape;4103;p40"/>
          <p:cNvSpPr txBox="1">
            <a:spLocks noGrp="1"/>
          </p:cNvSpPr>
          <p:nvPr>
            <p:ph type="body" idx="1"/>
          </p:nvPr>
        </p:nvSpPr>
        <p:spPr>
          <a:xfrm>
            <a:off x="457450" y="2571750"/>
            <a:ext cx="7450800" cy="20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Similar to Fast Gradient Sign Method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i="1"/>
              <a:t>Main Difference:</a:t>
            </a:r>
            <a:r>
              <a:rPr lang="en"/>
              <a:t> Scales with gradient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Images are high dimensional with IID dimensions.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But, physical systems have components with different scales and units.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Therefore, the noise needs to be scaled.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8" name="Google Shape;410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9524" y="1212649"/>
            <a:ext cx="4888126" cy="27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9" name="Google Shape;4109;p41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2907300" cy="6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ARPL Algorithm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4" name="Google Shape;411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9524" y="1212649"/>
            <a:ext cx="4888126" cy="27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5" name="Google Shape;4115;p42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2907300" cy="6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ARPL Algorithm</a:t>
            </a:r>
            <a:endParaRPr/>
          </a:p>
        </p:txBody>
      </p:sp>
      <p:sp>
        <p:nvSpPr>
          <p:cNvPr id="4116" name="Google Shape;4116;p42"/>
          <p:cNvSpPr/>
          <p:nvPr/>
        </p:nvSpPr>
        <p:spPr>
          <a:xfrm>
            <a:off x="2759525" y="1949475"/>
            <a:ext cx="4778400" cy="1706100"/>
          </a:xfrm>
          <a:prstGeom prst="rect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7" name="Google Shape;4117;p42"/>
          <p:cNvSpPr txBox="1">
            <a:spLocks noGrp="1"/>
          </p:cNvSpPr>
          <p:nvPr>
            <p:ph type="body" idx="1"/>
          </p:nvPr>
        </p:nvSpPr>
        <p:spPr>
          <a:xfrm>
            <a:off x="768200" y="1598300"/>
            <a:ext cx="1397400" cy="9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8761D"/>
                </a:solidFill>
                <a:latin typeface="Titillium Web"/>
                <a:ea typeface="Titillium Web"/>
                <a:cs typeface="Titillium Web"/>
                <a:sym typeface="Titillium Web"/>
              </a:rPr>
              <a:t>Optimize policy</a:t>
            </a:r>
            <a:endParaRPr b="1">
              <a:solidFill>
                <a:srgbClr val="38761D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118" name="Google Shape;4118;p42"/>
          <p:cNvSpPr txBox="1">
            <a:spLocks noGrp="1"/>
          </p:cNvSpPr>
          <p:nvPr>
            <p:ph type="body" idx="1"/>
          </p:nvPr>
        </p:nvSpPr>
        <p:spPr>
          <a:xfrm>
            <a:off x="768200" y="3081675"/>
            <a:ext cx="15141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8761D"/>
                </a:solidFill>
                <a:latin typeface="Titillium Web"/>
                <a:ea typeface="Titillium Web"/>
                <a:cs typeface="Titillium Web"/>
                <a:sym typeface="Titillium Web"/>
              </a:rPr>
              <a:t>iterations</a:t>
            </a:r>
            <a:endParaRPr b="1">
              <a:solidFill>
                <a:srgbClr val="38761D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4119" name="Google Shape;4119;p42" descr="max\_iter" title="MathEquation,#38761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550" y="2870415"/>
            <a:ext cx="1397400" cy="328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0" name="Google Shape;4120;p42" descr="\left(\pi\right)" title="MathEquation,#38761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4525" y="2135558"/>
            <a:ext cx="489424" cy="4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5" name="Google Shape;412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9524" y="1212649"/>
            <a:ext cx="4888126" cy="27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6" name="Google Shape;4126;p43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2907300" cy="6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ARPL Algorithm</a:t>
            </a:r>
            <a:endParaRPr/>
          </a:p>
        </p:txBody>
      </p:sp>
      <p:sp>
        <p:nvSpPr>
          <p:cNvPr id="4127" name="Google Shape;4127;p43"/>
          <p:cNvSpPr/>
          <p:nvPr/>
        </p:nvSpPr>
        <p:spPr>
          <a:xfrm>
            <a:off x="3268275" y="2304288"/>
            <a:ext cx="4269600" cy="9054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8" name="Google Shape;4128;p43"/>
          <p:cNvSpPr txBox="1">
            <a:spLocks noGrp="1"/>
          </p:cNvSpPr>
          <p:nvPr>
            <p:ph type="body" idx="1"/>
          </p:nvPr>
        </p:nvSpPr>
        <p:spPr>
          <a:xfrm>
            <a:off x="654950" y="1997838"/>
            <a:ext cx="12030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Sample</a:t>
            </a:r>
            <a:endParaRPr b="1">
              <a:solidFill>
                <a:srgbClr val="FF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129" name="Google Shape;4129;p43"/>
          <p:cNvSpPr txBox="1">
            <a:spLocks noGrp="1"/>
          </p:cNvSpPr>
          <p:nvPr>
            <p:ph type="body" idx="1"/>
          </p:nvPr>
        </p:nvSpPr>
        <p:spPr>
          <a:xfrm>
            <a:off x="514350" y="2331600"/>
            <a:ext cx="1828800" cy="13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trajectories with current policy</a:t>
            </a:r>
            <a:endParaRPr b="1">
              <a:solidFill>
                <a:srgbClr val="FF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4130" name="Google Shape;4130;p43" descr="k" title="MathEquation,#ff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1575" y="2147769"/>
            <a:ext cx="219050" cy="380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5" name="Google Shape;413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9524" y="1212649"/>
            <a:ext cx="4888126" cy="27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6" name="Google Shape;4136;p44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2907300" cy="6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ARPL Algorithm</a:t>
            </a:r>
            <a:endParaRPr/>
          </a:p>
        </p:txBody>
      </p:sp>
      <p:sp>
        <p:nvSpPr>
          <p:cNvPr id="4137" name="Google Shape;4137;p44"/>
          <p:cNvSpPr/>
          <p:nvPr/>
        </p:nvSpPr>
        <p:spPr>
          <a:xfrm>
            <a:off x="3511325" y="2748925"/>
            <a:ext cx="3060300" cy="22560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8" name="Google Shape;4138;p44"/>
          <p:cNvSpPr txBox="1">
            <a:spLocks noGrp="1"/>
          </p:cNvSpPr>
          <p:nvPr>
            <p:ph type="body" idx="1"/>
          </p:nvPr>
        </p:nvSpPr>
        <p:spPr>
          <a:xfrm>
            <a:off x="644225" y="1997850"/>
            <a:ext cx="1395900" cy="9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  <a:latin typeface="Titillium Web"/>
                <a:ea typeface="Titillium Web"/>
                <a:cs typeface="Titillium Web"/>
                <a:sym typeface="Titillium Web"/>
              </a:rPr>
              <a:t>Compute</a:t>
            </a:r>
            <a:endParaRPr b="1">
              <a:solidFill>
                <a:srgbClr val="0000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  <a:latin typeface="Titillium Web"/>
                <a:ea typeface="Titillium Web"/>
                <a:cs typeface="Titillium Web"/>
                <a:sym typeface="Titillium Web"/>
              </a:rPr>
              <a:t>noise</a:t>
            </a:r>
            <a:endParaRPr b="1">
              <a:solidFill>
                <a:srgbClr val="0000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4139" name="Google Shape;4139;p44" descr="\left(\delta\right)" title="MathEquation,#0000f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5250" y="2571750"/>
            <a:ext cx="388088" cy="38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4" name="Google Shape;414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9524" y="1212649"/>
            <a:ext cx="4888126" cy="27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5" name="Google Shape;4145;p45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2907300" cy="6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ARPL Algorithm</a:t>
            </a:r>
            <a:endParaRPr/>
          </a:p>
        </p:txBody>
      </p:sp>
      <p:sp>
        <p:nvSpPr>
          <p:cNvPr id="4146" name="Google Shape;4146;p45"/>
          <p:cNvSpPr/>
          <p:nvPr/>
        </p:nvSpPr>
        <p:spPr>
          <a:xfrm>
            <a:off x="3500625" y="2931100"/>
            <a:ext cx="3850200" cy="28350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7" name="Google Shape;4147;p45"/>
          <p:cNvSpPr txBox="1">
            <a:spLocks noGrp="1"/>
          </p:cNvSpPr>
          <p:nvPr>
            <p:ph type="body" idx="1"/>
          </p:nvPr>
        </p:nvSpPr>
        <p:spPr>
          <a:xfrm>
            <a:off x="519675" y="2284800"/>
            <a:ext cx="7245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  <a:latin typeface="Titillium Web"/>
                <a:ea typeface="Titillium Web"/>
                <a:cs typeface="Titillium Web"/>
                <a:sym typeface="Titillium Web"/>
              </a:rPr>
              <a:t>Add</a:t>
            </a:r>
            <a:endParaRPr b="1">
              <a:solidFill>
                <a:srgbClr val="0000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4148" name="Google Shape;4148;p45" descr="\delta" title="MathEquation,#0000f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4825" y="2434751"/>
            <a:ext cx="189804" cy="38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9" name="Google Shape;4149;p45" descr="\phi" title="MathEquation,#0000f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19475" y="2931111"/>
            <a:ext cx="189800" cy="345440"/>
          </a:xfrm>
          <a:prstGeom prst="rect">
            <a:avLst/>
          </a:prstGeom>
          <a:noFill/>
          <a:ln>
            <a:noFill/>
          </a:ln>
        </p:spPr>
      </p:pic>
      <p:sp>
        <p:nvSpPr>
          <p:cNvPr id="4150" name="Google Shape;4150;p45"/>
          <p:cNvSpPr txBox="1">
            <a:spLocks noGrp="1"/>
          </p:cNvSpPr>
          <p:nvPr>
            <p:ph type="body" idx="1"/>
          </p:nvPr>
        </p:nvSpPr>
        <p:spPr>
          <a:xfrm>
            <a:off x="479975" y="2744625"/>
            <a:ext cx="16395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probability</a:t>
            </a:r>
            <a:endParaRPr b="1">
              <a:solidFill>
                <a:srgbClr val="0000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151" name="Google Shape;4151;p45"/>
          <p:cNvSpPr txBox="1">
            <a:spLocks noGrp="1"/>
          </p:cNvSpPr>
          <p:nvPr>
            <p:ph type="body" idx="1"/>
          </p:nvPr>
        </p:nvSpPr>
        <p:spPr>
          <a:xfrm>
            <a:off x="1394625" y="2284800"/>
            <a:ext cx="8250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  <a:latin typeface="Titillium Web"/>
                <a:ea typeface="Titillium Web"/>
                <a:cs typeface="Titillium Web"/>
                <a:sym typeface="Titillium Web"/>
              </a:rPr>
              <a:t>with</a:t>
            </a:r>
            <a:endParaRPr b="1">
              <a:solidFill>
                <a:srgbClr val="0000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6" name="Google Shape;4156;p4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Controllability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1" name="Google Shape;4161;p47"/>
          <p:cNvSpPr txBox="1">
            <a:spLocks noGrp="1"/>
          </p:cNvSpPr>
          <p:nvPr>
            <p:ph type="body" idx="1"/>
          </p:nvPr>
        </p:nvSpPr>
        <p:spPr>
          <a:xfrm>
            <a:off x="1278575" y="739550"/>
            <a:ext cx="4281000" cy="36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dynamical system is said to be controllable if for every state x (previously called state s), there exists a sequence of control inputs that can transfer the system to state x.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6" name="Google Shape;4166;p48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7000500" cy="6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 to Uncontrollability</a:t>
            </a:r>
            <a:endParaRPr/>
          </a:p>
        </p:txBody>
      </p:sp>
      <p:sp>
        <p:nvSpPr>
          <p:cNvPr id="4167" name="Google Shape;4167;p48"/>
          <p:cNvSpPr txBox="1">
            <a:spLocks noGrp="1"/>
          </p:cNvSpPr>
          <p:nvPr>
            <p:ph type="body" idx="1"/>
          </p:nvPr>
        </p:nvSpPr>
        <p:spPr>
          <a:xfrm>
            <a:off x="457450" y="1146025"/>
            <a:ext cx="7450800" cy="35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Model perturbations can turn a controllable dynamical system into an uncontrollable system.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Paper derives lower bound on distance to uncontrollability, and shows it is inversely proportional to total control effort.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Larger distance to uncontrollability means the system is more robust.</a:t>
            </a:r>
            <a:endParaRPr/>
          </a:p>
        </p:txBody>
      </p:sp>
      <p:pic>
        <p:nvPicPr>
          <p:cNvPr id="4168" name="Google Shape;416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3127" y="3028751"/>
            <a:ext cx="2379452" cy="80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3" name="Google Shape;4173;p4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8" name="Google Shape;4178;p50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5698200" cy="6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Setup</a:t>
            </a:r>
            <a:endParaRPr/>
          </a:p>
        </p:txBody>
      </p:sp>
      <p:sp>
        <p:nvSpPr>
          <p:cNvPr id="4179" name="Google Shape;4179;p50"/>
          <p:cNvSpPr txBox="1">
            <a:spLocks noGrp="1"/>
          </p:cNvSpPr>
          <p:nvPr>
            <p:ph type="body" idx="1"/>
          </p:nvPr>
        </p:nvSpPr>
        <p:spPr>
          <a:xfrm>
            <a:off x="457450" y="1146025"/>
            <a:ext cx="7418400" cy="35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Three agent types compared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▫"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Nominal:</a:t>
            </a:r>
            <a:r>
              <a:rPr lang="en"/>
              <a:t> No random or adversarial perturbations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▫"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Random:</a:t>
            </a:r>
            <a:r>
              <a:rPr lang="en"/>
              <a:t> ARPL with random perturbations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▫"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Adversarial:</a:t>
            </a:r>
            <a:r>
              <a:rPr lang="en"/>
              <a:t> ARPL with adversarial perturbations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All agents trained with TRPO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15 agents of each type trained. Selected agent with best learning curve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▫"/>
            </a:pPr>
            <a:r>
              <a:rPr lang="en"/>
              <a:t>Necessary due to high variance of performance across trainings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4" name="Google Shape;4184;p51"/>
          <p:cNvSpPr txBox="1">
            <a:spLocks noGrp="1"/>
          </p:cNvSpPr>
          <p:nvPr>
            <p:ph type="title"/>
          </p:nvPr>
        </p:nvSpPr>
        <p:spPr>
          <a:xfrm>
            <a:off x="457450" y="165775"/>
            <a:ext cx="6239700" cy="90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Adversarial Agent is Robust to Random Process Noise,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but not Adversarial Process Noise</a:t>
            </a:r>
            <a:endParaRPr sz="2400"/>
          </a:p>
        </p:txBody>
      </p:sp>
      <p:sp>
        <p:nvSpPr>
          <p:cNvPr id="4185" name="Google Shape;4185;p51"/>
          <p:cNvSpPr txBox="1">
            <a:spLocks noGrp="1"/>
          </p:cNvSpPr>
          <p:nvPr>
            <p:ph type="body" idx="1"/>
          </p:nvPr>
        </p:nvSpPr>
        <p:spPr>
          <a:xfrm>
            <a:off x="457450" y="1067725"/>
            <a:ext cx="7077900" cy="15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Adversarial Process Noise:</a:t>
            </a:r>
            <a:r>
              <a:rPr lang="en"/>
              <a:t> Robust only in region of training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Random Process Noise:</a:t>
            </a:r>
            <a:r>
              <a:rPr lang="en"/>
              <a:t> Robust against all frequencies of random process noise perturbations, much more so than the random agent</a:t>
            </a:r>
            <a:endParaRPr/>
          </a:p>
        </p:txBody>
      </p:sp>
      <p:pic>
        <p:nvPicPr>
          <p:cNvPr id="4186" name="Google Shape;418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875" y="2772574"/>
            <a:ext cx="7828576" cy="221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1" name="Google Shape;4191;p52"/>
          <p:cNvSpPr txBox="1">
            <a:spLocks noGrp="1"/>
          </p:cNvSpPr>
          <p:nvPr>
            <p:ph type="title"/>
          </p:nvPr>
        </p:nvSpPr>
        <p:spPr>
          <a:xfrm>
            <a:off x="457450" y="272575"/>
            <a:ext cx="4793100" cy="7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Adversarial Agent is Very Robust to Random and Adversarial Dynamics Noise</a:t>
            </a:r>
            <a:endParaRPr sz="2400"/>
          </a:p>
        </p:txBody>
      </p:sp>
      <p:sp>
        <p:nvSpPr>
          <p:cNvPr id="4192" name="Google Shape;4192;p52"/>
          <p:cNvSpPr txBox="1">
            <a:spLocks noGrp="1"/>
          </p:cNvSpPr>
          <p:nvPr>
            <p:ph type="body" idx="1"/>
          </p:nvPr>
        </p:nvSpPr>
        <p:spPr>
          <a:xfrm>
            <a:off x="457450" y="1067725"/>
            <a:ext cx="7077900" cy="14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Both adversarial and random agents are significantly more robust than nominal agents.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Random agent is especially robust to random dynamics noise.</a:t>
            </a:r>
            <a:endParaRPr/>
          </a:p>
        </p:txBody>
      </p:sp>
      <p:pic>
        <p:nvPicPr>
          <p:cNvPr id="4193" name="Google Shape;419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575" y="2772576"/>
            <a:ext cx="7862203" cy="221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" name="Google Shape;4198;p53"/>
          <p:cNvSpPr txBox="1">
            <a:spLocks noGrp="1"/>
          </p:cNvSpPr>
          <p:nvPr>
            <p:ph type="title"/>
          </p:nvPr>
        </p:nvSpPr>
        <p:spPr>
          <a:xfrm>
            <a:off x="457450" y="107150"/>
            <a:ext cx="3464400" cy="15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Adversarial and Random Dynamics Noise Agents are Robust to Changes in Environment Dynamics</a:t>
            </a:r>
            <a:endParaRPr sz="2400"/>
          </a:p>
        </p:txBody>
      </p:sp>
      <p:sp>
        <p:nvSpPr>
          <p:cNvPr id="4199" name="Google Shape;4199;p53"/>
          <p:cNvSpPr txBox="1">
            <a:spLocks noGrp="1"/>
          </p:cNvSpPr>
          <p:nvPr>
            <p:ph type="body" idx="1"/>
          </p:nvPr>
        </p:nvSpPr>
        <p:spPr>
          <a:xfrm>
            <a:off x="457450" y="1928375"/>
            <a:ext cx="2923800" cy="29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Both adversarial and random agents are much more robust than nominal agents.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Adversarial agents not much better than random agents</a:t>
            </a:r>
            <a:endParaRPr/>
          </a:p>
        </p:txBody>
      </p:sp>
      <p:pic>
        <p:nvPicPr>
          <p:cNvPr id="4200" name="Google Shape;420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1925" y="298075"/>
            <a:ext cx="4039774" cy="453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5" name="Google Shape;4205;p54"/>
          <p:cNvSpPr txBox="1">
            <a:spLocks noGrp="1"/>
          </p:cNvSpPr>
          <p:nvPr>
            <p:ph type="title"/>
          </p:nvPr>
        </p:nvSpPr>
        <p:spPr>
          <a:xfrm>
            <a:off x="457450" y="267900"/>
            <a:ext cx="7434900" cy="79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Adversarial Agent Sometimes Exerts less Control Effort</a:t>
            </a:r>
            <a:endParaRPr sz="2400"/>
          </a:p>
        </p:txBody>
      </p:sp>
      <p:sp>
        <p:nvSpPr>
          <p:cNvPr id="4206" name="Google Shape;4206;p54"/>
          <p:cNvSpPr txBox="1">
            <a:spLocks noGrp="1"/>
          </p:cNvSpPr>
          <p:nvPr>
            <p:ph type="body" idx="1"/>
          </p:nvPr>
        </p:nvSpPr>
        <p:spPr>
          <a:xfrm>
            <a:off x="457450" y="1067725"/>
            <a:ext cx="70779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Adversarial agent does not always exert less control effort.  Indeed, more complex agents exert more control effort.</a:t>
            </a:r>
            <a:endParaRPr/>
          </a:p>
        </p:txBody>
      </p:sp>
      <p:pic>
        <p:nvPicPr>
          <p:cNvPr id="4207" name="Google Shape;420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575" y="2961381"/>
            <a:ext cx="7862199" cy="2008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2" name="Google Shape;4212;p5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Critiques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7" name="Google Shape;4217;p56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5698200" cy="6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Disadvantages</a:t>
            </a:r>
            <a:endParaRPr/>
          </a:p>
        </p:txBody>
      </p:sp>
      <p:sp>
        <p:nvSpPr>
          <p:cNvPr id="4218" name="Google Shape;4218;p56"/>
          <p:cNvSpPr txBox="1">
            <a:spLocks noGrp="1"/>
          </p:cNvSpPr>
          <p:nvPr>
            <p:ph type="body" idx="1"/>
          </p:nvPr>
        </p:nvSpPr>
        <p:spPr>
          <a:xfrm>
            <a:off x="457450" y="1146025"/>
            <a:ext cx="7444800" cy="3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Conclusions of process noise only come from Inverted Pendulum.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Vague definition of “physically-plausible” perturbations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No experimental evaluation of attacking observation noise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Distance to uncontrollability lower bound only applies to linear systems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▫"/>
            </a:pPr>
            <a:r>
              <a:rPr lang="en"/>
              <a:t>May still serve as a guideline for comparing robustness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Control effort of more complex adversarially-trained agents is worse than nominal agents and agents trained against random noise.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tillium Web"/>
              <a:buChar char="▪"/>
            </a:pPr>
            <a:r>
              <a:rPr lang="en" b="1">
                <a:latin typeface="Titillium Web"/>
                <a:ea typeface="Titillium Web"/>
                <a:cs typeface="Titillium Web"/>
                <a:sym typeface="Titillium Web"/>
              </a:rPr>
              <a:t>Adversarial noise perturbations may not perform much better than random noise perturbations.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3" name="Google Shape;4223;p57"/>
          <p:cNvSpPr txBox="1">
            <a:spLocks noGrp="1"/>
          </p:cNvSpPr>
          <p:nvPr>
            <p:ph type="ctrTitle" idx="4294967295"/>
          </p:nvPr>
        </p:nvSpPr>
        <p:spPr>
          <a:xfrm>
            <a:off x="675125" y="2180700"/>
            <a:ext cx="2778900" cy="78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2"/>
                </a:solidFill>
              </a:rPr>
              <a:t>Conclusion</a:t>
            </a:r>
            <a:endParaRPr sz="48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8" name="Google Shape;4228;p58"/>
          <p:cNvSpPr txBox="1">
            <a:spLocks noGrp="1"/>
          </p:cNvSpPr>
          <p:nvPr>
            <p:ph type="title"/>
          </p:nvPr>
        </p:nvSpPr>
        <p:spPr>
          <a:xfrm>
            <a:off x="457450" y="454825"/>
            <a:ext cx="5698200" cy="6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4229" name="Google Shape;4229;p58"/>
          <p:cNvSpPr txBox="1">
            <a:spLocks noGrp="1"/>
          </p:cNvSpPr>
          <p:nvPr>
            <p:ph type="body" idx="1"/>
          </p:nvPr>
        </p:nvSpPr>
        <p:spPr>
          <a:xfrm>
            <a:off x="457450" y="1146025"/>
            <a:ext cx="6846000" cy="19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Adversarial training approaches show some improvements for simple simulations, but hardly any difference for more complex simulations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/>
              <a:t>Agents adversarially trained for dynamics noise tend to perform about the same as random agents, but with slightly higher rewards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ustom 347">
      <a:dk1>
        <a:srgbClr val="003B55"/>
      </a:dk1>
      <a:lt1>
        <a:srgbClr val="FFFFFF"/>
      </a:lt1>
      <a:dk2>
        <a:srgbClr val="0B87A1"/>
      </a:dk2>
      <a:lt2>
        <a:srgbClr val="EEF1EE"/>
      </a:lt2>
      <a:accent1>
        <a:srgbClr val="D3EBD5"/>
      </a:accent1>
      <a:accent2>
        <a:srgbClr val="80BFB7"/>
      </a:accent2>
      <a:accent3>
        <a:srgbClr val="0B87A1"/>
      </a:accent3>
      <a:accent4>
        <a:srgbClr val="01597F"/>
      </a:accent4>
      <a:accent5>
        <a:srgbClr val="003B55"/>
      </a:accent5>
      <a:accent6>
        <a:srgbClr val="001120"/>
      </a:accent6>
      <a:hlink>
        <a:srgbClr val="01597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1028</Words>
  <Application>Microsoft Office PowerPoint</Application>
  <PresentationFormat>On-screen Show (16:9)</PresentationFormat>
  <Paragraphs>184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Titillium Web</vt:lpstr>
      <vt:lpstr>Titillium Web Light</vt:lpstr>
      <vt:lpstr>Dosis ExtraLight</vt:lpstr>
      <vt:lpstr>Dosis</vt:lpstr>
      <vt:lpstr>Arial</vt:lpstr>
      <vt:lpstr>Mowbray template</vt:lpstr>
      <vt:lpstr>Adversarial Reinforcement Learning</vt:lpstr>
      <vt:lpstr>The Generalization Problem</vt:lpstr>
      <vt:lpstr>Solution: Adversarial Training</vt:lpstr>
      <vt:lpstr>Problems Addressed by Today’s Papers</vt:lpstr>
      <vt:lpstr>Robust Adversarial Reinforcement Learning</vt:lpstr>
      <vt:lpstr>Approach</vt:lpstr>
      <vt:lpstr>Adversarial Agents for Modeling Disturbances</vt:lpstr>
      <vt:lpstr>Adversaries with Domain Knowledge</vt:lpstr>
      <vt:lpstr>Training by Playing a Zero-Sum Markov Game</vt:lpstr>
      <vt:lpstr>RARL Algorithm</vt:lpstr>
      <vt:lpstr>RARL Algorithm</vt:lpstr>
      <vt:lpstr>RARL Algorithm</vt:lpstr>
      <vt:lpstr>RARL Algorithm</vt:lpstr>
      <vt:lpstr>RARL Algorithm</vt:lpstr>
      <vt:lpstr>RARL Algorithm</vt:lpstr>
      <vt:lpstr>Results</vt:lpstr>
      <vt:lpstr>Rewards Sometimes Better than TRPO</vt:lpstr>
      <vt:lpstr>More Robust to Changes in Mass and Friction than TRPO</vt:lpstr>
      <vt:lpstr>Adversary Learns Intuitive Policy</vt:lpstr>
      <vt:lpstr>Critiques</vt:lpstr>
      <vt:lpstr>Disadvantages</vt:lpstr>
      <vt:lpstr>Adversarially Robust Policy Learning: Active Construction of Physically-Plausible Perturbations</vt:lpstr>
      <vt:lpstr>Approach</vt:lpstr>
      <vt:lpstr>Add Noise to Physical Dynamical System</vt:lpstr>
      <vt:lpstr>Computing the Optimal Noise</vt:lpstr>
      <vt:lpstr>ARPL Algorithm</vt:lpstr>
      <vt:lpstr>ARPL Algorithm</vt:lpstr>
      <vt:lpstr>ARPL Algorithm</vt:lpstr>
      <vt:lpstr>ARPL Algorithm</vt:lpstr>
      <vt:lpstr>ARPL Algorithm</vt:lpstr>
      <vt:lpstr>Controllability</vt:lpstr>
      <vt:lpstr>PowerPoint Presentation</vt:lpstr>
      <vt:lpstr>Distance to Uncontrollability</vt:lpstr>
      <vt:lpstr>Results</vt:lpstr>
      <vt:lpstr>Experimental Setup</vt:lpstr>
      <vt:lpstr>Adversarial Agent is Robust to Random Process Noise, but not Adversarial Process Noise</vt:lpstr>
      <vt:lpstr>Adversarial Agent is Very Robust to Random and Adversarial Dynamics Noise</vt:lpstr>
      <vt:lpstr>Adversarial and Random Dynamics Noise Agents are Robust to Changes in Environment Dynamics</vt:lpstr>
      <vt:lpstr>Adversarial Agent Sometimes Exerts less Control Effort</vt:lpstr>
      <vt:lpstr>Critiques</vt:lpstr>
      <vt:lpstr>Disadvantages</vt:lpstr>
      <vt:lpstr>Conclusion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Reinforcement Learning</dc:title>
  <cp:lastModifiedBy>Tommy Warther</cp:lastModifiedBy>
  <cp:revision>1</cp:revision>
  <dcterms:modified xsi:type="dcterms:W3CDTF">2019-12-03T08:04:44Z</dcterms:modified>
</cp:coreProperties>
</file>