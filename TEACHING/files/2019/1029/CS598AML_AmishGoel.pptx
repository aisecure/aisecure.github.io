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9" r:id="rId6"/>
    <p:sldId id="257" r:id="rId7"/>
    <p:sldId id="261" r:id="rId8"/>
    <p:sldId id="286" r:id="rId9"/>
    <p:sldId id="285" r:id="rId10"/>
    <p:sldId id="266" r:id="rId11"/>
    <p:sldId id="284" r:id="rId12"/>
    <p:sldId id="262" r:id="rId13"/>
    <p:sldId id="263" r:id="rId14"/>
    <p:sldId id="264" r:id="rId15"/>
    <p:sldId id="265" r:id="rId16"/>
    <p:sldId id="287" r:id="rId17"/>
    <p:sldId id="268" r:id="rId18"/>
    <p:sldId id="272" r:id="rId19"/>
    <p:sldId id="273" r:id="rId20"/>
    <p:sldId id="274" r:id="rId21"/>
    <p:sldId id="270" r:id="rId22"/>
    <p:sldId id="275" r:id="rId23"/>
    <p:sldId id="279" r:id="rId24"/>
    <p:sldId id="280" r:id="rId25"/>
    <p:sldId id="283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sh Goel" initials="AG" lastIdx="2" clrIdx="0">
    <p:extLst>
      <p:ext uri="{19B8F6BF-5375-455C-9EA6-DF929625EA0E}">
        <p15:presenceInfo xmlns:p15="http://schemas.microsoft.com/office/powerpoint/2012/main" userId="2490b12d8422969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83" d="100"/>
          <a:sy n="83" d="100"/>
        </p:scale>
        <p:origin x="4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1E0D-34DB-4426-BBD5-9782CCE28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AE742-9D7C-4F43-A093-860EBDBB8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96CCC-B972-4026-AD34-70E3B716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4A890-E2E5-4E10-B047-E1CB60E3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60ED8-64CD-417C-A9A9-2CAEC3AB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6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85C8-6564-4CCD-8347-3865E9BB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C5CAD-0E2E-4B79-9AFC-9E7AE2ED4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61589-6E96-44BF-B256-337C173E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AA334-DFCE-4C44-956A-D09CF14B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C4E04-EC68-4E63-893D-7FD7EA71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50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963C-E2D1-4E79-92F9-2843AAB15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7C6FC-379A-44A8-8E18-AE0601084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43F8F-6843-4821-B46E-B625B906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11338-E39D-4210-B7CD-7A161168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CCE11-732A-4BA5-8310-600AB2B5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03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DED78-9D47-4495-A1D8-A11BE40D1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81F74-4FB3-4877-A36E-EEA909EA3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23EF8-2825-472A-92E5-CB1CFD321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55EB8-8DC4-449C-A155-CAA07463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48B2A-D106-4F72-B02A-F85624842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7163E-103C-44D9-A609-BD40F172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5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BF047-C309-4417-9A87-2DBCBA21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3F52B-639A-4777-B67F-247265129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C20DB-172A-46C9-94B9-F6CC4BF01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51409E-F965-4D75-95FA-957BB015F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2E90E-8ACA-46DE-AF89-B35F25EF2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12E38-BDD9-4AA6-BE89-9568B018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20064F-5C32-4978-BE25-23054EFB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67EF5A-8B0C-497C-A6B2-26A3DF63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8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6EB0-AE0D-4C61-A62A-1D756E97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CCF04-18FF-4BA4-8342-243ADBB5F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980E2-A870-4901-9E3D-73E8F25A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C4753-61BE-4AA2-AA87-56071C78E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0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00D53-9717-4E47-98C3-E237C6DBB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8D522-2D57-41B4-959B-2568C5501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8B578-5B91-483E-9C13-5ABAAA42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2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EA1F-F61C-4F7B-9975-3A49C2C83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DBA00-77AD-48FA-858B-712C64CD0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99579-47A7-41E3-B5E2-47EBC9A04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0FD10-9D45-4E4D-AC6C-BDFBC0DE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F323D-2651-4C56-9C8B-2EAD9A201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DDAF1-3BF3-4646-81DB-5F2774E6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61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E05F-A8CD-47B3-B6D0-EDF8CAA8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B9FE6-45E8-4548-AFD4-E3233306D3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924C2-33BA-42EA-A00A-D31103EC2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11297-19F2-497A-9FA9-267DFEC33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F3E91-8E9F-43DE-8BAC-F73CD110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91AE0-67C1-4405-88D6-D59F8454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96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F7DE-A71D-4D76-96D2-38EA4A81A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798EA-AFB4-4E66-88D6-F85460F4E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7A02F-D2D0-4ADF-BEFF-A697DD24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0C002-BB83-4B7A-A05B-0924F4DBB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F170B-F980-4A28-9B14-18FC3A68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1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B4865F-92EE-41B6-A6BE-254877B2A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7C35E-CEFD-4735-9694-E1ACB003B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C4696-88A6-452E-A0B3-70581BAB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18F96-4258-4D8F-BAC4-7A02130A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7B7E1-DCE6-4CF0-AB00-C8651B62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1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3ACEBD-1D25-4801-897A-8F15F0EE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6440A-1046-474F-901C-7C6382015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3CF29-C053-464C-BBDE-EEB212784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E31B9-159D-4EB3-B4D8-25E2B65BB27C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7896E-2468-4A64-8E17-667B6935B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35B07-4FE2-45C8-9CCD-CC848EA16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F672D-4004-4522-91C9-5F28D58C0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8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B9406-0FD6-44C0-85B7-D0EF4C4C4E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Adversarial Attacks for Graphical  Data</a:t>
            </a:r>
          </a:p>
        </p:txBody>
      </p:sp>
    </p:spTree>
    <p:extLst>
      <p:ext uri="{BB962C8B-B14F-4D97-AF65-F5344CB8AC3E}">
        <p14:creationId xmlns:p14="http://schemas.microsoft.com/office/powerpoint/2010/main" val="1503851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9D39-3640-4A23-BFA4-A7722686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Graph Classification tasks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D2547-446B-48B5-80C9-3B218521E2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Inductive Graph Classification – Train a classifier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to associate entire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a single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 err="1"/>
                  <a:t>Transductive</a:t>
                </a:r>
                <a:r>
                  <a:rPr lang="en-US" dirty="0"/>
                  <a:t> Node Classification – Train a classifier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associate a target 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with a corresponding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a fixed graph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D2547-446B-48B5-80C9-3B218521E2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A90DD36-1B99-4C19-AECF-D3BCBEE34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497" y="2787971"/>
            <a:ext cx="3563105" cy="9636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DC47AB-7BC1-461E-8574-CCAD6FA81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453" y="4779601"/>
            <a:ext cx="3638149" cy="96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49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978A-0D93-4519-AE9A-E8E546AC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/>
              <a:t>Graph Neural Networks (GNNs)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5D1410-FB71-4E1E-AE8D-9C0063205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78" y="4739160"/>
            <a:ext cx="4464090" cy="10271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4327C7-1791-4599-8D93-5F1C9B425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961" y="1696146"/>
            <a:ext cx="5542046" cy="4070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E39B50-5023-45D0-9B52-23D62E381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485" y="1868428"/>
            <a:ext cx="2609275" cy="232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6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217E-D96B-41E5-87FB-E34337085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GNN unrolled over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282CD-C42D-4C56-8EE8-2C9E5762A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938" y="1578304"/>
            <a:ext cx="6920151" cy="391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49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758A1-DAA1-4587-9194-70267AC58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Graph Convolutional Networks (GCN)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ABEBD2-53BA-4C34-97F9-89689E29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489" y="1742645"/>
            <a:ext cx="5926466" cy="2851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368282-6027-460C-A562-1F1821DB3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948" y="4909155"/>
            <a:ext cx="4567113" cy="779454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7DA92A19-E00C-46E2-BAA3-1529E8F3871F}"/>
              </a:ext>
            </a:extLst>
          </p:cNvPr>
          <p:cNvSpPr/>
          <p:nvPr/>
        </p:nvSpPr>
        <p:spPr>
          <a:xfrm rot="5400000">
            <a:off x="5476183" y="5247162"/>
            <a:ext cx="237539" cy="70240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2ED5E-88A8-4BB9-8AB4-F76EF4B31417}"/>
              </a:ext>
            </a:extLst>
          </p:cNvPr>
          <p:cNvSpPr txBox="1"/>
          <p:nvPr/>
        </p:nvSpPr>
        <p:spPr>
          <a:xfrm>
            <a:off x="4255281" y="5818488"/>
            <a:ext cx="309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Normalized Laplacian Matrix</a:t>
            </a:r>
          </a:p>
        </p:txBody>
      </p:sp>
    </p:spTree>
    <p:extLst>
      <p:ext uri="{BB962C8B-B14F-4D97-AF65-F5344CB8AC3E}">
        <p14:creationId xmlns:p14="http://schemas.microsoft.com/office/powerpoint/2010/main" val="1605795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304F5-D66C-48FB-9ABD-9C1BA169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B8B1E-0847-4CD4-A776-7DAF36F83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Adversarial Attacks on Graph Structured Data</a:t>
            </a:r>
          </a:p>
          <a:p>
            <a:pPr lvl="1"/>
            <a:r>
              <a:rPr lang="en-US" dirty="0"/>
              <a:t>Evasion attacks on GNN and GCN.</a:t>
            </a:r>
          </a:p>
          <a:p>
            <a:pPr lvl="1"/>
            <a:r>
              <a:rPr lang="en-US" dirty="0"/>
              <a:t>Graph level and Node level attacks.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Adversarial Attacks on Neural Networks for Graph Data</a:t>
            </a:r>
          </a:p>
          <a:p>
            <a:pPr lvl="1"/>
            <a:r>
              <a:rPr lang="en-US" dirty="0"/>
              <a:t>Poisoning attacks on GCN.</a:t>
            </a:r>
          </a:p>
          <a:p>
            <a:pPr lvl="1"/>
            <a:r>
              <a:rPr lang="en-US" dirty="0"/>
              <a:t>Node level attacks.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70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5CBD-1D09-461B-B3A0-0C6BB24D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Adversarial attack 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051AAF-19D0-4ED1-AB42-6D4E6A22F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0423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Modify the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so that: </a:t>
                </a:r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051AAF-19D0-4ED1-AB42-6D4E6A22F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0423"/>
                <a:ext cx="10515600" cy="4351338"/>
              </a:xfrm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C13096B-4D4A-4A46-B207-D6240EBA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382" y="2314217"/>
            <a:ext cx="3674256" cy="175642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8B4C27-465D-4AC7-B511-BB9606CBC6A9}"/>
              </a:ext>
            </a:extLst>
          </p:cNvPr>
          <p:cNvCxnSpPr>
            <a:cxnSpLocks/>
          </p:cNvCxnSpPr>
          <p:nvPr/>
        </p:nvCxnSpPr>
        <p:spPr>
          <a:xfrm flipV="1">
            <a:off x="6727689" y="3124550"/>
            <a:ext cx="398454" cy="157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1D48F6-4D79-42B4-BFA6-60E7FB744C59}"/>
              </a:ext>
            </a:extLst>
          </p:cNvPr>
          <p:cNvCxnSpPr>
            <a:cxnSpLocks/>
          </p:cNvCxnSpPr>
          <p:nvPr/>
        </p:nvCxnSpPr>
        <p:spPr>
          <a:xfrm>
            <a:off x="6390159" y="3942659"/>
            <a:ext cx="368228" cy="1695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C3CFD3-3338-42AD-8FFD-AD865CB0F91C}"/>
              </a:ext>
            </a:extLst>
          </p:cNvPr>
          <p:cNvGrpSpPr/>
          <p:nvPr/>
        </p:nvGrpSpPr>
        <p:grpSpPr>
          <a:xfrm>
            <a:off x="7126619" y="2817472"/>
            <a:ext cx="1828847" cy="614015"/>
            <a:chOff x="7187491" y="2949029"/>
            <a:chExt cx="1828847" cy="61401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21181B-8A2F-473C-8C37-41DF26A88FBA}"/>
                </a:ext>
              </a:extLst>
            </p:cNvPr>
            <p:cNvSpPr txBox="1"/>
            <p:nvPr/>
          </p:nvSpPr>
          <p:spPr>
            <a:xfrm>
              <a:off x="7187491" y="3057368"/>
              <a:ext cx="18288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Attack Procedure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9F3173B-F8DF-4EC5-ACB0-ED2B01FC4095}"/>
                </a:ext>
              </a:extLst>
            </p:cNvPr>
            <p:cNvSpPr/>
            <p:nvPr/>
          </p:nvSpPr>
          <p:spPr>
            <a:xfrm>
              <a:off x="7187491" y="2949029"/>
              <a:ext cx="1767499" cy="6140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C8A10B0D-3A8C-4750-A41C-585D487DFFF4}"/>
              </a:ext>
            </a:extLst>
          </p:cNvPr>
          <p:cNvSpPr/>
          <p:nvPr/>
        </p:nvSpPr>
        <p:spPr>
          <a:xfrm>
            <a:off x="6717872" y="3762587"/>
            <a:ext cx="2682745" cy="9315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93B7611-4AA4-4F43-8E50-68C4604B2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249" y="5486378"/>
            <a:ext cx="3994888" cy="90402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0D1D22C-EA02-4EF4-BFD5-0A50AAD5EC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17" y="5556160"/>
            <a:ext cx="4168730" cy="57983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45E25F4-56AB-4CDE-ABA2-0CA85517E9ED}"/>
              </a:ext>
            </a:extLst>
          </p:cNvPr>
          <p:cNvSpPr txBox="1"/>
          <p:nvPr/>
        </p:nvSpPr>
        <p:spPr>
          <a:xfrm>
            <a:off x="2135302" y="4877186"/>
            <a:ext cx="2413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Explicit Semantics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F79F51-3279-47EE-AC6A-AA6FA9AEFEB6}"/>
              </a:ext>
            </a:extLst>
          </p:cNvPr>
          <p:cNvSpPr txBox="1"/>
          <p:nvPr/>
        </p:nvSpPr>
        <p:spPr>
          <a:xfrm>
            <a:off x="6315641" y="4854913"/>
            <a:ext cx="2639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Small Modifications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C4BDBA-8F48-4727-9FCE-F3218C8E5688}"/>
              </a:ext>
            </a:extLst>
          </p:cNvPr>
          <p:cNvCxnSpPr>
            <a:cxnSpLocks/>
          </p:cNvCxnSpPr>
          <p:nvPr/>
        </p:nvCxnSpPr>
        <p:spPr>
          <a:xfrm flipH="1">
            <a:off x="4275762" y="4219522"/>
            <a:ext cx="389515" cy="5488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6458A4B-776E-427B-8BB7-15D24579ADA9}"/>
              </a:ext>
            </a:extLst>
          </p:cNvPr>
          <p:cNvCxnSpPr>
            <a:cxnSpLocks/>
          </p:cNvCxnSpPr>
          <p:nvPr/>
        </p:nvCxnSpPr>
        <p:spPr>
          <a:xfrm>
            <a:off x="6048606" y="4166535"/>
            <a:ext cx="464153" cy="5488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BAB0986C-C6BD-46FE-A865-5DAD09E77E68}"/>
              </a:ext>
            </a:extLst>
          </p:cNvPr>
          <p:cNvSpPr/>
          <p:nvPr/>
        </p:nvSpPr>
        <p:spPr>
          <a:xfrm>
            <a:off x="4096921" y="3518857"/>
            <a:ext cx="2339638" cy="64767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7F0D33-CC63-4DCB-B963-419DBF6E9D1B}"/>
              </a:ext>
            </a:extLst>
          </p:cNvPr>
          <p:cNvSpPr txBox="1"/>
          <p:nvPr/>
        </p:nvSpPr>
        <p:spPr>
          <a:xfrm>
            <a:off x="6789733" y="3872284"/>
            <a:ext cx="2595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Defines Unnoticeable Perturbations for Graphs </a:t>
            </a:r>
          </a:p>
        </p:txBody>
      </p:sp>
    </p:spTree>
    <p:extLst>
      <p:ext uri="{BB962C8B-B14F-4D97-AF65-F5344CB8AC3E}">
        <p14:creationId xmlns:p14="http://schemas.microsoft.com/office/powerpoint/2010/main" val="2545871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EC56-01E4-4D34-9B61-50E8A5DF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08C9A-37E0-4A71-87C9-12E802A32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Discrete optimization problem – intractable to solve.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Large graphs – huge optimization space.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Definitions of unnoticeable perturbations is not clear.</a:t>
            </a:r>
          </a:p>
        </p:txBody>
      </p:sp>
    </p:spTree>
    <p:extLst>
      <p:ext uri="{BB962C8B-B14F-4D97-AF65-F5344CB8AC3E}">
        <p14:creationId xmlns:p14="http://schemas.microsoft.com/office/powerpoint/2010/main" val="701562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AA265-6FA6-493B-B3BE-5FFB3E3BD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White-box Attack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00420-B1AA-40ED-B836-9E7C3849B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69" y="1643101"/>
            <a:ext cx="6375021" cy="461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75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01FE-7E83-4C14-8E4D-48CD81B5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based White Box attack (WBA)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C06B9-04E2-40D3-8C24-F1816E771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the gradient of the classification loss with respect to the adjacency matrix A of the graph.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FA0C95-23D5-4A18-A8C3-8356AFF62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084" y="2891093"/>
            <a:ext cx="3063192" cy="972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433175-04EF-4B3A-8E92-FD460BA13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987" y="4888191"/>
            <a:ext cx="4602310" cy="10772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C753B4-10DB-4FB2-A374-44DC4B95CA20}"/>
              </a:ext>
            </a:extLst>
          </p:cNvPr>
          <p:cNvSpPr txBox="1"/>
          <p:nvPr/>
        </p:nvSpPr>
        <p:spPr>
          <a:xfrm>
            <a:off x="2176415" y="4383922"/>
            <a:ext cx="3190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Greedy Algorithm - </a:t>
            </a:r>
            <a:r>
              <a:rPr lang="en-US" i="1" dirty="0" err="1"/>
              <a:t>GradArgmax</a:t>
            </a:r>
            <a:endParaRPr lang="en-US" i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F207D4-CFB8-44F6-9D82-ED478F8FD80C}"/>
              </a:ext>
            </a:extLst>
          </p:cNvPr>
          <p:cNvGrpSpPr/>
          <p:nvPr/>
        </p:nvGrpSpPr>
        <p:grpSpPr>
          <a:xfrm>
            <a:off x="6527726" y="4383922"/>
            <a:ext cx="3889473" cy="2354648"/>
            <a:chOff x="6244341" y="4118725"/>
            <a:chExt cx="3889473" cy="235464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D21CEB1-329D-4CF6-9304-FE0B42333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9606" y="4118725"/>
              <a:ext cx="3138607" cy="2354648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05E5FE-7E6D-4618-809A-AD8BAAEA2721}"/>
                </a:ext>
              </a:extLst>
            </p:cNvPr>
            <p:cNvSpPr/>
            <p:nvPr/>
          </p:nvSpPr>
          <p:spPr>
            <a:xfrm>
              <a:off x="6244341" y="5248920"/>
              <a:ext cx="720673" cy="3167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CD9D89A-CDC6-463B-AC75-464FAA4BEDB0}"/>
                </a:ext>
              </a:extLst>
            </p:cNvPr>
            <p:cNvSpPr/>
            <p:nvPr/>
          </p:nvSpPr>
          <p:spPr>
            <a:xfrm>
              <a:off x="9413141" y="4900740"/>
              <a:ext cx="720673" cy="3167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7C05353-5EFD-4AF1-8269-41A090562BE0}"/>
              </a:ext>
            </a:extLst>
          </p:cNvPr>
          <p:cNvSpPr txBox="1"/>
          <p:nvPr/>
        </p:nvSpPr>
        <p:spPr>
          <a:xfrm>
            <a:off x="6686230" y="3960302"/>
            <a:ext cx="3514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Gradients not reliable</a:t>
            </a:r>
          </a:p>
        </p:txBody>
      </p:sp>
    </p:spTree>
    <p:extLst>
      <p:ext uri="{BB962C8B-B14F-4D97-AF65-F5344CB8AC3E}">
        <p14:creationId xmlns:p14="http://schemas.microsoft.com/office/powerpoint/2010/main" val="91157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6F266-0208-4453-A3F0-73810FC9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Genetic Algorithms- Black box attack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91146-DCC9-422A-9410-8B9A5E68D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57" y="1833454"/>
            <a:ext cx="5802059" cy="436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1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78ED8-20E6-4CC4-A58F-1859DD33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Black-box attack using RL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FD6AA1-C162-417E-8A12-56F96ABC85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1140" y="1570206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Model the black-box attacking procedure as a finite horizon Markov Decision Process (MDP):</a:t>
                </a:r>
              </a:p>
              <a:p>
                <a:pPr lvl="1"/>
                <a:r>
                  <a:rPr lang="en-US" b="1" dirty="0"/>
                  <a:t>Action</a:t>
                </a:r>
                <a:r>
                  <a:rPr lang="en-US" dirty="0"/>
                  <a:t>: Attacker chooses an edge to add or delete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b="1" dirty="0"/>
                  <a:t>State</a:t>
                </a:r>
                <a:r>
                  <a:rPr lang="en-US" dirty="0"/>
                  <a:t>: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represents the partially modified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before taking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b="1" dirty="0"/>
                  <a:t>Reward</a:t>
                </a:r>
                <a:r>
                  <a:rPr lang="en-US" dirty="0"/>
                  <a:t>: Non-zero reward received only at the end of m actions given by: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b="1" dirty="0"/>
                  <a:t>Deep Q Learning</a:t>
                </a:r>
                <a:r>
                  <a:rPr lang="en-US" dirty="0"/>
                  <a:t>: Learn a Q-function to choose pair of vertices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endParaRPr lang="en-US" b="1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FD6AA1-C162-417E-8A12-56F96ABC85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1140" y="1570206"/>
                <a:ext cx="10515600" cy="4351338"/>
              </a:xfrm>
              <a:blipFill>
                <a:blip r:embed="rId2"/>
                <a:stretch>
                  <a:fillRect l="-1043" t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14725D7-3F8B-4A2B-8573-0F0CDDFC8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596" y="4178847"/>
            <a:ext cx="3805264" cy="933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791DA7-AE11-483A-B786-3FF7D686D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870" y="5634818"/>
            <a:ext cx="4713917" cy="69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02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0B70-EAB1-4CA8-B93A-F5B67EE4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Hierarchical Q-functions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2B0A0-1B58-4D96-9760-9626B05EE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80" y="1690688"/>
            <a:ext cx="9468090" cy="2347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F94191-F838-457E-8E3D-E2EF9AC0B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856" y="4393764"/>
            <a:ext cx="6104338" cy="21927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36F4FF-07A8-4380-984F-156638852EB3}"/>
              </a:ext>
            </a:extLst>
          </p:cNvPr>
          <p:cNvSpPr/>
          <p:nvPr/>
        </p:nvSpPr>
        <p:spPr>
          <a:xfrm>
            <a:off x="10349578" y="2676791"/>
            <a:ext cx="159492" cy="3394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2C1B1B-D065-4DA5-87AE-60C90DA33A18}"/>
              </a:ext>
            </a:extLst>
          </p:cNvPr>
          <p:cNvCxnSpPr>
            <a:cxnSpLocks/>
          </p:cNvCxnSpPr>
          <p:nvPr/>
        </p:nvCxnSpPr>
        <p:spPr>
          <a:xfrm>
            <a:off x="5775025" y="3991764"/>
            <a:ext cx="0" cy="3407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328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3D6C-3F90-45B3-B283-411CB1CFE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Parametrization of the Q-functions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AD94B0-9525-49D6-A451-4D7EC6663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2613" y="1905028"/>
            <a:ext cx="5875823" cy="8943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C046AD-6205-48D6-8085-F3FC2D866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510" y="2853445"/>
            <a:ext cx="7864980" cy="894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F4554-C066-4C1F-8403-1279252D9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577" y="4211530"/>
            <a:ext cx="5837893" cy="139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3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B279-3DA0-4D50-B96B-3A4B781FA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A5591-3389-4599-B21C-722C65BCB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Graph-level attack </a:t>
            </a:r>
          </a:p>
          <a:p>
            <a:pPr lvl="1"/>
            <a:r>
              <a:rPr lang="en-US" dirty="0"/>
              <a:t>Determine number of connected components in the graph from {1,2,3}. </a:t>
            </a:r>
          </a:p>
          <a:p>
            <a:pPr lvl="1"/>
            <a:r>
              <a:rPr lang="en-US" dirty="0"/>
              <a:t>Synthetic dataset of 15,000 graphs generated using </a:t>
            </a:r>
            <a:r>
              <a:rPr lang="en-US" dirty="0" err="1"/>
              <a:t>Erdos-Renyi</a:t>
            </a:r>
            <a:r>
              <a:rPr lang="en-US" dirty="0"/>
              <a:t> random graph model. Each of three classes contains 5000 examples. </a:t>
            </a:r>
          </a:p>
          <a:p>
            <a:pPr lvl="1"/>
            <a:r>
              <a:rPr lang="en-US" dirty="0"/>
              <a:t>GNN using structure2vec used as target model to attack with K propagations. </a:t>
            </a:r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C9179E6-43BB-4906-8CFA-9F4800393E96}"/>
              </a:ext>
            </a:extLst>
          </p:cNvPr>
          <p:cNvGrpSpPr/>
          <p:nvPr/>
        </p:nvGrpSpPr>
        <p:grpSpPr>
          <a:xfrm>
            <a:off x="326936" y="3738366"/>
            <a:ext cx="11079009" cy="2526591"/>
            <a:chOff x="485295" y="3785309"/>
            <a:chExt cx="11079009" cy="252659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FF1C0B1-1966-4929-B58B-E8BA1432BE80}"/>
                </a:ext>
              </a:extLst>
            </p:cNvPr>
            <p:cNvGrpSpPr/>
            <p:nvPr/>
          </p:nvGrpSpPr>
          <p:grpSpPr>
            <a:xfrm>
              <a:off x="485295" y="4059433"/>
              <a:ext cx="11079009" cy="2117530"/>
              <a:chOff x="638547" y="4087063"/>
              <a:chExt cx="11079009" cy="211753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C345423-73D8-4B45-80A7-CCAF9F59F8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1139" y="4087063"/>
                <a:ext cx="10976417" cy="2117530"/>
              </a:xfrm>
              <a:prstGeom prst="rect">
                <a:avLst/>
              </a:prstGeom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110A095-663A-42BE-8021-241A36012B20}"/>
                  </a:ext>
                </a:extLst>
              </p:cNvPr>
              <p:cNvSpPr/>
              <p:nvPr/>
            </p:nvSpPr>
            <p:spPr>
              <a:xfrm>
                <a:off x="638547" y="4449399"/>
                <a:ext cx="822449" cy="15784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0B069B-5859-4CB1-9912-FBDE5D10119D}"/>
                </a:ext>
              </a:extLst>
            </p:cNvPr>
            <p:cNvSpPr/>
            <p:nvPr/>
          </p:nvSpPr>
          <p:spPr>
            <a:xfrm>
              <a:off x="536380" y="3785309"/>
              <a:ext cx="597680" cy="25265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6386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2E04-DA6E-4EF3-BD2F-A65CC674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of Adversarial Graphs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0A12D6-E19E-4BCD-8E9E-4CD29BB2F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42" y="2348880"/>
            <a:ext cx="9808089" cy="264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21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3B75A-8097-45CF-B529-CCE153EAB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913AB-A8CA-4137-8188-F38D472303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2224" y="1549772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Node-level attack</a:t>
                </a:r>
              </a:p>
              <a:p>
                <a:pPr lvl="1"/>
                <a:r>
                  <a:rPr lang="en-US" dirty="0"/>
                  <a:t>Used citation graphs: </a:t>
                </a:r>
                <a:r>
                  <a:rPr lang="en-US" dirty="0" err="1"/>
                  <a:t>Citeseer</a:t>
                </a:r>
                <a:r>
                  <a:rPr lang="en-US" dirty="0"/>
                  <a:t>, Cora, </a:t>
                </a:r>
                <a:r>
                  <a:rPr lang="en-US" dirty="0" err="1"/>
                  <a:t>Pubmed</a:t>
                </a:r>
                <a:r>
                  <a:rPr lang="en-US" dirty="0"/>
                  <a:t> and  ecommerce graph-Finance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Used GCN (</a:t>
                </a:r>
                <a:r>
                  <a:rPr lang="en-US" dirty="0" err="1"/>
                  <a:t>Kipf</a:t>
                </a:r>
                <a:r>
                  <a:rPr lang="en-US" dirty="0"/>
                  <a:t> and Welling, 2016) as the target model. </a:t>
                </a:r>
              </a:p>
              <a:p>
                <a:pPr lvl="1"/>
                <a:r>
                  <a:rPr lang="en-US" dirty="0"/>
                  <a:t>Graphs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dirty="0"/>
                  <a:t> restricted to deleting single edge within 2-hops of a target node. 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913AB-A8CA-4137-8188-F38D472303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2224" y="1549772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1A8DC4F-A512-4E35-A4C0-705C76AC3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407" y="2502602"/>
            <a:ext cx="6027888" cy="838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533430-2B6A-4B60-9D94-9C1A69BE3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586" y="4479562"/>
            <a:ext cx="5342709" cy="1946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429A20-892B-4371-961B-B78594A766BC}"/>
              </a:ext>
            </a:extLst>
          </p:cNvPr>
          <p:cNvSpPr txBox="1"/>
          <p:nvPr/>
        </p:nvSpPr>
        <p:spPr>
          <a:xfrm>
            <a:off x="7657461" y="2431589"/>
            <a:ext cx="863317" cy="9094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132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60E86F-1E9B-4C88-98EE-C59B9992E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23" y="2309285"/>
            <a:ext cx="11129554" cy="191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63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6F26-FCBD-40B5-A9DF-FF281838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958098-F09F-46B5-868D-2A83E94641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Attack on the task of Node classification.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is the adjacency matrix representing the connections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dirty="0"/>
                  <a:t> represents nodes’ features. </a:t>
                </a:r>
              </a:p>
              <a:p>
                <a:r>
                  <a:rPr lang="en-US" dirty="0"/>
                  <a:t>Target  classifier is a GCN with one hidden layer: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b="0" dirty="0"/>
                  <a:t>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learned by minimizing cross entropy loss.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958098-F09F-46B5-868D-2A83E94641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FD4D4C7-330A-4CA1-A695-D42982074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242" y="3713741"/>
            <a:ext cx="5809049" cy="575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C00D88-1FE8-4DDB-BE2A-0308343A2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644" y="5549678"/>
            <a:ext cx="5506834" cy="76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1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261E-C9C4-4F27-8FE7-01FCDEA9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poisoning attack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04293-6EB7-4096-88EB-ECD309FFD3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2080"/>
                <a:ext cx="10515600" cy="466488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Aim: Misclassify target 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b="0" dirty="0"/>
                  <a:t>, </a:t>
                </a:r>
                <a:r>
                  <a:rPr lang="en-US" dirty="0"/>
                  <a:t>Attacker has access to nodes in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𝒜.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804293-6EB7-4096-88EB-ECD309FFD3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2080"/>
                <a:ext cx="10515600" cy="4664883"/>
              </a:xfrm>
              <a:blipFill>
                <a:blip r:embed="rId2"/>
                <a:stretch>
                  <a:fillRect l="-1217" t="-2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7A8EC7B-A6A5-4887-A774-7052D71E3808}"/>
              </a:ext>
            </a:extLst>
          </p:cNvPr>
          <p:cNvGrpSpPr/>
          <p:nvPr/>
        </p:nvGrpSpPr>
        <p:grpSpPr>
          <a:xfrm>
            <a:off x="1991686" y="4640313"/>
            <a:ext cx="3022751" cy="1867001"/>
            <a:chOff x="2163319" y="2890318"/>
            <a:chExt cx="3022751" cy="18670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89C3B1A-5B77-499A-8119-E810464E9869}"/>
                    </a:ext>
                  </a:extLst>
                </p:cNvPr>
                <p:cNvSpPr txBox="1"/>
                <p:nvPr/>
              </p:nvSpPr>
              <p:spPr>
                <a:xfrm>
                  <a:off x="2163319" y="2890318"/>
                  <a:ext cx="3022751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0" dirty="0"/>
                    <a:t>Direct Attack 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89C3B1A-5B77-499A-8119-E810464E9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3319" y="2890318"/>
                  <a:ext cx="3022751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3024" t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38CC1F2-D49E-4B81-99D7-8CF26811E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89482" y="3305816"/>
              <a:ext cx="1529800" cy="1451503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376043-9112-4185-8C8B-A90023E4ECF2}"/>
              </a:ext>
            </a:extLst>
          </p:cNvPr>
          <p:cNvGrpSpPr/>
          <p:nvPr/>
        </p:nvGrpSpPr>
        <p:grpSpPr>
          <a:xfrm>
            <a:off x="6920729" y="4651649"/>
            <a:ext cx="3549177" cy="1776290"/>
            <a:chOff x="6513429" y="2868859"/>
            <a:chExt cx="3549177" cy="17762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D772390-8635-4569-AA4E-7C0E32C1C904}"/>
                    </a:ext>
                  </a:extLst>
                </p:cNvPr>
                <p:cNvSpPr txBox="1"/>
                <p:nvPr/>
              </p:nvSpPr>
              <p:spPr>
                <a:xfrm>
                  <a:off x="6513429" y="2868859"/>
                  <a:ext cx="3549177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Influencer</a:t>
                  </a:r>
                  <a:r>
                    <a:rPr lang="en-US" sz="2400" b="0" dirty="0"/>
                    <a:t> Attack 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</m:oMath>
                  </a14:m>
                  <a:r>
                    <a:rPr lang="en-US" sz="24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D772390-8635-4569-AA4E-7C0E32C1C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3429" y="2868859"/>
                  <a:ext cx="3549177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2749" t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4A059F4-95BE-4476-9F73-C4852B6FE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45266" y="3329399"/>
              <a:ext cx="1674591" cy="131575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FBBAEB-0C0E-4BFB-912D-16ABE8B2F8FE}"/>
              </a:ext>
            </a:extLst>
          </p:cNvPr>
          <p:cNvGrpSpPr/>
          <p:nvPr/>
        </p:nvGrpSpPr>
        <p:grpSpPr>
          <a:xfrm>
            <a:off x="793449" y="2418865"/>
            <a:ext cx="10272952" cy="1835142"/>
            <a:chOff x="342261" y="4757319"/>
            <a:chExt cx="10272952" cy="183514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3023630-2FA8-4ADD-BF82-51F7B8B4C024}"/>
                </a:ext>
              </a:extLst>
            </p:cNvPr>
            <p:cNvGrpSpPr/>
            <p:nvPr/>
          </p:nvGrpSpPr>
          <p:grpSpPr>
            <a:xfrm>
              <a:off x="6072161" y="4793505"/>
              <a:ext cx="4343941" cy="1218119"/>
              <a:chOff x="838200" y="4263366"/>
              <a:chExt cx="4343941" cy="121811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9165CC7-B423-449F-AAFB-284947FB3C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8200" y="4802614"/>
                <a:ext cx="4343941" cy="678871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744033-BE64-4FCE-93A4-BC3FE7DF4A10}"/>
                  </a:ext>
                </a:extLst>
              </p:cNvPr>
              <p:cNvSpPr txBox="1"/>
              <p:nvPr/>
            </p:nvSpPr>
            <p:spPr>
              <a:xfrm>
                <a:off x="1104776" y="4263366"/>
                <a:ext cx="38107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Unnoticeable perturbations</a:t>
                </a:r>
              </a:p>
              <a:p>
                <a:endParaRPr lang="en-US" sz="2400" dirty="0"/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0080F1C-48E2-48CE-A9B7-026C476BF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1528" y="5346604"/>
              <a:ext cx="5441813" cy="114627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FB8C42-79FB-437D-A875-91CA337978A1}"/>
                </a:ext>
              </a:extLst>
            </p:cNvPr>
            <p:cNvSpPr txBox="1"/>
            <p:nvPr/>
          </p:nvSpPr>
          <p:spPr>
            <a:xfrm>
              <a:off x="1775625" y="4796168"/>
              <a:ext cx="295843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Bi-level Optimization</a:t>
              </a:r>
            </a:p>
            <a:p>
              <a:endParaRPr lang="en-US" sz="24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D9EB3BC-2EAE-43F7-A57C-2E9DC50BF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0762" y="5726495"/>
              <a:ext cx="3208063" cy="10567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270AF17-231A-4792-8B44-E843A6E06140}"/>
                </a:ext>
              </a:extLst>
            </p:cNvPr>
            <p:cNvSpPr/>
            <p:nvPr/>
          </p:nvSpPr>
          <p:spPr>
            <a:xfrm>
              <a:off x="2094436" y="5666014"/>
              <a:ext cx="475079" cy="2801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EF28FC0-B44D-40B8-B687-B01B4D17B97B}"/>
                </a:ext>
              </a:extLst>
            </p:cNvPr>
            <p:cNvSpPr/>
            <p:nvPr/>
          </p:nvSpPr>
          <p:spPr>
            <a:xfrm>
              <a:off x="342261" y="4757319"/>
              <a:ext cx="10272952" cy="1835142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6024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ABF33-DAFA-4C10-900B-DDD4372E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Unnoticeability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972E615-8B9C-4FCF-B30B-C3F6D7ED8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Graph structure preserving</a:t>
                </a:r>
              </a:p>
              <a:p>
                <a:pPr lvl="1"/>
                <a:r>
                  <a:rPr lang="en-US" dirty="0"/>
                  <a:t>Check if the degree distributions of the original graph and the perturbed graph are significantly different using likelihood ratio tests. </a:t>
                </a:r>
              </a:p>
              <a:p>
                <a:pPr lvl="1"/>
                <a:r>
                  <a:rPr lang="en-US" dirty="0"/>
                  <a:t>Degree distribution can be found empirically, or using a fit from Power-law distribution family. </a:t>
                </a:r>
              </a:p>
              <a:p>
                <a:r>
                  <a:rPr lang="en-US" dirty="0"/>
                  <a:t>Feature statistics preserving</a:t>
                </a:r>
              </a:p>
              <a:p>
                <a:pPr lvl="1"/>
                <a:r>
                  <a:rPr lang="en-US" dirty="0"/>
                  <a:t>Construct a feature co-occurrence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denotes features which have co-</a:t>
                </a:r>
                <a:r>
                  <a:rPr lang="en-US" dirty="0" err="1"/>
                  <a:t>occured</a:t>
                </a:r>
                <a:r>
                  <a:rPr lang="en-US" dirty="0"/>
                  <a:t> together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a feature to a node if it has a significantly high probability of co-occurring with other features for that node.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972E615-8B9C-4FCF-B30B-C3F6D7ED8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029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111F-C40B-45C8-84E5-E9F237F97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Adversarial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BDF7A-99A7-463D-A7BF-EDC8E048C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Solving the Bi-level optimization problem is intractable.  Used a </a:t>
            </a:r>
            <a:r>
              <a:rPr lang="en-US" i="1" dirty="0"/>
              <a:t>tractable</a:t>
            </a:r>
            <a:r>
              <a:rPr lang="en-US" dirty="0"/>
              <a:t> surrogate model to generate the adversarial graphs.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3484ED-F2DF-4055-B5F4-262795ABC57D}"/>
              </a:ext>
            </a:extLst>
          </p:cNvPr>
          <p:cNvGrpSpPr/>
          <p:nvPr/>
        </p:nvGrpSpPr>
        <p:grpSpPr>
          <a:xfrm>
            <a:off x="1034021" y="3224664"/>
            <a:ext cx="5061979" cy="2149352"/>
            <a:chOff x="889284" y="3111004"/>
            <a:chExt cx="5736285" cy="246734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8958CC3-4D19-4715-AFB0-8C3087992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284" y="3291438"/>
              <a:ext cx="5534425" cy="49387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05EAF2B-74D0-4B7F-A9AF-F08CCBC1D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2879" y="4676721"/>
              <a:ext cx="5689093" cy="645924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1FE84DE-826B-416C-96A8-14E19771BC64}"/>
                </a:ext>
              </a:extLst>
            </p:cNvPr>
            <p:cNvGrpSpPr/>
            <p:nvPr/>
          </p:nvGrpSpPr>
          <p:grpSpPr>
            <a:xfrm>
              <a:off x="1834451" y="3986184"/>
              <a:ext cx="3674737" cy="586272"/>
              <a:chOff x="3208062" y="4846028"/>
              <a:chExt cx="3674737" cy="58627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4FD9492-33E3-41A5-A68C-14939A1BB2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7070" y="4846028"/>
                <a:ext cx="2805729" cy="58627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C82D08E4-7286-4705-BB8C-86FC3D1F9B77}"/>
                      </a:ext>
                    </a:extLst>
                  </p:cNvPr>
                  <p:cNvSpPr txBox="1"/>
                  <p:nvPr/>
                </p:nvSpPr>
                <p:spPr>
                  <a:xfrm>
                    <a:off x="3208062" y="4846028"/>
                    <a:ext cx="9899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′)=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C82D08E4-7286-4705-BB8C-86FC3D1F9B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08062" y="4846028"/>
                    <a:ext cx="989951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2500" t="-5000" r="-11806" b="-5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530F6F4-B289-4137-95BC-780EF50D49C3}"/>
                </a:ext>
              </a:extLst>
            </p:cNvPr>
            <p:cNvSpPr/>
            <p:nvPr/>
          </p:nvSpPr>
          <p:spPr>
            <a:xfrm>
              <a:off x="889284" y="3111004"/>
              <a:ext cx="5736285" cy="2467348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E33512-BCB7-4E6C-9C6B-528D72622B8F}"/>
              </a:ext>
            </a:extLst>
          </p:cNvPr>
          <p:cNvGrpSpPr/>
          <p:nvPr/>
        </p:nvGrpSpPr>
        <p:grpSpPr>
          <a:xfrm>
            <a:off x="6842031" y="3224664"/>
            <a:ext cx="4439182" cy="2149352"/>
            <a:chOff x="7095540" y="3111004"/>
            <a:chExt cx="4638409" cy="246734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8A57B7D-89C9-4F51-9969-E79E071AF0F3}"/>
                </a:ext>
              </a:extLst>
            </p:cNvPr>
            <p:cNvGrpSpPr/>
            <p:nvPr/>
          </p:nvGrpSpPr>
          <p:grpSpPr>
            <a:xfrm>
              <a:off x="7245066" y="3364091"/>
              <a:ext cx="4359044" cy="1798183"/>
              <a:chOff x="7142899" y="3169042"/>
              <a:chExt cx="4359044" cy="179818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C49593F-D689-45EC-BBBB-A5B049A00B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2899" y="3808297"/>
                <a:ext cx="4359044" cy="81317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83ADFEB8-49F0-459B-AC1A-06BDCED7D1AE}"/>
                      </a:ext>
                    </a:extLst>
                  </p:cNvPr>
                  <p:cNvSpPr txBox="1"/>
                  <p:nvPr/>
                </p:nvSpPr>
                <p:spPr>
                  <a:xfrm>
                    <a:off x="8313714" y="4690226"/>
                    <a:ext cx="235540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83ADFEB8-49F0-459B-AC1A-06BDCED7D1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3714" y="4690226"/>
                    <a:ext cx="2355403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981" t="-5128" r="-4065" b="-5641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125B32-9121-4A25-915F-FDB097B2A494}"/>
                  </a:ext>
                </a:extLst>
              </p:cNvPr>
              <p:cNvSpPr txBox="1"/>
              <p:nvPr/>
            </p:nvSpPr>
            <p:spPr>
              <a:xfrm>
                <a:off x="7611606" y="3169042"/>
                <a:ext cx="3125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Scalable Greedy Approximation</a:t>
                </a:r>
              </a:p>
            </p:txBody>
          </p:sp>
        </p:grp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9741835-7F6E-419D-86A6-A9384723AFAB}"/>
                </a:ext>
              </a:extLst>
            </p:cNvPr>
            <p:cNvSpPr/>
            <p:nvPr/>
          </p:nvSpPr>
          <p:spPr>
            <a:xfrm>
              <a:off x="7095540" y="3111004"/>
              <a:ext cx="4638409" cy="2467348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6C7425A-8B78-4646-BF59-6D23F9A01E65}"/>
              </a:ext>
            </a:extLst>
          </p:cNvPr>
          <p:cNvSpPr/>
          <p:nvPr/>
        </p:nvSpPr>
        <p:spPr>
          <a:xfrm>
            <a:off x="6200965" y="4107698"/>
            <a:ext cx="475079" cy="183341"/>
          </a:xfrm>
          <a:prstGeom prst="rightArrow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9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4140-18F5-46CC-8B5F-FD31B087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Nettack</a:t>
            </a:r>
            <a:r>
              <a:rPr lang="en-US" dirty="0"/>
              <a:t>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47ADA-4FE9-4B3B-A55E-940591B1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42" y="1618289"/>
            <a:ext cx="5454801" cy="48745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A31353-6C62-49D4-AEB5-8BB2ECD733D9}"/>
              </a:ext>
            </a:extLst>
          </p:cNvPr>
          <p:cNvSpPr txBox="1"/>
          <p:nvPr/>
        </p:nvSpPr>
        <p:spPr>
          <a:xfrm>
            <a:off x="6985710" y="2572764"/>
            <a:ext cx="3961974" cy="286232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Sequentially manipulate an entry from the adjacency matrix or a feature entry and pick one which increases the surrogate loss most.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Efficient computation needed for the score functions and candidate edge/feature perturbations (refer to the paper for details).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262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6E7A-094C-472F-BABC-990ABAA9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82" y="479693"/>
            <a:ext cx="10515600" cy="1325563"/>
          </a:xfrm>
        </p:spPr>
        <p:txBody>
          <a:bodyPr/>
          <a:lstStyle/>
          <a:p>
            <a:r>
              <a:rPr lang="en-US" dirty="0"/>
              <a:t>Experimental results : Attack on surrogate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C13D42-9B4D-40AE-8C43-86DD7A793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71" y="3679310"/>
            <a:ext cx="3545216" cy="30295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0159E8-1806-457F-A0E6-AFBC3479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946" y="4021045"/>
            <a:ext cx="7262490" cy="2605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3FD7B2-3D2A-46AF-AA92-50813CE67BCF}"/>
              </a:ext>
            </a:extLst>
          </p:cNvPr>
          <p:cNvSpPr txBox="1"/>
          <p:nvPr/>
        </p:nvSpPr>
        <p:spPr>
          <a:xfrm>
            <a:off x="531271" y="1704323"/>
            <a:ext cx="61957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Surrogate model trained on Cora-ML, </a:t>
            </a:r>
            <a:r>
              <a:rPr lang="en-US" sz="2400" dirty="0" err="1"/>
              <a:t>Citeseer</a:t>
            </a:r>
            <a:r>
              <a:rPr lang="en-US" sz="2400" dirty="0"/>
              <a:t>, </a:t>
            </a:r>
            <a:r>
              <a:rPr lang="en-US" sz="2400" dirty="0" err="1"/>
              <a:t>Polblogs</a:t>
            </a:r>
            <a:r>
              <a:rPr lang="en-US" sz="2400" dirty="0"/>
              <a:t> graphs.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Adversarial graphs using </a:t>
            </a:r>
            <a:r>
              <a:rPr lang="en-US" sz="2400" dirty="0" err="1"/>
              <a:t>Nettack</a:t>
            </a:r>
            <a:r>
              <a:rPr lang="en-US" sz="2400" dirty="0"/>
              <a:t> (Direct) successful than </a:t>
            </a:r>
            <a:r>
              <a:rPr lang="en-US" sz="2400" dirty="0" err="1"/>
              <a:t>Nettack</a:t>
            </a:r>
            <a:r>
              <a:rPr lang="en-US" sz="2400" dirty="0"/>
              <a:t>-In(influence).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Unconstrained perturbations are detectable.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3F7C3E-7C93-44B8-8D07-8600F7D28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453" y="1499395"/>
            <a:ext cx="3979563" cy="252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89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04AB-9055-4653-A73D-30D076F3C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result: Transfer to actual models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BD33EF-BFBC-46D2-AF23-C76B5935C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565" y="3728185"/>
            <a:ext cx="3180713" cy="264707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875FC23-12F1-42CF-9EF6-6632EF54D358}"/>
              </a:ext>
            </a:extLst>
          </p:cNvPr>
          <p:cNvGrpSpPr/>
          <p:nvPr/>
        </p:nvGrpSpPr>
        <p:grpSpPr>
          <a:xfrm>
            <a:off x="6876384" y="3793033"/>
            <a:ext cx="3238208" cy="2740584"/>
            <a:chOff x="7060286" y="2189003"/>
            <a:chExt cx="3238208" cy="27405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52395C3-474F-4410-99A3-AFE8A0500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60286" y="2189003"/>
              <a:ext cx="3069631" cy="267391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2B6175-910D-495B-9858-6E999351BA38}"/>
                </a:ext>
              </a:extLst>
            </p:cNvPr>
            <p:cNvSpPr/>
            <p:nvPr/>
          </p:nvSpPr>
          <p:spPr>
            <a:xfrm>
              <a:off x="9930691" y="4612867"/>
              <a:ext cx="367803" cy="3167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FB94E67-7B52-4177-A2EC-39F76C95223A}"/>
              </a:ext>
            </a:extLst>
          </p:cNvPr>
          <p:cNvSpPr txBox="1"/>
          <p:nvPr/>
        </p:nvSpPr>
        <p:spPr>
          <a:xfrm>
            <a:off x="740715" y="1632118"/>
            <a:ext cx="104138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Adversarial Graphs from surrogate model evaluated on GCN for both Evasion attacks and Poisoning attacks.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Surrogate model is a good approximator for true 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Both Evasion and poisoning attacks are successful.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Direct attacks much successful than gradient attacks </a:t>
            </a:r>
          </a:p>
        </p:txBody>
      </p:sp>
    </p:spTree>
    <p:extLst>
      <p:ext uri="{BB962C8B-B14F-4D97-AF65-F5344CB8AC3E}">
        <p14:creationId xmlns:p14="http://schemas.microsoft.com/office/powerpoint/2010/main" val="2685169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B5C6-06A9-4117-ACE8-3026A277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4015" cy="1325563"/>
          </a:xfrm>
        </p:spPr>
        <p:txBody>
          <a:bodyPr/>
          <a:lstStyle/>
          <a:p>
            <a:r>
              <a:rPr lang="en-US" dirty="0"/>
              <a:t>Experimental results: Limited Graph knowledge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57B196-BF73-42E4-9E54-37FC042EE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269" y="3949806"/>
            <a:ext cx="6340923" cy="2386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18A9B8-FCD3-4831-ABEF-B1BA93E3F720}"/>
              </a:ext>
            </a:extLst>
          </p:cNvPr>
          <p:cNvSpPr txBox="1"/>
          <p:nvPr/>
        </p:nvSpPr>
        <p:spPr>
          <a:xfrm>
            <a:off x="950158" y="1604032"/>
            <a:ext cx="97570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Assume that attacker does not know the complete graph but only a subset of the graph.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Used subgraphs of increasing size from the target node (1-hop, 2 hop etc.) to generate the adversarial subgraphs.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Direct attack successful for even 10% of the graph access, with expense of slightly more perturbations. </a:t>
            </a:r>
          </a:p>
        </p:txBody>
      </p:sp>
    </p:spTree>
    <p:extLst>
      <p:ext uri="{BB962C8B-B14F-4D97-AF65-F5344CB8AC3E}">
        <p14:creationId xmlns:p14="http://schemas.microsoft.com/office/powerpoint/2010/main" val="4047901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2022</TotalTime>
  <Words>808</Words>
  <Application>Microsoft Office PowerPoint</Application>
  <PresentationFormat>Widescreen</PresentationFormat>
  <Paragraphs>126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Adversarial Attacks for Graphical  Data</vt:lpstr>
      <vt:lpstr>Graph Classification tasks</vt:lpstr>
      <vt:lpstr>Graph Neural Networks (GNNs)</vt:lpstr>
      <vt:lpstr>GNN unrolled over time</vt:lpstr>
      <vt:lpstr>Graph Convolutional Networks (GCN)</vt:lpstr>
      <vt:lpstr>Overview</vt:lpstr>
      <vt:lpstr>Adversarial attack  formulation</vt:lpstr>
      <vt:lpstr>Challenges</vt:lpstr>
      <vt:lpstr>Gradient White-box Attack</vt:lpstr>
      <vt:lpstr>Gradient based White Box attack (WBA) </vt:lpstr>
      <vt:lpstr>Genetic Algorithms- Black box attack</vt:lpstr>
      <vt:lpstr>Black-box attack using RL</vt:lpstr>
      <vt:lpstr>Hierarchical Q-functions</vt:lpstr>
      <vt:lpstr>Parametrization of the Q-functions</vt:lpstr>
      <vt:lpstr>Experiments</vt:lpstr>
      <vt:lpstr>Visualization of Adversarial Graphs</vt:lpstr>
      <vt:lpstr>Experiments</vt:lpstr>
      <vt:lpstr>PowerPoint Presentation</vt:lpstr>
      <vt:lpstr>Problem Setting</vt:lpstr>
      <vt:lpstr>Data poisoning attack</vt:lpstr>
      <vt:lpstr>Other Unnoticeability constraints</vt:lpstr>
      <vt:lpstr>Generating Adversarial Graphs</vt:lpstr>
      <vt:lpstr>Nettack Algorithm</vt:lpstr>
      <vt:lpstr>Experimental results : Attack on surrogate</vt:lpstr>
      <vt:lpstr>Experimental result: Transfer to actual models</vt:lpstr>
      <vt:lpstr>Experimental results: Limited Graph knowledge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Attacks on Graphical Data</dc:title>
  <dc:creator>Amish Goel</dc:creator>
  <cp:lastModifiedBy>Amish Goel</cp:lastModifiedBy>
  <cp:revision>67</cp:revision>
  <dcterms:created xsi:type="dcterms:W3CDTF">2019-10-27T16:24:46Z</dcterms:created>
  <dcterms:modified xsi:type="dcterms:W3CDTF">2019-10-29T19:04:43Z</dcterms:modified>
</cp:coreProperties>
</file>