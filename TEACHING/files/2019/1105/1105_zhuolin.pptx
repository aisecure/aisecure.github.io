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70" r:id="rId14"/>
    <p:sldId id="271" r:id="rId15"/>
    <p:sldId id="272" r:id="rId16"/>
    <p:sldId id="275" r:id="rId17"/>
    <p:sldId id="276" r:id="rId18"/>
    <p:sldId id="277" r:id="rId19"/>
    <p:sldId id="278" r:id="rId20"/>
    <p:sldId id="274"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22" autoAdjust="0"/>
    <p:restoredTop sz="94660"/>
  </p:normalViewPr>
  <p:slideViewPr>
    <p:cSldViewPr snapToGrid="0">
      <p:cViewPr varScale="1">
        <p:scale>
          <a:sx n="83" d="100"/>
          <a:sy n="83" d="100"/>
        </p:scale>
        <p:origin x="45" y="5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5F55EB-5BD2-4FE0-9298-4F7E36739A4E}" type="datetimeFigureOut">
              <a:rPr lang="zh-CN" altLang="en-US" smtClean="0"/>
              <a:t>2019/11/6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8E75CC-45D4-4F60-8E17-0F51E83F5CCB}" type="slidenum">
              <a:rPr lang="zh-CN" altLang="en-US" smtClean="0"/>
              <a:t>‹#›</a:t>
            </a:fld>
            <a:endParaRPr lang="zh-CN" altLang="en-US"/>
          </a:p>
        </p:txBody>
      </p:sp>
    </p:spTree>
    <p:extLst>
      <p:ext uri="{BB962C8B-B14F-4D97-AF65-F5344CB8AC3E}">
        <p14:creationId xmlns:p14="http://schemas.microsoft.com/office/powerpoint/2010/main" val="16344263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Hi I’m Zhuolin. Today I’d like to share some brand-new topics about privacy attack. Privacy attack refers to those attack steal user’s information through platform model’s</a:t>
            </a:r>
            <a:r>
              <a:rPr lang="zh-CN" altLang="en-US" dirty="0"/>
              <a:t> </a:t>
            </a:r>
            <a:r>
              <a:rPr lang="en-US" altLang="zh-CN" dirty="0"/>
              <a:t>behavior</a:t>
            </a:r>
            <a:r>
              <a:rPr lang="zh-CN" altLang="en-US" dirty="0"/>
              <a:t> </a:t>
            </a:r>
            <a:r>
              <a:rPr lang="en-US" altLang="zh-CN" dirty="0"/>
              <a:t>(usually</a:t>
            </a:r>
            <a:r>
              <a:rPr lang="zh-CN" altLang="en-US" dirty="0"/>
              <a:t> </a:t>
            </a:r>
            <a:r>
              <a:rPr lang="en-US" altLang="zh-CN" dirty="0"/>
              <a:t>black</a:t>
            </a:r>
            <a:r>
              <a:rPr lang="zh-CN" altLang="en-US" dirty="0"/>
              <a:t> </a:t>
            </a:r>
            <a:r>
              <a:rPr lang="en-US" altLang="zh-CN" dirty="0"/>
              <a:t>box).</a:t>
            </a:r>
            <a:r>
              <a:rPr lang="zh-CN" altLang="en-US" dirty="0"/>
              <a:t> </a:t>
            </a:r>
            <a:r>
              <a:rPr lang="en-US" altLang="zh-CN" dirty="0"/>
              <a:t>It</a:t>
            </a:r>
            <a:r>
              <a:rPr lang="zh-CN" altLang="en-US" dirty="0"/>
              <a:t> </a:t>
            </a:r>
            <a:r>
              <a:rPr lang="en-US" altLang="zh-CN" dirty="0"/>
              <a:t>will</a:t>
            </a:r>
            <a:r>
              <a:rPr lang="zh-CN" altLang="en-US" dirty="0"/>
              <a:t> </a:t>
            </a:r>
            <a:r>
              <a:rPr lang="en-US" altLang="zh-CN" dirty="0"/>
              <a:t>become</a:t>
            </a:r>
            <a:r>
              <a:rPr lang="zh-CN" altLang="en-US" dirty="0"/>
              <a:t> </a:t>
            </a:r>
            <a:r>
              <a:rPr lang="en-US" altLang="zh-CN" dirty="0"/>
              <a:t>serious under the circumstance that AI will be applied into human’s daily life in the future. Today I’d like to introduce 2 main privacy attack (membership inference and model inverse). These attacks were introduced during 2014 / 2015 – they’re simple enough but interesting. I wish I can make everyone understand their details and everyone could try to figure out how it works by themselves. </a:t>
            </a:r>
          </a:p>
        </p:txBody>
      </p:sp>
      <p:sp>
        <p:nvSpPr>
          <p:cNvPr id="4" name="灯片编号占位符 3"/>
          <p:cNvSpPr>
            <a:spLocks noGrp="1"/>
          </p:cNvSpPr>
          <p:nvPr>
            <p:ph type="sldNum" sz="quarter" idx="5"/>
          </p:nvPr>
        </p:nvSpPr>
        <p:spPr/>
        <p:txBody>
          <a:bodyPr/>
          <a:lstStyle/>
          <a:p>
            <a:fld id="{6B8E75CC-45D4-4F60-8E17-0F51E83F5CCB}" type="slidenum">
              <a:rPr lang="zh-CN" altLang="en-US" smtClean="0"/>
              <a:t>1</a:t>
            </a:fld>
            <a:endParaRPr lang="zh-CN" altLang="en-US"/>
          </a:p>
        </p:txBody>
      </p:sp>
    </p:spTree>
    <p:extLst>
      <p:ext uri="{BB962C8B-B14F-4D97-AF65-F5344CB8AC3E}">
        <p14:creationId xmlns:p14="http://schemas.microsoft.com/office/powerpoint/2010/main" val="42772323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Like if there’s a platform collect users’ data for group prediction (health problem prediction), and user can only upload their private data / query the model about their personal information. If this platform leaks the information about user’s participation, these user may face the risk of discrimination.</a:t>
            </a:r>
            <a:endParaRPr lang="zh-CN" altLang="en-US" dirty="0"/>
          </a:p>
        </p:txBody>
      </p:sp>
      <p:sp>
        <p:nvSpPr>
          <p:cNvPr id="4" name="灯片编号占位符 3"/>
          <p:cNvSpPr>
            <a:spLocks noGrp="1"/>
          </p:cNvSpPr>
          <p:nvPr>
            <p:ph type="sldNum" sz="quarter" idx="5"/>
          </p:nvPr>
        </p:nvSpPr>
        <p:spPr/>
        <p:txBody>
          <a:bodyPr/>
          <a:lstStyle/>
          <a:p>
            <a:fld id="{6B8E75CC-45D4-4F60-8E17-0F51E83F5CCB}" type="slidenum">
              <a:rPr lang="zh-CN" altLang="en-US" smtClean="0"/>
              <a:t>2</a:t>
            </a:fld>
            <a:endParaRPr lang="zh-CN" altLang="en-US"/>
          </a:p>
        </p:txBody>
      </p:sp>
    </p:spTree>
    <p:extLst>
      <p:ext uri="{BB962C8B-B14F-4D97-AF65-F5344CB8AC3E}">
        <p14:creationId xmlns:p14="http://schemas.microsoft.com/office/powerpoint/2010/main" val="30158321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B8E75CC-45D4-4F60-8E17-0F51E83F5CCB}" type="slidenum">
              <a:rPr lang="zh-CN" altLang="en-US" smtClean="0"/>
              <a:t>3</a:t>
            </a:fld>
            <a:endParaRPr lang="zh-CN" altLang="en-US"/>
          </a:p>
        </p:txBody>
      </p:sp>
    </p:spTree>
    <p:extLst>
      <p:ext uri="{BB962C8B-B14F-4D97-AF65-F5344CB8AC3E}">
        <p14:creationId xmlns:p14="http://schemas.microsoft.com/office/powerpoint/2010/main" val="42678112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You can definitely just use one shadow model to predict existence / non-existence of one instance. But multiple shadow model can catch the feature of different class precisely in order to increase attack accuracy.</a:t>
            </a:r>
            <a:endParaRPr lang="zh-CN" altLang="en-US" dirty="0"/>
          </a:p>
        </p:txBody>
      </p:sp>
      <p:sp>
        <p:nvSpPr>
          <p:cNvPr id="4" name="灯片编号占位符 3"/>
          <p:cNvSpPr>
            <a:spLocks noGrp="1"/>
          </p:cNvSpPr>
          <p:nvPr>
            <p:ph type="sldNum" sz="quarter" idx="5"/>
          </p:nvPr>
        </p:nvSpPr>
        <p:spPr/>
        <p:txBody>
          <a:bodyPr/>
          <a:lstStyle/>
          <a:p>
            <a:fld id="{6B8E75CC-45D4-4F60-8E17-0F51E83F5CCB}" type="slidenum">
              <a:rPr lang="zh-CN" altLang="en-US" smtClean="0"/>
              <a:t>4</a:t>
            </a:fld>
            <a:endParaRPr lang="zh-CN" altLang="en-US"/>
          </a:p>
        </p:txBody>
      </p:sp>
    </p:spTree>
    <p:extLst>
      <p:ext uri="{BB962C8B-B14F-4D97-AF65-F5344CB8AC3E}">
        <p14:creationId xmlns:p14="http://schemas.microsoft.com/office/powerpoint/2010/main" val="13169760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There author make an assumption =&gt; if we sample some point insider model’s decision region =&gt; we can obtain the similar geometry distribution from these sampled data. However, we need more proof on that.</a:t>
            </a:r>
            <a:endParaRPr lang="zh-CN" altLang="en-US" dirty="0"/>
          </a:p>
        </p:txBody>
      </p:sp>
      <p:sp>
        <p:nvSpPr>
          <p:cNvPr id="4" name="灯片编号占位符 3"/>
          <p:cNvSpPr>
            <a:spLocks noGrp="1"/>
          </p:cNvSpPr>
          <p:nvPr>
            <p:ph type="sldNum" sz="quarter" idx="5"/>
          </p:nvPr>
        </p:nvSpPr>
        <p:spPr/>
        <p:txBody>
          <a:bodyPr/>
          <a:lstStyle/>
          <a:p>
            <a:fld id="{6B8E75CC-45D4-4F60-8E17-0F51E83F5CCB}" type="slidenum">
              <a:rPr lang="zh-CN" altLang="en-US" smtClean="0"/>
              <a:t>7</a:t>
            </a:fld>
            <a:endParaRPr lang="zh-CN" altLang="en-US"/>
          </a:p>
        </p:txBody>
      </p:sp>
    </p:spTree>
    <p:extLst>
      <p:ext uri="{BB962C8B-B14F-4D97-AF65-F5344CB8AC3E}">
        <p14:creationId xmlns:p14="http://schemas.microsoft.com/office/powerpoint/2010/main" val="19777701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As the number of classes increases, the model needs to extract more distinctive features from the data to be able to classify inputs with high accuracy. Informally, models with more output classes need to remember more about their training data, thus they leak more information.</a:t>
            </a:r>
            <a:endParaRPr lang="zh-CN" altLang="en-US" dirty="0"/>
          </a:p>
        </p:txBody>
      </p:sp>
      <p:sp>
        <p:nvSpPr>
          <p:cNvPr id="4" name="灯片编号占位符 3"/>
          <p:cNvSpPr>
            <a:spLocks noGrp="1"/>
          </p:cNvSpPr>
          <p:nvPr>
            <p:ph type="sldNum" sz="quarter" idx="5"/>
          </p:nvPr>
        </p:nvSpPr>
        <p:spPr/>
        <p:txBody>
          <a:bodyPr/>
          <a:lstStyle/>
          <a:p>
            <a:fld id="{6B8E75CC-45D4-4F60-8E17-0F51E83F5CCB}" type="slidenum">
              <a:rPr lang="zh-CN" altLang="en-US" smtClean="0"/>
              <a:t>9</a:t>
            </a:fld>
            <a:endParaRPr lang="zh-CN" altLang="en-US"/>
          </a:p>
        </p:txBody>
      </p:sp>
    </p:spTree>
    <p:extLst>
      <p:ext uri="{BB962C8B-B14F-4D97-AF65-F5344CB8AC3E}">
        <p14:creationId xmlns:p14="http://schemas.microsoft.com/office/powerpoint/2010/main" val="28982083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Here’re some interesting phenomenon found by authors.</a:t>
            </a:r>
          </a:p>
        </p:txBody>
      </p:sp>
      <p:sp>
        <p:nvSpPr>
          <p:cNvPr id="4" name="灯片编号占位符 3"/>
          <p:cNvSpPr>
            <a:spLocks noGrp="1"/>
          </p:cNvSpPr>
          <p:nvPr>
            <p:ph type="sldNum" sz="quarter" idx="5"/>
          </p:nvPr>
        </p:nvSpPr>
        <p:spPr/>
        <p:txBody>
          <a:bodyPr/>
          <a:lstStyle/>
          <a:p>
            <a:fld id="{6B8E75CC-45D4-4F60-8E17-0F51E83F5CCB}" type="slidenum">
              <a:rPr lang="zh-CN" altLang="en-US" smtClean="0"/>
              <a:t>10</a:t>
            </a:fld>
            <a:endParaRPr lang="zh-CN" altLang="en-US"/>
          </a:p>
        </p:txBody>
      </p:sp>
    </p:spTree>
    <p:extLst>
      <p:ext uri="{BB962C8B-B14F-4D97-AF65-F5344CB8AC3E}">
        <p14:creationId xmlns:p14="http://schemas.microsoft.com/office/powerpoint/2010/main" val="567441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 can be concluded as we use model’s behavior + user’s public data =&gt; user’s private data. </a:t>
            </a:r>
            <a:endParaRPr lang="zh-CN" altLang="en-US" dirty="0"/>
          </a:p>
        </p:txBody>
      </p:sp>
      <p:sp>
        <p:nvSpPr>
          <p:cNvPr id="4" name="灯片编号占位符 3"/>
          <p:cNvSpPr>
            <a:spLocks noGrp="1"/>
          </p:cNvSpPr>
          <p:nvPr>
            <p:ph type="sldNum" sz="quarter" idx="5"/>
          </p:nvPr>
        </p:nvSpPr>
        <p:spPr/>
        <p:txBody>
          <a:bodyPr/>
          <a:lstStyle/>
          <a:p>
            <a:fld id="{6B8E75CC-45D4-4F60-8E17-0F51E83F5CCB}" type="slidenum">
              <a:rPr lang="zh-CN" altLang="en-US" smtClean="0"/>
              <a:t>12</a:t>
            </a:fld>
            <a:endParaRPr lang="zh-CN" altLang="en-US"/>
          </a:p>
        </p:txBody>
      </p:sp>
    </p:spTree>
    <p:extLst>
      <p:ext uri="{BB962C8B-B14F-4D97-AF65-F5344CB8AC3E}">
        <p14:creationId xmlns:p14="http://schemas.microsoft.com/office/powerpoint/2010/main" val="2520202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Question: what’s this exactly?</a:t>
            </a:r>
            <a:endParaRPr lang="zh-CN" altLang="en-US" dirty="0"/>
          </a:p>
        </p:txBody>
      </p:sp>
      <p:sp>
        <p:nvSpPr>
          <p:cNvPr id="4" name="灯片编号占位符 3"/>
          <p:cNvSpPr>
            <a:spLocks noGrp="1"/>
          </p:cNvSpPr>
          <p:nvPr>
            <p:ph type="sldNum" sz="quarter" idx="5"/>
          </p:nvPr>
        </p:nvSpPr>
        <p:spPr/>
        <p:txBody>
          <a:bodyPr/>
          <a:lstStyle/>
          <a:p>
            <a:fld id="{6B8E75CC-45D4-4F60-8E17-0F51E83F5CCB}" type="slidenum">
              <a:rPr lang="zh-CN" altLang="en-US" smtClean="0"/>
              <a:t>14</a:t>
            </a:fld>
            <a:endParaRPr lang="zh-CN" altLang="en-US"/>
          </a:p>
        </p:txBody>
      </p:sp>
    </p:spTree>
    <p:extLst>
      <p:ext uri="{BB962C8B-B14F-4D97-AF65-F5344CB8AC3E}">
        <p14:creationId xmlns:p14="http://schemas.microsoft.com/office/powerpoint/2010/main" val="21232157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Question: what’s this exactly</a:t>
            </a:r>
            <a:endParaRPr lang="zh-CN" altLang="en-US" dirty="0"/>
          </a:p>
        </p:txBody>
      </p:sp>
      <p:sp>
        <p:nvSpPr>
          <p:cNvPr id="4" name="灯片编号占位符 3"/>
          <p:cNvSpPr>
            <a:spLocks noGrp="1"/>
          </p:cNvSpPr>
          <p:nvPr>
            <p:ph type="sldNum" sz="quarter" idx="5"/>
          </p:nvPr>
        </p:nvSpPr>
        <p:spPr/>
        <p:txBody>
          <a:bodyPr/>
          <a:lstStyle/>
          <a:p>
            <a:fld id="{6B8E75CC-45D4-4F60-8E17-0F51E83F5CCB}" type="slidenum">
              <a:rPr lang="zh-CN" altLang="en-US" smtClean="0"/>
              <a:t>15</a:t>
            </a:fld>
            <a:endParaRPr lang="zh-CN" altLang="en-US"/>
          </a:p>
        </p:txBody>
      </p:sp>
    </p:spTree>
    <p:extLst>
      <p:ext uri="{BB962C8B-B14F-4D97-AF65-F5344CB8AC3E}">
        <p14:creationId xmlns:p14="http://schemas.microsoft.com/office/powerpoint/2010/main" val="14110111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Like if you would like to know some continuous features, original MI-attack failed. (otherwise you need to build a very large bucket to turn into the discrete categorial)</a:t>
            </a:r>
            <a:endParaRPr lang="zh-CN" altLang="en-US" dirty="0"/>
          </a:p>
        </p:txBody>
      </p:sp>
      <p:sp>
        <p:nvSpPr>
          <p:cNvPr id="4" name="灯片编号占位符 3"/>
          <p:cNvSpPr>
            <a:spLocks noGrp="1"/>
          </p:cNvSpPr>
          <p:nvPr>
            <p:ph type="sldNum" sz="quarter" idx="5"/>
          </p:nvPr>
        </p:nvSpPr>
        <p:spPr/>
        <p:txBody>
          <a:bodyPr/>
          <a:lstStyle/>
          <a:p>
            <a:fld id="{6B8E75CC-45D4-4F60-8E17-0F51E83F5CCB}" type="slidenum">
              <a:rPr lang="zh-CN" altLang="en-US" smtClean="0"/>
              <a:t>17</a:t>
            </a:fld>
            <a:endParaRPr lang="zh-CN" altLang="en-US"/>
          </a:p>
        </p:txBody>
      </p:sp>
    </p:spTree>
    <p:extLst>
      <p:ext uri="{BB962C8B-B14F-4D97-AF65-F5344CB8AC3E}">
        <p14:creationId xmlns:p14="http://schemas.microsoft.com/office/powerpoint/2010/main" val="6079943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B8E75CC-45D4-4F60-8E17-0F51E83F5CCB}" type="slidenum">
              <a:rPr lang="zh-CN" altLang="en-US" smtClean="0"/>
              <a:t>18</a:t>
            </a:fld>
            <a:endParaRPr lang="zh-CN" altLang="en-US"/>
          </a:p>
        </p:txBody>
      </p:sp>
    </p:spTree>
    <p:extLst>
      <p:ext uri="{BB962C8B-B14F-4D97-AF65-F5344CB8AC3E}">
        <p14:creationId xmlns:p14="http://schemas.microsoft.com/office/powerpoint/2010/main" val="6591716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Question: anyone doubt this?</a:t>
            </a:r>
          </a:p>
          <a:p>
            <a:r>
              <a:rPr lang="en-US" altLang="zh-CN" dirty="0"/>
              <a:t>It</a:t>
            </a:r>
            <a:r>
              <a:rPr lang="zh-CN" altLang="en-US" dirty="0"/>
              <a:t> </a:t>
            </a:r>
            <a:r>
              <a:rPr lang="en-US" altLang="zh-CN" dirty="0"/>
              <a:t>only</a:t>
            </a:r>
            <a:r>
              <a:rPr lang="zh-CN" altLang="en-US" dirty="0"/>
              <a:t> </a:t>
            </a:r>
            <a:r>
              <a:rPr lang="en-US" altLang="zh-CN" dirty="0"/>
              <a:t>finds the point sampled on the decision boundary =&gt; this is not exactly the training samples but some mix-up of training samples. MI reconstruction attack can only paint the burry impression about model’s decision materials instead of exactly what each training samples like.</a:t>
            </a:r>
          </a:p>
        </p:txBody>
      </p:sp>
      <p:sp>
        <p:nvSpPr>
          <p:cNvPr id="4" name="灯片编号占位符 3"/>
          <p:cNvSpPr>
            <a:spLocks noGrp="1"/>
          </p:cNvSpPr>
          <p:nvPr>
            <p:ph type="sldNum" sz="quarter" idx="5"/>
          </p:nvPr>
        </p:nvSpPr>
        <p:spPr/>
        <p:txBody>
          <a:bodyPr/>
          <a:lstStyle/>
          <a:p>
            <a:fld id="{6B8E75CC-45D4-4F60-8E17-0F51E83F5CCB}" type="slidenum">
              <a:rPr lang="zh-CN" altLang="en-US" smtClean="0"/>
              <a:t>19</a:t>
            </a:fld>
            <a:endParaRPr lang="zh-CN" altLang="en-US"/>
          </a:p>
        </p:txBody>
      </p:sp>
    </p:spTree>
    <p:extLst>
      <p:ext uri="{BB962C8B-B14F-4D97-AF65-F5344CB8AC3E}">
        <p14:creationId xmlns:p14="http://schemas.microsoft.com/office/powerpoint/2010/main" val="9181355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B8E75CC-45D4-4F60-8E17-0F51E83F5CCB}" type="slidenum">
              <a:rPr lang="zh-CN" altLang="en-US" smtClean="0"/>
              <a:t>20</a:t>
            </a:fld>
            <a:endParaRPr lang="zh-CN" altLang="en-US"/>
          </a:p>
        </p:txBody>
      </p:sp>
    </p:spTree>
    <p:extLst>
      <p:ext uri="{BB962C8B-B14F-4D97-AF65-F5344CB8AC3E}">
        <p14:creationId xmlns:p14="http://schemas.microsoft.com/office/powerpoint/2010/main" val="14642963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08767A-D2BC-4292-B4A3-501772F414F4}"/>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E28F63D-F1F4-4C4A-BF93-912CE4A57D8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84136F7C-F559-4B6F-B57F-F9EFF047BABE}"/>
              </a:ext>
            </a:extLst>
          </p:cNvPr>
          <p:cNvSpPr>
            <a:spLocks noGrp="1"/>
          </p:cNvSpPr>
          <p:nvPr>
            <p:ph type="dt" sz="half" idx="10"/>
          </p:nvPr>
        </p:nvSpPr>
        <p:spPr/>
        <p:txBody>
          <a:bodyPr/>
          <a:lstStyle/>
          <a:p>
            <a:fld id="{BFA68B6A-9C42-498C-8257-B7882A163F75}" type="datetimeFigureOut">
              <a:rPr lang="zh-CN" altLang="en-US" smtClean="0"/>
              <a:t>2019/11/6</a:t>
            </a:fld>
            <a:endParaRPr lang="zh-CN" altLang="en-US"/>
          </a:p>
        </p:txBody>
      </p:sp>
      <p:sp>
        <p:nvSpPr>
          <p:cNvPr id="5" name="页脚占位符 4">
            <a:extLst>
              <a:ext uri="{FF2B5EF4-FFF2-40B4-BE49-F238E27FC236}">
                <a16:creationId xmlns:a16="http://schemas.microsoft.com/office/drawing/2014/main" id="{86D90B0C-A4E1-4174-985E-FC1AB31DE9E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9FED70A-1923-4732-BC84-1ACF1004FE4F}"/>
              </a:ext>
            </a:extLst>
          </p:cNvPr>
          <p:cNvSpPr>
            <a:spLocks noGrp="1"/>
          </p:cNvSpPr>
          <p:nvPr>
            <p:ph type="sldNum" sz="quarter" idx="12"/>
          </p:nvPr>
        </p:nvSpPr>
        <p:spPr/>
        <p:txBody>
          <a:bodyPr/>
          <a:lstStyle/>
          <a:p>
            <a:fld id="{E5A070F1-C166-4A13-8145-06748E64187A}" type="slidenum">
              <a:rPr lang="zh-CN" altLang="en-US" smtClean="0"/>
              <a:t>‹#›</a:t>
            </a:fld>
            <a:endParaRPr lang="zh-CN" altLang="en-US"/>
          </a:p>
        </p:txBody>
      </p:sp>
    </p:spTree>
    <p:extLst>
      <p:ext uri="{BB962C8B-B14F-4D97-AF65-F5344CB8AC3E}">
        <p14:creationId xmlns:p14="http://schemas.microsoft.com/office/powerpoint/2010/main" val="14288519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F980D9-AE6C-418F-AA5B-04A96D4989E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044EC27-4E86-46A1-A6EB-248ED71B1D83}"/>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67FEC87-88FC-48D7-8CD2-2FB6157C659A}"/>
              </a:ext>
            </a:extLst>
          </p:cNvPr>
          <p:cNvSpPr>
            <a:spLocks noGrp="1"/>
          </p:cNvSpPr>
          <p:nvPr>
            <p:ph type="dt" sz="half" idx="10"/>
          </p:nvPr>
        </p:nvSpPr>
        <p:spPr/>
        <p:txBody>
          <a:bodyPr/>
          <a:lstStyle/>
          <a:p>
            <a:fld id="{BFA68B6A-9C42-498C-8257-B7882A163F75}" type="datetimeFigureOut">
              <a:rPr lang="zh-CN" altLang="en-US" smtClean="0"/>
              <a:t>2019/11/6</a:t>
            </a:fld>
            <a:endParaRPr lang="zh-CN" altLang="en-US"/>
          </a:p>
        </p:txBody>
      </p:sp>
      <p:sp>
        <p:nvSpPr>
          <p:cNvPr id="5" name="页脚占位符 4">
            <a:extLst>
              <a:ext uri="{FF2B5EF4-FFF2-40B4-BE49-F238E27FC236}">
                <a16:creationId xmlns:a16="http://schemas.microsoft.com/office/drawing/2014/main" id="{63C29656-23CB-462F-94BD-B33FF7E4D9C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0486E52-4022-47CE-8B0C-9E8C939446D8}"/>
              </a:ext>
            </a:extLst>
          </p:cNvPr>
          <p:cNvSpPr>
            <a:spLocks noGrp="1"/>
          </p:cNvSpPr>
          <p:nvPr>
            <p:ph type="sldNum" sz="quarter" idx="12"/>
          </p:nvPr>
        </p:nvSpPr>
        <p:spPr/>
        <p:txBody>
          <a:bodyPr/>
          <a:lstStyle/>
          <a:p>
            <a:fld id="{E5A070F1-C166-4A13-8145-06748E64187A}" type="slidenum">
              <a:rPr lang="zh-CN" altLang="en-US" smtClean="0"/>
              <a:t>‹#›</a:t>
            </a:fld>
            <a:endParaRPr lang="zh-CN" altLang="en-US"/>
          </a:p>
        </p:txBody>
      </p:sp>
    </p:spTree>
    <p:extLst>
      <p:ext uri="{BB962C8B-B14F-4D97-AF65-F5344CB8AC3E}">
        <p14:creationId xmlns:p14="http://schemas.microsoft.com/office/powerpoint/2010/main" val="25409714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F9EC3E-C598-4038-8601-67B255121321}"/>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559D2C70-30EC-4F59-A20C-D093601B6CB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4E107FD2-D81C-488E-93D3-F6102C6E1A0F}"/>
              </a:ext>
            </a:extLst>
          </p:cNvPr>
          <p:cNvSpPr>
            <a:spLocks noGrp="1"/>
          </p:cNvSpPr>
          <p:nvPr>
            <p:ph type="dt" sz="half" idx="10"/>
          </p:nvPr>
        </p:nvSpPr>
        <p:spPr/>
        <p:txBody>
          <a:bodyPr/>
          <a:lstStyle/>
          <a:p>
            <a:fld id="{BFA68B6A-9C42-498C-8257-B7882A163F75}" type="datetimeFigureOut">
              <a:rPr lang="zh-CN" altLang="en-US" smtClean="0"/>
              <a:t>2019/11/6</a:t>
            </a:fld>
            <a:endParaRPr lang="zh-CN" altLang="en-US"/>
          </a:p>
        </p:txBody>
      </p:sp>
      <p:sp>
        <p:nvSpPr>
          <p:cNvPr id="5" name="页脚占位符 4">
            <a:extLst>
              <a:ext uri="{FF2B5EF4-FFF2-40B4-BE49-F238E27FC236}">
                <a16:creationId xmlns:a16="http://schemas.microsoft.com/office/drawing/2014/main" id="{4E67B98D-E812-400B-B3B3-C250FF1F020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D8B3698-6237-4BE2-8088-AB7AB3C9380A}"/>
              </a:ext>
            </a:extLst>
          </p:cNvPr>
          <p:cNvSpPr>
            <a:spLocks noGrp="1"/>
          </p:cNvSpPr>
          <p:nvPr>
            <p:ph type="sldNum" sz="quarter" idx="12"/>
          </p:nvPr>
        </p:nvSpPr>
        <p:spPr/>
        <p:txBody>
          <a:bodyPr/>
          <a:lstStyle/>
          <a:p>
            <a:fld id="{E5A070F1-C166-4A13-8145-06748E64187A}" type="slidenum">
              <a:rPr lang="zh-CN" altLang="en-US" smtClean="0"/>
              <a:t>‹#›</a:t>
            </a:fld>
            <a:endParaRPr lang="zh-CN" altLang="en-US"/>
          </a:p>
        </p:txBody>
      </p:sp>
    </p:spTree>
    <p:extLst>
      <p:ext uri="{BB962C8B-B14F-4D97-AF65-F5344CB8AC3E}">
        <p14:creationId xmlns:p14="http://schemas.microsoft.com/office/powerpoint/2010/main" val="40180324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F8BAF3-4855-45AA-9303-5D5F09C8173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09E2F8C-D9C9-474C-A721-C201EC289FA5}"/>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3E3E7871-66E7-48FB-A6C5-996E1609B9CA}"/>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0B70BACE-EF91-4F8E-B5C3-34D390BC818F}"/>
              </a:ext>
            </a:extLst>
          </p:cNvPr>
          <p:cNvSpPr>
            <a:spLocks noGrp="1"/>
          </p:cNvSpPr>
          <p:nvPr>
            <p:ph type="dt" sz="half" idx="10"/>
          </p:nvPr>
        </p:nvSpPr>
        <p:spPr/>
        <p:txBody>
          <a:bodyPr/>
          <a:lstStyle/>
          <a:p>
            <a:fld id="{BFA68B6A-9C42-498C-8257-B7882A163F75}" type="datetimeFigureOut">
              <a:rPr lang="zh-CN" altLang="en-US" smtClean="0"/>
              <a:t>2019/11/6</a:t>
            </a:fld>
            <a:endParaRPr lang="zh-CN" altLang="en-US"/>
          </a:p>
        </p:txBody>
      </p:sp>
      <p:sp>
        <p:nvSpPr>
          <p:cNvPr id="6" name="页脚占位符 5">
            <a:extLst>
              <a:ext uri="{FF2B5EF4-FFF2-40B4-BE49-F238E27FC236}">
                <a16:creationId xmlns:a16="http://schemas.microsoft.com/office/drawing/2014/main" id="{34BCD376-E481-45F9-9AB5-0B2FF9DE021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B21EDEC-3F74-4332-8569-59FA104DFD86}"/>
              </a:ext>
            </a:extLst>
          </p:cNvPr>
          <p:cNvSpPr>
            <a:spLocks noGrp="1"/>
          </p:cNvSpPr>
          <p:nvPr>
            <p:ph type="sldNum" sz="quarter" idx="12"/>
          </p:nvPr>
        </p:nvSpPr>
        <p:spPr/>
        <p:txBody>
          <a:bodyPr/>
          <a:lstStyle/>
          <a:p>
            <a:fld id="{E5A070F1-C166-4A13-8145-06748E64187A}" type="slidenum">
              <a:rPr lang="zh-CN" altLang="en-US" smtClean="0"/>
              <a:t>‹#›</a:t>
            </a:fld>
            <a:endParaRPr lang="zh-CN" altLang="en-US"/>
          </a:p>
        </p:txBody>
      </p:sp>
    </p:spTree>
    <p:extLst>
      <p:ext uri="{BB962C8B-B14F-4D97-AF65-F5344CB8AC3E}">
        <p14:creationId xmlns:p14="http://schemas.microsoft.com/office/powerpoint/2010/main" val="3231104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9DD662-8EA9-43BF-AD89-2C310F645333}"/>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352CFD13-6A07-4AE5-AB20-092ED37CB4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8E7E3C66-9189-4CDD-A4A7-A0C9AF5168C8}"/>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A8688F66-A247-47FC-8699-19CF510151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14F13BBB-1A75-44D4-A9F3-6681F838AAE1}"/>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231779B-98C7-49D7-AF6E-E158DAB8D4CD}"/>
              </a:ext>
            </a:extLst>
          </p:cNvPr>
          <p:cNvSpPr>
            <a:spLocks noGrp="1"/>
          </p:cNvSpPr>
          <p:nvPr>
            <p:ph type="dt" sz="half" idx="10"/>
          </p:nvPr>
        </p:nvSpPr>
        <p:spPr/>
        <p:txBody>
          <a:bodyPr/>
          <a:lstStyle/>
          <a:p>
            <a:fld id="{BFA68B6A-9C42-498C-8257-B7882A163F75}" type="datetimeFigureOut">
              <a:rPr lang="zh-CN" altLang="en-US" smtClean="0"/>
              <a:t>2019/11/6</a:t>
            </a:fld>
            <a:endParaRPr lang="zh-CN" altLang="en-US"/>
          </a:p>
        </p:txBody>
      </p:sp>
      <p:sp>
        <p:nvSpPr>
          <p:cNvPr id="8" name="页脚占位符 7">
            <a:extLst>
              <a:ext uri="{FF2B5EF4-FFF2-40B4-BE49-F238E27FC236}">
                <a16:creationId xmlns:a16="http://schemas.microsoft.com/office/drawing/2014/main" id="{818C0B58-2F42-49F7-9424-14BCF0500A25}"/>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40CB8B91-F852-4BCB-A4DC-3E4DD386059A}"/>
              </a:ext>
            </a:extLst>
          </p:cNvPr>
          <p:cNvSpPr>
            <a:spLocks noGrp="1"/>
          </p:cNvSpPr>
          <p:nvPr>
            <p:ph type="sldNum" sz="quarter" idx="12"/>
          </p:nvPr>
        </p:nvSpPr>
        <p:spPr/>
        <p:txBody>
          <a:bodyPr/>
          <a:lstStyle/>
          <a:p>
            <a:fld id="{E5A070F1-C166-4A13-8145-06748E64187A}" type="slidenum">
              <a:rPr lang="zh-CN" altLang="en-US" smtClean="0"/>
              <a:t>‹#›</a:t>
            </a:fld>
            <a:endParaRPr lang="zh-CN" altLang="en-US"/>
          </a:p>
        </p:txBody>
      </p:sp>
    </p:spTree>
    <p:extLst>
      <p:ext uri="{BB962C8B-B14F-4D97-AF65-F5344CB8AC3E}">
        <p14:creationId xmlns:p14="http://schemas.microsoft.com/office/powerpoint/2010/main" val="39056174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421D81-6E7F-4C56-A9E2-A0010500140B}"/>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48877E08-F00B-4464-8403-E908798D615B}"/>
              </a:ext>
            </a:extLst>
          </p:cNvPr>
          <p:cNvSpPr>
            <a:spLocks noGrp="1"/>
          </p:cNvSpPr>
          <p:nvPr>
            <p:ph type="dt" sz="half" idx="10"/>
          </p:nvPr>
        </p:nvSpPr>
        <p:spPr/>
        <p:txBody>
          <a:bodyPr/>
          <a:lstStyle/>
          <a:p>
            <a:fld id="{BFA68B6A-9C42-498C-8257-B7882A163F75}" type="datetimeFigureOut">
              <a:rPr lang="zh-CN" altLang="en-US" smtClean="0"/>
              <a:t>2019/11/6</a:t>
            </a:fld>
            <a:endParaRPr lang="zh-CN" altLang="en-US"/>
          </a:p>
        </p:txBody>
      </p:sp>
      <p:sp>
        <p:nvSpPr>
          <p:cNvPr id="4" name="页脚占位符 3">
            <a:extLst>
              <a:ext uri="{FF2B5EF4-FFF2-40B4-BE49-F238E27FC236}">
                <a16:creationId xmlns:a16="http://schemas.microsoft.com/office/drawing/2014/main" id="{AA69D174-C05E-4EF8-AC5E-CBD1ACC1227E}"/>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80B5ADF0-90B6-41BF-9471-C907ACF82C67}"/>
              </a:ext>
            </a:extLst>
          </p:cNvPr>
          <p:cNvSpPr>
            <a:spLocks noGrp="1"/>
          </p:cNvSpPr>
          <p:nvPr>
            <p:ph type="sldNum" sz="quarter" idx="12"/>
          </p:nvPr>
        </p:nvSpPr>
        <p:spPr/>
        <p:txBody>
          <a:bodyPr/>
          <a:lstStyle/>
          <a:p>
            <a:fld id="{E5A070F1-C166-4A13-8145-06748E64187A}" type="slidenum">
              <a:rPr lang="zh-CN" altLang="en-US" smtClean="0"/>
              <a:t>‹#›</a:t>
            </a:fld>
            <a:endParaRPr lang="zh-CN" altLang="en-US"/>
          </a:p>
        </p:txBody>
      </p:sp>
    </p:spTree>
    <p:extLst>
      <p:ext uri="{BB962C8B-B14F-4D97-AF65-F5344CB8AC3E}">
        <p14:creationId xmlns:p14="http://schemas.microsoft.com/office/powerpoint/2010/main" val="4155460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00AD868-D1BD-48D7-B417-D34A03B33E99}"/>
              </a:ext>
            </a:extLst>
          </p:cNvPr>
          <p:cNvSpPr>
            <a:spLocks noGrp="1"/>
          </p:cNvSpPr>
          <p:nvPr>
            <p:ph type="dt" sz="half" idx="10"/>
          </p:nvPr>
        </p:nvSpPr>
        <p:spPr/>
        <p:txBody>
          <a:bodyPr/>
          <a:lstStyle/>
          <a:p>
            <a:fld id="{BFA68B6A-9C42-498C-8257-B7882A163F75}" type="datetimeFigureOut">
              <a:rPr lang="zh-CN" altLang="en-US" smtClean="0"/>
              <a:t>2019/11/6</a:t>
            </a:fld>
            <a:endParaRPr lang="zh-CN" altLang="en-US"/>
          </a:p>
        </p:txBody>
      </p:sp>
      <p:sp>
        <p:nvSpPr>
          <p:cNvPr id="3" name="页脚占位符 2">
            <a:extLst>
              <a:ext uri="{FF2B5EF4-FFF2-40B4-BE49-F238E27FC236}">
                <a16:creationId xmlns:a16="http://schemas.microsoft.com/office/drawing/2014/main" id="{D407424E-4E07-4F61-8655-52330A58B65B}"/>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F3B91662-1974-41F9-99DA-A83FEA53BA91}"/>
              </a:ext>
            </a:extLst>
          </p:cNvPr>
          <p:cNvSpPr>
            <a:spLocks noGrp="1"/>
          </p:cNvSpPr>
          <p:nvPr>
            <p:ph type="sldNum" sz="quarter" idx="12"/>
          </p:nvPr>
        </p:nvSpPr>
        <p:spPr/>
        <p:txBody>
          <a:bodyPr/>
          <a:lstStyle/>
          <a:p>
            <a:fld id="{E5A070F1-C166-4A13-8145-06748E64187A}" type="slidenum">
              <a:rPr lang="zh-CN" altLang="en-US" smtClean="0"/>
              <a:t>‹#›</a:t>
            </a:fld>
            <a:endParaRPr lang="zh-CN" altLang="en-US"/>
          </a:p>
        </p:txBody>
      </p:sp>
    </p:spTree>
    <p:extLst>
      <p:ext uri="{BB962C8B-B14F-4D97-AF65-F5344CB8AC3E}">
        <p14:creationId xmlns:p14="http://schemas.microsoft.com/office/powerpoint/2010/main" val="15548629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93A4EB-D929-447F-BB26-CE836818CAC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937E2B5A-CD0F-414E-8AFD-644BD2EA9C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B0939985-ED6D-4AE3-8DEF-8B7EAF248C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DFD2C34-B621-472B-8B30-0BECAB615C32}"/>
              </a:ext>
            </a:extLst>
          </p:cNvPr>
          <p:cNvSpPr>
            <a:spLocks noGrp="1"/>
          </p:cNvSpPr>
          <p:nvPr>
            <p:ph type="dt" sz="half" idx="10"/>
          </p:nvPr>
        </p:nvSpPr>
        <p:spPr/>
        <p:txBody>
          <a:bodyPr/>
          <a:lstStyle/>
          <a:p>
            <a:fld id="{BFA68B6A-9C42-498C-8257-B7882A163F75}" type="datetimeFigureOut">
              <a:rPr lang="zh-CN" altLang="en-US" smtClean="0"/>
              <a:t>2019/11/6</a:t>
            </a:fld>
            <a:endParaRPr lang="zh-CN" altLang="en-US"/>
          </a:p>
        </p:txBody>
      </p:sp>
      <p:sp>
        <p:nvSpPr>
          <p:cNvPr id="6" name="页脚占位符 5">
            <a:extLst>
              <a:ext uri="{FF2B5EF4-FFF2-40B4-BE49-F238E27FC236}">
                <a16:creationId xmlns:a16="http://schemas.microsoft.com/office/drawing/2014/main" id="{51A09FB5-2B95-45A6-95E8-45802B79E47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40597F5-2651-46EE-911C-F1F26849EF1F}"/>
              </a:ext>
            </a:extLst>
          </p:cNvPr>
          <p:cNvSpPr>
            <a:spLocks noGrp="1"/>
          </p:cNvSpPr>
          <p:nvPr>
            <p:ph type="sldNum" sz="quarter" idx="12"/>
          </p:nvPr>
        </p:nvSpPr>
        <p:spPr/>
        <p:txBody>
          <a:bodyPr/>
          <a:lstStyle/>
          <a:p>
            <a:fld id="{E5A070F1-C166-4A13-8145-06748E64187A}" type="slidenum">
              <a:rPr lang="zh-CN" altLang="en-US" smtClean="0"/>
              <a:t>‹#›</a:t>
            </a:fld>
            <a:endParaRPr lang="zh-CN" altLang="en-US"/>
          </a:p>
        </p:txBody>
      </p:sp>
    </p:spTree>
    <p:extLst>
      <p:ext uri="{BB962C8B-B14F-4D97-AF65-F5344CB8AC3E}">
        <p14:creationId xmlns:p14="http://schemas.microsoft.com/office/powerpoint/2010/main" val="34476710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091E8D-8225-4034-A9FF-7CFBE2C1F37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89A6C6B6-7BCF-4151-BFCD-D37FB203CD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3DCE0F67-E9C6-44FF-99BC-F599E0CB94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D1BBEFA-43F7-427E-819C-4FAC66E490DA}"/>
              </a:ext>
            </a:extLst>
          </p:cNvPr>
          <p:cNvSpPr>
            <a:spLocks noGrp="1"/>
          </p:cNvSpPr>
          <p:nvPr>
            <p:ph type="dt" sz="half" idx="10"/>
          </p:nvPr>
        </p:nvSpPr>
        <p:spPr/>
        <p:txBody>
          <a:bodyPr/>
          <a:lstStyle/>
          <a:p>
            <a:fld id="{BFA68B6A-9C42-498C-8257-B7882A163F75}" type="datetimeFigureOut">
              <a:rPr lang="zh-CN" altLang="en-US" smtClean="0"/>
              <a:t>2019/11/6</a:t>
            </a:fld>
            <a:endParaRPr lang="zh-CN" altLang="en-US"/>
          </a:p>
        </p:txBody>
      </p:sp>
      <p:sp>
        <p:nvSpPr>
          <p:cNvPr id="6" name="页脚占位符 5">
            <a:extLst>
              <a:ext uri="{FF2B5EF4-FFF2-40B4-BE49-F238E27FC236}">
                <a16:creationId xmlns:a16="http://schemas.microsoft.com/office/drawing/2014/main" id="{3870EAA9-06D1-47DF-8E41-DA0C3AD479F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CD14F85-B7C7-43AC-B754-7A060B6ACBD2}"/>
              </a:ext>
            </a:extLst>
          </p:cNvPr>
          <p:cNvSpPr>
            <a:spLocks noGrp="1"/>
          </p:cNvSpPr>
          <p:nvPr>
            <p:ph type="sldNum" sz="quarter" idx="12"/>
          </p:nvPr>
        </p:nvSpPr>
        <p:spPr/>
        <p:txBody>
          <a:bodyPr/>
          <a:lstStyle/>
          <a:p>
            <a:fld id="{E5A070F1-C166-4A13-8145-06748E64187A}" type="slidenum">
              <a:rPr lang="zh-CN" altLang="en-US" smtClean="0"/>
              <a:t>‹#›</a:t>
            </a:fld>
            <a:endParaRPr lang="zh-CN" altLang="en-US"/>
          </a:p>
        </p:txBody>
      </p:sp>
    </p:spTree>
    <p:extLst>
      <p:ext uri="{BB962C8B-B14F-4D97-AF65-F5344CB8AC3E}">
        <p14:creationId xmlns:p14="http://schemas.microsoft.com/office/powerpoint/2010/main" val="25551797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968075-301A-42FB-89CC-DE5A49429606}"/>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51CEC934-B6F5-4DE3-89FE-139BF91F367A}"/>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2C88BC3-B937-4E13-92CE-82C6CDC8F9A2}"/>
              </a:ext>
            </a:extLst>
          </p:cNvPr>
          <p:cNvSpPr>
            <a:spLocks noGrp="1"/>
          </p:cNvSpPr>
          <p:nvPr>
            <p:ph type="dt" sz="half" idx="10"/>
          </p:nvPr>
        </p:nvSpPr>
        <p:spPr/>
        <p:txBody>
          <a:bodyPr/>
          <a:lstStyle/>
          <a:p>
            <a:fld id="{BFA68B6A-9C42-498C-8257-B7882A163F75}" type="datetimeFigureOut">
              <a:rPr lang="zh-CN" altLang="en-US" smtClean="0"/>
              <a:t>2019/11/6</a:t>
            </a:fld>
            <a:endParaRPr lang="zh-CN" altLang="en-US"/>
          </a:p>
        </p:txBody>
      </p:sp>
      <p:sp>
        <p:nvSpPr>
          <p:cNvPr id="5" name="页脚占位符 4">
            <a:extLst>
              <a:ext uri="{FF2B5EF4-FFF2-40B4-BE49-F238E27FC236}">
                <a16:creationId xmlns:a16="http://schemas.microsoft.com/office/drawing/2014/main" id="{FAE959F8-3E4F-4C31-BD4E-59DDAE0DE54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ADB0099-AF3D-4DB8-95D2-668BD09342CC}"/>
              </a:ext>
            </a:extLst>
          </p:cNvPr>
          <p:cNvSpPr>
            <a:spLocks noGrp="1"/>
          </p:cNvSpPr>
          <p:nvPr>
            <p:ph type="sldNum" sz="quarter" idx="12"/>
          </p:nvPr>
        </p:nvSpPr>
        <p:spPr/>
        <p:txBody>
          <a:bodyPr/>
          <a:lstStyle/>
          <a:p>
            <a:fld id="{E5A070F1-C166-4A13-8145-06748E64187A}" type="slidenum">
              <a:rPr lang="zh-CN" altLang="en-US" smtClean="0"/>
              <a:t>‹#›</a:t>
            </a:fld>
            <a:endParaRPr lang="zh-CN" altLang="en-US"/>
          </a:p>
        </p:txBody>
      </p:sp>
    </p:spTree>
    <p:extLst>
      <p:ext uri="{BB962C8B-B14F-4D97-AF65-F5344CB8AC3E}">
        <p14:creationId xmlns:p14="http://schemas.microsoft.com/office/powerpoint/2010/main" val="3474403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51F375F9-7DE7-439C-8D31-7F01771BB4C3}"/>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DB1A4D5A-5479-46D4-AF31-69E9192A9EED}"/>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59C6C33-118D-4817-B5DC-483EFC33051E}"/>
              </a:ext>
            </a:extLst>
          </p:cNvPr>
          <p:cNvSpPr>
            <a:spLocks noGrp="1"/>
          </p:cNvSpPr>
          <p:nvPr>
            <p:ph type="dt" sz="half" idx="10"/>
          </p:nvPr>
        </p:nvSpPr>
        <p:spPr/>
        <p:txBody>
          <a:bodyPr/>
          <a:lstStyle/>
          <a:p>
            <a:fld id="{BFA68B6A-9C42-498C-8257-B7882A163F75}" type="datetimeFigureOut">
              <a:rPr lang="zh-CN" altLang="en-US" smtClean="0"/>
              <a:t>2019/11/6</a:t>
            </a:fld>
            <a:endParaRPr lang="zh-CN" altLang="en-US"/>
          </a:p>
        </p:txBody>
      </p:sp>
      <p:sp>
        <p:nvSpPr>
          <p:cNvPr id="5" name="页脚占位符 4">
            <a:extLst>
              <a:ext uri="{FF2B5EF4-FFF2-40B4-BE49-F238E27FC236}">
                <a16:creationId xmlns:a16="http://schemas.microsoft.com/office/drawing/2014/main" id="{00071BAA-8079-496D-81D6-3D006FF1742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4DFFDD5-5BE8-415F-89BB-FBF8B7C087DA}"/>
              </a:ext>
            </a:extLst>
          </p:cNvPr>
          <p:cNvSpPr>
            <a:spLocks noGrp="1"/>
          </p:cNvSpPr>
          <p:nvPr>
            <p:ph type="sldNum" sz="quarter" idx="12"/>
          </p:nvPr>
        </p:nvSpPr>
        <p:spPr/>
        <p:txBody>
          <a:bodyPr/>
          <a:lstStyle/>
          <a:p>
            <a:fld id="{E5A070F1-C166-4A13-8145-06748E64187A}" type="slidenum">
              <a:rPr lang="zh-CN" altLang="en-US" smtClean="0"/>
              <a:t>‹#›</a:t>
            </a:fld>
            <a:endParaRPr lang="zh-CN" altLang="en-US"/>
          </a:p>
        </p:txBody>
      </p:sp>
    </p:spTree>
    <p:extLst>
      <p:ext uri="{BB962C8B-B14F-4D97-AF65-F5344CB8AC3E}">
        <p14:creationId xmlns:p14="http://schemas.microsoft.com/office/powerpoint/2010/main" val="2533835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6D4C0F24-D16D-4AD5-A4FB-044815AF61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0D28ADBB-8FCD-4F6F-BBE3-3E29CBE083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0B22836-8E49-471B-BB53-BF37AF9E3A5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A68B6A-9C42-498C-8257-B7882A163F75}" type="datetimeFigureOut">
              <a:rPr lang="zh-CN" altLang="en-US" smtClean="0"/>
              <a:t>2019/11/6</a:t>
            </a:fld>
            <a:endParaRPr lang="zh-CN" altLang="en-US"/>
          </a:p>
        </p:txBody>
      </p:sp>
      <p:sp>
        <p:nvSpPr>
          <p:cNvPr id="5" name="页脚占位符 4">
            <a:extLst>
              <a:ext uri="{FF2B5EF4-FFF2-40B4-BE49-F238E27FC236}">
                <a16:creationId xmlns:a16="http://schemas.microsoft.com/office/drawing/2014/main" id="{40BC0328-280A-492F-89C6-E2C2406AA7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E15F4D92-BFAB-470A-9CCC-4A9E94F038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A070F1-C166-4A13-8145-06748E64187A}" type="slidenum">
              <a:rPr lang="zh-CN" altLang="en-US" smtClean="0"/>
              <a:t>‹#›</a:t>
            </a:fld>
            <a:endParaRPr lang="zh-CN" altLang="en-US"/>
          </a:p>
        </p:txBody>
      </p:sp>
    </p:spTree>
    <p:extLst>
      <p:ext uri="{BB962C8B-B14F-4D97-AF65-F5344CB8AC3E}">
        <p14:creationId xmlns:p14="http://schemas.microsoft.com/office/powerpoint/2010/main" val="2126054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7848EF-5D0E-48C7-B6C7-B607E0EB38F4}"/>
              </a:ext>
            </a:extLst>
          </p:cNvPr>
          <p:cNvSpPr>
            <a:spLocks noGrp="1"/>
          </p:cNvSpPr>
          <p:nvPr>
            <p:ph type="ctrTitle"/>
          </p:nvPr>
        </p:nvSpPr>
        <p:spPr>
          <a:xfrm>
            <a:off x="1524000" y="1368548"/>
            <a:ext cx="9144000" cy="2387600"/>
          </a:xfrm>
        </p:spPr>
        <p:txBody>
          <a:bodyPr>
            <a:normAutofit/>
          </a:bodyPr>
          <a:lstStyle/>
          <a:p>
            <a:r>
              <a:rPr lang="en-US" altLang="zh-CN" sz="4400" dirty="0"/>
              <a:t>Membership Inference Attacks Against Machine Learning Models </a:t>
            </a:r>
            <a:endParaRPr lang="zh-CN" altLang="en-US" sz="4400" dirty="0"/>
          </a:p>
        </p:txBody>
      </p:sp>
      <p:sp>
        <p:nvSpPr>
          <p:cNvPr id="3" name="副标题 2">
            <a:extLst>
              <a:ext uri="{FF2B5EF4-FFF2-40B4-BE49-F238E27FC236}">
                <a16:creationId xmlns:a16="http://schemas.microsoft.com/office/drawing/2014/main" id="{FFFB9D27-162B-4825-8247-4F12CF4585E9}"/>
              </a:ext>
            </a:extLst>
          </p:cNvPr>
          <p:cNvSpPr>
            <a:spLocks noGrp="1"/>
          </p:cNvSpPr>
          <p:nvPr>
            <p:ph type="subTitle" idx="1"/>
          </p:nvPr>
        </p:nvSpPr>
        <p:spPr>
          <a:xfrm>
            <a:off x="1524000" y="4410931"/>
            <a:ext cx="9144000" cy="1655762"/>
          </a:xfrm>
        </p:spPr>
        <p:txBody>
          <a:bodyPr/>
          <a:lstStyle/>
          <a:p>
            <a:r>
              <a:rPr lang="en-US" altLang="zh-CN" dirty="0"/>
              <a:t>Reza Shokri, Marco </a:t>
            </a:r>
            <a:r>
              <a:rPr lang="en-US" altLang="zh-CN" dirty="0" err="1"/>
              <a:t>Stronati</a:t>
            </a:r>
            <a:r>
              <a:rPr lang="en-US" altLang="zh-CN" dirty="0"/>
              <a:t>, </a:t>
            </a:r>
            <a:r>
              <a:rPr lang="en-US" altLang="zh-CN" dirty="0" err="1"/>
              <a:t>Congzheng</a:t>
            </a:r>
            <a:r>
              <a:rPr lang="en-US" altLang="zh-CN" dirty="0"/>
              <a:t> Song, Vitaly </a:t>
            </a:r>
            <a:r>
              <a:rPr lang="en-US" altLang="zh-CN" dirty="0" err="1"/>
              <a:t>Shmatikov</a:t>
            </a:r>
            <a:endParaRPr lang="zh-CN" altLang="en-US" dirty="0"/>
          </a:p>
        </p:txBody>
      </p:sp>
    </p:spTree>
    <p:extLst>
      <p:ext uri="{BB962C8B-B14F-4D97-AF65-F5344CB8AC3E}">
        <p14:creationId xmlns:p14="http://schemas.microsoft.com/office/powerpoint/2010/main" val="18244796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1A6CC5-6D9F-484A-8C6B-DA7E2B3486BA}"/>
              </a:ext>
            </a:extLst>
          </p:cNvPr>
          <p:cNvSpPr>
            <a:spLocks noGrp="1"/>
          </p:cNvSpPr>
          <p:nvPr>
            <p:ph type="title"/>
          </p:nvPr>
        </p:nvSpPr>
        <p:spPr/>
        <p:txBody>
          <a:bodyPr/>
          <a:lstStyle/>
          <a:p>
            <a:r>
              <a:rPr lang="en-US" altLang="zh-CN" dirty="0"/>
              <a:t>Membership inference</a:t>
            </a:r>
            <a:endParaRPr lang="zh-CN" altLang="en-US" dirty="0"/>
          </a:p>
        </p:txBody>
      </p:sp>
      <p:sp>
        <p:nvSpPr>
          <p:cNvPr id="3" name="内容占位符 2">
            <a:extLst>
              <a:ext uri="{FF2B5EF4-FFF2-40B4-BE49-F238E27FC236}">
                <a16:creationId xmlns:a16="http://schemas.microsoft.com/office/drawing/2014/main" id="{DE33DA67-CADF-431C-A85E-9A6965C5FF09}"/>
              </a:ext>
            </a:extLst>
          </p:cNvPr>
          <p:cNvSpPr>
            <a:spLocks noGrp="1"/>
          </p:cNvSpPr>
          <p:nvPr>
            <p:ph idx="1"/>
          </p:nvPr>
        </p:nvSpPr>
        <p:spPr/>
        <p:txBody>
          <a:bodyPr/>
          <a:lstStyle/>
          <a:p>
            <a:r>
              <a:rPr lang="en-US" altLang="zh-CN" dirty="0"/>
              <a:t>Given a machine learning model and a record, determine whether this record was used as part of the model’s training dataset or not.</a:t>
            </a:r>
          </a:p>
          <a:p>
            <a:endParaRPr lang="en-US" altLang="zh-CN" dirty="0"/>
          </a:p>
          <a:p>
            <a:endParaRPr lang="en-US" altLang="zh-CN" dirty="0"/>
          </a:p>
        </p:txBody>
      </p:sp>
      <p:pic>
        <p:nvPicPr>
          <p:cNvPr id="4" name="图片 3">
            <a:extLst>
              <a:ext uri="{FF2B5EF4-FFF2-40B4-BE49-F238E27FC236}">
                <a16:creationId xmlns:a16="http://schemas.microsoft.com/office/drawing/2014/main" id="{EB311F03-6C18-4F50-BC0B-930665566A4E}"/>
              </a:ext>
            </a:extLst>
          </p:cNvPr>
          <p:cNvPicPr>
            <a:picLocks noChangeAspect="1"/>
          </p:cNvPicPr>
          <p:nvPr/>
        </p:nvPicPr>
        <p:blipFill>
          <a:blip r:embed="rId3"/>
          <a:stretch>
            <a:fillRect/>
          </a:stretch>
        </p:blipFill>
        <p:spPr>
          <a:xfrm>
            <a:off x="3157904" y="3110278"/>
            <a:ext cx="5876192" cy="2465013"/>
          </a:xfrm>
          <a:prstGeom prst="rect">
            <a:avLst/>
          </a:prstGeom>
        </p:spPr>
      </p:pic>
    </p:spTree>
    <p:extLst>
      <p:ext uri="{BB962C8B-B14F-4D97-AF65-F5344CB8AC3E}">
        <p14:creationId xmlns:p14="http://schemas.microsoft.com/office/powerpoint/2010/main" val="4480852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E3C381-99DD-4094-B161-78B8BFBB4D80}"/>
              </a:ext>
            </a:extLst>
          </p:cNvPr>
          <p:cNvSpPr>
            <a:spLocks noGrp="1"/>
          </p:cNvSpPr>
          <p:nvPr>
            <p:ph type="title"/>
          </p:nvPr>
        </p:nvSpPr>
        <p:spPr/>
        <p:txBody>
          <a:bodyPr/>
          <a:lstStyle/>
          <a:p>
            <a:r>
              <a:rPr lang="en-US" altLang="zh-CN" dirty="0"/>
              <a:t>What we have?</a:t>
            </a:r>
            <a:endParaRPr lang="zh-CN" altLang="en-US" dirty="0"/>
          </a:p>
        </p:txBody>
      </p:sp>
      <p:sp>
        <p:nvSpPr>
          <p:cNvPr id="3" name="内容占位符 2">
            <a:extLst>
              <a:ext uri="{FF2B5EF4-FFF2-40B4-BE49-F238E27FC236}">
                <a16:creationId xmlns:a16="http://schemas.microsoft.com/office/drawing/2014/main" id="{35F4A16A-FA43-4D5A-9CF7-F5D946D2520D}"/>
              </a:ext>
            </a:extLst>
          </p:cNvPr>
          <p:cNvSpPr>
            <a:spLocks noGrp="1"/>
          </p:cNvSpPr>
          <p:nvPr>
            <p:ph idx="1"/>
          </p:nvPr>
        </p:nvSpPr>
        <p:spPr/>
        <p:txBody>
          <a:bodyPr/>
          <a:lstStyle/>
          <a:p>
            <a:r>
              <a:rPr lang="en-US" altLang="zh-CN" dirty="0"/>
              <a:t>Training data’s info:</a:t>
            </a:r>
          </a:p>
          <a:p>
            <a:pPr lvl="1"/>
            <a:r>
              <a:rPr lang="en-US" altLang="zh-CN" dirty="0"/>
              <a:t>Another part of training data. (1)</a:t>
            </a:r>
          </a:p>
          <a:p>
            <a:pPr lvl="1"/>
            <a:r>
              <a:rPr lang="en-US" altLang="zh-CN" dirty="0"/>
              <a:t>Training data’s distribution / noisy training data.</a:t>
            </a:r>
            <a:r>
              <a:rPr lang="zh-CN" altLang="en-US" dirty="0"/>
              <a:t> </a:t>
            </a:r>
            <a:r>
              <a:rPr lang="en-US" altLang="zh-CN" dirty="0"/>
              <a:t>(2)</a:t>
            </a:r>
          </a:p>
          <a:p>
            <a:pPr lvl="1"/>
            <a:r>
              <a:rPr lang="en-US" altLang="zh-CN" dirty="0"/>
              <a:t>Statistic </a:t>
            </a:r>
            <a:r>
              <a:rPr lang="en-US" altLang="zh-CN" dirty="0" err="1"/>
              <a:t>infos</a:t>
            </a:r>
            <a:r>
              <a:rPr lang="en-US" altLang="zh-CN" dirty="0"/>
              <a:t>. (3)</a:t>
            </a:r>
          </a:p>
          <a:p>
            <a:pPr lvl="1"/>
            <a:r>
              <a:rPr lang="en-US" altLang="zh-CN" dirty="0"/>
              <a:t>Nothing. (4)</a:t>
            </a:r>
          </a:p>
          <a:p>
            <a:endParaRPr lang="en-US" altLang="zh-CN" dirty="0"/>
          </a:p>
          <a:p>
            <a:r>
              <a:rPr lang="en-US" altLang="zh-CN" dirty="0"/>
              <a:t>Model’s info:</a:t>
            </a:r>
          </a:p>
          <a:p>
            <a:pPr lvl="1"/>
            <a:r>
              <a:rPr lang="en-US" altLang="zh-CN" dirty="0"/>
              <a:t>Model’s structure and training algorithm. (1)</a:t>
            </a:r>
          </a:p>
          <a:p>
            <a:pPr lvl="1"/>
            <a:r>
              <a:rPr lang="en-US" altLang="zh-CN" dirty="0"/>
              <a:t>Black-box query access to the target model. (2)</a:t>
            </a:r>
          </a:p>
          <a:p>
            <a:pPr lvl="1"/>
            <a:endParaRPr lang="en-US" altLang="zh-CN" dirty="0"/>
          </a:p>
        </p:txBody>
      </p:sp>
    </p:spTree>
    <p:extLst>
      <p:ext uri="{BB962C8B-B14F-4D97-AF65-F5344CB8AC3E}">
        <p14:creationId xmlns:p14="http://schemas.microsoft.com/office/powerpoint/2010/main" val="16827695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5DDAEB-069C-4F2C-998B-513C57DA5057}"/>
              </a:ext>
            </a:extLst>
          </p:cNvPr>
          <p:cNvSpPr>
            <a:spLocks noGrp="1"/>
          </p:cNvSpPr>
          <p:nvPr>
            <p:ph type="title"/>
          </p:nvPr>
        </p:nvSpPr>
        <p:spPr/>
        <p:txBody>
          <a:bodyPr/>
          <a:lstStyle/>
          <a:p>
            <a:r>
              <a:rPr lang="en-US" altLang="zh-CN" dirty="0"/>
              <a:t>Key point: Mimic</a:t>
            </a:r>
            <a:endParaRPr lang="zh-CN" altLang="en-US" dirty="0"/>
          </a:p>
        </p:txBody>
      </p:sp>
      <p:sp>
        <p:nvSpPr>
          <p:cNvPr id="3" name="内容占位符 2">
            <a:extLst>
              <a:ext uri="{FF2B5EF4-FFF2-40B4-BE49-F238E27FC236}">
                <a16:creationId xmlns:a16="http://schemas.microsoft.com/office/drawing/2014/main" id="{06F11BDF-19C1-48FA-99EB-A9B6F56F7D29}"/>
              </a:ext>
            </a:extLst>
          </p:cNvPr>
          <p:cNvSpPr>
            <a:spLocks noGrp="1"/>
          </p:cNvSpPr>
          <p:nvPr>
            <p:ph idx="1"/>
          </p:nvPr>
        </p:nvSpPr>
        <p:spPr/>
        <p:txBody>
          <a:bodyPr/>
          <a:lstStyle/>
          <a:p>
            <a:r>
              <a:rPr lang="en-US" altLang="zh-CN" dirty="0"/>
              <a:t>We purposed to mimic target model’s behavior.</a:t>
            </a:r>
          </a:p>
          <a:p>
            <a:r>
              <a:rPr lang="en-US" altLang="zh-CN" b="1" dirty="0"/>
              <a:t>Shadow</a:t>
            </a:r>
            <a:r>
              <a:rPr lang="zh-CN" altLang="en-US" b="1" dirty="0"/>
              <a:t> </a:t>
            </a:r>
            <a:r>
              <a:rPr lang="en-US" altLang="zh-CN" b="1" dirty="0"/>
              <a:t>model </a:t>
            </a:r>
            <a:r>
              <a:rPr lang="en-US" altLang="zh-CN" dirty="0"/>
              <a:t>!!!</a:t>
            </a:r>
          </a:p>
          <a:p>
            <a:endParaRPr lang="en-US" altLang="zh-CN" dirty="0"/>
          </a:p>
        </p:txBody>
      </p:sp>
      <p:pic>
        <p:nvPicPr>
          <p:cNvPr id="4" name="图片 3">
            <a:extLst>
              <a:ext uri="{FF2B5EF4-FFF2-40B4-BE49-F238E27FC236}">
                <a16:creationId xmlns:a16="http://schemas.microsoft.com/office/drawing/2014/main" id="{2B954C07-0782-43C3-AC74-14CCE7BA656F}"/>
              </a:ext>
            </a:extLst>
          </p:cNvPr>
          <p:cNvPicPr>
            <a:picLocks noChangeAspect="1"/>
          </p:cNvPicPr>
          <p:nvPr/>
        </p:nvPicPr>
        <p:blipFill>
          <a:blip r:embed="rId3"/>
          <a:stretch>
            <a:fillRect/>
          </a:stretch>
        </p:blipFill>
        <p:spPr>
          <a:xfrm>
            <a:off x="7058025" y="2527789"/>
            <a:ext cx="4295775" cy="3543300"/>
          </a:xfrm>
          <a:prstGeom prst="rect">
            <a:avLst/>
          </a:prstGeom>
        </p:spPr>
      </p:pic>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344EF969-1FF7-47A5-9B1F-E6AE2D9B0DB6}"/>
                  </a:ext>
                </a:extLst>
              </p:cNvPr>
              <p:cNvSpPr txBox="1"/>
              <p:nvPr/>
            </p:nvSpPr>
            <p:spPr>
              <a:xfrm>
                <a:off x="1239714" y="3429000"/>
                <a:ext cx="5591909" cy="1499578"/>
              </a:xfrm>
              <a:prstGeom prst="rect">
                <a:avLst/>
              </a:prstGeom>
              <a:noFill/>
            </p:spPr>
            <p:txBody>
              <a:bodyPr wrap="square" rtlCol="0">
                <a:spAutoFit/>
              </a:bodyPr>
              <a:lstStyle/>
              <a:p>
                <a:r>
                  <a:rPr lang="en-US" altLang="zh-CN" dirty="0"/>
                  <a:t>For each class </a:t>
                </a:r>
                <a14:m>
                  <m:oMath xmlns:m="http://schemas.openxmlformats.org/officeDocument/2006/math">
                    <m:r>
                      <a:rPr lang="en-US" altLang="zh-CN" b="0" i="1" smtClean="0">
                        <a:latin typeface="Cambria Math" panose="02040503050406030204" pitchFamily="18" charset="0"/>
                      </a:rPr>
                      <m:t>𝑖</m:t>
                    </m:r>
                  </m:oMath>
                </a14:m>
                <a:r>
                  <a:rPr lang="en-US" altLang="zh-CN" dirty="0"/>
                  <a:t>, we plan to train a shadow model </a:t>
                </a:r>
                <a14:m>
                  <m:oMath xmlns:m="http://schemas.openxmlformats.org/officeDocument/2006/math">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𝑓</m:t>
                        </m:r>
                      </m:e>
                      <m:sub>
                        <m:r>
                          <a:rPr lang="en-US" altLang="zh-CN" b="0" i="1" smtClean="0">
                            <a:latin typeface="Cambria Math" panose="02040503050406030204" pitchFamily="18" charset="0"/>
                          </a:rPr>
                          <m:t>𝑠h𝑎𝑑𝑜𝑤</m:t>
                        </m:r>
                      </m:sub>
                      <m:sup>
                        <m:r>
                          <a:rPr lang="en-US" altLang="zh-CN" b="0" i="1" smtClean="0">
                            <a:latin typeface="Cambria Math" panose="02040503050406030204" pitchFamily="18" charset="0"/>
                          </a:rPr>
                          <m:t>𝑖</m:t>
                        </m:r>
                      </m:sup>
                    </m:sSubSup>
                    <m:r>
                      <a:rPr lang="en-US" altLang="zh-CN" b="0" i="1" smtClean="0">
                        <a:latin typeface="Cambria Math" panose="02040503050406030204" pitchFamily="18" charset="0"/>
                      </a:rPr>
                      <m:t>()</m:t>
                    </m:r>
                  </m:oMath>
                </a14:m>
                <a:r>
                  <a:rPr lang="en-US" altLang="zh-CN" dirty="0"/>
                  <a:t>. Each shadow model trained on the data distribution of class </a:t>
                </a:r>
                <a14:m>
                  <m:oMath xmlns:m="http://schemas.openxmlformats.org/officeDocument/2006/math">
                    <m:r>
                      <a:rPr lang="en-US" altLang="zh-CN" b="0" i="1" smtClean="0">
                        <a:latin typeface="Cambria Math" panose="02040503050406030204" pitchFamily="18" charset="0"/>
                      </a:rPr>
                      <m:t>𝑖</m:t>
                    </m:r>
                  </m:oMath>
                </a14:m>
                <a:r>
                  <a:rPr lang="en-US" altLang="zh-CN" dirty="0"/>
                  <a:t> and try to predict if one instance is in its training set (binary classification problem).</a:t>
                </a:r>
              </a:p>
              <a:p>
                <a:endParaRPr lang="zh-CN" altLang="en-US" dirty="0"/>
              </a:p>
            </p:txBody>
          </p:sp>
        </mc:Choice>
        <mc:Fallback xmlns="">
          <p:sp>
            <p:nvSpPr>
              <p:cNvPr id="5" name="文本框 4">
                <a:extLst>
                  <a:ext uri="{FF2B5EF4-FFF2-40B4-BE49-F238E27FC236}">
                    <a16:creationId xmlns:a16="http://schemas.microsoft.com/office/drawing/2014/main" id="{344EF969-1FF7-47A5-9B1F-E6AE2D9B0DB6}"/>
                  </a:ext>
                </a:extLst>
              </p:cNvPr>
              <p:cNvSpPr txBox="1">
                <a:spLocks noRot="1" noChangeAspect="1" noMove="1" noResize="1" noEditPoints="1" noAdjustHandles="1" noChangeArrowheads="1" noChangeShapeType="1" noTextEdit="1"/>
              </p:cNvSpPr>
              <p:nvPr/>
            </p:nvSpPr>
            <p:spPr>
              <a:xfrm>
                <a:off x="1239714" y="3429000"/>
                <a:ext cx="5591909" cy="1499578"/>
              </a:xfrm>
              <a:prstGeom prst="rect">
                <a:avLst/>
              </a:prstGeom>
              <a:blipFill>
                <a:blip r:embed="rId4"/>
                <a:stretch>
                  <a:fillRect l="-871" t="-2449"/>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85C3B236-096D-493B-97BB-A275222D4791}"/>
              </a:ext>
            </a:extLst>
          </p:cNvPr>
          <p:cNvSpPr txBox="1"/>
          <p:nvPr/>
        </p:nvSpPr>
        <p:spPr>
          <a:xfrm>
            <a:off x="800466" y="4926769"/>
            <a:ext cx="6295294" cy="523220"/>
          </a:xfrm>
          <a:prstGeom prst="rect">
            <a:avLst/>
          </a:prstGeom>
          <a:noFill/>
        </p:spPr>
        <p:txBody>
          <a:bodyPr wrap="square" rtlCol="0">
            <a:spAutoFit/>
          </a:bodyPr>
          <a:lstStyle/>
          <a:p>
            <a:r>
              <a:rPr lang="en-US" altLang="zh-CN" sz="2800" b="1" dirty="0"/>
              <a:t>Why not just one shadow model ?</a:t>
            </a:r>
            <a:endParaRPr lang="zh-CN" altLang="en-US" sz="2800" b="1" dirty="0"/>
          </a:p>
        </p:txBody>
      </p:sp>
    </p:spTree>
    <p:extLst>
      <p:ext uri="{BB962C8B-B14F-4D97-AF65-F5344CB8AC3E}">
        <p14:creationId xmlns:p14="http://schemas.microsoft.com/office/powerpoint/2010/main" val="31346493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A451FC-8BEE-4F51-BC46-04111C6A9BE3}"/>
              </a:ext>
            </a:extLst>
          </p:cNvPr>
          <p:cNvSpPr>
            <a:spLocks noGrp="1"/>
          </p:cNvSpPr>
          <p:nvPr>
            <p:ph type="title"/>
          </p:nvPr>
        </p:nvSpPr>
        <p:spPr/>
        <p:txBody>
          <a:bodyPr/>
          <a:lstStyle/>
          <a:p>
            <a:r>
              <a:rPr lang="en-US" altLang="zh-CN" dirty="0"/>
              <a:t>Shadow models’ food</a:t>
            </a:r>
            <a:endParaRPr lang="zh-CN" altLang="en-US" dirty="0"/>
          </a:p>
        </p:txBody>
      </p:sp>
      <p:sp>
        <p:nvSpPr>
          <p:cNvPr id="3" name="内容占位符 2">
            <a:extLst>
              <a:ext uri="{FF2B5EF4-FFF2-40B4-BE49-F238E27FC236}">
                <a16:creationId xmlns:a16="http://schemas.microsoft.com/office/drawing/2014/main" id="{A93F38E4-F6CA-4136-8A55-BE158507D1C8}"/>
              </a:ext>
            </a:extLst>
          </p:cNvPr>
          <p:cNvSpPr>
            <a:spLocks noGrp="1"/>
          </p:cNvSpPr>
          <p:nvPr>
            <p:ph idx="1"/>
          </p:nvPr>
        </p:nvSpPr>
        <p:spPr/>
        <p:txBody>
          <a:bodyPr/>
          <a:lstStyle/>
          <a:p>
            <a:r>
              <a:rPr lang="en-US" altLang="zh-CN" dirty="0"/>
              <a:t>Everything seems easy now... </a:t>
            </a:r>
          </a:p>
          <a:p>
            <a:r>
              <a:rPr lang="en-US" altLang="zh-CN" dirty="0"/>
              <a:t>but how to obtain the training data of shadow model?</a:t>
            </a:r>
          </a:p>
          <a:p>
            <a:r>
              <a:rPr lang="en-US" altLang="zh-CN" dirty="0"/>
              <a:t>We need to ensure the synthetic data should be from the same distribution of private training data.</a:t>
            </a:r>
          </a:p>
          <a:p>
            <a:endParaRPr lang="en-US" altLang="zh-CN" dirty="0"/>
          </a:p>
          <a:p>
            <a:r>
              <a:rPr lang="en-US" altLang="zh-CN" dirty="0"/>
              <a:t>Purposed method:</a:t>
            </a:r>
          </a:p>
          <a:p>
            <a:pPr lvl="1"/>
            <a:r>
              <a:rPr lang="en-US" altLang="zh-CN" dirty="0"/>
              <a:t>Model-based synthesis</a:t>
            </a:r>
          </a:p>
          <a:p>
            <a:pPr lvl="1"/>
            <a:r>
              <a:rPr lang="en-US" altLang="zh-CN" dirty="0"/>
              <a:t>Statistics-based synthesis</a:t>
            </a:r>
          </a:p>
          <a:p>
            <a:pPr lvl="1"/>
            <a:r>
              <a:rPr lang="en-US" altLang="zh-CN" dirty="0"/>
              <a:t>Noisy real data</a:t>
            </a:r>
            <a:endParaRPr lang="zh-CN" altLang="en-US" dirty="0"/>
          </a:p>
        </p:txBody>
      </p:sp>
    </p:spTree>
    <p:extLst>
      <p:ext uri="{BB962C8B-B14F-4D97-AF65-F5344CB8AC3E}">
        <p14:creationId xmlns:p14="http://schemas.microsoft.com/office/powerpoint/2010/main" val="7599098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86082C-B50E-4035-BFE8-3C78FF4538A7}"/>
              </a:ext>
            </a:extLst>
          </p:cNvPr>
          <p:cNvSpPr>
            <a:spLocks noGrp="1"/>
          </p:cNvSpPr>
          <p:nvPr>
            <p:ph type="title"/>
          </p:nvPr>
        </p:nvSpPr>
        <p:spPr/>
        <p:txBody>
          <a:bodyPr/>
          <a:lstStyle/>
          <a:p>
            <a:r>
              <a:rPr lang="en-US" altLang="zh-CN" dirty="0"/>
              <a:t>Model-based synthesis</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D666116F-3C76-4DB3-A6A4-F8B83BC32A65}"/>
                  </a:ext>
                </a:extLst>
              </p:cNvPr>
              <p:cNvSpPr>
                <a:spLocks noGrp="1"/>
              </p:cNvSpPr>
              <p:nvPr>
                <p:ph idx="1"/>
              </p:nvPr>
            </p:nvSpPr>
            <p:spPr>
              <a:xfrm>
                <a:off x="838200" y="1825625"/>
                <a:ext cx="10515600" cy="4667250"/>
              </a:xfrm>
            </p:spPr>
            <p:txBody>
              <a:bodyPr/>
              <a:lstStyle/>
              <a:p>
                <a:r>
                  <a:rPr lang="en-US" altLang="zh-CN" dirty="0"/>
                  <a:t>What we have:</a:t>
                </a:r>
              </a:p>
              <a:p>
                <a:pPr lvl="1"/>
                <a:r>
                  <a:rPr lang="en-US" altLang="zh-CN" dirty="0"/>
                  <a:t>Data aspect: nothing.</a:t>
                </a:r>
              </a:p>
              <a:p>
                <a:pPr lvl="1"/>
                <a:r>
                  <a:rPr lang="en-US" altLang="zh-CN" dirty="0"/>
                  <a:t>Model aspect: black-box query access (even can get logits!)</a:t>
                </a:r>
              </a:p>
              <a:p>
                <a:pPr lvl="1"/>
                <a:endParaRPr lang="en-US" altLang="zh-CN" dirty="0"/>
              </a:p>
              <a:p>
                <a:r>
                  <a:rPr lang="en-US" altLang="zh-CN" dirty="0"/>
                  <a:t>Genetic algorithm... </a:t>
                </a:r>
              </a:p>
              <a:p>
                <a:pPr lvl="1"/>
                <a:r>
                  <a:rPr lang="en-US" altLang="zh-CN" dirty="0"/>
                  <a:t>After we query the model an </a:t>
                </a:r>
                <a:r>
                  <a:rPr lang="en-US" altLang="zh-CN" dirty="0" err="1"/>
                  <a:t>img</a:t>
                </a:r>
                <a:r>
                  <a:rPr lang="en-US" altLang="zh-CN" dirty="0"/>
                  <a:t> =&gt; the prediction label and its logits.</a:t>
                </a:r>
              </a:p>
              <a:p>
                <a:pPr lvl="1"/>
                <a:r>
                  <a:rPr lang="en-US" altLang="zh-CN" dirty="0"/>
                  <a:t>Walk an random step.</a:t>
                </a:r>
              </a:p>
              <a:p>
                <a:pPr lvl="1"/>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𝑐</m:t>
                        </m:r>
                      </m:sub>
                    </m:sSub>
                    <m:r>
                      <a:rPr lang="en-US" altLang="zh-CN" b="0" i="1" smtClean="0">
                        <a:latin typeface="Cambria Math" panose="02040503050406030204" pitchFamily="18" charset="0"/>
                      </a:rPr>
                      <m:t>&gt;</m:t>
                    </m:r>
                    <m:r>
                      <a:rPr lang="en-US" altLang="zh-CN" b="0" i="1" smtClean="0">
                        <a:latin typeface="Cambria Math" panose="02040503050406030204" pitchFamily="18" charset="0"/>
                      </a:rPr>
                      <m:t>𝑐𝑢𝑟𝑟𝑒𝑛𝑡</m:t>
                    </m:r>
                    <m:r>
                      <a:rPr lang="en-US" altLang="zh-CN" b="0" i="1" smtClean="0">
                        <a:latin typeface="Cambria Math" panose="02040503050406030204" pitchFamily="18" charset="0"/>
                      </a:rPr>
                      <m:t> </m:t>
                    </m:r>
                    <m:r>
                      <a:rPr lang="en-US" altLang="zh-CN" b="0" i="1" smtClean="0">
                        <a:latin typeface="Cambria Math" panose="02040503050406030204" pitchFamily="18" charset="0"/>
                      </a:rPr>
                      <m:t>𝑏𝑒𝑠𝑡</m:t>
                    </m:r>
                  </m:oMath>
                </a14:m>
                <a:r>
                  <a:rPr lang="en-US" altLang="zh-CN" dirty="0"/>
                  <a:t>, Update.</a:t>
                </a:r>
              </a:p>
              <a:p>
                <a:pPr lvl="2"/>
                <a14:m>
                  <m:oMath xmlns:m="http://schemas.openxmlformats.org/officeDocument/2006/math">
                    <m:r>
                      <a:rPr lang="en-US" altLang="zh-CN" b="0" i="1" smtClean="0">
                        <a:latin typeface="Cambria Math" panose="02040503050406030204" pitchFamily="18" charset="0"/>
                      </a:rPr>
                      <m:t>𝑐𝑢𝑟𝑟𝑒𝑛𝑡</m:t>
                    </m:r>
                    <m:r>
                      <a:rPr lang="en-US" altLang="zh-CN" b="0" i="1" smtClean="0">
                        <a:latin typeface="Cambria Math" panose="02040503050406030204" pitchFamily="18" charset="0"/>
                      </a:rPr>
                      <m:t> </m:t>
                    </m:r>
                    <m:r>
                      <a:rPr lang="en-US" altLang="zh-CN" b="0" i="1" smtClean="0">
                        <a:latin typeface="Cambria Math" panose="02040503050406030204" pitchFamily="18" charset="0"/>
                      </a:rPr>
                      <m:t>𝑏𝑒𝑠𝑡</m:t>
                    </m:r>
                    <m:r>
                      <a:rPr lang="en-US" altLang="zh-CN" b="0" i="1" smtClean="0">
                        <a:latin typeface="Cambria Math" panose="02040503050406030204" pitchFamily="18" charset="0"/>
                      </a:rPr>
                      <m:t>&gt;</m:t>
                    </m:r>
                    <m:r>
                      <a:rPr lang="en-US" altLang="zh-CN" b="0" i="1" smtClean="0">
                        <a:latin typeface="Cambria Math" panose="02040503050406030204" pitchFamily="18" charset="0"/>
                      </a:rPr>
                      <m:t>𝑎𝑐𝑐𝑒𝑝𝑡𝑎𝑏𝑙𝑒</m:t>
                    </m:r>
                    <m:r>
                      <a:rPr lang="en-US" altLang="zh-CN" b="0" i="1" smtClean="0">
                        <a:latin typeface="Cambria Math" panose="02040503050406030204" pitchFamily="18" charset="0"/>
                      </a:rPr>
                      <m:t> </m:t>
                    </m:r>
                    <m:r>
                      <a:rPr lang="en-US" altLang="zh-CN" b="0" i="1" smtClean="0">
                        <a:latin typeface="Cambria Math" panose="02040503050406030204" pitchFamily="18" charset="0"/>
                      </a:rPr>
                      <m:t>𝑡h𝑟𝑒𝑠h𝑜𝑙𝑑</m:t>
                    </m:r>
                  </m:oMath>
                </a14:m>
                <a:r>
                  <a:rPr lang="en-US" altLang="zh-CN" dirty="0"/>
                  <a:t>, Return </a:t>
                </a:r>
              </a:p>
              <a:p>
                <a:pPr lvl="1"/>
                <a:r>
                  <a:rPr lang="en-US" altLang="zh-CN" dirty="0"/>
                  <a:t>Else keep random.</a:t>
                </a:r>
              </a:p>
            </p:txBody>
          </p:sp>
        </mc:Choice>
        <mc:Fallback xmlns="">
          <p:sp>
            <p:nvSpPr>
              <p:cNvPr id="3" name="内容占位符 2">
                <a:extLst>
                  <a:ext uri="{FF2B5EF4-FFF2-40B4-BE49-F238E27FC236}">
                    <a16:creationId xmlns:a16="http://schemas.microsoft.com/office/drawing/2014/main" id="{D666116F-3C76-4DB3-A6A4-F8B83BC32A65}"/>
                  </a:ext>
                </a:extLst>
              </p:cNvPr>
              <p:cNvSpPr>
                <a:spLocks noGrp="1" noRot="1" noChangeAspect="1" noMove="1" noResize="1" noEditPoints="1" noAdjustHandles="1" noChangeArrowheads="1" noChangeShapeType="1" noTextEdit="1"/>
              </p:cNvSpPr>
              <p:nvPr>
                <p:ph idx="1"/>
              </p:nvPr>
            </p:nvSpPr>
            <p:spPr>
              <a:xfrm>
                <a:off x="838200" y="1825625"/>
                <a:ext cx="10515600" cy="4667250"/>
              </a:xfrm>
              <a:blipFill>
                <a:blip r:embed="rId2"/>
                <a:stretch>
                  <a:fillRect l="-1043" t="-235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867456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BCE73B-5359-448D-A76D-88A195A56507}"/>
              </a:ext>
            </a:extLst>
          </p:cNvPr>
          <p:cNvSpPr>
            <a:spLocks noGrp="1"/>
          </p:cNvSpPr>
          <p:nvPr>
            <p:ph type="title"/>
          </p:nvPr>
        </p:nvSpPr>
        <p:spPr/>
        <p:txBody>
          <a:bodyPr/>
          <a:lstStyle/>
          <a:p>
            <a:r>
              <a:rPr lang="en-US" altLang="zh-CN" dirty="0"/>
              <a:t>Framework</a:t>
            </a:r>
            <a:endParaRPr lang="zh-CN" altLang="en-US" dirty="0"/>
          </a:p>
        </p:txBody>
      </p:sp>
      <p:pic>
        <p:nvPicPr>
          <p:cNvPr id="6" name="内容占位符 5">
            <a:extLst>
              <a:ext uri="{FF2B5EF4-FFF2-40B4-BE49-F238E27FC236}">
                <a16:creationId xmlns:a16="http://schemas.microsoft.com/office/drawing/2014/main" id="{AF8B3158-2387-48CF-828B-35CEA33C9A63}"/>
              </a:ext>
            </a:extLst>
          </p:cNvPr>
          <p:cNvPicPr>
            <a:picLocks noGrp="1" noChangeAspect="1"/>
          </p:cNvPicPr>
          <p:nvPr>
            <p:ph idx="1"/>
          </p:nvPr>
        </p:nvPicPr>
        <p:blipFill>
          <a:blip r:embed="rId3"/>
          <a:stretch>
            <a:fillRect/>
          </a:stretch>
        </p:blipFill>
        <p:spPr>
          <a:xfrm>
            <a:off x="6210300" y="2995613"/>
            <a:ext cx="4591050" cy="2438400"/>
          </a:xfrm>
          <a:prstGeom prst="rect">
            <a:avLst/>
          </a:prstGeom>
        </p:spPr>
      </p:pic>
      <p:pic>
        <p:nvPicPr>
          <p:cNvPr id="5" name="图片 4">
            <a:extLst>
              <a:ext uri="{FF2B5EF4-FFF2-40B4-BE49-F238E27FC236}">
                <a16:creationId xmlns:a16="http://schemas.microsoft.com/office/drawing/2014/main" id="{5DD573FB-D9EE-44D4-AFC5-63039515368E}"/>
              </a:ext>
            </a:extLst>
          </p:cNvPr>
          <p:cNvPicPr>
            <a:picLocks noChangeAspect="1"/>
          </p:cNvPicPr>
          <p:nvPr/>
        </p:nvPicPr>
        <p:blipFill>
          <a:blip r:embed="rId4"/>
          <a:stretch>
            <a:fillRect/>
          </a:stretch>
        </p:blipFill>
        <p:spPr>
          <a:xfrm>
            <a:off x="838200" y="1690688"/>
            <a:ext cx="4686300" cy="3743325"/>
          </a:xfrm>
          <a:prstGeom prst="rect">
            <a:avLst/>
          </a:prstGeom>
        </p:spPr>
      </p:pic>
      <p:sp>
        <p:nvSpPr>
          <p:cNvPr id="7" name="文本框 6">
            <a:extLst>
              <a:ext uri="{FF2B5EF4-FFF2-40B4-BE49-F238E27FC236}">
                <a16:creationId xmlns:a16="http://schemas.microsoft.com/office/drawing/2014/main" id="{1C10F152-F2D0-4558-AF5D-8F8A00168231}"/>
              </a:ext>
            </a:extLst>
          </p:cNvPr>
          <p:cNvSpPr txBox="1"/>
          <p:nvPr/>
        </p:nvSpPr>
        <p:spPr>
          <a:xfrm>
            <a:off x="3900497" y="5723792"/>
            <a:ext cx="3248005" cy="523220"/>
          </a:xfrm>
          <a:prstGeom prst="rect">
            <a:avLst/>
          </a:prstGeom>
          <a:noFill/>
        </p:spPr>
        <p:txBody>
          <a:bodyPr wrap="none" rtlCol="0">
            <a:spAutoFit/>
          </a:bodyPr>
          <a:lstStyle/>
          <a:p>
            <a:r>
              <a:rPr lang="en-US" altLang="zh-CN" sz="2800" b="1" dirty="0"/>
              <a:t>Why this works ???</a:t>
            </a:r>
            <a:endParaRPr lang="zh-CN" altLang="en-US" sz="2800" b="1" dirty="0"/>
          </a:p>
        </p:txBody>
      </p:sp>
    </p:spTree>
    <p:extLst>
      <p:ext uri="{BB962C8B-B14F-4D97-AF65-F5344CB8AC3E}">
        <p14:creationId xmlns:p14="http://schemas.microsoft.com/office/powerpoint/2010/main" val="31732513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978CDE-A899-451F-9B8E-099A1154912F}"/>
              </a:ext>
            </a:extLst>
          </p:cNvPr>
          <p:cNvSpPr>
            <a:spLocks noGrp="1"/>
          </p:cNvSpPr>
          <p:nvPr>
            <p:ph type="title"/>
          </p:nvPr>
        </p:nvSpPr>
        <p:spPr/>
        <p:txBody>
          <a:bodyPr/>
          <a:lstStyle/>
          <a:p>
            <a:r>
              <a:rPr lang="en-US" altLang="zh-CN" dirty="0"/>
              <a:t>Whole framework</a:t>
            </a:r>
            <a:endParaRPr lang="zh-CN" altLang="en-US" dirty="0"/>
          </a:p>
        </p:txBody>
      </p:sp>
      <p:pic>
        <p:nvPicPr>
          <p:cNvPr id="4" name="图片 3">
            <a:extLst>
              <a:ext uri="{FF2B5EF4-FFF2-40B4-BE49-F238E27FC236}">
                <a16:creationId xmlns:a16="http://schemas.microsoft.com/office/drawing/2014/main" id="{D566C9B1-063B-4223-8555-DA104D240E68}"/>
              </a:ext>
            </a:extLst>
          </p:cNvPr>
          <p:cNvPicPr>
            <a:picLocks noChangeAspect="1"/>
          </p:cNvPicPr>
          <p:nvPr/>
        </p:nvPicPr>
        <p:blipFill>
          <a:blip r:embed="rId2"/>
          <a:stretch>
            <a:fillRect/>
          </a:stretch>
        </p:blipFill>
        <p:spPr>
          <a:xfrm>
            <a:off x="1600200" y="2106491"/>
            <a:ext cx="8991600" cy="3524250"/>
          </a:xfrm>
          <a:prstGeom prst="rect">
            <a:avLst/>
          </a:prstGeom>
        </p:spPr>
      </p:pic>
    </p:spTree>
    <p:extLst>
      <p:ext uri="{BB962C8B-B14F-4D97-AF65-F5344CB8AC3E}">
        <p14:creationId xmlns:p14="http://schemas.microsoft.com/office/powerpoint/2010/main" val="32826822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2F9CD6-EE35-4CCB-BEF2-DCC02E34E4F5}"/>
              </a:ext>
            </a:extLst>
          </p:cNvPr>
          <p:cNvSpPr>
            <a:spLocks noGrp="1"/>
          </p:cNvSpPr>
          <p:nvPr>
            <p:ph type="title"/>
          </p:nvPr>
        </p:nvSpPr>
        <p:spPr/>
        <p:txBody>
          <a:bodyPr/>
          <a:lstStyle/>
          <a:p>
            <a:r>
              <a:rPr lang="en-US" altLang="zh-CN" dirty="0"/>
              <a:t>Attack results</a:t>
            </a:r>
            <a:endParaRPr lang="zh-CN" altLang="en-US" dirty="0"/>
          </a:p>
        </p:txBody>
      </p:sp>
      <p:pic>
        <p:nvPicPr>
          <p:cNvPr id="4" name="内容占位符 3">
            <a:extLst>
              <a:ext uri="{FF2B5EF4-FFF2-40B4-BE49-F238E27FC236}">
                <a16:creationId xmlns:a16="http://schemas.microsoft.com/office/drawing/2014/main" id="{414955C4-F92B-4AF0-B8D0-CE48E67B370C}"/>
              </a:ext>
            </a:extLst>
          </p:cNvPr>
          <p:cNvPicPr>
            <a:picLocks noGrp="1" noChangeAspect="1"/>
          </p:cNvPicPr>
          <p:nvPr>
            <p:ph idx="1"/>
          </p:nvPr>
        </p:nvPicPr>
        <p:blipFill>
          <a:blip r:embed="rId3"/>
          <a:stretch>
            <a:fillRect/>
          </a:stretch>
        </p:blipFill>
        <p:spPr>
          <a:xfrm>
            <a:off x="0" y="1850806"/>
            <a:ext cx="7481285" cy="3025993"/>
          </a:xfrm>
          <a:prstGeom prst="rect">
            <a:avLst/>
          </a:prstGeom>
        </p:spPr>
      </p:pic>
      <p:pic>
        <p:nvPicPr>
          <p:cNvPr id="5" name="图片 4">
            <a:extLst>
              <a:ext uri="{FF2B5EF4-FFF2-40B4-BE49-F238E27FC236}">
                <a16:creationId xmlns:a16="http://schemas.microsoft.com/office/drawing/2014/main" id="{15853860-EA2D-49D6-8F11-199288BBFE2B}"/>
              </a:ext>
            </a:extLst>
          </p:cNvPr>
          <p:cNvPicPr>
            <a:picLocks noChangeAspect="1"/>
          </p:cNvPicPr>
          <p:nvPr/>
        </p:nvPicPr>
        <p:blipFill>
          <a:blip r:embed="rId4"/>
          <a:stretch>
            <a:fillRect/>
          </a:stretch>
        </p:blipFill>
        <p:spPr>
          <a:xfrm>
            <a:off x="7088604" y="1568341"/>
            <a:ext cx="4514850" cy="3590925"/>
          </a:xfrm>
          <a:prstGeom prst="rect">
            <a:avLst/>
          </a:prstGeom>
        </p:spPr>
      </p:pic>
    </p:spTree>
    <p:extLst>
      <p:ext uri="{BB962C8B-B14F-4D97-AF65-F5344CB8AC3E}">
        <p14:creationId xmlns:p14="http://schemas.microsoft.com/office/powerpoint/2010/main" val="23073599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45CEF0-6A99-4D2B-8434-B6EA84005A7F}"/>
              </a:ext>
            </a:extLst>
          </p:cNvPr>
          <p:cNvSpPr>
            <a:spLocks noGrp="1"/>
          </p:cNvSpPr>
          <p:nvPr>
            <p:ph type="title"/>
          </p:nvPr>
        </p:nvSpPr>
        <p:spPr/>
        <p:txBody>
          <a:bodyPr/>
          <a:lstStyle/>
          <a:p>
            <a:r>
              <a:rPr lang="en-US" altLang="zh-CN" dirty="0"/>
              <a:t>Other thoughts</a:t>
            </a:r>
            <a:endParaRPr lang="zh-CN" altLang="en-US" dirty="0"/>
          </a:p>
        </p:txBody>
      </p:sp>
      <p:sp>
        <p:nvSpPr>
          <p:cNvPr id="3" name="内容占位符 2">
            <a:extLst>
              <a:ext uri="{FF2B5EF4-FFF2-40B4-BE49-F238E27FC236}">
                <a16:creationId xmlns:a16="http://schemas.microsoft.com/office/drawing/2014/main" id="{B734854B-742F-445C-93B6-1BDE88585036}"/>
              </a:ext>
            </a:extLst>
          </p:cNvPr>
          <p:cNvSpPr>
            <a:spLocks noGrp="1"/>
          </p:cNvSpPr>
          <p:nvPr>
            <p:ph idx="1"/>
          </p:nvPr>
        </p:nvSpPr>
        <p:spPr>
          <a:xfrm>
            <a:off x="838200" y="1570648"/>
            <a:ext cx="10515600" cy="4351338"/>
          </a:xfrm>
        </p:spPr>
        <p:txBody>
          <a:bodyPr/>
          <a:lstStyle/>
          <a:p>
            <a:r>
              <a:rPr lang="en-US" altLang="zh-CN" dirty="0"/>
              <a:t>Overfitting =&gt; leaking data ?</a:t>
            </a:r>
          </a:p>
          <a:p>
            <a:pPr lvl="1"/>
            <a:r>
              <a:rPr lang="en-US" altLang="zh-CN" dirty="0"/>
              <a:t>“The more overfitted a model, the more it leaks—but only for models of the same type.”</a:t>
            </a:r>
            <a:endParaRPr lang="zh-CN" altLang="en-US" dirty="0"/>
          </a:p>
          <a:p>
            <a:endParaRPr lang="en-US" altLang="zh-CN" dirty="0"/>
          </a:p>
          <a:p>
            <a:r>
              <a:rPr lang="en-US" altLang="zh-CN" dirty="0"/>
              <a:t>Bad generalization, non-diverse data =&gt; leaking data?</a:t>
            </a:r>
          </a:p>
        </p:txBody>
      </p:sp>
      <p:pic>
        <p:nvPicPr>
          <p:cNvPr id="4" name="图片 3">
            <a:extLst>
              <a:ext uri="{FF2B5EF4-FFF2-40B4-BE49-F238E27FC236}">
                <a16:creationId xmlns:a16="http://schemas.microsoft.com/office/drawing/2014/main" id="{74525A7D-7E29-40F6-B7AE-86644B4C1049}"/>
              </a:ext>
            </a:extLst>
          </p:cNvPr>
          <p:cNvPicPr>
            <a:picLocks noChangeAspect="1"/>
          </p:cNvPicPr>
          <p:nvPr/>
        </p:nvPicPr>
        <p:blipFill>
          <a:blip r:embed="rId3"/>
          <a:stretch>
            <a:fillRect/>
          </a:stretch>
        </p:blipFill>
        <p:spPr>
          <a:xfrm>
            <a:off x="785811" y="3746317"/>
            <a:ext cx="10339021" cy="2417582"/>
          </a:xfrm>
          <a:prstGeom prst="rect">
            <a:avLst/>
          </a:prstGeom>
        </p:spPr>
      </p:pic>
    </p:spTree>
    <p:extLst>
      <p:ext uri="{BB962C8B-B14F-4D97-AF65-F5344CB8AC3E}">
        <p14:creationId xmlns:p14="http://schemas.microsoft.com/office/powerpoint/2010/main" val="36606495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7848EF-5D0E-48C7-B6C7-B607E0EB38F4}"/>
              </a:ext>
            </a:extLst>
          </p:cNvPr>
          <p:cNvSpPr>
            <a:spLocks noGrp="1"/>
          </p:cNvSpPr>
          <p:nvPr>
            <p:ph type="ctrTitle"/>
          </p:nvPr>
        </p:nvSpPr>
        <p:spPr>
          <a:xfrm>
            <a:off x="1524000" y="1253269"/>
            <a:ext cx="9144000" cy="2387600"/>
          </a:xfrm>
        </p:spPr>
        <p:txBody>
          <a:bodyPr>
            <a:normAutofit/>
          </a:bodyPr>
          <a:lstStyle/>
          <a:p>
            <a:r>
              <a:rPr lang="en-US" altLang="zh-CN" sz="4000" b="1" dirty="0"/>
              <a:t>Privacy in Pharmacogenetics</a:t>
            </a:r>
            <a:r>
              <a:rPr lang="en-US" altLang="zh-CN" sz="4000" dirty="0"/>
              <a:t>: </a:t>
            </a:r>
            <a:br>
              <a:rPr lang="en-US" altLang="zh-CN" sz="4000" dirty="0"/>
            </a:br>
            <a:r>
              <a:rPr lang="en-US" altLang="zh-CN" sz="2800" dirty="0"/>
              <a:t>An End-to-End Case Study of Personalized Warfarin Dosing</a:t>
            </a:r>
            <a:endParaRPr lang="zh-CN" altLang="en-US" sz="2800" dirty="0"/>
          </a:p>
        </p:txBody>
      </p:sp>
      <p:sp>
        <p:nvSpPr>
          <p:cNvPr id="3" name="副标题 2">
            <a:extLst>
              <a:ext uri="{FF2B5EF4-FFF2-40B4-BE49-F238E27FC236}">
                <a16:creationId xmlns:a16="http://schemas.microsoft.com/office/drawing/2014/main" id="{FFFB9D27-162B-4825-8247-4F12CF4585E9}"/>
              </a:ext>
            </a:extLst>
          </p:cNvPr>
          <p:cNvSpPr>
            <a:spLocks noGrp="1"/>
          </p:cNvSpPr>
          <p:nvPr>
            <p:ph type="subTitle" idx="1"/>
          </p:nvPr>
        </p:nvSpPr>
        <p:spPr>
          <a:xfrm>
            <a:off x="1524000" y="4410931"/>
            <a:ext cx="9144000" cy="1655762"/>
          </a:xfrm>
        </p:spPr>
        <p:txBody>
          <a:bodyPr/>
          <a:lstStyle/>
          <a:p>
            <a:r>
              <a:rPr lang="en-US" altLang="zh-CN" dirty="0"/>
              <a:t>Matthew </a:t>
            </a:r>
            <a:r>
              <a:rPr lang="en-US" altLang="zh-CN" dirty="0" err="1"/>
              <a:t>Fredrikson</a:t>
            </a:r>
            <a:r>
              <a:rPr lang="en-US" altLang="zh-CN" dirty="0"/>
              <a:t>∗, Eric Lantz∗, Somesh Jha∗, Simon Lin†, David Page∗, Thomas </a:t>
            </a:r>
            <a:r>
              <a:rPr lang="en-US" altLang="zh-CN" dirty="0" err="1"/>
              <a:t>Ristenpart</a:t>
            </a:r>
            <a:r>
              <a:rPr lang="en-US" altLang="zh-CN" dirty="0"/>
              <a:t>∗</a:t>
            </a:r>
            <a:endParaRPr lang="zh-CN" altLang="en-US" dirty="0"/>
          </a:p>
        </p:txBody>
      </p:sp>
    </p:spTree>
    <p:extLst>
      <p:ext uri="{BB962C8B-B14F-4D97-AF65-F5344CB8AC3E}">
        <p14:creationId xmlns:p14="http://schemas.microsoft.com/office/powerpoint/2010/main" val="14430327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6BE66C-7E61-4035-9FF8-95AE51F94F26}"/>
              </a:ext>
            </a:extLst>
          </p:cNvPr>
          <p:cNvSpPr>
            <a:spLocks noGrp="1"/>
          </p:cNvSpPr>
          <p:nvPr>
            <p:ph type="title"/>
          </p:nvPr>
        </p:nvSpPr>
        <p:spPr/>
        <p:txBody>
          <a:bodyPr/>
          <a:lstStyle/>
          <a:p>
            <a:r>
              <a:rPr lang="en-US" altLang="zh-CN" dirty="0"/>
              <a:t>Model inversion</a:t>
            </a:r>
            <a:endParaRPr lang="zh-CN" altLang="en-US" dirty="0"/>
          </a:p>
        </p:txBody>
      </p:sp>
      <p:sp>
        <p:nvSpPr>
          <p:cNvPr id="3" name="内容占位符 2">
            <a:extLst>
              <a:ext uri="{FF2B5EF4-FFF2-40B4-BE49-F238E27FC236}">
                <a16:creationId xmlns:a16="http://schemas.microsoft.com/office/drawing/2014/main" id="{8053305C-9E86-4E25-AC19-048CDFD77A0A}"/>
              </a:ext>
            </a:extLst>
          </p:cNvPr>
          <p:cNvSpPr>
            <a:spLocks noGrp="1"/>
          </p:cNvSpPr>
          <p:nvPr>
            <p:ph idx="1"/>
          </p:nvPr>
        </p:nvSpPr>
        <p:spPr/>
        <p:txBody>
          <a:bodyPr/>
          <a:lstStyle/>
          <a:p>
            <a:r>
              <a:rPr lang="en-US" altLang="zh-CN" dirty="0"/>
              <a:t>Given a model trained to predict a specific variable, uses it to make predictions of unintended (sensitive) attributes used as input to the model (i.e., an attack on the privacy of attributes).</a:t>
            </a:r>
            <a:endParaRPr lang="zh-CN" altLang="en-US" dirty="0"/>
          </a:p>
        </p:txBody>
      </p:sp>
      <p:pic>
        <p:nvPicPr>
          <p:cNvPr id="4" name="图片 3">
            <a:extLst>
              <a:ext uri="{FF2B5EF4-FFF2-40B4-BE49-F238E27FC236}">
                <a16:creationId xmlns:a16="http://schemas.microsoft.com/office/drawing/2014/main" id="{7E6B6FB5-01C5-4CAF-BEAC-C8326222AA11}"/>
              </a:ext>
            </a:extLst>
          </p:cNvPr>
          <p:cNvPicPr>
            <a:picLocks noChangeAspect="1"/>
          </p:cNvPicPr>
          <p:nvPr/>
        </p:nvPicPr>
        <p:blipFill>
          <a:blip r:embed="rId3"/>
          <a:stretch>
            <a:fillRect/>
          </a:stretch>
        </p:blipFill>
        <p:spPr>
          <a:xfrm>
            <a:off x="1024669" y="4001294"/>
            <a:ext cx="9773384" cy="1853968"/>
          </a:xfrm>
          <a:prstGeom prst="rect">
            <a:avLst/>
          </a:prstGeom>
        </p:spPr>
      </p:pic>
    </p:spTree>
    <p:extLst>
      <p:ext uri="{BB962C8B-B14F-4D97-AF65-F5344CB8AC3E}">
        <p14:creationId xmlns:p14="http://schemas.microsoft.com/office/powerpoint/2010/main" val="133070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E3C381-99DD-4094-B161-78B8BFBB4D80}"/>
              </a:ext>
            </a:extLst>
          </p:cNvPr>
          <p:cNvSpPr>
            <a:spLocks noGrp="1"/>
          </p:cNvSpPr>
          <p:nvPr>
            <p:ph type="title"/>
          </p:nvPr>
        </p:nvSpPr>
        <p:spPr/>
        <p:txBody>
          <a:bodyPr/>
          <a:lstStyle/>
          <a:p>
            <a:r>
              <a:rPr lang="en-US" altLang="zh-CN" dirty="0"/>
              <a:t>What we have?</a:t>
            </a:r>
            <a:endParaRPr lang="zh-CN" altLang="en-US" dirty="0"/>
          </a:p>
        </p:txBody>
      </p:sp>
      <p:sp>
        <p:nvSpPr>
          <p:cNvPr id="3" name="内容占位符 2">
            <a:extLst>
              <a:ext uri="{FF2B5EF4-FFF2-40B4-BE49-F238E27FC236}">
                <a16:creationId xmlns:a16="http://schemas.microsoft.com/office/drawing/2014/main" id="{35F4A16A-FA43-4D5A-9CF7-F5D946D2520D}"/>
              </a:ext>
            </a:extLst>
          </p:cNvPr>
          <p:cNvSpPr>
            <a:spLocks noGrp="1"/>
          </p:cNvSpPr>
          <p:nvPr>
            <p:ph idx="1"/>
          </p:nvPr>
        </p:nvSpPr>
        <p:spPr/>
        <p:txBody>
          <a:bodyPr/>
          <a:lstStyle/>
          <a:p>
            <a:r>
              <a:rPr lang="en-US" altLang="zh-CN" dirty="0"/>
              <a:t>Training data’s info:</a:t>
            </a:r>
          </a:p>
          <a:p>
            <a:pPr lvl="1"/>
            <a:r>
              <a:rPr lang="en-US" altLang="zh-CN" dirty="0"/>
              <a:t>Prior prob of prediction labels.</a:t>
            </a:r>
          </a:p>
          <a:p>
            <a:pPr lvl="1"/>
            <a:r>
              <a:rPr lang="en-US" altLang="zh-CN" dirty="0"/>
              <a:t>Target person’s other public info.</a:t>
            </a:r>
          </a:p>
          <a:p>
            <a:pPr lvl="1"/>
            <a:r>
              <a:rPr lang="en-US" altLang="zh-CN" dirty="0"/>
              <a:t>Target person’s prediction.</a:t>
            </a:r>
          </a:p>
          <a:p>
            <a:pPr marL="457200" lvl="1" indent="0">
              <a:buNone/>
            </a:pPr>
            <a:endParaRPr lang="en-US" altLang="zh-CN" dirty="0"/>
          </a:p>
          <a:p>
            <a:endParaRPr lang="en-US" altLang="zh-CN" dirty="0"/>
          </a:p>
          <a:p>
            <a:r>
              <a:rPr lang="en-US" altLang="zh-CN" dirty="0"/>
              <a:t>Model’s info:</a:t>
            </a:r>
          </a:p>
          <a:p>
            <a:pPr lvl="1"/>
            <a:r>
              <a:rPr lang="en-US" altLang="zh-CN" dirty="0"/>
              <a:t>Black-box query access.</a:t>
            </a:r>
          </a:p>
          <a:p>
            <a:pPr lvl="1"/>
            <a:r>
              <a:rPr lang="en-US" altLang="zh-CN" dirty="0"/>
              <a:t>Info about model’s performance </a:t>
            </a:r>
          </a:p>
        </p:txBody>
      </p:sp>
      <p:pic>
        <p:nvPicPr>
          <p:cNvPr id="4" name="图片 3">
            <a:extLst>
              <a:ext uri="{FF2B5EF4-FFF2-40B4-BE49-F238E27FC236}">
                <a16:creationId xmlns:a16="http://schemas.microsoft.com/office/drawing/2014/main" id="{ABFB8A54-91FB-4AF8-B8F9-D98B9E0D6745}"/>
              </a:ext>
            </a:extLst>
          </p:cNvPr>
          <p:cNvPicPr>
            <a:picLocks noChangeAspect="1"/>
          </p:cNvPicPr>
          <p:nvPr/>
        </p:nvPicPr>
        <p:blipFill>
          <a:blip r:embed="rId2"/>
          <a:stretch>
            <a:fillRect/>
          </a:stretch>
        </p:blipFill>
        <p:spPr>
          <a:xfrm>
            <a:off x="6096000" y="5272819"/>
            <a:ext cx="3019425" cy="409575"/>
          </a:xfrm>
          <a:prstGeom prst="rect">
            <a:avLst/>
          </a:prstGeom>
        </p:spPr>
      </p:pic>
    </p:spTree>
    <p:extLst>
      <p:ext uri="{BB962C8B-B14F-4D97-AF65-F5344CB8AC3E}">
        <p14:creationId xmlns:p14="http://schemas.microsoft.com/office/powerpoint/2010/main" val="21043408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0EFDBE-764C-4387-B02A-EF50F0986914}"/>
              </a:ext>
            </a:extLst>
          </p:cNvPr>
          <p:cNvSpPr>
            <a:spLocks noGrp="1"/>
          </p:cNvSpPr>
          <p:nvPr>
            <p:ph type="title"/>
          </p:nvPr>
        </p:nvSpPr>
        <p:spPr/>
        <p:txBody>
          <a:bodyPr/>
          <a:lstStyle/>
          <a:p>
            <a:r>
              <a:rPr lang="en-US" altLang="zh-CN" dirty="0"/>
              <a:t>Case #1: Perfect model</a:t>
            </a:r>
            <a:endParaRPr lang="zh-CN" altLang="en-US" dirty="0"/>
          </a:p>
        </p:txBody>
      </p:sp>
      <p:pic>
        <p:nvPicPr>
          <p:cNvPr id="4" name="内容占位符 3">
            <a:extLst>
              <a:ext uri="{FF2B5EF4-FFF2-40B4-BE49-F238E27FC236}">
                <a16:creationId xmlns:a16="http://schemas.microsoft.com/office/drawing/2014/main" id="{DA804DB2-B775-4E36-8C8E-F9A8DD918EE4}"/>
              </a:ext>
            </a:extLst>
          </p:cNvPr>
          <p:cNvPicPr>
            <a:picLocks noGrp="1" noChangeAspect="1"/>
          </p:cNvPicPr>
          <p:nvPr>
            <p:ph idx="1"/>
          </p:nvPr>
        </p:nvPicPr>
        <p:blipFill>
          <a:blip r:embed="rId3"/>
          <a:stretch>
            <a:fillRect/>
          </a:stretch>
        </p:blipFill>
        <p:spPr>
          <a:xfrm>
            <a:off x="3767137" y="1921913"/>
            <a:ext cx="4657725" cy="800100"/>
          </a:xfrm>
          <a:prstGeom prst="rect">
            <a:avLst/>
          </a:prstGeom>
        </p:spPr>
      </p:pic>
      <p:pic>
        <p:nvPicPr>
          <p:cNvPr id="5" name="图片 4">
            <a:extLst>
              <a:ext uri="{FF2B5EF4-FFF2-40B4-BE49-F238E27FC236}">
                <a16:creationId xmlns:a16="http://schemas.microsoft.com/office/drawing/2014/main" id="{0396528C-1182-462D-8501-80E6F55F89DD}"/>
              </a:ext>
            </a:extLst>
          </p:cNvPr>
          <p:cNvPicPr>
            <a:picLocks noChangeAspect="1"/>
          </p:cNvPicPr>
          <p:nvPr/>
        </p:nvPicPr>
        <p:blipFill>
          <a:blip r:embed="rId4"/>
          <a:stretch>
            <a:fillRect/>
          </a:stretch>
        </p:blipFill>
        <p:spPr>
          <a:xfrm>
            <a:off x="4051930" y="3467037"/>
            <a:ext cx="4088137" cy="647500"/>
          </a:xfrm>
          <a:prstGeom prst="rect">
            <a:avLst/>
          </a:prstGeom>
        </p:spPr>
      </p:pic>
      <p:pic>
        <p:nvPicPr>
          <p:cNvPr id="6" name="图片 5">
            <a:extLst>
              <a:ext uri="{FF2B5EF4-FFF2-40B4-BE49-F238E27FC236}">
                <a16:creationId xmlns:a16="http://schemas.microsoft.com/office/drawing/2014/main" id="{C5D9C32A-94EA-4233-AED5-553C5A928C3D}"/>
              </a:ext>
            </a:extLst>
          </p:cNvPr>
          <p:cNvPicPr>
            <a:picLocks noChangeAspect="1"/>
          </p:cNvPicPr>
          <p:nvPr/>
        </p:nvPicPr>
        <p:blipFill>
          <a:blip r:embed="rId5"/>
          <a:stretch>
            <a:fillRect/>
          </a:stretch>
        </p:blipFill>
        <p:spPr>
          <a:xfrm>
            <a:off x="3832796" y="4933915"/>
            <a:ext cx="4133850" cy="1152525"/>
          </a:xfrm>
          <a:prstGeom prst="rect">
            <a:avLst/>
          </a:prstGeom>
        </p:spPr>
      </p:pic>
      <p:sp>
        <p:nvSpPr>
          <p:cNvPr id="3" name="文本框 2">
            <a:extLst>
              <a:ext uri="{FF2B5EF4-FFF2-40B4-BE49-F238E27FC236}">
                <a16:creationId xmlns:a16="http://schemas.microsoft.com/office/drawing/2014/main" id="{D6D5EC2F-CAB3-4711-8C47-451F6117785D}"/>
              </a:ext>
            </a:extLst>
          </p:cNvPr>
          <p:cNvSpPr txBox="1"/>
          <p:nvPr/>
        </p:nvSpPr>
        <p:spPr>
          <a:xfrm>
            <a:off x="1890405" y="1483343"/>
            <a:ext cx="2522756" cy="461665"/>
          </a:xfrm>
          <a:prstGeom prst="rect">
            <a:avLst/>
          </a:prstGeom>
          <a:noFill/>
        </p:spPr>
        <p:txBody>
          <a:bodyPr wrap="square" rtlCol="0">
            <a:spAutoFit/>
          </a:bodyPr>
          <a:lstStyle/>
          <a:p>
            <a:r>
              <a:rPr lang="en-US" altLang="zh-CN" sz="2400" dirty="0"/>
              <a:t>Bayes rule:</a:t>
            </a:r>
            <a:endParaRPr lang="zh-CN" altLang="en-US" sz="2400" dirty="0"/>
          </a:p>
        </p:txBody>
      </p:sp>
      <p:sp>
        <p:nvSpPr>
          <p:cNvPr id="7" name="文本框 6">
            <a:extLst>
              <a:ext uri="{FF2B5EF4-FFF2-40B4-BE49-F238E27FC236}">
                <a16:creationId xmlns:a16="http://schemas.microsoft.com/office/drawing/2014/main" id="{E6F1E0C6-30FF-4829-8C32-DBBC1D79E4EA}"/>
              </a:ext>
            </a:extLst>
          </p:cNvPr>
          <p:cNvSpPr txBox="1"/>
          <p:nvPr/>
        </p:nvSpPr>
        <p:spPr>
          <a:xfrm>
            <a:off x="1890405" y="2793461"/>
            <a:ext cx="4377313" cy="461665"/>
          </a:xfrm>
          <a:prstGeom prst="rect">
            <a:avLst/>
          </a:prstGeom>
          <a:noFill/>
        </p:spPr>
        <p:txBody>
          <a:bodyPr wrap="square" rtlCol="0">
            <a:spAutoFit/>
          </a:bodyPr>
          <a:lstStyle/>
          <a:p>
            <a:r>
              <a:rPr lang="en-US" altLang="zh-CN" sz="2400" dirty="0"/>
              <a:t>Maximum Entropy Principle:</a:t>
            </a:r>
            <a:endParaRPr lang="zh-CN" altLang="en-US" sz="2400" dirty="0"/>
          </a:p>
        </p:txBody>
      </p:sp>
      <p:sp>
        <p:nvSpPr>
          <p:cNvPr id="8" name="文本框 7">
            <a:extLst>
              <a:ext uri="{FF2B5EF4-FFF2-40B4-BE49-F238E27FC236}">
                <a16:creationId xmlns:a16="http://schemas.microsoft.com/office/drawing/2014/main" id="{A61701F8-38F0-4B5C-9F0D-507C2E214469}"/>
              </a:ext>
            </a:extLst>
          </p:cNvPr>
          <p:cNvSpPr txBox="1"/>
          <p:nvPr/>
        </p:nvSpPr>
        <p:spPr>
          <a:xfrm>
            <a:off x="1890405" y="4323900"/>
            <a:ext cx="6824299" cy="461665"/>
          </a:xfrm>
          <a:prstGeom prst="rect">
            <a:avLst/>
          </a:prstGeom>
          <a:noFill/>
        </p:spPr>
        <p:txBody>
          <a:bodyPr wrap="square" rtlCol="0">
            <a:spAutoFit/>
          </a:bodyPr>
          <a:lstStyle/>
          <a:p>
            <a:r>
              <a:rPr lang="en-US" altLang="zh-CN" sz="2400" dirty="0"/>
              <a:t>MAP estimate:</a:t>
            </a:r>
            <a:endParaRPr lang="zh-CN" altLang="en-US" sz="2400" dirty="0"/>
          </a:p>
        </p:txBody>
      </p:sp>
    </p:spTree>
    <p:extLst>
      <p:ext uri="{BB962C8B-B14F-4D97-AF65-F5344CB8AC3E}">
        <p14:creationId xmlns:p14="http://schemas.microsoft.com/office/powerpoint/2010/main" val="22358011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451661-2BA4-439A-AD82-3690D8820B3F}"/>
              </a:ext>
            </a:extLst>
          </p:cNvPr>
          <p:cNvSpPr>
            <a:spLocks noGrp="1"/>
          </p:cNvSpPr>
          <p:nvPr>
            <p:ph type="title"/>
          </p:nvPr>
        </p:nvSpPr>
        <p:spPr/>
        <p:txBody>
          <a:bodyPr/>
          <a:lstStyle/>
          <a:p>
            <a:r>
              <a:rPr lang="en-US" altLang="zh-CN" dirty="0"/>
              <a:t>Case #2: Imperfect model</a:t>
            </a:r>
            <a:endParaRPr lang="zh-CN" altLang="en-US" dirty="0"/>
          </a:p>
        </p:txBody>
      </p:sp>
      <p:pic>
        <p:nvPicPr>
          <p:cNvPr id="4" name="图片 3">
            <a:extLst>
              <a:ext uri="{FF2B5EF4-FFF2-40B4-BE49-F238E27FC236}">
                <a16:creationId xmlns:a16="http://schemas.microsoft.com/office/drawing/2014/main" id="{1C3D0D08-7673-4400-A1BC-20E124DF7B45}"/>
              </a:ext>
            </a:extLst>
          </p:cNvPr>
          <p:cNvPicPr>
            <a:picLocks noChangeAspect="1"/>
          </p:cNvPicPr>
          <p:nvPr/>
        </p:nvPicPr>
        <p:blipFill>
          <a:blip r:embed="rId3"/>
          <a:stretch>
            <a:fillRect/>
          </a:stretch>
        </p:blipFill>
        <p:spPr>
          <a:xfrm>
            <a:off x="3422045" y="4198770"/>
            <a:ext cx="4838700" cy="1847850"/>
          </a:xfrm>
          <a:prstGeom prst="rect">
            <a:avLst/>
          </a:prstGeom>
        </p:spPr>
      </p:pic>
      <p:pic>
        <p:nvPicPr>
          <p:cNvPr id="5" name="图片 4">
            <a:extLst>
              <a:ext uri="{FF2B5EF4-FFF2-40B4-BE49-F238E27FC236}">
                <a16:creationId xmlns:a16="http://schemas.microsoft.com/office/drawing/2014/main" id="{5AD7351B-8E93-43DA-B61C-B8FD80C8F694}"/>
              </a:ext>
            </a:extLst>
          </p:cNvPr>
          <p:cNvPicPr>
            <a:picLocks noChangeAspect="1"/>
          </p:cNvPicPr>
          <p:nvPr/>
        </p:nvPicPr>
        <p:blipFill>
          <a:blip r:embed="rId4"/>
          <a:stretch>
            <a:fillRect/>
          </a:stretch>
        </p:blipFill>
        <p:spPr>
          <a:xfrm>
            <a:off x="4462462" y="2396346"/>
            <a:ext cx="3267075" cy="514350"/>
          </a:xfrm>
          <a:prstGeom prst="rect">
            <a:avLst/>
          </a:prstGeom>
        </p:spPr>
      </p:pic>
      <p:sp>
        <p:nvSpPr>
          <p:cNvPr id="6" name="文本框 5">
            <a:extLst>
              <a:ext uri="{FF2B5EF4-FFF2-40B4-BE49-F238E27FC236}">
                <a16:creationId xmlns:a16="http://schemas.microsoft.com/office/drawing/2014/main" id="{DCC2B908-00E9-47EB-8919-4006A768DBDC}"/>
              </a:ext>
            </a:extLst>
          </p:cNvPr>
          <p:cNvSpPr txBox="1"/>
          <p:nvPr/>
        </p:nvSpPr>
        <p:spPr>
          <a:xfrm>
            <a:off x="1944710" y="1690688"/>
            <a:ext cx="4237057" cy="461665"/>
          </a:xfrm>
          <a:prstGeom prst="rect">
            <a:avLst/>
          </a:prstGeom>
          <a:noFill/>
        </p:spPr>
        <p:txBody>
          <a:bodyPr wrap="none" rtlCol="0">
            <a:spAutoFit/>
          </a:bodyPr>
          <a:lstStyle/>
          <a:p>
            <a:r>
              <a:rPr lang="en-US" altLang="zh-CN" sz="2400" dirty="0"/>
              <a:t>Model’s performance function:</a:t>
            </a:r>
            <a:endParaRPr lang="zh-CN" altLang="en-US" sz="2400" dirty="0"/>
          </a:p>
        </p:txBody>
      </p:sp>
    </p:spTree>
    <p:extLst>
      <p:ext uri="{BB962C8B-B14F-4D97-AF65-F5344CB8AC3E}">
        <p14:creationId xmlns:p14="http://schemas.microsoft.com/office/powerpoint/2010/main" val="36949990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7848EF-5D0E-48C7-B6C7-B607E0EB38F4}"/>
              </a:ext>
            </a:extLst>
          </p:cNvPr>
          <p:cNvSpPr>
            <a:spLocks noGrp="1"/>
          </p:cNvSpPr>
          <p:nvPr>
            <p:ph type="ctrTitle"/>
          </p:nvPr>
        </p:nvSpPr>
        <p:spPr>
          <a:xfrm>
            <a:off x="1524000" y="1253269"/>
            <a:ext cx="9144000" cy="2387600"/>
          </a:xfrm>
        </p:spPr>
        <p:txBody>
          <a:bodyPr>
            <a:normAutofit/>
          </a:bodyPr>
          <a:lstStyle/>
          <a:p>
            <a:r>
              <a:rPr lang="en-US" altLang="zh-CN" sz="4000" dirty="0"/>
              <a:t>Model Inversion Attacks that Exploit Confidence Information and Basic Countermeasures </a:t>
            </a:r>
            <a:endParaRPr lang="zh-CN" altLang="en-US" sz="2800" dirty="0"/>
          </a:p>
        </p:txBody>
      </p:sp>
      <p:sp>
        <p:nvSpPr>
          <p:cNvPr id="3" name="副标题 2">
            <a:extLst>
              <a:ext uri="{FF2B5EF4-FFF2-40B4-BE49-F238E27FC236}">
                <a16:creationId xmlns:a16="http://schemas.microsoft.com/office/drawing/2014/main" id="{FFFB9D27-162B-4825-8247-4F12CF4585E9}"/>
              </a:ext>
            </a:extLst>
          </p:cNvPr>
          <p:cNvSpPr>
            <a:spLocks noGrp="1"/>
          </p:cNvSpPr>
          <p:nvPr>
            <p:ph type="subTitle" idx="1"/>
          </p:nvPr>
        </p:nvSpPr>
        <p:spPr>
          <a:xfrm>
            <a:off x="1524000" y="4410931"/>
            <a:ext cx="9144000" cy="1655762"/>
          </a:xfrm>
        </p:spPr>
        <p:txBody>
          <a:bodyPr/>
          <a:lstStyle/>
          <a:p>
            <a:r>
              <a:rPr lang="en-US" altLang="zh-CN" dirty="0"/>
              <a:t>Matt </a:t>
            </a:r>
            <a:r>
              <a:rPr lang="en-US" altLang="zh-CN" dirty="0" err="1"/>
              <a:t>Fredrikson</a:t>
            </a:r>
            <a:r>
              <a:rPr lang="en-US" altLang="zh-CN" dirty="0"/>
              <a:t>, Somesh </a:t>
            </a:r>
            <a:r>
              <a:rPr lang="en-US" altLang="zh-CN" dirty="0" err="1"/>
              <a:t>Jha,Thomas</a:t>
            </a:r>
            <a:r>
              <a:rPr lang="en-US" altLang="zh-CN" dirty="0"/>
              <a:t> </a:t>
            </a:r>
            <a:r>
              <a:rPr lang="en-US" altLang="zh-CN" dirty="0" err="1"/>
              <a:t>Ristenpart</a:t>
            </a:r>
            <a:endParaRPr lang="zh-CN" altLang="en-US" dirty="0"/>
          </a:p>
        </p:txBody>
      </p:sp>
    </p:spTree>
    <p:extLst>
      <p:ext uri="{BB962C8B-B14F-4D97-AF65-F5344CB8AC3E}">
        <p14:creationId xmlns:p14="http://schemas.microsoft.com/office/powerpoint/2010/main" val="37312588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390475-D558-416B-A89A-40FBE96F30F3}"/>
              </a:ext>
            </a:extLst>
          </p:cNvPr>
          <p:cNvSpPr>
            <a:spLocks noGrp="1"/>
          </p:cNvSpPr>
          <p:nvPr>
            <p:ph type="title"/>
          </p:nvPr>
        </p:nvSpPr>
        <p:spPr/>
        <p:txBody>
          <a:bodyPr/>
          <a:lstStyle/>
          <a:p>
            <a:r>
              <a:rPr lang="en-US" altLang="zh-CN" dirty="0"/>
              <a:t>Drawbacks of Model inversion</a:t>
            </a:r>
            <a:endParaRPr lang="zh-CN" altLang="en-US" dirty="0"/>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26429B6B-0CA7-44DE-80CD-5465391E7003}"/>
                  </a:ext>
                </a:extLst>
              </p:cNvPr>
              <p:cNvSpPr>
                <a:spLocks noGrp="1"/>
              </p:cNvSpPr>
              <p:nvPr>
                <p:ph idx="1"/>
              </p:nvPr>
            </p:nvSpPr>
            <p:spPr/>
            <p:txBody>
              <a:bodyPr>
                <a:normAutofit/>
              </a:bodyPr>
              <a:lstStyle/>
              <a:p>
                <a:r>
                  <a:rPr lang="en-US" altLang="zh-CN" dirty="0"/>
                  <a:t>UNK features / Continuous features</a:t>
                </a:r>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en-US" altLang="zh-CN" dirty="0"/>
                  <a:t>Computational infeasible while </a:t>
                </a:r>
                <a14:m>
                  <m:oMath xmlns:m="http://schemas.openxmlformats.org/officeDocument/2006/math">
                    <m:r>
                      <a:rPr lang="en-US" altLang="zh-CN" b="0" i="1" smtClean="0">
                        <a:latin typeface="Cambria Math" panose="02040503050406030204" pitchFamily="18" charset="0"/>
                      </a:rPr>
                      <m:t>𝑑𝑖𝑚</m:t>
                    </m:r>
                  </m:oMath>
                </a14:m>
                <a:r>
                  <a:rPr lang="en-US" altLang="zh-CN" dirty="0"/>
                  <a:t> is large (image level)</a:t>
                </a:r>
              </a:p>
              <a:p>
                <a:endParaRPr lang="zh-CN" altLang="en-US" dirty="0"/>
              </a:p>
            </p:txBody>
          </p:sp>
        </mc:Choice>
        <mc:Fallback>
          <p:sp>
            <p:nvSpPr>
              <p:cNvPr id="3" name="内容占位符 2">
                <a:extLst>
                  <a:ext uri="{FF2B5EF4-FFF2-40B4-BE49-F238E27FC236}">
                    <a16:creationId xmlns:a16="http://schemas.microsoft.com/office/drawing/2014/main" id="{26429B6B-0CA7-44DE-80CD-5465391E7003}"/>
                  </a:ext>
                </a:extLst>
              </p:cNvPr>
              <p:cNvSpPr>
                <a:spLocks noGrp="1" noRot="1" noChangeAspect="1" noMove="1" noResize="1" noEditPoints="1" noAdjustHandles="1" noChangeArrowheads="1" noChangeShapeType="1" noTextEdit="1"/>
              </p:cNvSpPr>
              <p:nvPr>
                <p:ph idx="1"/>
              </p:nvPr>
            </p:nvSpPr>
            <p:spPr>
              <a:blipFill>
                <a:blip r:embed="rId3"/>
                <a:stretch>
                  <a:fillRect l="-1043" t="-2521"/>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2FFA8AF0-610B-465C-9900-1B18B248F0C3}"/>
              </a:ext>
            </a:extLst>
          </p:cNvPr>
          <p:cNvPicPr>
            <a:picLocks noChangeAspect="1"/>
          </p:cNvPicPr>
          <p:nvPr/>
        </p:nvPicPr>
        <p:blipFill>
          <a:blip r:embed="rId4"/>
          <a:stretch>
            <a:fillRect/>
          </a:stretch>
        </p:blipFill>
        <p:spPr>
          <a:xfrm>
            <a:off x="2923366" y="2404613"/>
            <a:ext cx="6082612" cy="2979239"/>
          </a:xfrm>
          <a:prstGeom prst="rect">
            <a:avLst/>
          </a:prstGeom>
        </p:spPr>
      </p:pic>
    </p:spTree>
    <p:extLst>
      <p:ext uri="{BB962C8B-B14F-4D97-AF65-F5344CB8AC3E}">
        <p14:creationId xmlns:p14="http://schemas.microsoft.com/office/powerpoint/2010/main" val="38867480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72FB998-0584-4D71-AD93-C49A7E613F71}"/>
              </a:ext>
            </a:extLst>
          </p:cNvPr>
          <p:cNvSpPr>
            <a:spLocks noGrp="1"/>
          </p:cNvSpPr>
          <p:nvPr>
            <p:ph type="title"/>
          </p:nvPr>
        </p:nvSpPr>
        <p:spPr/>
        <p:txBody>
          <a:bodyPr/>
          <a:lstStyle/>
          <a:p>
            <a:r>
              <a:rPr lang="en-US" altLang="zh-CN" dirty="0"/>
              <a:t>How to achieve this?</a:t>
            </a:r>
            <a:endParaRPr lang="zh-CN" altLang="en-US" dirty="0"/>
          </a:p>
        </p:txBody>
      </p:sp>
      <p:sp>
        <p:nvSpPr>
          <p:cNvPr id="3" name="内容占位符 2">
            <a:extLst>
              <a:ext uri="{FF2B5EF4-FFF2-40B4-BE49-F238E27FC236}">
                <a16:creationId xmlns:a16="http://schemas.microsoft.com/office/drawing/2014/main" id="{31743660-5B38-42EC-8C60-360ACA0617B3}"/>
              </a:ext>
            </a:extLst>
          </p:cNvPr>
          <p:cNvSpPr>
            <a:spLocks noGrp="1"/>
          </p:cNvSpPr>
          <p:nvPr>
            <p:ph idx="1"/>
          </p:nvPr>
        </p:nvSpPr>
        <p:spPr/>
        <p:txBody>
          <a:bodyPr/>
          <a:lstStyle/>
          <a:p>
            <a:r>
              <a:rPr lang="en-US" altLang="zh-CN" dirty="0"/>
              <a:t>Gradient Descent!</a:t>
            </a:r>
          </a:p>
          <a:p>
            <a:r>
              <a:rPr lang="en-US" altLang="zh-CN" dirty="0"/>
              <a:t>We started our attack image x from scratch.</a:t>
            </a:r>
          </a:p>
          <a:p>
            <a:r>
              <a:rPr lang="en-US" altLang="zh-CN" dirty="0"/>
              <a:t>During every iteration: </a:t>
            </a:r>
          </a:p>
          <a:p>
            <a:endParaRPr lang="en-US" altLang="zh-CN" dirty="0"/>
          </a:p>
          <a:p>
            <a:endParaRPr lang="en-US" altLang="zh-CN" dirty="0"/>
          </a:p>
          <a:p>
            <a:endParaRPr lang="en-US" altLang="zh-CN" dirty="0"/>
          </a:p>
          <a:p>
            <a:r>
              <a:rPr lang="en-US" altLang="zh-CN" dirty="0"/>
              <a:t>We keep following the gradient until meets the confidence threshold.</a:t>
            </a:r>
            <a:endParaRPr lang="zh-CN" altLang="en-US" dirty="0"/>
          </a:p>
        </p:txBody>
      </p:sp>
      <p:pic>
        <p:nvPicPr>
          <p:cNvPr id="4" name="图片 3">
            <a:extLst>
              <a:ext uri="{FF2B5EF4-FFF2-40B4-BE49-F238E27FC236}">
                <a16:creationId xmlns:a16="http://schemas.microsoft.com/office/drawing/2014/main" id="{081D6429-2368-492D-AA6F-1530741627D6}"/>
              </a:ext>
            </a:extLst>
          </p:cNvPr>
          <p:cNvPicPr>
            <a:picLocks noChangeAspect="1"/>
          </p:cNvPicPr>
          <p:nvPr/>
        </p:nvPicPr>
        <p:blipFill>
          <a:blip r:embed="rId3"/>
          <a:stretch>
            <a:fillRect/>
          </a:stretch>
        </p:blipFill>
        <p:spPr>
          <a:xfrm>
            <a:off x="2076986" y="3715839"/>
            <a:ext cx="7560704" cy="570910"/>
          </a:xfrm>
          <a:prstGeom prst="rect">
            <a:avLst/>
          </a:prstGeom>
        </p:spPr>
      </p:pic>
    </p:spTree>
    <p:extLst>
      <p:ext uri="{BB962C8B-B14F-4D97-AF65-F5344CB8AC3E}">
        <p14:creationId xmlns:p14="http://schemas.microsoft.com/office/powerpoint/2010/main" val="30553192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D7EEFF-419A-400E-B892-13F51C66E7BE}"/>
              </a:ext>
            </a:extLst>
          </p:cNvPr>
          <p:cNvSpPr>
            <a:spLocks noGrp="1"/>
          </p:cNvSpPr>
          <p:nvPr>
            <p:ph type="title"/>
          </p:nvPr>
        </p:nvSpPr>
        <p:spPr/>
        <p:txBody>
          <a:bodyPr/>
          <a:lstStyle/>
          <a:p>
            <a:r>
              <a:rPr lang="en-US" altLang="zh-CN" dirty="0"/>
              <a:t>Detailed framework</a:t>
            </a:r>
            <a:endParaRPr lang="zh-CN" altLang="en-US" dirty="0"/>
          </a:p>
        </p:txBody>
      </p:sp>
      <p:sp>
        <p:nvSpPr>
          <p:cNvPr id="3" name="内容占位符 2">
            <a:extLst>
              <a:ext uri="{FF2B5EF4-FFF2-40B4-BE49-F238E27FC236}">
                <a16:creationId xmlns:a16="http://schemas.microsoft.com/office/drawing/2014/main" id="{BD544884-D973-4735-81F4-E47D3F4F21D6}"/>
              </a:ext>
            </a:extLst>
          </p:cNvPr>
          <p:cNvSpPr>
            <a:spLocks noGrp="1"/>
          </p:cNvSpPr>
          <p:nvPr>
            <p:ph idx="1"/>
          </p:nvPr>
        </p:nvSpPr>
        <p:spPr>
          <a:xfrm>
            <a:off x="838200" y="1825624"/>
            <a:ext cx="10515600" cy="4755479"/>
          </a:xfrm>
        </p:spPr>
        <p:txBody>
          <a:bodyPr/>
          <a:lstStyle/>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en-US" altLang="zh-CN" dirty="0"/>
              <a:t>But... ?</a:t>
            </a:r>
            <a:endParaRPr lang="zh-CN" altLang="en-US" dirty="0"/>
          </a:p>
        </p:txBody>
      </p:sp>
      <p:pic>
        <p:nvPicPr>
          <p:cNvPr id="4" name="图片 3">
            <a:extLst>
              <a:ext uri="{FF2B5EF4-FFF2-40B4-BE49-F238E27FC236}">
                <a16:creationId xmlns:a16="http://schemas.microsoft.com/office/drawing/2014/main" id="{1E0CC0CC-BA49-4967-A77B-7E4C1DA2EE08}"/>
              </a:ext>
            </a:extLst>
          </p:cNvPr>
          <p:cNvPicPr>
            <a:picLocks noChangeAspect="1"/>
          </p:cNvPicPr>
          <p:nvPr/>
        </p:nvPicPr>
        <p:blipFill>
          <a:blip r:embed="rId3"/>
          <a:stretch>
            <a:fillRect/>
          </a:stretch>
        </p:blipFill>
        <p:spPr>
          <a:xfrm>
            <a:off x="957330" y="1564245"/>
            <a:ext cx="6289183" cy="3265838"/>
          </a:xfrm>
          <a:prstGeom prst="rect">
            <a:avLst/>
          </a:prstGeom>
        </p:spPr>
      </p:pic>
      <p:pic>
        <p:nvPicPr>
          <p:cNvPr id="5" name="图片 4">
            <a:extLst>
              <a:ext uri="{FF2B5EF4-FFF2-40B4-BE49-F238E27FC236}">
                <a16:creationId xmlns:a16="http://schemas.microsoft.com/office/drawing/2014/main" id="{BCCE75B5-224D-4E0B-B007-EFE4F317D541}"/>
              </a:ext>
            </a:extLst>
          </p:cNvPr>
          <p:cNvPicPr>
            <a:picLocks noChangeAspect="1"/>
          </p:cNvPicPr>
          <p:nvPr/>
        </p:nvPicPr>
        <p:blipFill>
          <a:blip r:embed="rId4"/>
          <a:stretch>
            <a:fillRect/>
          </a:stretch>
        </p:blipFill>
        <p:spPr>
          <a:xfrm>
            <a:off x="7794669" y="1690688"/>
            <a:ext cx="4019550" cy="2714625"/>
          </a:xfrm>
          <a:prstGeom prst="rect">
            <a:avLst/>
          </a:prstGeom>
        </p:spPr>
      </p:pic>
    </p:spTree>
    <p:extLst>
      <p:ext uri="{BB962C8B-B14F-4D97-AF65-F5344CB8AC3E}">
        <p14:creationId xmlns:p14="http://schemas.microsoft.com/office/powerpoint/2010/main" val="14515041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A0C19F-624F-4F72-9F0B-0A3807AB57E4}"/>
              </a:ext>
            </a:extLst>
          </p:cNvPr>
          <p:cNvSpPr>
            <a:spLocks noGrp="1"/>
          </p:cNvSpPr>
          <p:nvPr>
            <p:ph type="title"/>
          </p:nvPr>
        </p:nvSpPr>
        <p:spPr/>
        <p:txBody>
          <a:bodyPr/>
          <a:lstStyle/>
          <a:p>
            <a:r>
              <a:rPr lang="en-US" altLang="zh-CN" dirty="0"/>
              <a:t>Privacy attack =&gt; DP</a:t>
            </a:r>
            <a:endParaRPr lang="zh-CN" altLang="en-US" dirty="0"/>
          </a:p>
        </p:txBody>
      </p:sp>
      <p:pic>
        <p:nvPicPr>
          <p:cNvPr id="4" name="内容占位符 3">
            <a:extLst>
              <a:ext uri="{FF2B5EF4-FFF2-40B4-BE49-F238E27FC236}">
                <a16:creationId xmlns:a16="http://schemas.microsoft.com/office/drawing/2014/main" id="{85B3CE53-4EFF-4E0B-A06F-BB7537FA4D92}"/>
              </a:ext>
            </a:extLst>
          </p:cNvPr>
          <p:cNvPicPr>
            <a:picLocks noGrp="1" noChangeAspect="1"/>
          </p:cNvPicPr>
          <p:nvPr>
            <p:ph idx="1"/>
          </p:nvPr>
        </p:nvPicPr>
        <p:blipFill>
          <a:blip r:embed="rId3"/>
          <a:stretch>
            <a:fillRect/>
          </a:stretch>
        </p:blipFill>
        <p:spPr>
          <a:xfrm>
            <a:off x="2288212" y="1987062"/>
            <a:ext cx="7615575" cy="1781175"/>
          </a:xfrm>
          <a:prstGeom prst="rect">
            <a:avLst/>
          </a:prstGeom>
        </p:spPr>
      </p:pic>
      <p:sp>
        <p:nvSpPr>
          <p:cNvPr id="5" name="文本框 4">
            <a:extLst>
              <a:ext uri="{FF2B5EF4-FFF2-40B4-BE49-F238E27FC236}">
                <a16:creationId xmlns:a16="http://schemas.microsoft.com/office/drawing/2014/main" id="{E5ECA41E-EEEE-40D8-B59D-0BF1097E250F}"/>
              </a:ext>
            </a:extLst>
          </p:cNvPr>
          <p:cNvSpPr txBox="1"/>
          <p:nvPr/>
        </p:nvSpPr>
        <p:spPr>
          <a:xfrm>
            <a:off x="1441939" y="4281855"/>
            <a:ext cx="8343899" cy="1200329"/>
          </a:xfrm>
          <a:prstGeom prst="rect">
            <a:avLst/>
          </a:prstGeom>
          <a:noFill/>
        </p:spPr>
        <p:txBody>
          <a:bodyPr wrap="square" rtlCol="0">
            <a:spAutoFit/>
          </a:bodyPr>
          <a:lstStyle/>
          <a:p>
            <a:r>
              <a:rPr lang="en-US" altLang="zh-CN" sz="2400" dirty="0"/>
              <a:t>Differential Privacy can use raw private data as input, either output a new dataset with adding some perturbation or a trained model to achieve the differential privacy rules.</a:t>
            </a:r>
          </a:p>
        </p:txBody>
      </p:sp>
    </p:spTree>
    <p:extLst>
      <p:ext uri="{BB962C8B-B14F-4D97-AF65-F5344CB8AC3E}">
        <p14:creationId xmlns:p14="http://schemas.microsoft.com/office/powerpoint/2010/main" val="176384885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10303</TotalTime>
  <Words>989</Words>
  <Application>Microsoft Office PowerPoint</Application>
  <PresentationFormat>宽屏</PresentationFormat>
  <Paragraphs>125</Paragraphs>
  <Slides>20</Slides>
  <Notes>14</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20</vt:i4>
      </vt:variant>
    </vt:vector>
  </HeadingPairs>
  <TitlesOfParts>
    <vt:vector size="25" baseType="lpstr">
      <vt:lpstr>等线</vt:lpstr>
      <vt:lpstr>等线 Light</vt:lpstr>
      <vt:lpstr>Arial</vt:lpstr>
      <vt:lpstr>Cambria Math</vt:lpstr>
      <vt:lpstr>Office 主题​​</vt:lpstr>
      <vt:lpstr>Membership Inference Attacks Against Machine Learning Models </vt:lpstr>
      <vt:lpstr>Membership inference</vt:lpstr>
      <vt:lpstr>What we have?</vt:lpstr>
      <vt:lpstr>Key point: Mimic</vt:lpstr>
      <vt:lpstr>Shadow models’ food</vt:lpstr>
      <vt:lpstr>Model-based synthesis</vt:lpstr>
      <vt:lpstr>Framework</vt:lpstr>
      <vt:lpstr>Whole framework</vt:lpstr>
      <vt:lpstr>Attack results</vt:lpstr>
      <vt:lpstr>Other thoughts</vt:lpstr>
      <vt:lpstr>Privacy in Pharmacogenetics:  An End-to-End Case Study of Personalized Warfarin Dosing</vt:lpstr>
      <vt:lpstr>Model inversion</vt:lpstr>
      <vt:lpstr>What we have?</vt:lpstr>
      <vt:lpstr>Case #1: Perfect model</vt:lpstr>
      <vt:lpstr>Case #2: Imperfect model</vt:lpstr>
      <vt:lpstr>Model Inversion Attacks that Exploit Confidence Information and Basic Countermeasures </vt:lpstr>
      <vt:lpstr>Drawbacks of Model inversion</vt:lpstr>
      <vt:lpstr>How to achieve this?</vt:lpstr>
      <vt:lpstr>Detailed framework</vt:lpstr>
      <vt:lpstr>Privacy attack =&gt; DP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Membership Inference Attacks Against Machine Learning Models</dc:title>
  <dc:creator>ZHUOLIN YANG</dc:creator>
  <cp:lastModifiedBy>ZHUOLIN YANG</cp:lastModifiedBy>
  <cp:revision>19</cp:revision>
  <dcterms:created xsi:type="dcterms:W3CDTF">2019-10-29T05:38:28Z</dcterms:created>
  <dcterms:modified xsi:type="dcterms:W3CDTF">2019-11-05T21:12:17Z</dcterms:modified>
</cp:coreProperties>
</file>