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5143500" type="screen16x9"/>
  <p:notesSz cx="6858000" cy="9144000"/>
  <p:embeddedFontLst>
    <p:embeddedFont>
      <p:font typeface="Dosis" panose="020B0604020202020204" charset="0"/>
      <p:regular r:id="rId53"/>
      <p:bold r:id="rId54"/>
    </p:embeddedFont>
    <p:embeddedFont>
      <p:font typeface="Dosis ExtraLight" panose="020B0604020202020204" charset="0"/>
      <p:regular r:id="rId55"/>
      <p:bold r:id="rId56"/>
    </p:embeddedFont>
    <p:embeddedFont>
      <p:font typeface="Titillium Web" panose="020B0604020202020204" charset="0"/>
      <p:regular r:id="rId57"/>
      <p:bold r:id="rId58"/>
      <p:italic r:id="rId59"/>
      <p:boldItalic r:id="rId60"/>
    </p:embeddedFont>
    <p:embeddedFont>
      <p:font typeface="Titillium Web Light" panose="020B060402020202020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101"/>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63" Type="http://schemas.openxmlformats.org/officeDocument/2006/relationships/font" Target="fonts/font11.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61"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3"/>
        <p:cNvGrpSpPr/>
        <p:nvPr/>
      </p:nvGrpSpPr>
      <p:grpSpPr>
        <a:xfrm>
          <a:off x="0" y="0"/>
          <a:ext cx="0" cy="0"/>
          <a:chOff x="0" y="0"/>
          <a:chExt cx="0" cy="0"/>
        </a:xfrm>
      </p:grpSpPr>
      <p:sp>
        <p:nvSpPr>
          <p:cNvPr id="3844" name="Google Shape;384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5" name="Google Shape;384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Alright, let’s get started.  Today’s lecture is about adversarial reinforcement learning.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9"/>
        <p:cNvGrpSpPr/>
        <p:nvPr/>
      </p:nvGrpSpPr>
      <p:grpSpPr>
        <a:xfrm>
          <a:off x="0" y="0"/>
          <a:ext cx="0" cy="0"/>
          <a:chOff x="0" y="0"/>
          <a:chExt cx="0" cy="0"/>
        </a:xfrm>
      </p:grpSpPr>
      <p:sp>
        <p:nvSpPr>
          <p:cNvPr id="3850" name="Google Shape;3850;g7a7e4633fe_5_3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1" name="Google Shape;3851;g7a7e4633fe_5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means today’s papers will address the main robustness problems of reinforcement learning.</a:t>
            </a:r>
            <a:endParaRPr/>
          </a:p>
          <a:p>
            <a:pPr marL="0" lvl="0" indent="0" algn="l" rtl="0">
              <a:spcBef>
                <a:spcPts val="0"/>
              </a:spcBef>
              <a:spcAft>
                <a:spcPts val="0"/>
              </a:spcAft>
              <a:buNone/>
            </a:pPr>
            <a:endParaRPr/>
          </a:p>
          <a:p>
            <a:pPr marL="0" lvl="0" indent="0" algn="l" rtl="0">
              <a:spcBef>
                <a:spcPts val="0"/>
              </a:spcBef>
              <a:spcAft>
                <a:spcPts val="0"/>
              </a:spcAft>
              <a:buNone/>
            </a:pPr>
            <a:r>
              <a:rPr lang="en"/>
              <a:t>The primary robustness problem they address is that most current RL-based approaches fail to generalize.</a:t>
            </a:r>
            <a:endParaRPr/>
          </a:p>
          <a:p>
            <a:pPr marL="0" lvl="0" indent="0" algn="l" rtl="0">
              <a:spcBef>
                <a:spcPts val="0"/>
              </a:spcBef>
              <a:spcAft>
                <a:spcPts val="0"/>
              </a:spcAft>
              <a:buNone/>
            </a:pPr>
            <a:endParaRPr/>
          </a:p>
          <a:p>
            <a:pPr marL="0" lvl="0" indent="0" algn="l" rtl="0">
              <a:spcBef>
                <a:spcPts val="0"/>
              </a:spcBef>
              <a:spcAft>
                <a:spcPts val="0"/>
              </a:spcAft>
              <a:buNone/>
            </a:pPr>
            <a:r>
              <a:rPr lang="en"/>
              <a:t>One reason this happens is because training data is scarce, even when agents are trained in the real world.  Training in the real-world is expensive, time-consuming, and potentially dangerous, so agents are usually trained in simulated environments.</a:t>
            </a:r>
            <a:endParaRPr/>
          </a:p>
          <a:p>
            <a:pPr marL="0" lvl="0" indent="0" algn="l" rtl="0">
              <a:spcBef>
                <a:spcPts val="0"/>
              </a:spcBef>
              <a:spcAft>
                <a:spcPts val="0"/>
              </a:spcAft>
              <a:buNone/>
            </a:pPr>
            <a:endParaRPr/>
          </a:p>
          <a:p>
            <a:pPr marL="0" lvl="0" indent="0" algn="l" rtl="0">
              <a:spcBef>
                <a:spcPts val="0"/>
              </a:spcBef>
              <a:spcAft>
                <a:spcPts val="0"/>
              </a:spcAft>
              <a:buNone/>
            </a:pPr>
            <a:r>
              <a:rPr lang="en"/>
              <a:t>But simulations introduce new problems that also make RL-based approaches fail to generalize.  More precisely, the environment and physics of the simulator are not the same as the real world, so policies learned in simulations tend to fail to transfer to the real world.  For example, when a robot is trained to walk, it may be trained inside a simulated environment in which the frictional coefficient with the ground matches that of a carpet.  However, once the robot is deployed in the real world, it may end up in a scenario where it has to walk on ice.  We would like agents to learn policies that are robust to these errors in models of the real world and generalize well to scenarios beyond training.</a:t>
            </a:r>
            <a:endParaRPr/>
          </a:p>
          <a:p>
            <a:pPr marL="0" lvl="0" indent="0" algn="l" rtl="0">
              <a:spcBef>
                <a:spcPts val="0"/>
              </a:spcBef>
              <a:spcAft>
                <a:spcPts val="0"/>
              </a:spcAft>
              <a:buNone/>
            </a:pPr>
            <a:endParaRPr/>
          </a:p>
          <a:p>
            <a:pPr marL="0" lvl="0" indent="0" algn="l" rtl="0">
              <a:spcBef>
                <a:spcPts val="0"/>
              </a:spcBef>
              <a:spcAft>
                <a:spcPts val="0"/>
              </a:spcAft>
              <a:buNone/>
            </a:pPr>
            <a:r>
              <a:rPr lang="en"/>
              <a:t>Another problem today’s papers, particularly the second one, address is that robots are vulnerable to malicious intervention.  When a robot is deployed, a malicious adversary can try to hinder its ability to successfully complete its designated task.</a:t>
            </a:r>
            <a:endParaRPr/>
          </a:p>
          <a:p>
            <a:pPr marL="0" lvl="0" indent="0" algn="l" rtl="0">
              <a:spcBef>
                <a:spcPts val="0"/>
              </a:spcBef>
              <a:spcAft>
                <a:spcPts val="0"/>
              </a:spcAft>
              <a:buNone/>
            </a:pPr>
            <a:endParaRPr/>
          </a:p>
          <a:p>
            <a:pPr marL="0" lvl="0" indent="0" algn="l" rtl="0">
              <a:spcBef>
                <a:spcPts val="0"/>
              </a:spcBef>
              <a:spcAft>
                <a:spcPts val="0"/>
              </a:spcAft>
              <a:buNone/>
            </a:pPr>
            <a:r>
              <a:rPr lang="en"/>
              <a:t>Today’s papers address these problems by proposing adversarial training approaches for reinforcement learning.</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2"/>
        <p:cNvGrpSpPr/>
        <p:nvPr/>
      </p:nvGrpSpPr>
      <p:grpSpPr>
        <a:xfrm>
          <a:off x="0" y="0"/>
          <a:ext cx="0" cy="0"/>
          <a:chOff x="0" y="0"/>
          <a:chExt cx="0" cy="0"/>
        </a:xfrm>
      </p:grpSpPr>
      <p:sp>
        <p:nvSpPr>
          <p:cNvPr id="3863" name="Google Shape;3863;g78dd01c4f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4" name="Google Shape;3864;g78dd01c4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Today’s first paper is “Robust Adversarial Reinforcement Learning”.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6"/>
        <p:cNvGrpSpPr/>
        <p:nvPr/>
      </p:nvGrpSpPr>
      <p:grpSpPr>
        <a:xfrm>
          <a:off x="0" y="0"/>
          <a:ext cx="0" cy="0"/>
          <a:chOff x="0" y="0"/>
          <a:chExt cx="0" cy="0"/>
        </a:xfrm>
      </p:grpSpPr>
      <p:sp>
        <p:nvSpPr>
          <p:cNvPr id="3877" name="Google Shape;3877;g7a7e4633fe_5_2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8" name="Google Shape;3878;g7a7e4633fe_5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1"/>
        <p:cNvGrpSpPr/>
        <p:nvPr/>
      </p:nvGrpSpPr>
      <p:grpSpPr>
        <a:xfrm>
          <a:off x="0" y="0"/>
          <a:ext cx="0" cy="0"/>
          <a:chOff x="0" y="0"/>
          <a:chExt cx="0" cy="0"/>
        </a:xfrm>
      </p:grpSpPr>
      <p:sp>
        <p:nvSpPr>
          <p:cNvPr id="3882" name="Google Shape;3882;g7a7e4633fe_5_4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3" name="Google Shape;3883;g7a7e4633fe_5_4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address the problem of generalizing training to test scenarios, this paper first assumes the transition function underlying the system will have modeling errors and that there will be differences between training and test conditions.  The goal then is to learn a policy \mu parameterized by \theta^{\mu} that maximizes the expected cumulative reward over different possible transition functions.  However, optimizing for the expected reward over all transition functions optimizes mean performance.  This is a risk neutral formulation that assumes a known distribution over the model parameters.  Optimizing over this formulation is problematic because it does not optimize for worst-case scenarios, so many policies learned in this way will likely fail in different environments and worst-case scenarios.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0"/>
        <p:cNvGrpSpPr/>
        <p:nvPr/>
      </p:nvGrpSpPr>
      <p:grpSpPr>
        <a:xfrm>
          <a:off x="0" y="0"/>
          <a:ext cx="0" cy="0"/>
          <a:chOff x="0" y="0"/>
          <a:chExt cx="0" cy="0"/>
        </a:xfrm>
      </p:grpSpPr>
      <p:sp>
        <p:nvSpPr>
          <p:cNvPr id="3891" name="Google Shape;3891;g7a7e4633fe_5_4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2" name="Google Shape;3892;g7a7e4633fe_5_4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what this paper does is optimize for the conditional value at risk (CVaR).  Intuitively, the idea is to sample the trajectories during training that produce the worst possible rewards, namely the rewards in the worst alpha-quantile.  This is challenging because the number of possible trajectories is large.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7"/>
        <p:cNvGrpSpPr/>
        <p:nvPr/>
      </p:nvGrpSpPr>
      <p:grpSpPr>
        <a:xfrm>
          <a:off x="0" y="0"/>
          <a:ext cx="0" cy="0"/>
          <a:chOff x="0" y="0"/>
          <a:chExt cx="0" cy="0"/>
        </a:xfrm>
      </p:grpSpPr>
      <p:sp>
        <p:nvSpPr>
          <p:cNvPr id="3898" name="Google Shape;3898;g7a9ed71d57_0_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9" name="Google Shape;3899;g7a9ed71d57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how can these trajectories be efficiently sampled?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5"/>
        <p:cNvGrpSpPr/>
        <p:nvPr/>
      </p:nvGrpSpPr>
      <p:grpSpPr>
        <a:xfrm>
          <a:off x="0" y="0"/>
          <a:ext cx="0" cy="0"/>
          <a:chOff x="0" y="0"/>
          <a:chExt cx="0" cy="0"/>
        </a:xfrm>
      </p:grpSpPr>
      <p:sp>
        <p:nvSpPr>
          <p:cNvPr id="3906" name="Google Shape;3906;g7a9ed71d57_0_1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7" name="Google Shape;3907;g7a9ed71d57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paper’s answer is to introduce an adversarial agent into the training process.</a:t>
            </a:r>
            <a:endParaRPr/>
          </a:p>
          <a:p>
            <a:pPr marL="0" lvl="0" indent="0" algn="l" rtl="0">
              <a:spcBef>
                <a:spcPts val="0"/>
              </a:spcBef>
              <a:spcAft>
                <a:spcPts val="0"/>
              </a:spcAft>
              <a:buNone/>
            </a:pPr>
            <a:endParaRPr/>
          </a:p>
          <a:p>
            <a:pPr marL="0" lvl="0" indent="0" algn="l" rtl="0">
              <a:spcBef>
                <a:spcPts val="0"/>
              </a:spcBef>
              <a:spcAft>
                <a:spcPts val="0"/>
              </a:spcAft>
              <a:buNone/>
            </a:pPr>
            <a:r>
              <a:rPr lang="en"/>
              <a:t>So let’s take a look at what this proposed training approach looks like.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5"/>
        <p:cNvGrpSpPr/>
        <p:nvPr/>
      </p:nvGrpSpPr>
      <p:grpSpPr>
        <a:xfrm>
          <a:off x="0" y="0"/>
          <a:ext cx="0" cy="0"/>
          <a:chOff x="0" y="0"/>
          <a:chExt cx="0" cy="0"/>
        </a:xfrm>
      </p:grpSpPr>
      <p:sp>
        <p:nvSpPr>
          <p:cNvPr id="3916" name="Google Shape;3916;g7a9d0b62b4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7" name="Google Shape;3917;g7a9d0b62b4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this adversarial training setting, there are two agents: the protagonist, which is the agent designed for the desired task, with action space A_1, and the adversary, with action space A_2.  This new training setting is the main contribution of this paper, and it is called, “Robust Adversarial Reinforcement Learning,” or RARL for short.</a:t>
            </a:r>
            <a:endParaRPr/>
          </a:p>
          <a:p>
            <a:pPr marL="0" lvl="0" indent="0" algn="l" rtl="0">
              <a:spcBef>
                <a:spcPts val="0"/>
              </a:spcBef>
              <a:spcAft>
                <a:spcPts val="0"/>
              </a:spcAft>
              <a:buNone/>
            </a:pPr>
            <a:endParaRPr/>
          </a:p>
          <a:p>
            <a:pPr marL="0" lvl="0" indent="0" algn="l" rtl="0">
              <a:spcBef>
                <a:spcPts val="0"/>
              </a:spcBef>
              <a:spcAft>
                <a:spcPts val="0"/>
              </a:spcAft>
              <a:buNone/>
            </a:pPr>
            <a:r>
              <a:rPr lang="en"/>
              <a:t>The goal of the adversarial agent in this setting is to make the protagonist fail its task by applying...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9"/>
        <p:cNvGrpSpPr/>
        <p:nvPr/>
      </p:nvGrpSpPr>
      <p:grpSpPr>
        <a:xfrm>
          <a:off x="0" y="0"/>
          <a:ext cx="0" cy="0"/>
          <a:chOff x="0" y="0"/>
          <a:chExt cx="0" cy="0"/>
        </a:xfrm>
      </p:grpSpPr>
      <p:sp>
        <p:nvSpPr>
          <p:cNvPr id="3930" name="Google Shape;3930;g7a7229e96d_3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1" name="Google Shape;3931;g7a7229e96d_3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...destabilizing forces to it.  Through the training process, the adversary will learn to sample hard examples to make the protagonist fail at its task, and the adversary will be rewarded for succeeding.  As a result, the protagonist will be exposed to the worst possible destabilizing forces and consequently learn a policy robust to the adversary’s distrubances.</a:t>
            </a:r>
            <a:endParaRPr/>
          </a:p>
          <a:p>
            <a:pPr marL="0" lvl="0" indent="0" algn="l" rtl="0">
              <a:spcBef>
                <a:spcPts val="0"/>
              </a:spcBef>
              <a:spcAft>
                <a:spcPts val="0"/>
              </a:spcAft>
              <a:buNone/>
            </a:pPr>
            <a:endParaRPr/>
          </a:p>
          <a:p>
            <a:pPr marL="0" lvl="0" indent="0" algn="l" rtl="0">
              <a:spcBef>
                <a:spcPts val="0"/>
              </a:spcBef>
              <a:spcAft>
                <a:spcPts val="0"/>
              </a:spcAft>
              <a:buNone/>
            </a:pPr>
            <a:r>
              <a:rPr lang="en"/>
              <a:t>For example, in the InvertedPendulum simulation, the adversary can challenge the protagonist’s attempts to keep the pendulum balanced on this cart by learning to apply the forces that most effectively cause the pendulum to fall over.  Similarly, in Walker2d, the adversary can challenge the walker by learning to apply the forces most likely to make the walker fall over.</a:t>
            </a:r>
            <a:endParaRPr/>
          </a:p>
          <a:p>
            <a:pPr marL="0" lvl="0" indent="0" algn="l" rtl="0">
              <a:spcBef>
                <a:spcPts val="0"/>
              </a:spcBef>
              <a:spcAft>
                <a:spcPts val="0"/>
              </a:spcAft>
              <a:buNone/>
            </a:pPr>
            <a:endParaRPr/>
          </a:p>
          <a:p>
            <a:pPr marL="0" lvl="0" indent="0" algn="l" rtl="0">
              <a:spcBef>
                <a:spcPts val="0"/>
              </a:spcBef>
              <a:spcAft>
                <a:spcPts val="0"/>
              </a:spcAft>
              <a:buNone/>
            </a:pPr>
            <a:r>
              <a:rPr lang="en"/>
              <a:t>But the most powerful characteristic of this adversarial agent is...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6"/>
        <p:cNvGrpSpPr/>
        <p:nvPr/>
      </p:nvGrpSpPr>
      <p:grpSpPr>
        <a:xfrm>
          <a:off x="0" y="0"/>
          <a:ext cx="0" cy="0"/>
          <a:chOff x="0" y="0"/>
          <a:chExt cx="0" cy="0"/>
        </a:xfrm>
      </p:grpSpPr>
      <p:sp>
        <p:nvSpPr>
          <p:cNvPr id="3937" name="Google Shape;3937;g7a7229e96d_3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8" name="Google Shape;3938;g7a7229e96d_3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...that it is not restricted to the same action space as the protagonist.  The adversarial agent can be designed to exploit domain knowledge to more effectively attack the protagonist’s weaknesses.  An example of this is the ability to exert 2D forces, such as this one, on the pendulum in InvertedPendulum, while the protagonist can only exert 1D forces.</a:t>
            </a:r>
            <a:endParaRPr/>
          </a:p>
          <a:p>
            <a:pPr marL="0" lvl="0" indent="0" algn="l" rtl="0">
              <a:spcBef>
                <a:spcPts val="0"/>
              </a:spcBef>
              <a:spcAft>
                <a:spcPts val="0"/>
              </a:spcAft>
              <a:buNone/>
            </a:pPr>
            <a:endParaRPr/>
          </a:p>
          <a:p>
            <a:pPr marL="0" lvl="0" indent="0" algn="l" rtl="0">
              <a:spcBef>
                <a:spcPts val="0"/>
              </a:spcBef>
              <a:spcAft>
                <a:spcPts val="0"/>
              </a:spcAft>
              <a:buNone/>
            </a:pPr>
            <a:r>
              <a:rPr lang="en"/>
              <a:t>In training simulations, the adversary can also exploit the fact that the environment is simulated to have “super-powers” and affect the protagonist and environment in ways that the protagonist can’t.  This means the adversary can have actions in its action space to change environment parameters such as frictional coefficient and mass in the middle of a training simulation.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3"/>
        <p:cNvGrpSpPr/>
        <p:nvPr/>
      </p:nvGrpSpPr>
      <p:grpSpPr>
        <a:xfrm>
          <a:off x="0" y="0"/>
          <a:ext cx="0" cy="0"/>
          <a:chOff x="0" y="0"/>
          <a:chExt cx="0" cy="0"/>
        </a:xfrm>
      </p:grpSpPr>
      <p:sp>
        <p:nvSpPr>
          <p:cNvPr id="3944" name="Google Shape;3944;g7a7e4633fe_5_3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5" name="Google Shape;3945;g7a7e4633fe_5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training process can be modeled as a two-player, zero-sum Markov game.  The protagonist’s goal is to learn a policy \mu(s) to maximize its cumulative rewards R^1 given the adversary’s policy \nu(s) [gesture to minimax equation].  The adversary’s goal is to learn a \nu(s) that minimizes the protagonist’s cumulative rewards given \mu(s) [gesture to minimax equation].  This means the protagonist and antagonist have these minimax objective functions.  Training converges when the protagonist and adversary have learned the Nash equilibria policies.  In this game, Nash equilibrium is equivalent to the optimal equilibrium reward, so the agents will have learned their optimal policies when Nash equilibrium is reached.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1"/>
        <p:cNvGrpSpPr/>
        <p:nvPr/>
      </p:nvGrpSpPr>
      <p:grpSpPr>
        <a:xfrm>
          <a:off x="0" y="0"/>
          <a:ext cx="0" cy="0"/>
          <a:chOff x="0" y="0"/>
          <a:chExt cx="0" cy="0"/>
        </a:xfrm>
      </p:grpSpPr>
      <p:sp>
        <p:nvSpPr>
          <p:cNvPr id="3962" name="Google Shape;3962;g78dd01c4f0_1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3" name="Google Shape;3963;g78dd01c4f0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the Robust Adversarial Reinforcement Learning algorithm.</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7"/>
        <p:cNvGrpSpPr/>
        <p:nvPr/>
      </p:nvGrpSpPr>
      <p:grpSpPr>
        <a:xfrm>
          <a:off x="0" y="0"/>
          <a:ext cx="0" cy="0"/>
          <a:chOff x="0" y="0"/>
          <a:chExt cx="0" cy="0"/>
        </a:xfrm>
      </p:grpSpPr>
      <p:sp>
        <p:nvSpPr>
          <p:cNvPr id="3968" name="Google Shape;3968;g78dd01c4f0_1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9" name="Google Shape;3969;g78dd01c4f0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When reading this algorithm and the paper in general, note that any symbol containing \mu or a superscript of 1 corresponds to the protagonist and any symbol containing \nu or a superscript of 2 corresponds to the adversary.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5"/>
        <p:cNvGrpSpPr/>
        <p:nvPr/>
      </p:nvGrpSpPr>
      <p:grpSpPr>
        <a:xfrm>
          <a:off x="0" y="0"/>
          <a:ext cx="0" cy="0"/>
          <a:chOff x="0" y="0"/>
          <a:chExt cx="0" cy="0"/>
        </a:xfrm>
      </p:grpSpPr>
      <p:sp>
        <p:nvSpPr>
          <p:cNvPr id="3996" name="Google Shape;3996;g7a9d0b62b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7" name="Google Shape;3997;g7a9d0b62b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algorithm trains both the protagonist and the adversary over multiple iterations, alternating updates to each agent’s policy.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7"/>
        <p:cNvGrpSpPr/>
        <p:nvPr/>
      </p:nvGrpSpPr>
      <p:grpSpPr>
        <a:xfrm>
          <a:off x="0" y="0"/>
          <a:ext cx="0" cy="0"/>
          <a:chOff x="0" y="0"/>
          <a:chExt cx="0" cy="0"/>
        </a:xfrm>
      </p:grpSpPr>
      <p:sp>
        <p:nvSpPr>
          <p:cNvPr id="4008" name="Google Shape;4008;g6adf01c375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9" name="Google Shape;4009;g6adf01c375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Within each iteration, the protagonist’s policy is first optimized while the adversary’s policy is held constant, then the adversary’s policy is optimized while the protagonist’s policy is held constant.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3"/>
        <p:cNvGrpSpPr/>
        <p:nvPr/>
      </p:nvGrpSpPr>
      <p:grpSpPr>
        <a:xfrm>
          <a:off x="0" y="0"/>
          <a:ext cx="0" cy="0"/>
          <a:chOff x="0" y="0"/>
          <a:chExt cx="0" cy="0"/>
        </a:xfrm>
      </p:grpSpPr>
      <p:sp>
        <p:nvSpPr>
          <p:cNvPr id="4024" name="Google Shape;4024;g78dd01c4f0_1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5" name="Google Shape;4025;g78dd01c4f0_1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Within each iteration of policy optimization, N_traj trajectories are sampled with the current policies...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7"/>
        <p:cNvGrpSpPr/>
        <p:nvPr/>
      </p:nvGrpSpPr>
      <p:grpSpPr>
        <a:xfrm>
          <a:off x="0" y="0"/>
          <a:ext cx="0" cy="0"/>
          <a:chOff x="0" y="0"/>
          <a:chExt cx="0" cy="0"/>
        </a:xfrm>
      </p:grpSpPr>
      <p:sp>
        <p:nvSpPr>
          <p:cNvPr id="4038" name="Google Shape;4038;g78dd01c4f0_1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9" name="Google Shape;4039;g78dd01c4f0_1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...then the appropriate policy is optimized with those trajectories.  Notice that all trajectories contain the actions and rewards for both the protagonist and the adversary, but we only use the actions and rewards corresponding the agent whose policy is currently being optimized.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3"/>
        <p:cNvGrpSpPr/>
        <p:nvPr/>
      </p:nvGrpSpPr>
      <p:grpSpPr>
        <a:xfrm>
          <a:off x="0" y="0"/>
          <a:ext cx="0" cy="0"/>
          <a:chOff x="0" y="0"/>
          <a:chExt cx="0" cy="0"/>
        </a:xfrm>
      </p:grpSpPr>
      <p:sp>
        <p:nvSpPr>
          <p:cNvPr id="4064" name="Google Shape;4064;g7a71afd4da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5" name="Google Shape;4065;g7a71afd4da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that is the adversarial training approach of this paper.  Now let’s look at the results.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8"/>
        <p:cNvGrpSpPr/>
        <p:nvPr/>
      </p:nvGrpSpPr>
      <p:grpSpPr>
        <a:xfrm>
          <a:off x="0" y="0"/>
          <a:ext cx="0" cy="0"/>
          <a:chOff x="0" y="0"/>
          <a:chExt cx="0" cy="0"/>
        </a:xfrm>
      </p:grpSpPr>
      <p:sp>
        <p:nvSpPr>
          <p:cNvPr id="4069" name="Google Shape;4069;g7a71afd4da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0" name="Google Shape;4070;g7a71afd4da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paper conducted experiments in five different OpenAI environments.  As a baseline, some agents were trained with Trust Region Policy Optimization, or TRPO, which is a state-of-the-art on-policy batch learning algorithm for continuous control that uses a constrained policy gradient update to improve policies.  Other agents were trained with RARL.</a:t>
            </a:r>
            <a:endParaRPr/>
          </a:p>
          <a:p>
            <a:pPr marL="0" lvl="0" indent="0" algn="l" rtl="0">
              <a:spcBef>
                <a:spcPts val="0"/>
              </a:spcBef>
              <a:spcAft>
                <a:spcPts val="0"/>
              </a:spcAft>
              <a:buNone/>
            </a:pPr>
            <a:endParaRPr/>
          </a:p>
          <a:p>
            <a:pPr marL="0" lvl="0" indent="0" algn="l" rtl="0">
              <a:spcBef>
                <a:spcPts val="0"/>
              </a:spcBef>
              <a:spcAft>
                <a:spcPts val="0"/>
              </a:spcAft>
              <a:buNone/>
            </a:pPr>
            <a:r>
              <a:rPr lang="en"/>
              <a:t>On this slide, you can see plots of the mean rewards for the TRPO and RARL agents during training as a function of the number of iterations of the corresponding algorithms.  In the HalfCheetah and Swimmer simulations, RARL gets better mean rewards than TRPO over time.  However, in the Hopper and Walker2d simulations, RARL and TRPO get approximately the same mean rewards over time.</a:t>
            </a:r>
            <a:endParaRPr/>
          </a:p>
          <a:p>
            <a:pPr marL="0" lvl="0" indent="0" algn="l" rtl="0">
              <a:spcBef>
                <a:spcPts val="0"/>
              </a:spcBef>
              <a:spcAft>
                <a:spcPts val="0"/>
              </a:spcAft>
              <a:buNone/>
            </a:pPr>
            <a:endParaRPr/>
          </a:p>
          <a:p>
            <a:pPr marL="0" lvl="0" indent="0" algn="l" rtl="0">
              <a:spcBef>
                <a:spcPts val="0"/>
              </a:spcBef>
              <a:spcAft>
                <a:spcPts val="0"/>
              </a:spcAft>
              <a:buNone/>
            </a:pPr>
            <a:r>
              <a:rPr lang="en"/>
              <a:t>When testing the trained agents, the paper conducts experiments on both TRPO and RARL agents without any disturbances applied and with learned adversarial disturbances applied.  In both test scenarios, the results reflect the same conclusion as in these plots, with agents trained with RARL outperforming the agents trained with TRPO in HalfCheetah and Swimmer, but both types of trained agents performing the same in Hopper and Walker2d.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5"/>
        <p:cNvGrpSpPr/>
        <p:nvPr/>
      </p:nvGrpSpPr>
      <p:grpSpPr>
        <a:xfrm>
          <a:off x="0" y="0"/>
          <a:ext cx="0" cy="0"/>
          <a:chOff x="0" y="0"/>
          <a:chExt cx="0" cy="0"/>
        </a:xfrm>
      </p:grpSpPr>
      <p:sp>
        <p:nvSpPr>
          <p:cNvPr id="4076" name="Google Shape;4076;g7a7229e96d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7" name="Google Shape;4077;g7a7229e96d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2"/>
        <p:cNvGrpSpPr/>
        <p:nvPr/>
      </p:nvGrpSpPr>
      <p:grpSpPr>
        <a:xfrm>
          <a:off x="0" y="0"/>
          <a:ext cx="0" cy="0"/>
          <a:chOff x="0" y="0"/>
          <a:chExt cx="0" cy="0"/>
        </a:xfrm>
      </p:grpSpPr>
      <p:sp>
        <p:nvSpPr>
          <p:cNvPr id="4083" name="Google Shape;4083;g7a7229e96d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4" name="Google Shape;4084;g7a7229e96d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9"/>
        <p:cNvGrpSpPr/>
        <p:nvPr/>
      </p:nvGrpSpPr>
      <p:grpSpPr>
        <a:xfrm>
          <a:off x="0" y="0"/>
          <a:ext cx="0" cy="0"/>
          <a:chOff x="0" y="0"/>
          <a:chExt cx="0" cy="0"/>
        </a:xfrm>
      </p:grpSpPr>
      <p:sp>
        <p:nvSpPr>
          <p:cNvPr id="4090" name="Google Shape;4090;g7a7e4633fe_5_1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1" name="Google Shape;4091;g7a7e4633fe_5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4"/>
        <p:cNvGrpSpPr/>
        <p:nvPr/>
      </p:nvGrpSpPr>
      <p:grpSpPr>
        <a:xfrm>
          <a:off x="0" y="0"/>
          <a:ext cx="0" cy="0"/>
          <a:chOff x="0" y="0"/>
          <a:chExt cx="0" cy="0"/>
        </a:xfrm>
      </p:grpSpPr>
      <p:sp>
        <p:nvSpPr>
          <p:cNvPr id="4095" name="Google Shape;4095;g7a7e4633fe_5_1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6" name="Google Shape;4096;g7a7e4633fe_5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0"/>
        <p:cNvGrpSpPr/>
        <p:nvPr/>
      </p:nvGrpSpPr>
      <p:grpSpPr>
        <a:xfrm>
          <a:off x="0" y="0"/>
          <a:ext cx="0" cy="0"/>
          <a:chOff x="0" y="0"/>
          <a:chExt cx="0" cy="0"/>
        </a:xfrm>
      </p:grpSpPr>
      <p:sp>
        <p:nvSpPr>
          <p:cNvPr id="4101" name="Google Shape;4101;g78dd01c4f0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2" name="Google Shape;4102;g78dd01c4f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6"/>
        <p:cNvGrpSpPr/>
        <p:nvPr/>
      </p:nvGrpSpPr>
      <p:grpSpPr>
        <a:xfrm>
          <a:off x="0" y="0"/>
          <a:ext cx="0" cy="0"/>
          <a:chOff x="0" y="0"/>
          <a:chExt cx="0" cy="0"/>
        </a:xfrm>
      </p:grpSpPr>
      <p:sp>
        <p:nvSpPr>
          <p:cNvPr id="4117" name="Google Shape;4117;g7a7229e96d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8" name="Google Shape;4118;g7a7229e96d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First off,...</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1"/>
        <p:cNvGrpSpPr/>
        <p:nvPr/>
      </p:nvGrpSpPr>
      <p:grpSpPr>
        <a:xfrm>
          <a:off x="0" y="0"/>
          <a:ext cx="0" cy="0"/>
          <a:chOff x="0" y="0"/>
          <a:chExt cx="0" cy="0"/>
        </a:xfrm>
      </p:grpSpPr>
      <p:sp>
        <p:nvSpPr>
          <p:cNvPr id="4122" name="Google Shape;4122;g7a9ed71d5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3" name="Google Shape;4123;g7a9ed71d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paper focuses on physical dynamical systems.  A physical dynamical system models state transition dynamics in an environment in terms of a state transition function f with dynamics noise \mu and process noise \nu and observed state in terms of an observation function g with observation noise \omega.  Dynamics noise represents uncertainty and variations in underlying physical parameters of the environment, such as mass, friction, and inertia.  Process noise represents direct perturbations of the state that can result from noise in the execution of actions.  Observation noise represents direct perturbations of the observation of the state that can result from noise in sensor measurements.</a:t>
            </a:r>
            <a:endParaRPr/>
          </a:p>
          <a:p>
            <a:pPr marL="0" lvl="0" indent="0" algn="l" rtl="0">
              <a:spcBef>
                <a:spcPts val="0"/>
              </a:spcBef>
              <a:spcAft>
                <a:spcPts val="0"/>
              </a:spcAft>
              <a:buNone/>
            </a:pPr>
            <a:endParaRPr/>
          </a:p>
          <a:p>
            <a:pPr marL="0" lvl="0" indent="0" algn="l" rtl="0">
              <a:spcBef>
                <a:spcPts val="0"/>
              </a:spcBef>
              <a:spcAft>
                <a:spcPts val="0"/>
              </a:spcAft>
              <a:buNone/>
            </a:pPr>
            <a:r>
              <a:rPr lang="en"/>
              <a:t>To improve an agent’s robustness in physical dynamical systems, this paper proposes an adversarial training approach in which...</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1"/>
        <p:cNvGrpSpPr/>
        <p:nvPr/>
      </p:nvGrpSpPr>
      <p:grpSpPr>
        <a:xfrm>
          <a:off x="0" y="0"/>
          <a:ext cx="0" cy="0"/>
          <a:chOff x="0" y="0"/>
          <a:chExt cx="0" cy="0"/>
        </a:xfrm>
      </p:grpSpPr>
      <p:sp>
        <p:nvSpPr>
          <p:cNvPr id="4132" name="Google Shape;4132;g7a9ed71d57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3" name="Google Shape;4133;g7a9ed71d57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...noise is added adversarially to the system.  In this training approach, noise can be added adversarially to any of the three noise types in the system to expose the agent to the worst possible noise values in the corresponding noise type.  This adversarial training approach is the main contribution of this paper, and it is called, “Adversarially Robust Policy-Learning,” or ARPL for short.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4"/>
        <p:cNvGrpSpPr/>
        <p:nvPr/>
      </p:nvGrpSpPr>
      <p:grpSpPr>
        <a:xfrm>
          <a:off x="0" y="0"/>
          <a:ext cx="0" cy="0"/>
          <a:chOff x="0" y="0"/>
          <a:chExt cx="0" cy="0"/>
        </a:xfrm>
      </p:grpSpPr>
      <p:sp>
        <p:nvSpPr>
          <p:cNvPr id="4145" name="Google Shape;4145;g7a7e4633fe_5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6" name="Google Shape;4146;g7a7e4633fe_5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ARPL computes the optimal adversarial noise using a modified version of the fast gradient sign method.  The main difference here is that the gradient of the loss function is not passed into the sign function, so it is multiplied directly with the perturbation strength \epsilon.  A consequence of this is that the computed adversarial noise \delta scales with the magnitude of the gradient and can take on values other than +-\epsilon.</a:t>
            </a:r>
            <a:endParaRPr/>
          </a:p>
          <a:p>
            <a:pPr marL="0" lvl="0" indent="0" algn="l" rtl="0">
              <a:spcBef>
                <a:spcPts val="0"/>
              </a:spcBef>
              <a:spcAft>
                <a:spcPts val="0"/>
              </a:spcAft>
              <a:buNone/>
            </a:pPr>
            <a:endParaRPr/>
          </a:p>
          <a:p>
            <a:pPr marL="0" lvl="0" indent="0" algn="l" rtl="0">
              <a:spcBef>
                <a:spcPts val="0"/>
              </a:spcBef>
              <a:spcAft>
                <a:spcPts val="0"/>
              </a:spcAft>
              <a:buNone/>
            </a:pPr>
            <a:r>
              <a:rPr lang="en"/>
              <a:t>The paper argues this modification is reasonable because fast gradient sign method was primarily designed for images, which are high dimensional with IID dimensions.  However, dynamical models have dimensions in the state space that correspond to different physical quantities, such as mass and frictional coefficient.  Since different physical quantities have different scales and units, scaling issues can occur when a fixed unit step size is added to every dimension.  This is the justification for scaling the noise with the gradient.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1"/>
        <p:cNvGrpSpPr/>
        <p:nvPr/>
      </p:nvGrpSpPr>
      <p:grpSpPr>
        <a:xfrm>
          <a:off x="0" y="0"/>
          <a:ext cx="0" cy="0"/>
          <a:chOff x="0" y="0"/>
          <a:chExt cx="0" cy="0"/>
        </a:xfrm>
      </p:grpSpPr>
      <p:sp>
        <p:nvSpPr>
          <p:cNvPr id="4152" name="Google Shape;4152;g78dd01c4f0_1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3" name="Google Shape;4153;g78dd01c4f0_1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the Adversarially Robust Policy-Learning algorithm.</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7"/>
        <p:cNvGrpSpPr/>
        <p:nvPr/>
      </p:nvGrpSpPr>
      <p:grpSpPr>
        <a:xfrm>
          <a:off x="0" y="0"/>
          <a:ext cx="0" cy="0"/>
          <a:chOff x="0" y="0"/>
          <a:chExt cx="0" cy="0"/>
        </a:xfrm>
      </p:grpSpPr>
      <p:sp>
        <p:nvSpPr>
          <p:cNvPr id="4158" name="Google Shape;4158;g7a7e4633fe_5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9" name="Google Shape;4159;g7a7e4633fe_5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this algorithm, the agent’s policy \pi is optimized over multiple iterations.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8"/>
        <p:cNvGrpSpPr/>
        <p:nvPr/>
      </p:nvGrpSpPr>
      <p:grpSpPr>
        <a:xfrm>
          <a:off x="0" y="0"/>
          <a:ext cx="0" cy="0"/>
          <a:chOff x="0" y="0"/>
          <a:chExt cx="0" cy="0"/>
        </a:xfrm>
      </p:grpSpPr>
      <p:sp>
        <p:nvSpPr>
          <p:cNvPr id="4169" name="Google Shape;4169;g7a7e4633fe_5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0" name="Google Shape;4170;g7a7e4633fe_5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Within each iteration, \k trajectories are sampled using the agent’s current policy.</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8"/>
        <p:cNvGrpSpPr/>
        <p:nvPr/>
      </p:nvGrpSpPr>
      <p:grpSpPr>
        <a:xfrm>
          <a:off x="0" y="0"/>
          <a:ext cx="0" cy="0"/>
          <a:chOff x="0" y="0"/>
          <a:chExt cx="0" cy="0"/>
        </a:xfrm>
      </p:grpSpPr>
      <p:sp>
        <p:nvSpPr>
          <p:cNvPr id="4179" name="Google Shape;4179;g7a7e4633fe_5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0" name="Google Shape;4180;g7a7e4633fe_5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each trajectory, the noise perturbation is computed...</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7"/>
        <p:cNvGrpSpPr/>
        <p:nvPr/>
      </p:nvGrpSpPr>
      <p:grpSpPr>
        <a:xfrm>
          <a:off x="0" y="0"/>
          <a:ext cx="0" cy="0"/>
          <a:chOff x="0" y="0"/>
          <a:chExt cx="0" cy="0"/>
        </a:xfrm>
      </p:grpSpPr>
      <p:sp>
        <p:nvSpPr>
          <p:cNvPr id="4188" name="Google Shape;4188;g7a7e4633fe_5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9" name="Google Shape;4189;g7a7e4633fe_5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 then added to the trajectory with probability \phi.  \phi is a hyperparameter that dictates the frequency at which noise is added to trajectories during training.</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9"/>
        <p:cNvGrpSpPr/>
        <p:nvPr/>
      </p:nvGrpSpPr>
      <p:grpSpPr>
        <a:xfrm>
          <a:off x="0" y="0"/>
          <a:ext cx="0" cy="0"/>
          <a:chOff x="0" y="0"/>
          <a:chExt cx="0" cy="0"/>
        </a:xfrm>
      </p:grpSpPr>
      <p:sp>
        <p:nvSpPr>
          <p:cNvPr id="4200" name="Google Shape;4200;g7a9ed71d57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1" name="Google Shape;4201;g7a9ed71d57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After all k trajectories are sampled with or without noise added, they are used to update the policy parameters \theta.</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8"/>
        <p:cNvGrpSpPr/>
        <p:nvPr/>
      </p:nvGrpSpPr>
      <p:grpSpPr>
        <a:xfrm>
          <a:off x="0" y="0"/>
          <a:ext cx="0" cy="0"/>
          <a:chOff x="0" y="0"/>
          <a:chExt cx="0" cy="0"/>
        </a:xfrm>
      </p:grpSpPr>
      <p:sp>
        <p:nvSpPr>
          <p:cNvPr id="4209" name="Google Shape;4209;g7a7e4633fe_5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0" name="Google Shape;4210;g7a7e4633fe_5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3"/>
        <p:cNvGrpSpPr/>
        <p:nvPr/>
      </p:nvGrpSpPr>
      <p:grpSpPr>
        <a:xfrm>
          <a:off x="0" y="0"/>
          <a:ext cx="0" cy="0"/>
          <a:chOff x="0" y="0"/>
          <a:chExt cx="0" cy="0"/>
        </a:xfrm>
      </p:grpSpPr>
      <p:sp>
        <p:nvSpPr>
          <p:cNvPr id="4214" name="Google Shape;4214;g7a7e4633fe_5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5" name="Google Shape;4215;g7a7e4633fe_5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8"/>
        <p:cNvGrpSpPr/>
        <p:nvPr/>
      </p:nvGrpSpPr>
      <p:grpSpPr>
        <a:xfrm>
          <a:off x="0" y="0"/>
          <a:ext cx="0" cy="0"/>
          <a:chOff x="0" y="0"/>
          <a:chExt cx="0" cy="0"/>
        </a:xfrm>
      </p:grpSpPr>
      <p:sp>
        <p:nvSpPr>
          <p:cNvPr id="4219" name="Google Shape;4219;g7a7e4633fe_5_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0" name="Google Shape;4220;g7a7e4633fe_5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5"/>
        <p:cNvGrpSpPr/>
        <p:nvPr/>
      </p:nvGrpSpPr>
      <p:grpSpPr>
        <a:xfrm>
          <a:off x="0" y="0"/>
          <a:ext cx="0" cy="0"/>
          <a:chOff x="0" y="0"/>
          <a:chExt cx="0" cy="0"/>
        </a:xfrm>
      </p:grpSpPr>
      <p:sp>
        <p:nvSpPr>
          <p:cNvPr id="4226" name="Google Shape;4226;g7a7229e96d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7" name="Google Shape;4227;g7a7229e96d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0"/>
        <p:cNvGrpSpPr/>
        <p:nvPr/>
      </p:nvGrpSpPr>
      <p:grpSpPr>
        <a:xfrm>
          <a:off x="0" y="0"/>
          <a:ext cx="0" cy="0"/>
          <a:chOff x="0" y="0"/>
          <a:chExt cx="0" cy="0"/>
        </a:xfrm>
      </p:grpSpPr>
      <p:sp>
        <p:nvSpPr>
          <p:cNvPr id="4231" name="Google Shape;4231;g7a7229e96d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2" name="Google Shape;4232;g7a7229e96d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6"/>
        <p:cNvGrpSpPr/>
        <p:nvPr/>
      </p:nvGrpSpPr>
      <p:grpSpPr>
        <a:xfrm>
          <a:off x="0" y="0"/>
          <a:ext cx="0" cy="0"/>
          <a:chOff x="0" y="0"/>
          <a:chExt cx="0" cy="0"/>
        </a:xfrm>
      </p:grpSpPr>
      <p:sp>
        <p:nvSpPr>
          <p:cNvPr id="4237" name="Google Shape;4237;g7a7229e96d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8" name="Google Shape;4238;g7a7229e96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3"/>
        <p:cNvGrpSpPr/>
        <p:nvPr/>
      </p:nvGrpSpPr>
      <p:grpSpPr>
        <a:xfrm>
          <a:off x="0" y="0"/>
          <a:ext cx="0" cy="0"/>
          <a:chOff x="0" y="0"/>
          <a:chExt cx="0" cy="0"/>
        </a:xfrm>
      </p:grpSpPr>
      <p:sp>
        <p:nvSpPr>
          <p:cNvPr id="4244" name="Google Shape;4244;g7a7229e96d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5" name="Google Shape;4245;g7a7229e96d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0"/>
        <p:cNvGrpSpPr/>
        <p:nvPr/>
      </p:nvGrpSpPr>
      <p:grpSpPr>
        <a:xfrm>
          <a:off x="0" y="0"/>
          <a:ext cx="0" cy="0"/>
          <a:chOff x="0" y="0"/>
          <a:chExt cx="0" cy="0"/>
        </a:xfrm>
      </p:grpSpPr>
      <p:sp>
        <p:nvSpPr>
          <p:cNvPr id="4251" name="Google Shape;4251;g7a7229e96d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2" name="Google Shape;4252;g7a7229e96d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7"/>
        <p:cNvGrpSpPr/>
        <p:nvPr/>
      </p:nvGrpSpPr>
      <p:grpSpPr>
        <a:xfrm>
          <a:off x="0" y="0"/>
          <a:ext cx="0" cy="0"/>
          <a:chOff x="0" y="0"/>
          <a:chExt cx="0" cy="0"/>
        </a:xfrm>
      </p:grpSpPr>
      <p:sp>
        <p:nvSpPr>
          <p:cNvPr id="4258" name="Google Shape;4258;g7a7229e96d_3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9" name="Google Shape;4259;g7a7229e96d_3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4"/>
        <p:cNvGrpSpPr/>
        <p:nvPr/>
      </p:nvGrpSpPr>
      <p:grpSpPr>
        <a:xfrm>
          <a:off x="0" y="0"/>
          <a:ext cx="0" cy="0"/>
          <a:chOff x="0" y="0"/>
          <a:chExt cx="0" cy="0"/>
        </a:xfrm>
      </p:grpSpPr>
      <p:sp>
        <p:nvSpPr>
          <p:cNvPr id="4265" name="Google Shape;4265;g6adf01c375_0_2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6" name="Google Shape;4266;g6adf01c375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9"/>
        <p:cNvGrpSpPr/>
        <p:nvPr/>
      </p:nvGrpSpPr>
      <p:grpSpPr>
        <a:xfrm>
          <a:off x="0" y="0"/>
          <a:ext cx="0" cy="0"/>
          <a:chOff x="0" y="0"/>
          <a:chExt cx="0" cy="0"/>
        </a:xfrm>
      </p:grpSpPr>
      <p:sp>
        <p:nvSpPr>
          <p:cNvPr id="4270" name="Google Shape;4270;g7a9ed71d57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1" name="Google Shape;4271;g7a9ed71d57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8"/>
        <p:cNvGrpSpPr/>
        <p:nvPr/>
      </p:nvGrpSpPr>
      <p:grpSpPr>
        <a:xfrm>
          <a:off x="0" y="0"/>
          <a:ext cx="0" cy="0"/>
          <a:chOff x="0" y="0"/>
          <a:chExt cx="0" cy="0"/>
        </a:xfrm>
      </p:grpSpPr>
      <p:sp>
        <p:nvSpPr>
          <p:cNvPr id="4279" name="Google Shape;4279;g7a9ed71d57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0" name="Google Shape;4280;g7a9ed71d57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7"/>
        <p:cNvGrpSpPr/>
        <p:nvPr/>
      </p:nvGrpSpPr>
      <p:grpSpPr>
        <a:xfrm>
          <a:off x="0" y="0"/>
          <a:ext cx="0" cy="0"/>
          <a:chOff x="0" y="0"/>
          <a:chExt cx="0" cy="0"/>
        </a:xfrm>
      </p:grpSpPr>
      <p:sp>
        <p:nvSpPr>
          <p:cNvPr id="4288" name="Google Shape;4288;g7a7e4633fe_5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9" name="Google Shape;4289;g7a7e4633fe_5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3"/>
        <p:cNvGrpSpPr/>
        <p:nvPr/>
      </p:nvGrpSpPr>
      <p:grpSpPr>
        <a:xfrm>
          <a:off x="0" y="0"/>
          <a:ext cx="0" cy="0"/>
          <a:chOff x="0" y="0"/>
          <a:chExt cx="0" cy="0"/>
        </a:xfrm>
      </p:grpSpPr>
      <p:sp>
        <p:nvSpPr>
          <p:cNvPr id="4294" name="Google Shape;4294;g755de137b1_0_305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5" name="Google Shape;4295;g755de137b1_0_30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8"/>
        <p:cNvGrpSpPr/>
        <p:nvPr/>
      </p:nvGrpSpPr>
      <p:grpSpPr>
        <a:xfrm>
          <a:off x="0" y="0"/>
          <a:ext cx="0" cy="0"/>
          <a:chOff x="0" y="0"/>
          <a:chExt cx="0" cy="0"/>
        </a:xfrm>
      </p:grpSpPr>
      <p:sp>
        <p:nvSpPr>
          <p:cNvPr id="4299" name="Google Shape;4299;g7a71afd4da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0" name="Google Shape;4300;g7a71afd4da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5"/>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62000" y="696425"/>
            <a:ext cx="53967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6000"/>
              <a:buNone/>
              <a:defRPr sz="6000">
                <a:solidFill>
                  <a:schemeClr val="accent2"/>
                </a:solidFill>
              </a:defRPr>
            </a:lvl1pPr>
            <a:lvl2pPr lvl="1">
              <a:spcBef>
                <a:spcPts val="0"/>
              </a:spcBef>
              <a:spcAft>
                <a:spcPts val="0"/>
              </a:spcAft>
              <a:buClr>
                <a:schemeClr val="accent2"/>
              </a:buClr>
              <a:buSzPts val="6000"/>
              <a:buNone/>
              <a:defRPr sz="6000">
                <a:solidFill>
                  <a:schemeClr val="accent2"/>
                </a:solidFill>
              </a:defRPr>
            </a:lvl2pPr>
            <a:lvl3pPr lvl="2">
              <a:spcBef>
                <a:spcPts val="0"/>
              </a:spcBef>
              <a:spcAft>
                <a:spcPts val="0"/>
              </a:spcAft>
              <a:buClr>
                <a:schemeClr val="accent2"/>
              </a:buClr>
              <a:buSzPts val="6000"/>
              <a:buNone/>
              <a:defRPr sz="6000">
                <a:solidFill>
                  <a:schemeClr val="accent2"/>
                </a:solidFill>
              </a:defRPr>
            </a:lvl3pPr>
            <a:lvl4pPr lvl="3">
              <a:spcBef>
                <a:spcPts val="0"/>
              </a:spcBef>
              <a:spcAft>
                <a:spcPts val="0"/>
              </a:spcAft>
              <a:buClr>
                <a:schemeClr val="accent2"/>
              </a:buClr>
              <a:buSzPts val="6000"/>
              <a:buNone/>
              <a:defRPr sz="6000">
                <a:solidFill>
                  <a:schemeClr val="accent2"/>
                </a:solidFill>
              </a:defRPr>
            </a:lvl4pPr>
            <a:lvl5pPr lvl="4">
              <a:spcBef>
                <a:spcPts val="0"/>
              </a:spcBef>
              <a:spcAft>
                <a:spcPts val="0"/>
              </a:spcAft>
              <a:buClr>
                <a:schemeClr val="accent2"/>
              </a:buClr>
              <a:buSzPts val="6000"/>
              <a:buNone/>
              <a:defRPr sz="6000">
                <a:solidFill>
                  <a:schemeClr val="accent2"/>
                </a:solidFill>
              </a:defRPr>
            </a:lvl5pPr>
            <a:lvl6pPr lvl="5">
              <a:spcBef>
                <a:spcPts val="0"/>
              </a:spcBef>
              <a:spcAft>
                <a:spcPts val="0"/>
              </a:spcAft>
              <a:buClr>
                <a:schemeClr val="accent2"/>
              </a:buClr>
              <a:buSzPts val="6000"/>
              <a:buNone/>
              <a:defRPr sz="6000">
                <a:solidFill>
                  <a:schemeClr val="accent2"/>
                </a:solidFill>
              </a:defRPr>
            </a:lvl6pPr>
            <a:lvl7pPr lvl="6">
              <a:spcBef>
                <a:spcPts val="0"/>
              </a:spcBef>
              <a:spcAft>
                <a:spcPts val="0"/>
              </a:spcAft>
              <a:buClr>
                <a:schemeClr val="accent2"/>
              </a:buClr>
              <a:buSzPts val="6000"/>
              <a:buNone/>
              <a:defRPr sz="6000">
                <a:solidFill>
                  <a:schemeClr val="accent2"/>
                </a:solidFill>
              </a:defRPr>
            </a:lvl7pPr>
            <a:lvl8pPr lvl="7">
              <a:spcBef>
                <a:spcPts val="0"/>
              </a:spcBef>
              <a:spcAft>
                <a:spcPts val="0"/>
              </a:spcAft>
              <a:buClr>
                <a:schemeClr val="accent2"/>
              </a:buClr>
              <a:buSzPts val="6000"/>
              <a:buNone/>
              <a:defRPr sz="6000">
                <a:solidFill>
                  <a:schemeClr val="accent2"/>
                </a:solidFill>
              </a:defRPr>
            </a:lvl8pPr>
            <a:lvl9pPr lvl="8">
              <a:spcBef>
                <a:spcPts val="0"/>
              </a:spcBef>
              <a:spcAft>
                <a:spcPts val="0"/>
              </a:spcAft>
              <a:buClr>
                <a:schemeClr val="accent2"/>
              </a:buClr>
              <a:buSzPts val="6000"/>
              <a:buNone/>
              <a:defRPr sz="6000">
                <a:solidFill>
                  <a:schemeClr val="accent2"/>
                </a:solidFill>
              </a:defRPr>
            </a:lvl9pPr>
          </a:lstStyle>
          <a:p>
            <a:endParaRPr/>
          </a:p>
        </p:txBody>
      </p:sp>
      <p:grpSp>
        <p:nvGrpSpPr>
          <p:cNvPr id="11" name="Google Shape;11;p2"/>
          <p:cNvGrpSpPr/>
          <p:nvPr/>
        </p:nvGrpSpPr>
        <p:grpSpPr>
          <a:xfrm rot="10800000">
            <a:off x="8705367" y="28698"/>
            <a:ext cx="410132" cy="5086302"/>
            <a:chOff x="836200" y="238125"/>
            <a:chExt cx="422425" cy="5238750"/>
          </a:xfrm>
        </p:grpSpPr>
        <p:sp>
          <p:nvSpPr>
            <p:cNvPr id="12" name="Google Shape;12;p2"/>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92;p2"/>
          <p:cNvGrpSpPr/>
          <p:nvPr/>
        </p:nvGrpSpPr>
        <p:grpSpPr>
          <a:xfrm rot="10800000">
            <a:off x="6659535" y="28698"/>
            <a:ext cx="2309844" cy="5086302"/>
            <a:chOff x="986700" y="238125"/>
            <a:chExt cx="2379075" cy="5238750"/>
          </a:xfrm>
        </p:grpSpPr>
        <p:sp>
          <p:nvSpPr>
            <p:cNvPr id="93" name="Google Shape;93;p2"/>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 name="Google Shape;212;p2"/>
          <p:cNvGrpSpPr/>
          <p:nvPr/>
        </p:nvGrpSpPr>
        <p:grpSpPr>
          <a:xfrm rot="10800000">
            <a:off x="6367294" y="28698"/>
            <a:ext cx="2017554" cy="5086302"/>
            <a:chOff x="1588750" y="238125"/>
            <a:chExt cx="2078025" cy="5238750"/>
          </a:xfrm>
        </p:grpSpPr>
        <p:sp>
          <p:nvSpPr>
            <p:cNvPr id="213" name="Google Shape;213;p2"/>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 name="Google Shape;422;p2"/>
          <p:cNvGrpSpPr/>
          <p:nvPr/>
        </p:nvGrpSpPr>
        <p:grpSpPr>
          <a:xfrm rot="10800000">
            <a:off x="6367294" y="28698"/>
            <a:ext cx="2309820" cy="5086302"/>
            <a:chOff x="1287725" y="238125"/>
            <a:chExt cx="2379050" cy="5238750"/>
          </a:xfrm>
        </p:grpSpPr>
        <p:sp>
          <p:nvSpPr>
            <p:cNvPr id="423" name="Google Shape;423;p2"/>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526"/>
        <p:cNvGrpSpPr/>
        <p:nvPr/>
      </p:nvGrpSpPr>
      <p:grpSpPr>
        <a:xfrm>
          <a:off x="0" y="0"/>
          <a:ext cx="0" cy="0"/>
          <a:chOff x="0" y="0"/>
          <a:chExt cx="0" cy="0"/>
        </a:xfrm>
      </p:grpSpPr>
      <p:sp>
        <p:nvSpPr>
          <p:cNvPr id="527" name="Google Shape;527;p3"/>
          <p:cNvSpPr txBox="1">
            <a:spLocks noGrp="1"/>
          </p:cNvSpPr>
          <p:nvPr>
            <p:ph type="ctrTitle"/>
          </p:nvPr>
        </p:nvSpPr>
        <p:spPr>
          <a:xfrm>
            <a:off x="685800" y="2878750"/>
            <a:ext cx="52689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28" name="Google Shape;528;p3"/>
          <p:cNvSpPr txBox="1">
            <a:spLocks noGrp="1"/>
          </p:cNvSpPr>
          <p:nvPr>
            <p:ph type="subTitle" idx="1"/>
          </p:nvPr>
        </p:nvSpPr>
        <p:spPr>
          <a:xfrm>
            <a:off x="685800" y="3983055"/>
            <a:ext cx="5268900" cy="78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2400"/>
              <a:buNone/>
              <a:defRPr>
                <a:solidFill>
                  <a:schemeClr val="accent2"/>
                </a:solidFill>
              </a:defRPr>
            </a:lvl1pPr>
            <a:lvl2pPr lvl="1" rtl="0">
              <a:spcBef>
                <a:spcPts val="0"/>
              </a:spcBef>
              <a:spcAft>
                <a:spcPts val="0"/>
              </a:spcAft>
              <a:buClr>
                <a:schemeClr val="accent2"/>
              </a:buClr>
              <a:buSzPts val="3000"/>
              <a:buNone/>
              <a:defRPr sz="3000">
                <a:solidFill>
                  <a:schemeClr val="accent2"/>
                </a:solidFill>
              </a:defRPr>
            </a:lvl2pPr>
            <a:lvl3pPr lvl="2" rtl="0">
              <a:spcBef>
                <a:spcPts val="0"/>
              </a:spcBef>
              <a:spcAft>
                <a:spcPts val="0"/>
              </a:spcAft>
              <a:buClr>
                <a:schemeClr val="accent2"/>
              </a:buClr>
              <a:buSzPts val="3000"/>
              <a:buNone/>
              <a:defRPr sz="3000">
                <a:solidFill>
                  <a:schemeClr val="accent2"/>
                </a:solidFill>
              </a:defRPr>
            </a:lvl3pPr>
            <a:lvl4pPr lvl="3" rtl="0">
              <a:spcBef>
                <a:spcPts val="0"/>
              </a:spcBef>
              <a:spcAft>
                <a:spcPts val="0"/>
              </a:spcAft>
              <a:buClr>
                <a:schemeClr val="accent2"/>
              </a:buClr>
              <a:buSzPts val="3000"/>
              <a:buNone/>
              <a:defRPr sz="3000">
                <a:solidFill>
                  <a:schemeClr val="accent2"/>
                </a:solidFill>
              </a:defRPr>
            </a:lvl4pPr>
            <a:lvl5pPr lvl="4" rtl="0">
              <a:spcBef>
                <a:spcPts val="0"/>
              </a:spcBef>
              <a:spcAft>
                <a:spcPts val="0"/>
              </a:spcAft>
              <a:buClr>
                <a:schemeClr val="accent2"/>
              </a:buClr>
              <a:buSzPts val="3000"/>
              <a:buNone/>
              <a:defRPr sz="3000">
                <a:solidFill>
                  <a:schemeClr val="accent2"/>
                </a:solidFill>
              </a:defRPr>
            </a:lvl5pPr>
            <a:lvl6pPr lvl="5" rtl="0">
              <a:spcBef>
                <a:spcPts val="0"/>
              </a:spcBef>
              <a:spcAft>
                <a:spcPts val="0"/>
              </a:spcAft>
              <a:buClr>
                <a:schemeClr val="accent2"/>
              </a:buClr>
              <a:buSzPts val="3000"/>
              <a:buNone/>
              <a:defRPr sz="3000">
                <a:solidFill>
                  <a:schemeClr val="accent2"/>
                </a:solidFill>
              </a:defRPr>
            </a:lvl6pPr>
            <a:lvl7pPr lvl="6" rtl="0">
              <a:spcBef>
                <a:spcPts val="0"/>
              </a:spcBef>
              <a:spcAft>
                <a:spcPts val="0"/>
              </a:spcAft>
              <a:buClr>
                <a:schemeClr val="accent2"/>
              </a:buClr>
              <a:buSzPts val="3000"/>
              <a:buNone/>
              <a:defRPr sz="3000">
                <a:solidFill>
                  <a:schemeClr val="accent2"/>
                </a:solidFill>
              </a:defRPr>
            </a:lvl7pPr>
            <a:lvl8pPr lvl="7" rtl="0">
              <a:spcBef>
                <a:spcPts val="0"/>
              </a:spcBef>
              <a:spcAft>
                <a:spcPts val="0"/>
              </a:spcAft>
              <a:buClr>
                <a:schemeClr val="accent2"/>
              </a:buClr>
              <a:buSzPts val="3000"/>
              <a:buNone/>
              <a:defRPr sz="3000">
                <a:solidFill>
                  <a:schemeClr val="accent2"/>
                </a:solidFill>
              </a:defRPr>
            </a:lvl8pPr>
            <a:lvl9pPr lvl="8" rtl="0">
              <a:spcBef>
                <a:spcPts val="0"/>
              </a:spcBef>
              <a:spcAft>
                <a:spcPts val="0"/>
              </a:spcAft>
              <a:buClr>
                <a:schemeClr val="accent2"/>
              </a:buClr>
              <a:buSzPts val="3000"/>
              <a:buNone/>
              <a:defRPr sz="3000">
                <a:solidFill>
                  <a:schemeClr val="accent2"/>
                </a:solidFill>
              </a:defRPr>
            </a:lvl9pPr>
          </a:lstStyle>
          <a:p>
            <a:endParaRPr/>
          </a:p>
        </p:txBody>
      </p:sp>
      <p:grpSp>
        <p:nvGrpSpPr>
          <p:cNvPr id="529" name="Google Shape;529;p3"/>
          <p:cNvGrpSpPr/>
          <p:nvPr/>
        </p:nvGrpSpPr>
        <p:grpSpPr>
          <a:xfrm rot="10800000">
            <a:off x="8705367" y="28698"/>
            <a:ext cx="410132" cy="5086302"/>
            <a:chOff x="836200" y="238125"/>
            <a:chExt cx="422425" cy="5238750"/>
          </a:xfrm>
        </p:grpSpPr>
        <p:sp>
          <p:nvSpPr>
            <p:cNvPr id="530" name="Google Shape;530;p3"/>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 name="Google Shape;610;p3"/>
          <p:cNvGrpSpPr/>
          <p:nvPr/>
        </p:nvGrpSpPr>
        <p:grpSpPr>
          <a:xfrm rot="10800000">
            <a:off x="6659535" y="28698"/>
            <a:ext cx="2309844" cy="5086302"/>
            <a:chOff x="986700" y="238125"/>
            <a:chExt cx="2379075" cy="5238750"/>
          </a:xfrm>
        </p:grpSpPr>
        <p:sp>
          <p:nvSpPr>
            <p:cNvPr id="611" name="Google Shape;611;p3"/>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 name="Google Shape;730;p3"/>
          <p:cNvGrpSpPr/>
          <p:nvPr/>
        </p:nvGrpSpPr>
        <p:grpSpPr>
          <a:xfrm rot="10800000">
            <a:off x="6367294" y="28698"/>
            <a:ext cx="2017554" cy="5086302"/>
            <a:chOff x="1588750" y="238125"/>
            <a:chExt cx="2078025" cy="5238750"/>
          </a:xfrm>
        </p:grpSpPr>
        <p:sp>
          <p:nvSpPr>
            <p:cNvPr id="731" name="Google Shape;731;p3"/>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 name="Google Shape;940;p3"/>
          <p:cNvGrpSpPr/>
          <p:nvPr/>
        </p:nvGrpSpPr>
        <p:grpSpPr>
          <a:xfrm rot="10800000">
            <a:off x="6367294" y="28698"/>
            <a:ext cx="2309820" cy="5086302"/>
            <a:chOff x="1287725" y="238125"/>
            <a:chExt cx="2379050" cy="5238750"/>
          </a:xfrm>
        </p:grpSpPr>
        <p:sp>
          <p:nvSpPr>
            <p:cNvPr id="941" name="Google Shape;941;p3"/>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bg>
      <p:bgPr>
        <a:solidFill>
          <a:schemeClr val="accent3"/>
        </a:solidFill>
        <a:effectLst/>
      </p:bgPr>
    </p:bg>
    <p:spTree>
      <p:nvGrpSpPr>
        <p:cNvPr id="1" name="Shape 1044"/>
        <p:cNvGrpSpPr/>
        <p:nvPr/>
      </p:nvGrpSpPr>
      <p:grpSpPr>
        <a:xfrm>
          <a:off x="0" y="0"/>
          <a:ext cx="0" cy="0"/>
          <a:chOff x="0" y="0"/>
          <a:chExt cx="0" cy="0"/>
        </a:xfrm>
      </p:grpSpPr>
      <p:sp>
        <p:nvSpPr>
          <p:cNvPr id="1045" name="Google Shape;1045;p4"/>
          <p:cNvSpPr txBox="1">
            <a:spLocks noGrp="1"/>
          </p:cNvSpPr>
          <p:nvPr>
            <p:ph type="body" idx="1"/>
          </p:nvPr>
        </p:nvSpPr>
        <p:spPr>
          <a:xfrm>
            <a:off x="1278575" y="739550"/>
            <a:ext cx="4281000" cy="3692400"/>
          </a:xfrm>
          <a:prstGeom prst="rect">
            <a:avLst/>
          </a:prstGeom>
        </p:spPr>
        <p:txBody>
          <a:bodyPr spcFirstLastPara="1" wrap="square" lIns="91425" tIns="91425" rIns="91425" bIns="91425" anchor="t" anchorCtr="0">
            <a:noAutofit/>
          </a:bodyPr>
          <a:lstStyle>
            <a:lvl1pPr marL="457200" lvl="0" indent="-419100" rtl="0">
              <a:spcBef>
                <a:spcPts val="600"/>
              </a:spcBef>
              <a:spcAft>
                <a:spcPts val="0"/>
              </a:spcAft>
              <a:buClr>
                <a:schemeClr val="lt1"/>
              </a:buClr>
              <a:buSzPts val="3000"/>
              <a:buChar char="▪"/>
              <a:defRPr sz="3000" i="1">
                <a:solidFill>
                  <a:schemeClr val="lt1"/>
                </a:solidFill>
              </a:defRPr>
            </a:lvl1pPr>
            <a:lvl2pPr marL="914400" lvl="1" indent="-419100" rtl="0">
              <a:spcBef>
                <a:spcPts val="0"/>
              </a:spcBef>
              <a:spcAft>
                <a:spcPts val="0"/>
              </a:spcAft>
              <a:buClr>
                <a:schemeClr val="lt1"/>
              </a:buClr>
              <a:buSzPts val="3000"/>
              <a:buChar char="▫"/>
              <a:defRPr sz="3000" i="1">
                <a:solidFill>
                  <a:schemeClr val="lt1"/>
                </a:solidFill>
              </a:defRPr>
            </a:lvl2pPr>
            <a:lvl3pPr marL="1371600" lvl="2" indent="-419100" rtl="0">
              <a:spcBef>
                <a:spcPts val="0"/>
              </a:spcBef>
              <a:spcAft>
                <a:spcPts val="0"/>
              </a:spcAft>
              <a:buClr>
                <a:schemeClr val="lt1"/>
              </a:buClr>
              <a:buSzPts val="3000"/>
              <a:buChar char="▫"/>
              <a:defRPr sz="3000" i="1">
                <a:solidFill>
                  <a:schemeClr val="lt1"/>
                </a:solidFill>
              </a:defRPr>
            </a:lvl3pPr>
            <a:lvl4pPr marL="1828800" lvl="3" indent="-419100" rtl="0">
              <a:spcBef>
                <a:spcPts val="0"/>
              </a:spcBef>
              <a:spcAft>
                <a:spcPts val="0"/>
              </a:spcAft>
              <a:buClr>
                <a:schemeClr val="lt1"/>
              </a:buClr>
              <a:buSzPts val="3000"/>
              <a:buChar char="▫"/>
              <a:defRPr sz="3000" i="1">
                <a:solidFill>
                  <a:schemeClr val="lt1"/>
                </a:solidFill>
              </a:defRPr>
            </a:lvl4pPr>
            <a:lvl5pPr marL="2286000" lvl="4" indent="-419100" rtl="0">
              <a:spcBef>
                <a:spcPts val="0"/>
              </a:spcBef>
              <a:spcAft>
                <a:spcPts val="0"/>
              </a:spcAft>
              <a:buClr>
                <a:schemeClr val="lt1"/>
              </a:buClr>
              <a:buSzPts val="3000"/>
              <a:buChar char="▫"/>
              <a:defRPr sz="3000" i="1">
                <a:solidFill>
                  <a:schemeClr val="lt1"/>
                </a:solidFill>
              </a:defRPr>
            </a:lvl5pPr>
            <a:lvl6pPr marL="2743200" lvl="5" indent="-419100" rtl="0">
              <a:spcBef>
                <a:spcPts val="0"/>
              </a:spcBef>
              <a:spcAft>
                <a:spcPts val="0"/>
              </a:spcAft>
              <a:buClr>
                <a:schemeClr val="lt1"/>
              </a:buClr>
              <a:buSzPts val="3000"/>
              <a:buChar char="▫"/>
              <a:defRPr sz="3000" i="1">
                <a:solidFill>
                  <a:schemeClr val="lt1"/>
                </a:solidFill>
              </a:defRPr>
            </a:lvl6pPr>
            <a:lvl7pPr marL="3200400" lvl="6" indent="-419100" rtl="0">
              <a:spcBef>
                <a:spcPts val="0"/>
              </a:spcBef>
              <a:spcAft>
                <a:spcPts val="0"/>
              </a:spcAft>
              <a:buClr>
                <a:schemeClr val="lt1"/>
              </a:buClr>
              <a:buSzPts val="3000"/>
              <a:buChar char="●"/>
              <a:defRPr sz="3000" i="1">
                <a:solidFill>
                  <a:schemeClr val="lt1"/>
                </a:solidFill>
              </a:defRPr>
            </a:lvl7pPr>
            <a:lvl8pPr marL="3657600" lvl="7" indent="-419100" rtl="0">
              <a:spcBef>
                <a:spcPts val="0"/>
              </a:spcBef>
              <a:spcAft>
                <a:spcPts val="0"/>
              </a:spcAft>
              <a:buClr>
                <a:schemeClr val="lt1"/>
              </a:buClr>
              <a:buSzPts val="3000"/>
              <a:buChar char="○"/>
              <a:defRPr sz="3000" i="1">
                <a:solidFill>
                  <a:schemeClr val="lt1"/>
                </a:solidFill>
              </a:defRPr>
            </a:lvl8pPr>
            <a:lvl9pPr marL="4114800" lvl="8" indent="-419100">
              <a:spcBef>
                <a:spcPts val="0"/>
              </a:spcBef>
              <a:spcAft>
                <a:spcPts val="0"/>
              </a:spcAft>
              <a:buClr>
                <a:schemeClr val="lt1"/>
              </a:buClr>
              <a:buSzPts val="3000"/>
              <a:buChar char="■"/>
              <a:defRPr sz="3000" i="1">
                <a:solidFill>
                  <a:schemeClr val="lt1"/>
                </a:solidFill>
              </a:defRPr>
            </a:lvl9pPr>
          </a:lstStyle>
          <a:p>
            <a:endParaRPr/>
          </a:p>
        </p:txBody>
      </p:sp>
      <p:sp>
        <p:nvSpPr>
          <p:cNvPr id="1046" name="Google Shape;1046;p4"/>
          <p:cNvSpPr txBox="1"/>
          <p:nvPr/>
        </p:nvSpPr>
        <p:spPr>
          <a:xfrm>
            <a:off x="659925" y="414075"/>
            <a:ext cx="752400" cy="65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0">
                <a:solidFill>
                  <a:schemeClr val="accent1"/>
                </a:solidFill>
                <a:latin typeface="Dosis"/>
                <a:ea typeface="Dosis"/>
                <a:cs typeface="Dosis"/>
                <a:sym typeface="Dosis"/>
              </a:rPr>
              <a:t>“</a:t>
            </a:r>
            <a:endParaRPr sz="12000">
              <a:solidFill>
                <a:schemeClr val="accent1"/>
              </a:solidFill>
              <a:latin typeface="Dosis"/>
              <a:ea typeface="Dosis"/>
              <a:cs typeface="Dosis"/>
              <a:sym typeface="Dosis"/>
            </a:endParaRPr>
          </a:p>
        </p:txBody>
      </p:sp>
      <p:sp>
        <p:nvSpPr>
          <p:cNvPr id="1047" name="Google Shape;1047;p4"/>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l" rtl="0">
              <a:spcBef>
                <a:spcPts val="0"/>
              </a:spcBef>
              <a:spcAft>
                <a:spcPts val="0"/>
              </a:spcAft>
              <a:buNone/>
            </a:pPr>
            <a:fld id="{00000000-1234-1234-1234-123412341234}" type="slidenum">
              <a:rPr lang="en"/>
              <a:t>‹#›</a:t>
            </a:fld>
            <a:endParaRPr/>
          </a:p>
        </p:txBody>
      </p:sp>
      <p:grpSp>
        <p:nvGrpSpPr>
          <p:cNvPr id="1048" name="Google Shape;1048;p4"/>
          <p:cNvGrpSpPr/>
          <p:nvPr/>
        </p:nvGrpSpPr>
        <p:grpSpPr>
          <a:xfrm rot="10800000">
            <a:off x="8705367" y="28698"/>
            <a:ext cx="410132" cy="5086302"/>
            <a:chOff x="836200" y="238125"/>
            <a:chExt cx="422425" cy="5238750"/>
          </a:xfrm>
        </p:grpSpPr>
        <p:sp>
          <p:nvSpPr>
            <p:cNvPr id="1049" name="Google Shape;1049;p4"/>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9" name="Google Shape;1129;p4"/>
          <p:cNvGrpSpPr/>
          <p:nvPr/>
        </p:nvGrpSpPr>
        <p:grpSpPr>
          <a:xfrm rot="10800000">
            <a:off x="6659535" y="28698"/>
            <a:ext cx="2309844" cy="5086302"/>
            <a:chOff x="986700" y="238125"/>
            <a:chExt cx="2379075" cy="5238750"/>
          </a:xfrm>
        </p:grpSpPr>
        <p:sp>
          <p:nvSpPr>
            <p:cNvPr id="1130" name="Google Shape;1130;p4"/>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9" name="Google Shape;1249;p4"/>
          <p:cNvGrpSpPr/>
          <p:nvPr/>
        </p:nvGrpSpPr>
        <p:grpSpPr>
          <a:xfrm rot="10800000">
            <a:off x="6367294" y="28698"/>
            <a:ext cx="2017554" cy="5086302"/>
            <a:chOff x="1588750" y="238125"/>
            <a:chExt cx="2078025" cy="5238750"/>
          </a:xfrm>
        </p:grpSpPr>
        <p:sp>
          <p:nvSpPr>
            <p:cNvPr id="1250" name="Google Shape;1250;p4"/>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4"/>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4"/>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4"/>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9" name="Google Shape;1459;p4"/>
          <p:cNvGrpSpPr/>
          <p:nvPr/>
        </p:nvGrpSpPr>
        <p:grpSpPr>
          <a:xfrm rot="10800000">
            <a:off x="6367294" y="28698"/>
            <a:ext cx="2309820" cy="5086302"/>
            <a:chOff x="1287725" y="238125"/>
            <a:chExt cx="2379050" cy="5238750"/>
          </a:xfrm>
        </p:grpSpPr>
        <p:sp>
          <p:nvSpPr>
            <p:cNvPr id="1460" name="Google Shape;1460;p4"/>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4"/>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563"/>
        <p:cNvGrpSpPr/>
        <p:nvPr/>
      </p:nvGrpSpPr>
      <p:grpSpPr>
        <a:xfrm>
          <a:off x="0" y="0"/>
          <a:ext cx="0" cy="0"/>
          <a:chOff x="0" y="0"/>
          <a:chExt cx="0" cy="0"/>
        </a:xfrm>
      </p:grpSpPr>
      <p:sp>
        <p:nvSpPr>
          <p:cNvPr id="1564" name="Google Shape;1564;p5"/>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65" name="Google Shape;1565;p5"/>
          <p:cNvSpPr txBox="1">
            <a:spLocks noGrp="1"/>
          </p:cNvSpPr>
          <p:nvPr>
            <p:ph type="body" idx="1"/>
          </p:nvPr>
        </p:nvSpPr>
        <p:spPr>
          <a:xfrm>
            <a:off x="718300" y="1733550"/>
            <a:ext cx="6761100" cy="29805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grpSp>
        <p:nvGrpSpPr>
          <p:cNvPr id="1566" name="Google Shape;1566;p5"/>
          <p:cNvGrpSpPr/>
          <p:nvPr/>
        </p:nvGrpSpPr>
        <p:grpSpPr>
          <a:xfrm rot="10800000">
            <a:off x="8851487" y="28707"/>
            <a:ext cx="264012" cy="5086302"/>
            <a:chOff x="5307800" y="238125"/>
            <a:chExt cx="271925" cy="5238750"/>
          </a:xfrm>
        </p:grpSpPr>
        <p:sp>
          <p:nvSpPr>
            <p:cNvPr id="1567" name="Google Shape;1567;p5"/>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4" name="Google Shape;1624;p5"/>
          <p:cNvGrpSpPr/>
          <p:nvPr/>
        </p:nvGrpSpPr>
        <p:grpSpPr>
          <a:xfrm rot="10800000">
            <a:off x="7828571" y="28707"/>
            <a:ext cx="1140783" cy="5086302"/>
            <a:chOff x="5458325" y="238125"/>
            <a:chExt cx="1174975" cy="5238750"/>
          </a:xfrm>
        </p:grpSpPr>
        <p:sp>
          <p:nvSpPr>
            <p:cNvPr id="1625" name="Google Shape;1625;p5"/>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5"/>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7" name="Google Shape;1687;p5"/>
          <p:cNvGrpSpPr/>
          <p:nvPr/>
        </p:nvGrpSpPr>
        <p:grpSpPr>
          <a:xfrm rot="10800000">
            <a:off x="7682451" y="28707"/>
            <a:ext cx="994639" cy="4940182"/>
            <a:chOff x="5759350" y="388625"/>
            <a:chExt cx="1024450" cy="5088250"/>
          </a:xfrm>
        </p:grpSpPr>
        <p:sp>
          <p:nvSpPr>
            <p:cNvPr id="1688" name="Google Shape;1688;p5"/>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5"/>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5"/>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5"/>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5"/>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5"/>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5"/>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5"/>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5"/>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5"/>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5"/>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5"/>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5"/>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9" name="Google Shape;1789;p5"/>
          <p:cNvGrpSpPr/>
          <p:nvPr/>
        </p:nvGrpSpPr>
        <p:grpSpPr>
          <a:xfrm rot="10800000">
            <a:off x="7682451" y="28707"/>
            <a:ext cx="1140783" cy="5086302"/>
            <a:chOff x="5608825" y="238125"/>
            <a:chExt cx="1174975" cy="5238750"/>
          </a:xfrm>
        </p:grpSpPr>
        <p:sp>
          <p:nvSpPr>
            <p:cNvPr id="1790" name="Google Shape;1790;p5"/>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5"/>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5"/>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5"/>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5"/>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5"/>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5"/>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5"/>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5"/>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5"/>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5"/>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5"/>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5"/>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0" name="Google Shape;1840;p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1841"/>
        <p:cNvGrpSpPr/>
        <p:nvPr/>
      </p:nvGrpSpPr>
      <p:grpSpPr>
        <a:xfrm>
          <a:off x="0" y="0"/>
          <a:ext cx="0" cy="0"/>
          <a:chOff x="0" y="0"/>
          <a:chExt cx="0" cy="0"/>
        </a:xfrm>
      </p:grpSpPr>
      <p:sp>
        <p:nvSpPr>
          <p:cNvPr id="1842" name="Google Shape;1842;p6"/>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843" name="Google Shape;1843;p6"/>
          <p:cNvSpPr txBox="1">
            <a:spLocks noGrp="1"/>
          </p:cNvSpPr>
          <p:nvPr>
            <p:ph type="body" idx="1"/>
          </p:nvPr>
        </p:nvSpPr>
        <p:spPr>
          <a:xfrm>
            <a:off x="718300"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4" name="Google Shape;1844;p6"/>
          <p:cNvSpPr txBox="1">
            <a:spLocks noGrp="1"/>
          </p:cNvSpPr>
          <p:nvPr>
            <p:ph type="body" idx="2"/>
          </p:nvPr>
        </p:nvSpPr>
        <p:spPr>
          <a:xfrm>
            <a:off x="4156071"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5" name="Google Shape;1845;p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1846" name="Google Shape;1846;p6"/>
          <p:cNvGrpSpPr/>
          <p:nvPr/>
        </p:nvGrpSpPr>
        <p:grpSpPr>
          <a:xfrm rot="10800000">
            <a:off x="8851487" y="28707"/>
            <a:ext cx="264012" cy="5086302"/>
            <a:chOff x="5307800" y="238125"/>
            <a:chExt cx="271925" cy="5238750"/>
          </a:xfrm>
        </p:grpSpPr>
        <p:sp>
          <p:nvSpPr>
            <p:cNvPr id="1847" name="Google Shape;1847;p6"/>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6"/>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6"/>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6"/>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6"/>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6"/>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6"/>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6"/>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6"/>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6"/>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6"/>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6"/>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6"/>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6"/>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6"/>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6"/>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6"/>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6"/>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6"/>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6"/>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6"/>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6"/>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6"/>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6"/>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6"/>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6"/>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6"/>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6"/>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6"/>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6"/>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6"/>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6"/>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6"/>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6"/>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6"/>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6"/>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6"/>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6"/>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6"/>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6"/>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6"/>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6"/>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6"/>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6"/>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6"/>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6"/>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6"/>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6"/>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6"/>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6"/>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6"/>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6"/>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6"/>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6"/>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6"/>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6"/>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6"/>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4" name="Google Shape;1904;p6"/>
          <p:cNvGrpSpPr/>
          <p:nvPr/>
        </p:nvGrpSpPr>
        <p:grpSpPr>
          <a:xfrm rot="10800000">
            <a:off x="7828571" y="28707"/>
            <a:ext cx="1140783" cy="5086302"/>
            <a:chOff x="5458325" y="238125"/>
            <a:chExt cx="1174975" cy="5238750"/>
          </a:xfrm>
        </p:grpSpPr>
        <p:sp>
          <p:nvSpPr>
            <p:cNvPr id="1905" name="Google Shape;1905;p6"/>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6"/>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6"/>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6"/>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6"/>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6"/>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6"/>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6"/>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6"/>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6"/>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6"/>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6"/>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6"/>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6"/>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6"/>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6"/>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6"/>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6"/>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6"/>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6"/>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6"/>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6"/>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6"/>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6"/>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6"/>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6"/>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6"/>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6"/>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6"/>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6"/>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6"/>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6"/>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6"/>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6"/>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6"/>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6"/>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6"/>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6"/>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6"/>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7" name="Google Shape;1967;p6"/>
          <p:cNvGrpSpPr/>
          <p:nvPr/>
        </p:nvGrpSpPr>
        <p:grpSpPr>
          <a:xfrm rot="10800000">
            <a:off x="7682451" y="28707"/>
            <a:ext cx="994639" cy="4940182"/>
            <a:chOff x="5759350" y="388625"/>
            <a:chExt cx="1024450" cy="5088250"/>
          </a:xfrm>
        </p:grpSpPr>
        <p:sp>
          <p:nvSpPr>
            <p:cNvPr id="1968" name="Google Shape;1968;p6"/>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6"/>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6"/>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6"/>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6"/>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6"/>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6"/>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6"/>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6"/>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6"/>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6"/>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6"/>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6"/>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6"/>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6"/>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6"/>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6"/>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6"/>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6"/>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6"/>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6"/>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6"/>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6"/>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6"/>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6"/>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6"/>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6"/>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6"/>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6"/>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6"/>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6"/>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6"/>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6"/>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6"/>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6"/>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6"/>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6"/>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6"/>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6"/>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6"/>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6"/>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6"/>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6"/>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6"/>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6"/>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6"/>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6"/>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6"/>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6"/>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6"/>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6"/>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6"/>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6"/>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6"/>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6"/>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6"/>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6"/>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6"/>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6"/>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6"/>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6"/>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6"/>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6"/>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6"/>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6"/>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6"/>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6"/>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6"/>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6"/>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6"/>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6"/>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6"/>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6"/>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6"/>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6"/>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6"/>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6"/>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6"/>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6"/>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6"/>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6"/>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6"/>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6"/>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6"/>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6"/>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6"/>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6"/>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6"/>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6"/>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6"/>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6"/>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6"/>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6"/>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6"/>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6"/>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6"/>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6"/>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6"/>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6"/>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6"/>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6"/>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9" name="Google Shape;2069;p6"/>
          <p:cNvGrpSpPr/>
          <p:nvPr/>
        </p:nvGrpSpPr>
        <p:grpSpPr>
          <a:xfrm rot="10800000">
            <a:off x="7682451" y="28707"/>
            <a:ext cx="1140783" cy="5086302"/>
            <a:chOff x="5608825" y="238125"/>
            <a:chExt cx="1174975" cy="5238750"/>
          </a:xfrm>
        </p:grpSpPr>
        <p:sp>
          <p:nvSpPr>
            <p:cNvPr id="2070" name="Google Shape;2070;p6"/>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6"/>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6"/>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6"/>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6"/>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6"/>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6"/>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6"/>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6"/>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6"/>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6"/>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6"/>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6"/>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6"/>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6"/>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6"/>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6"/>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6"/>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6"/>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6"/>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6"/>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6"/>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6"/>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6"/>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6"/>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6"/>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6"/>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6"/>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6"/>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6"/>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6"/>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6"/>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6"/>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6"/>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6"/>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6"/>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6"/>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6"/>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6"/>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6"/>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6"/>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6"/>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6"/>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6"/>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6"/>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6"/>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6"/>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6"/>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6"/>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6"/>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2120"/>
        <p:cNvGrpSpPr/>
        <p:nvPr/>
      </p:nvGrpSpPr>
      <p:grpSpPr>
        <a:xfrm>
          <a:off x="0" y="0"/>
          <a:ext cx="0" cy="0"/>
          <a:chOff x="0" y="0"/>
          <a:chExt cx="0" cy="0"/>
        </a:xfrm>
      </p:grpSpPr>
      <p:sp>
        <p:nvSpPr>
          <p:cNvPr id="2121" name="Google Shape;2121;p7"/>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122" name="Google Shape;2122;p7"/>
          <p:cNvSpPr txBox="1">
            <a:spLocks noGrp="1"/>
          </p:cNvSpPr>
          <p:nvPr>
            <p:ph type="body" idx="1"/>
          </p:nvPr>
        </p:nvSpPr>
        <p:spPr>
          <a:xfrm>
            <a:off x="718300" y="1755475"/>
            <a:ext cx="2179200" cy="3094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123" name="Google Shape;2123;p7"/>
          <p:cNvSpPr txBox="1">
            <a:spLocks noGrp="1"/>
          </p:cNvSpPr>
          <p:nvPr>
            <p:ph type="body" idx="2"/>
          </p:nvPr>
        </p:nvSpPr>
        <p:spPr>
          <a:xfrm>
            <a:off x="3009263" y="1755475"/>
            <a:ext cx="2179200" cy="3094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124" name="Google Shape;2124;p7"/>
          <p:cNvSpPr txBox="1">
            <a:spLocks noGrp="1"/>
          </p:cNvSpPr>
          <p:nvPr>
            <p:ph type="body" idx="3"/>
          </p:nvPr>
        </p:nvSpPr>
        <p:spPr>
          <a:xfrm>
            <a:off x="5300226" y="1755475"/>
            <a:ext cx="2179200" cy="3094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2125" name="Google Shape;2125;p7"/>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126" name="Google Shape;2126;p7"/>
          <p:cNvGrpSpPr/>
          <p:nvPr/>
        </p:nvGrpSpPr>
        <p:grpSpPr>
          <a:xfrm rot="10800000">
            <a:off x="8851487" y="28707"/>
            <a:ext cx="264012" cy="5086302"/>
            <a:chOff x="5307800" y="238125"/>
            <a:chExt cx="271925" cy="5238750"/>
          </a:xfrm>
        </p:grpSpPr>
        <p:sp>
          <p:nvSpPr>
            <p:cNvPr id="2127" name="Google Shape;2127;p7"/>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7"/>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7"/>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7"/>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7"/>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7"/>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7"/>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7"/>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7"/>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7"/>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7"/>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7"/>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7"/>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7"/>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7"/>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7"/>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7"/>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7"/>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7"/>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7"/>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7"/>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7"/>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7"/>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7"/>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7"/>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7"/>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7"/>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7"/>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7"/>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7"/>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7"/>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7"/>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7"/>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7"/>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7"/>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7"/>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7"/>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7"/>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7"/>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7"/>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7"/>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7"/>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7"/>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7"/>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7"/>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7"/>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7"/>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7"/>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7"/>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7"/>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7"/>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7"/>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7"/>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7"/>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7"/>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7"/>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7"/>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4" name="Google Shape;2184;p7"/>
          <p:cNvGrpSpPr/>
          <p:nvPr/>
        </p:nvGrpSpPr>
        <p:grpSpPr>
          <a:xfrm rot="10800000">
            <a:off x="7828571" y="28707"/>
            <a:ext cx="1140783" cy="5086302"/>
            <a:chOff x="5458325" y="238125"/>
            <a:chExt cx="1174975" cy="5238750"/>
          </a:xfrm>
        </p:grpSpPr>
        <p:sp>
          <p:nvSpPr>
            <p:cNvPr id="2185" name="Google Shape;2185;p7"/>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7"/>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7"/>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7"/>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7"/>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7"/>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7"/>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7"/>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7"/>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7"/>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7"/>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7"/>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7"/>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7"/>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7"/>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7"/>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7"/>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7"/>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7"/>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7"/>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7"/>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7"/>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7"/>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7"/>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7"/>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7"/>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7"/>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7"/>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7"/>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7"/>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7"/>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7"/>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7"/>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7"/>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7"/>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7"/>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7"/>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7"/>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7"/>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7"/>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7"/>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7"/>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7"/>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7"/>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7"/>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7"/>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7"/>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7"/>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7"/>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7"/>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7"/>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7"/>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7"/>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7"/>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7"/>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7"/>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7"/>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7"/>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7"/>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7"/>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7"/>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7"/>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7" name="Google Shape;2247;p7"/>
          <p:cNvGrpSpPr/>
          <p:nvPr/>
        </p:nvGrpSpPr>
        <p:grpSpPr>
          <a:xfrm rot="10800000">
            <a:off x="7682451" y="28707"/>
            <a:ext cx="994639" cy="4940182"/>
            <a:chOff x="5759350" y="388625"/>
            <a:chExt cx="1024450" cy="5088250"/>
          </a:xfrm>
        </p:grpSpPr>
        <p:sp>
          <p:nvSpPr>
            <p:cNvPr id="2248" name="Google Shape;2248;p7"/>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7"/>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7"/>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7"/>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7"/>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7"/>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7"/>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7"/>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7"/>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7"/>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7"/>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7"/>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7"/>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7"/>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7"/>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7"/>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7"/>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7"/>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7"/>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7"/>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7"/>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7"/>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7"/>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7"/>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7"/>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7"/>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7"/>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7"/>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7"/>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7"/>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7"/>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7"/>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7"/>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7"/>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7"/>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7"/>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7"/>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7"/>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7"/>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7"/>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7"/>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7"/>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7"/>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7"/>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7"/>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7"/>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7"/>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7"/>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7"/>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7"/>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7"/>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7"/>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7"/>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7"/>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7"/>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7"/>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7"/>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7"/>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7"/>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7"/>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7"/>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7"/>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7"/>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7"/>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7"/>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7"/>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7"/>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7"/>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7"/>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7"/>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7"/>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7"/>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7"/>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7"/>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7"/>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7"/>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7"/>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7"/>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7"/>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7"/>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7"/>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7"/>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7"/>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7"/>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7"/>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7"/>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7"/>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7"/>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7"/>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7"/>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7"/>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7"/>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7"/>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7"/>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7"/>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7"/>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7"/>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7"/>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7"/>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7"/>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7"/>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9" name="Google Shape;2349;p7"/>
          <p:cNvGrpSpPr/>
          <p:nvPr/>
        </p:nvGrpSpPr>
        <p:grpSpPr>
          <a:xfrm rot="10800000">
            <a:off x="7682451" y="28707"/>
            <a:ext cx="1140783" cy="5086302"/>
            <a:chOff x="5608825" y="238125"/>
            <a:chExt cx="1174975" cy="5238750"/>
          </a:xfrm>
        </p:grpSpPr>
        <p:sp>
          <p:nvSpPr>
            <p:cNvPr id="2350" name="Google Shape;2350;p7"/>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7"/>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7"/>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7"/>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7"/>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7"/>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7"/>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7"/>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7"/>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7"/>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7"/>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7"/>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7"/>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7"/>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7"/>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7"/>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7"/>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7"/>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7"/>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7"/>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7"/>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7"/>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7"/>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7"/>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7"/>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7"/>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7"/>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7"/>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7"/>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7"/>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7"/>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7"/>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7"/>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7"/>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7"/>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7"/>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7"/>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7"/>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7"/>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7"/>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7"/>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7"/>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7"/>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7"/>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7"/>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7"/>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7"/>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7"/>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7"/>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7"/>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00"/>
        <p:cNvGrpSpPr/>
        <p:nvPr/>
      </p:nvGrpSpPr>
      <p:grpSpPr>
        <a:xfrm>
          <a:off x="0" y="0"/>
          <a:ext cx="0" cy="0"/>
          <a:chOff x="0" y="0"/>
          <a:chExt cx="0" cy="0"/>
        </a:xfrm>
      </p:grpSpPr>
      <p:sp>
        <p:nvSpPr>
          <p:cNvPr id="2401" name="Google Shape;2401;p8"/>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402" name="Google Shape;2402;p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403" name="Google Shape;2403;p8"/>
          <p:cNvGrpSpPr/>
          <p:nvPr/>
        </p:nvGrpSpPr>
        <p:grpSpPr>
          <a:xfrm rot="10800000">
            <a:off x="8851487" y="28707"/>
            <a:ext cx="264012" cy="5086302"/>
            <a:chOff x="5307800" y="238125"/>
            <a:chExt cx="271925" cy="5238750"/>
          </a:xfrm>
        </p:grpSpPr>
        <p:sp>
          <p:nvSpPr>
            <p:cNvPr id="2404" name="Google Shape;2404;p8"/>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8"/>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8"/>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8"/>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8"/>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8"/>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8"/>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8"/>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8"/>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8"/>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8"/>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8"/>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8"/>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8"/>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8"/>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8"/>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8"/>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8"/>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8"/>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8"/>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8"/>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8"/>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8"/>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8"/>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8"/>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8"/>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8"/>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8"/>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8"/>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8"/>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8"/>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8"/>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8"/>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8"/>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8"/>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8"/>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8"/>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8"/>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8"/>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8"/>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8"/>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8"/>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8"/>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8"/>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8"/>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8"/>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8"/>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8"/>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8"/>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8"/>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8"/>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8"/>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8"/>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8"/>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8"/>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8"/>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8"/>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1" name="Google Shape;2461;p8"/>
          <p:cNvGrpSpPr/>
          <p:nvPr/>
        </p:nvGrpSpPr>
        <p:grpSpPr>
          <a:xfrm rot="10800000">
            <a:off x="7828571" y="28707"/>
            <a:ext cx="1140783" cy="5086302"/>
            <a:chOff x="5458325" y="238125"/>
            <a:chExt cx="1174975" cy="5238750"/>
          </a:xfrm>
        </p:grpSpPr>
        <p:sp>
          <p:nvSpPr>
            <p:cNvPr id="2462" name="Google Shape;2462;p8"/>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8"/>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8"/>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8"/>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8"/>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8"/>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8"/>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8"/>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8"/>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8"/>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8"/>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8"/>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8"/>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8"/>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8"/>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8"/>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8"/>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8"/>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8"/>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8"/>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8"/>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8"/>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8"/>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8"/>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8"/>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8"/>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8"/>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8"/>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8"/>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8"/>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8"/>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8"/>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8"/>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8"/>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8"/>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8"/>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8"/>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8"/>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8"/>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8"/>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8"/>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8"/>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8"/>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8"/>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8"/>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8"/>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8"/>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8"/>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8"/>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8"/>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8"/>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8"/>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8"/>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8"/>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8"/>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8"/>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8"/>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8"/>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8"/>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8"/>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8"/>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8"/>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4" name="Google Shape;2524;p8"/>
          <p:cNvGrpSpPr/>
          <p:nvPr/>
        </p:nvGrpSpPr>
        <p:grpSpPr>
          <a:xfrm rot="10800000">
            <a:off x="7682451" y="28707"/>
            <a:ext cx="994639" cy="4940182"/>
            <a:chOff x="5759350" y="388625"/>
            <a:chExt cx="1024450" cy="5088250"/>
          </a:xfrm>
        </p:grpSpPr>
        <p:sp>
          <p:nvSpPr>
            <p:cNvPr id="2525" name="Google Shape;2525;p8"/>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8"/>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8"/>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8"/>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8"/>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8"/>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8"/>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8"/>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8"/>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8"/>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8"/>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8"/>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8"/>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8"/>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8"/>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8"/>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8"/>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8"/>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8"/>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8"/>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8"/>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8"/>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8"/>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8"/>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8"/>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8"/>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8"/>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8"/>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8"/>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8"/>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8"/>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8"/>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8"/>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8"/>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8"/>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8"/>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8"/>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8"/>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8"/>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8"/>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8"/>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8"/>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8"/>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8"/>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8"/>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8"/>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8"/>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8"/>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8"/>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8"/>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8"/>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8"/>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8"/>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8"/>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8"/>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8"/>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8"/>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8"/>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8"/>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8"/>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8"/>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8"/>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8"/>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8"/>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8"/>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8"/>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8"/>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8"/>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8"/>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8"/>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8"/>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8"/>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8"/>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8"/>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8"/>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8"/>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8"/>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8"/>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8"/>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8"/>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8"/>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8"/>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8"/>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8"/>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8"/>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8"/>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8"/>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8"/>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8"/>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8"/>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8"/>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8"/>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8"/>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8"/>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8"/>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8"/>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8"/>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8"/>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8"/>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8"/>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8"/>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6" name="Google Shape;2626;p8"/>
          <p:cNvGrpSpPr/>
          <p:nvPr/>
        </p:nvGrpSpPr>
        <p:grpSpPr>
          <a:xfrm rot="10800000">
            <a:off x="7682451" y="28707"/>
            <a:ext cx="1140783" cy="5086302"/>
            <a:chOff x="5608825" y="238125"/>
            <a:chExt cx="1174975" cy="5238750"/>
          </a:xfrm>
        </p:grpSpPr>
        <p:sp>
          <p:nvSpPr>
            <p:cNvPr id="2627" name="Google Shape;2627;p8"/>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8"/>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8"/>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8"/>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8"/>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8"/>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8"/>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8"/>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8"/>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8"/>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8"/>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8"/>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8"/>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8"/>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8"/>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8"/>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8"/>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8"/>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8"/>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8"/>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8"/>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8"/>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8"/>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8"/>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8"/>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8"/>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8"/>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8"/>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8"/>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8"/>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8"/>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8"/>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8"/>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8"/>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8"/>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8"/>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8"/>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8"/>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8"/>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8"/>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8"/>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8"/>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8"/>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8"/>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8"/>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8"/>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8"/>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8"/>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8"/>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8"/>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77"/>
        <p:cNvGrpSpPr/>
        <p:nvPr/>
      </p:nvGrpSpPr>
      <p:grpSpPr>
        <a:xfrm>
          <a:off x="0" y="0"/>
          <a:ext cx="0" cy="0"/>
          <a:chOff x="0" y="0"/>
          <a:chExt cx="0" cy="0"/>
        </a:xfrm>
      </p:grpSpPr>
      <p:sp>
        <p:nvSpPr>
          <p:cNvPr id="2678" name="Google Shape;2678;p9"/>
          <p:cNvSpPr txBox="1">
            <a:spLocks noGrp="1"/>
          </p:cNvSpPr>
          <p:nvPr>
            <p:ph type="body" idx="1"/>
          </p:nvPr>
        </p:nvSpPr>
        <p:spPr>
          <a:xfrm>
            <a:off x="624925" y="4177700"/>
            <a:ext cx="6759300" cy="519600"/>
          </a:xfrm>
          <a:prstGeom prst="rect">
            <a:avLst/>
          </a:prstGeom>
        </p:spPr>
        <p:txBody>
          <a:bodyPr spcFirstLastPara="1" wrap="square" lIns="91425" tIns="91425" rIns="91425" bIns="91425" anchor="t" anchorCtr="0">
            <a:noAutofit/>
          </a:bodyPr>
          <a:lstStyle>
            <a:lvl1pPr marL="457200" lvl="0" indent="-228600">
              <a:spcBef>
                <a:spcPts val="360"/>
              </a:spcBef>
              <a:spcAft>
                <a:spcPts val="0"/>
              </a:spcAft>
              <a:buSzPts val="1800"/>
              <a:buNone/>
              <a:defRPr sz="1800"/>
            </a:lvl1pPr>
          </a:lstStyle>
          <a:p>
            <a:endParaRPr/>
          </a:p>
        </p:txBody>
      </p:sp>
      <p:sp>
        <p:nvSpPr>
          <p:cNvPr id="2679" name="Google Shape;2679;p9"/>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680" name="Google Shape;2680;p9"/>
          <p:cNvGrpSpPr/>
          <p:nvPr/>
        </p:nvGrpSpPr>
        <p:grpSpPr>
          <a:xfrm rot="10800000">
            <a:off x="8851487" y="28707"/>
            <a:ext cx="264012" cy="5086302"/>
            <a:chOff x="5307800" y="238125"/>
            <a:chExt cx="271925" cy="5238750"/>
          </a:xfrm>
        </p:grpSpPr>
        <p:sp>
          <p:nvSpPr>
            <p:cNvPr id="2681" name="Google Shape;2681;p9"/>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9"/>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9"/>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9"/>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9"/>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9"/>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9"/>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9"/>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9"/>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9"/>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9"/>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9"/>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9"/>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9"/>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9"/>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9"/>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9"/>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9"/>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9"/>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9"/>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9"/>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9"/>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9"/>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9"/>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9"/>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9"/>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9"/>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9"/>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9"/>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9"/>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9"/>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9"/>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9"/>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9"/>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9"/>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9"/>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9"/>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9"/>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9"/>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9"/>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9"/>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9"/>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9"/>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9"/>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9"/>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9"/>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9"/>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9"/>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9"/>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9"/>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9"/>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9"/>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9"/>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9"/>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9"/>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9"/>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9"/>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8" name="Google Shape;2738;p9"/>
          <p:cNvGrpSpPr/>
          <p:nvPr/>
        </p:nvGrpSpPr>
        <p:grpSpPr>
          <a:xfrm rot="10800000">
            <a:off x="7828571" y="28707"/>
            <a:ext cx="1140783" cy="5086302"/>
            <a:chOff x="5458325" y="238125"/>
            <a:chExt cx="1174975" cy="5238750"/>
          </a:xfrm>
        </p:grpSpPr>
        <p:sp>
          <p:nvSpPr>
            <p:cNvPr id="2739" name="Google Shape;2739;p9"/>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9"/>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9"/>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9"/>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9"/>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9"/>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9"/>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9"/>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9"/>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9"/>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9"/>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9"/>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9"/>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9"/>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9"/>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9"/>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9"/>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9"/>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9"/>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9"/>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9"/>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9"/>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9"/>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9"/>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9"/>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9"/>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9"/>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9"/>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9"/>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9"/>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9"/>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9"/>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9"/>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9"/>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9"/>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9"/>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9"/>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9"/>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9"/>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9"/>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9"/>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9"/>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9"/>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9"/>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9"/>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9"/>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9"/>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9"/>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9"/>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9"/>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9"/>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9"/>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9"/>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9"/>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9"/>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9"/>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9"/>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9"/>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9"/>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9"/>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9"/>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9"/>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1" name="Google Shape;2801;p9"/>
          <p:cNvGrpSpPr/>
          <p:nvPr/>
        </p:nvGrpSpPr>
        <p:grpSpPr>
          <a:xfrm rot="10800000">
            <a:off x="7682451" y="28707"/>
            <a:ext cx="994639" cy="4940182"/>
            <a:chOff x="5759350" y="388625"/>
            <a:chExt cx="1024450" cy="5088250"/>
          </a:xfrm>
        </p:grpSpPr>
        <p:sp>
          <p:nvSpPr>
            <p:cNvPr id="2802" name="Google Shape;2802;p9"/>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9"/>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9"/>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9"/>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9"/>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9"/>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9"/>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9"/>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9"/>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9"/>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9"/>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9"/>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9"/>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9"/>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9"/>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9"/>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9"/>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9"/>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9"/>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9"/>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9"/>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9"/>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9"/>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9"/>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9"/>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9"/>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9"/>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9"/>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9"/>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9"/>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9"/>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9"/>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9"/>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9"/>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9"/>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9"/>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9"/>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9"/>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9"/>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9"/>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9"/>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9"/>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9"/>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9"/>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9"/>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9"/>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9"/>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9"/>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9"/>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9"/>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9"/>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9"/>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9"/>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9"/>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9"/>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9"/>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9"/>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9"/>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9"/>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9"/>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9"/>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9"/>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9"/>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9"/>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9"/>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9"/>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9"/>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9"/>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9"/>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9"/>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9"/>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9"/>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9"/>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9"/>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9"/>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9"/>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9"/>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9"/>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9"/>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9"/>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9"/>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9"/>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9"/>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9"/>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9"/>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9"/>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9"/>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9"/>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9"/>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9"/>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9"/>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9"/>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9"/>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9"/>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9"/>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9"/>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9"/>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9"/>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9"/>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9"/>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9"/>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3" name="Google Shape;2903;p9"/>
          <p:cNvGrpSpPr/>
          <p:nvPr/>
        </p:nvGrpSpPr>
        <p:grpSpPr>
          <a:xfrm rot="10800000">
            <a:off x="7682451" y="28707"/>
            <a:ext cx="1140783" cy="5086302"/>
            <a:chOff x="5608825" y="238125"/>
            <a:chExt cx="1174975" cy="5238750"/>
          </a:xfrm>
        </p:grpSpPr>
        <p:sp>
          <p:nvSpPr>
            <p:cNvPr id="2904" name="Google Shape;2904;p9"/>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9"/>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9"/>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9"/>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9"/>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9"/>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9"/>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9"/>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9"/>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9"/>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9"/>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9"/>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9"/>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9"/>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9"/>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9"/>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9"/>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9"/>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9"/>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9"/>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9"/>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9"/>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9"/>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9"/>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9"/>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9"/>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9"/>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9"/>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9"/>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9"/>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9"/>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9"/>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9"/>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9"/>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9"/>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9"/>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9"/>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9"/>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9"/>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9"/>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9"/>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9"/>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9"/>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9"/>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9"/>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9"/>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9"/>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9"/>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9"/>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9"/>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54"/>
        <p:cNvGrpSpPr/>
        <p:nvPr/>
      </p:nvGrpSpPr>
      <p:grpSpPr>
        <a:xfrm>
          <a:off x="0" y="0"/>
          <a:ext cx="0" cy="0"/>
          <a:chOff x="0" y="0"/>
          <a:chExt cx="0" cy="0"/>
        </a:xfrm>
      </p:grpSpPr>
      <p:sp>
        <p:nvSpPr>
          <p:cNvPr id="2955" name="Google Shape;2955;p10"/>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956" name="Google Shape;2956;p10"/>
          <p:cNvGrpSpPr/>
          <p:nvPr/>
        </p:nvGrpSpPr>
        <p:grpSpPr>
          <a:xfrm rot="10800000">
            <a:off x="8851487" y="28707"/>
            <a:ext cx="264012" cy="5086302"/>
            <a:chOff x="5307800" y="238125"/>
            <a:chExt cx="271925" cy="5238750"/>
          </a:xfrm>
        </p:grpSpPr>
        <p:sp>
          <p:nvSpPr>
            <p:cNvPr id="2957" name="Google Shape;2957;p10"/>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10"/>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10"/>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10"/>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10"/>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10"/>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10"/>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10"/>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10"/>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10"/>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10"/>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10"/>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10"/>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10"/>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10"/>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10"/>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10"/>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10"/>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10"/>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10"/>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10"/>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10"/>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10"/>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10"/>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10"/>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10"/>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10"/>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10"/>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10"/>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10"/>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10"/>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10"/>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10"/>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10"/>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10"/>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10"/>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10"/>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10"/>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10"/>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10"/>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10"/>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10"/>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10"/>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10"/>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10"/>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10"/>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10"/>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10"/>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10"/>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10"/>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10"/>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10"/>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10"/>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10"/>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10"/>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10"/>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10"/>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4" name="Google Shape;3014;p10"/>
          <p:cNvGrpSpPr/>
          <p:nvPr/>
        </p:nvGrpSpPr>
        <p:grpSpPr>
          <a:xfrm rot="10800000">
            <a:off x="7828571" y="28707"/>
            <a:ext cx="1140783" cy="5086302"/>
            <a:chOff x="5458325" y="238125"/>
            <a:chExt cx="1174975" cy="5238750"/>
          </a:xfrm>
        </p:grpSpPr>
        <p:sp>
          <p:nvSpPr>
            <p:cNvPr id="3015" name="Google Shape;3015;p10"/>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10"/>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10"/>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10"/>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10"/>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10"/>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10"/>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10"/>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10"/>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10"/>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10"/>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10"/>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10"/>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10"/>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10"/>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10"/>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10"/>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10"/>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10"/>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10"/>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10"/>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10"/>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10"/>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10"/>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10"/>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10"/>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10"/>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10"/>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10"/>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10"/>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10"/>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10"/>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10"/>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10"/>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10"/>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10"/>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10"/>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10"/>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10"/>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10"/>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10"/>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10"/>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10"/>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10"/>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10"/>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10"/>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10"/>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10"/>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10"/>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10"/>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10"/>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10"/>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10"/>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10"/>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10"/>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10"/>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10"/>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10"/>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10"/>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10"/>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10"/>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10"/>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7" name="Google Shape;3077;p10"/>
          <p:cNvGrpSpPr/>
          <p:nvPr/>
        </p:nvGrpSpPr>
        <p:grpSpPr>
          <a:xfrm rot="10800000">
            <a:off x="7682451" y="28707"/>
            <a:ext cx="994639" cy="4940182"/>
            <a:chOff x="5759350" y="388625"/>
            <a:chExt cx="1024450" cy="5088250"/>
          </a:xfrm>
        </p:grpSpPr>
        <p:sp>
          <p:nvSpPr>
            <p:cNvPr id="3078" name="Google Shape;3078;p10"/>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10"/>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10"/>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10"/>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10"/>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10"/>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10"/>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10"/>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10"/>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10"/>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10"/>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10"/>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10"/>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10"/>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10"/>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10"/>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10"/>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10"/>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10"/>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10"/>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10"/>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10"/>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10"/>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10"/>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10"/>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10"/>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10"/>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10"/>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10"/>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10"/>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10"/>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10"/>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10"/>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10"/>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10"/>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10"/>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10"/>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10"/>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10"/>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10"/>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10"/>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10"/>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10"/>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10"/>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10"/>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10"/>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10"/>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10"/>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10"/>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10"/>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10"/>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10"/>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10"/>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10"/>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10"/>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10"/>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10"/>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10"/>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10"/>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10"/>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10"/>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10"/>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10"/>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10"/>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10"/>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10"/>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10"/>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10"/>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10"/>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10"/>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10"/>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10"/>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10"/>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10"/>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10"/>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10"/>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10"/>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10"/>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10"/>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10"/>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10"/>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10"/>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10"/>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10"/>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10"/>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10"/>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10"/>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10"/>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10"/>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10"/>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10"/>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10"/>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10"/>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10"/>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10"/>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10"/>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10"/>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10"/>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10"/>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10"/>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10"/>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9" name="Google Shape;3179;p10"/>
          <p:cNvGrpSpPr/>
          <p:nvPr/>
        </p:nvGrpSpPr>
        <p:grpSpPr>
          <a:xfrm rot="10800000">
            <a:off x="7682451" y="28707"/>
            <a:ext cx="1140783" cy="5086302"/>
            <a:chOff x="5608825" y="238125"/>
            <a:chExt cx="1174975" cy="5238750"/>
          </a:xfrm>
        </p:grpSpPr>
        <p:sp>
          <p:nvSpPr>
            <p:cNvPr id="3180" name="Google Shape;3180;p10"/>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10"/>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10"/>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10"/>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10"/>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10"/>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10"/>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10"/>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10"/>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10"/>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10"/>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10"/>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10"/>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10"/>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10"/>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10"/>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10"/>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10"/>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10"/>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10"/>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10"/>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10"/>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10"/>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10"/>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10"/>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10"/>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10"/>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10"/>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10"/>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10"/>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10"/>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10"/>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10"/>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10"/>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10"/>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10"/>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10"/>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10"/>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10"/>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10"/>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10"/>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10"/>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10"/>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10"/>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10"/>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10"/>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10"/>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10"/>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10"/>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10"/>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accent5"/>
        </a:solidFill>
        <a:effectLst/>
      </p:bgPr>
    </p:bg>
    <p:spTree>
      <p:nvGrpSpPr>
        <p:cNvPr id="1" name="Shape 3230"/>
        <p:cNvGrpSpPr/>
        <p:nvPr/>
      </p:nvGrpSpPr>
      <p:grpSpPr>
        <a:xfrm>
          <a:off x="0" y="0"/>
          <a:ext cx="0" cy="0"/>
          <a:chOff x="0" y="0"/>
          <a:chExt cx="0" cy="0"/>
        </a:xfrm>
      </p:grpSpPr>
      <p:grpSp>
        <p:nvGrpSpPr>
          <p:cNvPr id="3231" name="Google Shape;3231;p11"/>
          <p:cNvGrpSpPr/>
          <p:nvPr/>
        </p:nvGrpSpPr>
        <p:grpSpPr>
          <a:xfrm rot="10800000">
            <a:off x="8851487" y="28707"/>
            <a:ext cx="264012" cy="5086302"/>
            <a:chOff x="5307800" y="238125"/>
            <a:chExt cx="271925" cy="5238750"/>
          </a:xfrm>
        </p:grpSpPr>
        <p:sp>
          <p:nvSpPr>
            <p:cNvPr id="3232" name="Google Shape;3232;p11"/>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11"/>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11"/>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11"/>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11"/>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11"/>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11"/>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11"/>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11"/>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11"/>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11"/>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11"/>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11"/>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11"/>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11"/>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11"/>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11"/>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11"/>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11"/>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11"/>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11"/>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11"/>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11"/>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11"/>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11"/>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11"/>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11"/>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11"/>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11"/>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11"/>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11"/>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11"/>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11"/>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11"/>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11"/>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11"/>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11"/>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11"/>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11"/>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11"/>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11"/>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11"/>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11"/>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11"/>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11"/>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11"/>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11"/>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11"/>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11"/>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11"/>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11"/>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11"/>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11"/>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11"/>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11"/>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11"/>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11"/>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9" name="Google Shape;3289;p11"/>
          <p:cNvGrpSpPr/>
          <p:nvPr/>
        </p:nvGrpSpPr>
        <p:grpSpPr>
          <a:xfrm rot="10800000">
            <a:off x="7828571" y="28707"/>
            <a:ext cx="1140783" cy="5086302"/>
            <a:chOff x="5458325" y="238125"/>
            <a:chExt cx="1174975" cy="5238750"/>
          </a:xfrm>
        </p:grpSpPr>
        <p:sp>
          <p:nvSpPr>
            <p:cNvPr id="3290" name="Google Shape;3290;p11"/>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11"/>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11"/>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11"/>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11"/>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11"/>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11"/>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11"/>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11"/>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11"/>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11"/>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11"/>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11"/>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11"/>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11"/>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11"/>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11"/>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11"/>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11"/>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11"/>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11"/>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11"/>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11"/>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11"/>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11"/>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11"/>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11"/>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11"/>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11"/>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11"/>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11"/>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11"/>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11"/>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11"/>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11"/>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11"/>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11"/>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11"/>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11"/>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11"/>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11"/>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11"/>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11"/>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11"/>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11"/>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11"/>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11"/>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11"/>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11"/>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11"/>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11"/>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11"/>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11"/>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11"/>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11"/>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11"/>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11"/>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11"/>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11"/>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11"/>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11"/>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11"/>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2" name="Google Shape;3352;p11"/>
          <p:cNvGrpSpPr/>
          <p:nvPr/>
        </p:nvGrpSpPr>
        <p:grpSpPr>
          <a:xfrm rot="10800000">
            <a:off x="7682451" y="28707"/>
            <a:ext cx="994639" cy="4940182"/>
            <a:chOff x="5759350" y="388625"/>
            <a:chExt cx="1024450" cy="5088250"/>
          </a:xfrm>
        </p:grpSpPr>
        <p:sp>
          <p:nvSpPr>
            <p:cNvPr id="3353" name="Google Shape;3353;p11"/>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11"/>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11"/>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11"/>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11"/>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11"/>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11"/>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11"/>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11"/>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11"/>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11"/>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11"/>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11"/>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11"/>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11"/>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11"/>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11"/>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11"/>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11"/>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11"/>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11"/>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11"/>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11"/>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11"/>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11"/>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11"/>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11"/>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11"/>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11"/>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11"/>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11"/>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11"/>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11"/>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11"/>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11"/>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11"/>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11"/>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11"/>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11"/>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11"/>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11"/>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11"/>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11"/>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11"/>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11"/>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11"/>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11"/>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11"/>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11"/>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11"/>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11"/>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11"/>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11"/>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11"/>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11"/>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11"/>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11"/>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11"/>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11"/>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11"/>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11"/>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11"/>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11"/>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11"/>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11"/>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11"/>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11"/>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11"/>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11"/>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11"/>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11"/>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11"/>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11"/>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11"/>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11"/>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11"/>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11"/>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11"/>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11"/>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11"/>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11"/>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11"/>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11"/>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11"/>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11"/>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11"/>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11"/>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11"/>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11"/>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11"/>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11"/>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11"/>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11"/>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11"/>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11"/>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11"/>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11"/>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11"/>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11"/>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11"/>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11"/>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4" name="Google Shape;3454;p11"/>
          <p:cNvGrpSpPr/>
          <p:nvPr/>
        </p:nvGrpSpPr>
        <p:grpSpPr>
          <a:xfrm rot="10800000">
            <a:off x="7682451" y="28707"/>
            <a:ext cx="1140783" cy="5086302"/>
            <a:chOff x="5608825" y="238125"/>
            <a:chExt cx="1174975" cy="5238750"/>
          </a:xfrm>
        </p:grpSpPr>
        <p:sp>
          <p:nvSpPr>
            <p:cNvPr id="3455" name="Google Shape;3455;p11"/>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11"/>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11"/>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11"/>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11"/>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11"/>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11"/>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11"/>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11"/>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11"/>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11"/>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11"/>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11"/>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11"/>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11"/>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11"/>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11"/>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11"/>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11"/>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11"/>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11"/>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11"/>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11"/>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11"/>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11"/>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11"/>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11"/>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11"/>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11"/>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11"/>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11"/>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11"/>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11"/>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11"/>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11"/>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11"/>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11"/>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11"/>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11"/>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11"/>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11"/>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11"/>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11"/>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11"/>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11"/>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11"/>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11"/>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11"/>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11"/>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11"/>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05" name="Google Shape;3505;p11"/>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3832"/>
        <p:cNvGrpSpPr/>
        <p:nvPr/>
      </p:nvGrpSpPr>
      <p:grpSpPr>
        <a:xfrm>
          <a:off x="0" y="0"/>
          <a:ext cx="0" cy="0"/>
          <a:chOff x="0" y="0"/>
          <a:chExt cx="0" cy="0"/>
        </a:xfrm>
      </p:grpSpPr>
      <p:sp>
        <p:nvSpPr>
          <p:cNvPr id="3833" name="Google Shape;3833;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834" name="Google Shape;3834;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835" name="Google Shape;383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36"/>
        <p:cNvGrpSpPr/>
        <p:nvPr/>
      </p:nvGrpSpPr>
      <p:grpSpPr>
        <a:xfrm>
          <a:off x="0" y="0"/>
          <a:ext cx="0" cy="0"/>
          <a:chOff x="0" y="0"/>
          <a:chExt cx="0" cy="0"/>
        </a:xfrm>
      </p:grpSpPr>
      <p:sp>
        <p:nvSpPr>
          <p:cNvPr id="3837" name="Google Shape;3837;p1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838" name="Google Shape;383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39"/>
        <p:cNvGrpSpPr/>
        <p:nvPr/>
      </p:nvGrpSpPr>
      <p:grpSpPr>
        <a:xfrm>
          <a:off x="0" y="0"/>
          <a:ext cx="0" cy="0"/>
          <a:chOff x="0" y="0"/>
          <a:chExt cx="0" cy="0"/>
        </a:xfrm>
      </p:grpSpPr>
      <p:sp>
        <p:nvSpPr>
          <p:cNvPr id="3840" name="Google Shape;3840;p15"/>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841" name="Google Shape;3841;p15"/>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42" name="Google Shape;3842;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8300" y="739375"/>
            <a:ext cx="67611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1pPr>
            <a:lvl2pPr lvl="1">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2pPr>
            <a:lvl3pPr lvl="2">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3pPr>
            <a:lvl4pPr lvl="3">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4pPr>
            <a:lvl5pPr lvl="4">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5pPr>
            <a:lvl6pPr lvl="5">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6pPr>
            <a:lvl7pPr lvl="6">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7pPr>
            <a:lvl8pPr lvl="7">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8pPr>
            <a:lvl9pPr lvl="8">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9pPr>
          </a:lstStyle>
          <a:p>
            <a:endParaRPr/>
          </a:p>
        </p:txBody>
      </p:sp>
      <p:sp>
        <p:nvSpPr>
          <p:cNvPr id="7" name="Google Shape;7;p1"/>
          <p:cNvSpPr txBox="1">
            <a:spLocks noGrp="1"/>
          </p:cNvSpPr>
          <p:nvPr>
            <p:ph type="body" idx="1"/>
          </p:nvPr>
        </p:nvSpPr>
        <p:spPr>
          <a:xfrm>
            <a:off x="718300" y="1733550"/>
            <a:ext cx="6761100" cy="29805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1pPr>
            <a:lvl2pPr marL="914400" lvl="1"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2pPr>
            <a:lvl3pPr marL="1371600" lvl="2"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3pPr>
            <a:lvl4pPr marL="1828800" lvl="3"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4pPr>
            <a:lvl5pPr marL="2286000" lvl="4"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5pPr>
            <a:lvl6pPr marL="2743200" lvl="5"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6pPr>
            <a:lvl7pPr marL="3200400" lvl="6"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7pPr>
            <a:lvl8pPr marL="3657600" lvl="7"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8pPr>
            <a:lvl9pPr marL="4114800" lvl="8"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9pPr>
          </a:lstStyle>
          <a:p>
            <a:endParaRPr/>
          </a:p>
        </p:txBody>
      </p:sp>
      <p:sp>
        <p:nvSpPr>
          <p:cNvPr id="8" name="Google Shape;8;p1"/>
          <p:cNvSpPr txBox="1">
            <a:spLocks noGrp="1"/>
          </p:cNvSpPr>
          <p:nvPr>
            <p:ph type="sldNum" idx="12"/>
          </p:nvPr>
        </p:nvSpPr>
        <p:spPr>
          <a:xfrm>
            <a:off x="91531" y="4720201"/>
            <a:ext cx="548700" cy="393600"/>
          </a:xfrm>
          <a:prstGeom prst="rect">
            <a:avLst/>
          </a:prstGeom>
          <a:noFill/>
          <a:ln>
            <a:noFill/>
          </a:ln>
        </p:spPr>
        <p:txBody>
          <a:bodyPr spcFirstLastPara="1" wrap="square" lIns="91425" tIns="91425" rIns="91425" bIns="91425" anchor="ctr" anchorCtr="0">
            <a:noAutofit/>
          </a:bodyPr>
          <a:lstStyle>
            <a:lvl1pPr lvl="0">
              <a:buNone/>
              <a:defRPr sz="1200">
                <a:solidFill>
                  <a:schemeClr val="dk2"/>
                </a:solidFill>
                <a:latin typeface="Dosis ExtraLight"/>
                <a:ea typeface="Dosis ExtraLight"/>
                <a:cs typeface="Dosis ExtraLight"/>
                <a:sym typeface="Dosis ExtraLight"/>
              </a:defRPr>
            </a:lvl1pPr>
            <a:lvl2pPr lvl="1">
              <a:buNone/>
              <a:defRPr sz="1200">
                <a:solidFill>
                  <a:schemeClr val="dk2"/>
                </a:solidFill>
                <a:latin typeface="Dosis ExtraLight"/>
                <a:ea typeface="Dosis ExtraLight"/>
                <a:cs typeface="Dosis ExtraLight"/>
                <a:sym typeface="Dosis ExtraLight"/>
              </a:defRPr>
            </a:lvl2pPr>
            <a:lvl3pPr lvl="2">
              <a:buNone/>
              <a:defRPr sz="1200">
                <a:solidFill>
                  <a:schemeClr val="dk2"/>
                </a:solidFill>
                <a:latin typeface="Dosis ExtraLight"/>
                <a:ea typeface="Dosis ExtraLight"/>
                <a:cs typeface="Dosis ExtraLight"/>
                <a:sym typeface="Dosis ExtraLight"/>
              </a:defRPr>
            </a:lvl3pPr>
            <a:lvl4pPr lvl="3">
              <a:buNone/>
              <a:defRPr sz="1200">
                <a:solidFill>
                  <a:schemeClr val="dk2"/>
                </a:solidFill>
                <a:latin typeface="Dosis ExtraLight"/>
                <a:ea typeface="Dosis ExtraLight"/>
                <a:cs typeface="Dosis ExtraLight"/>
                <a:sym typeface="Dosis ExtraLight"/>
              </a:defRPr>
            </a:lvl4pPr>
            <a:lvl5pPr lvl="4">
              <a:buNone/>
              <a:defRPr sz="1200">
                <a:solidFill>
                  <a:schemeClr val="dk2"/>
                </a:solidFill>
                <a:latin typeface="Dosis ExtraLight"/>
                <a:ea typeface="Dosis ExtraLight"/>
                <a:cs typeface="Dosis ExtraLight"/>
                <a:sym typeface="Dosis ExtraLight"/>
              </a:defRPr>
            </a:lvl5pPr>
            <a:lvl6pPr lvl="5">
              <a:buNone/>
              <a:defRPr sz="1200">
                <a:solidFill>
                  <a:schemeClr val="dk2"/>
                </a:solidFill>
                <a:latin typeface="Dosis ExtraLight"/>
                <a:ea typeface="Dosis ExtraLight"/>
                <a:cs typeface="Dosis ExtraLight"/>
                <a:sym typeface="Dosis ExtraLight"/>
              </a:defRPr>
            </a:lvl6pPr>
            <a:lvl7pPr lvl="6">
              <a:buNone/>
              <a:defRPr sz="1200">
                <a:solidFill>
                  <a:schemeClr val="dk2"/>
                </a:solidFill>
                <a:latin typeface="Dosis ExtraLight"/>
                <a:ea typeface="Dosis ExtraLight"/>
                <a:cs typeface="Dosis ExtraLight"/>
                <a:sym typeface="Dosis ExtraLight"/>
              </a:defRPr>
            </a:lvl7pPr>
            <a:lvl8pPr lvl="7">
              <a:buNone/>
              <a:defRPr sz="1200">
                <a:solidFill>
                  <a:schemeClr val="dk2"/>
                </a:solidFill>
                <a:latin typeface="Dosis ExtraLight"/>
                <a:ea typeface="Dosis ExtraLight"/>
                <a:cs typeface="Dosis ExtraLight"/>
                <a:sym typeface="Dosis ExtraLight"/>
              </a:defRPr>
            </a:lvl8pPr>
            <a:lvl9pPr lvl="8">
              <a:buNone/>
              <a:defRPr sz="1200">
                <a:solidFill>
                  <a:schemeClr val="dk2"/>
                </a:solidFill>
                <a:latin typeface="Dosis ExtraLight"/>
                <a:ea typeface="Dosis ExtraLight"/>
                <a:cs typeface="Dosis ExtraLight"/>
                <a:sym typeface="Dosis ExtraLight"/>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1" r:id="rId13"/>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1.png"/><Relationship Id="rId7"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46"/>
        <p:cNvGrpSpPr/>
        <p:nvPr/>
      </p:nvGrpSpPr>
      <p:grpSpPr>
        <a:xfrm>
          <a:off x="0" y="0"/>
          <a:ext cx="0" cy="0"/>
          <a:chOff x="0" y="0"/>
          <a:chExt cx="0" cy="0"/>
        </a:xfrm>
      </p:grpSpPr>
      <p:sp>
        <p:nvSpPr>
          <p:cNvPr id="3847" name="Google Shape;3847;p16"/>
          <p:cNvSpPr txBox="1">
            <a:spLocks noGrp="1"/>
          </p:cNvSpPr>
          <p:nvPr>
            <p:ph type="ctrTitle"/>
          </p:nvPr>
        </p:nvSpPr>
        <p:spPr>
          <a:xfrm>
            <a:off x="762000" y="696425"/>
            <a:ext cx="5396700" cy="296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Adversarial Reinforcement Learning</a:t>
            </a:r>
            <a:endParaRPr/>
          </a:p>
        </p:txBody>
      </p:sp>
      <p:sp>
        <p:nvSpPr>
          <p:cNvPr id="3848" name="Google Shape;3848;p16"/>
          <p:cNvSpPr txBox="1">
            <a:spLocks noGrp="1"/>
          </p:cNvSpPr>
          <p:nvPr>
            <p:ph type="subTitle" idx="4294967295"/>
          </p:nvPr>
        </p:nvSpPr>
        <p:spPr>
          <a:xfrm>
            <a:off x="762000" y="3663725"/>
            <a:ext cx="4665900" cy="662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solidFill>
                  <a:schemeClr val="accent1"/>
                </a:solidFill>
              </a:rPr>
              <a:t>A Presentation by Thomas Warther</a:t>
            </a:r>
            <a:endParaRPr>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52"/>
        <p:cNvGrpSpPr/>
        <p:nvPr/>
      </p:nvGrpSpPr>
      <p:grpSpPr>
        <a:xfrm>
          <a:off x="0" y="0"/>
          <a:ext cx="0" cy="0"/>
          <a:chOff x="0" y="0"/>
          <a:chExt cx="0" cy="0"/>
        </a:xfrm>
      </p:grpSpPr>
      <p:sp>
        <p:nvSpPr>
          <p:cNvPr id="3853" name="Google Shape;3853;p17"/>
          <p:cNvSpPr txBox="1">
            <a:spLocks noGrp="1"/>
          </p:cNvSpPr>
          <p:nvPr>
            <p:ph type="title"/>
          </p:nvPr>
        </p:nvSpPr>
        <p:spPr>
          <a:xfrm>
            <a:off x="457450" y="454825"/>
            <a:ext cx="68139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Problems Addressed by Today’s Papers</a:t>
            </a:r>
            <a:endParaRPr/>
          </a:p>
        </p:txBody>
      </p:sp>
      <p:sp>
        <p:nvSpPr>
          <p:cNvPr id="3854" name="Google Shape;3854;p17"/>
          <p:cNvSpPr txBox="1">
            <a:spLocks noGrp="1"/>
          </p:cNvSpPr>
          <p:nvPr>
            <p:ph type="body" idx="1"/>
          </p:nvPr>
        </p:nvSpPr>
        <p:spPr>
          <a:xfrm>
            <a:off x="457450" y="1146025"/>
            <a:ext cx="4311900" cy="36915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Font typeface="Titillium Web"/>
              <a:buAutoNum type="arabicPeriod"/>
            </a:pPr>
            <a:r>
              <a:rPr lang="en" b="1">
                <a:latin typeface="Titillium Web"/>
                <a:ea typeface="Titillium Web"/>
                <a:cs typeface="Titillium Web"/>
                <a:sym typeface="Titillium Web"/>
              </a:rPr>
              <a:t>Most current RL-based approaches fail to generalize.</a:t>
            </a:r>
            <a:endParaRPr b="1">
              <a:latin typeface="Titillium Web"/>
              <a:ea typeface="Titillium Web"/>
              <a:cs typeface="Titillium Web"/>
              <a:sym typeface="Titillium Web"/>
            </a:endParaRPr>
          </a:p>
          <a:p>
            <a:pPr marL="914400" lvl="1" indent="-342900" algn="l" rtl="0">
              <a:spcBef>
                <a:spcPts val="0"/>
              </a:spcBef>
              <a:spcAft>
                <a:spcPts val="0"/>
              </a:spcAft>
              <a:buSzPts val="1800"/>
              <a:buAutoNum type="alphaLcPeriod"/>
            </a:pPr>
            <a:r>
              <a:rPr lang="en"/>
              <a:t>Data is scarce, even when policy learning is done in the real world.</a:t>
            </a:r>
            <a:endParaRPr/>
          </a:p>
          <a:p>
            <a:pPr marL="914400" lvl="1" indent="-342900" algn="l" rtl="0">
              <a:spcBef>
                <a:spcPts val="0"/>
              </a:spcBef>
              <a:spcAft>
                <a:spcPts val="0"/>
              </a:spcAft>
              <a:buSzPts val="1800"/>
              <a:buAutoNum type="alphaLcPeriod"/>
            </a:pPr>
            <a:r>
              <a:rPr lang="en"/>
              <a:t>The gap between simulation and the real world is large.</a:t>
            </a:r>
            <a:endParaRPr/>
          </a:p>
          <a:p>
            <a:pPr marL="457200" lvl="0" indent="-342900" algn="l" rtl="0">
              <a:spcBef>
                <a:spcPts val="0"/>
              </a:spcBef>
              <a:spcAft>
                <a:spcPts val="0"/>
              </a:spcAft>
              <a:buSzPts val="1800"/>
              <a:buFont typeface="Titillium Web"/>
              <a:buAutoNum type="arabicPeriod"/>
            </a:pPr>
            <a:r>
              <a:rPr lang="en" b="1">
                <a:latin typeface="Titillium Web"/>
                <a:ea typeface="Titillium Web"/>
                <a:cs typeface="Titillium Web"/>
                <a:sym typeface="Titillium Web"/>
              </a:rPr>
              <a:t>Robots are vulnerable to malicious intervention.</a:t>
            </a:r>
            <a:endParaRPr b="1">
              <a:latin typeface="Titillium Web"/>
              <a:ea typeface="Titillium Web"/>
              <a:cs typeface="Titillium Web"/>
              <a:sym typeface="Titillium Web"/>
            </a:endParaRPr>
          </a:p>
          <a:p>
            <a:pPr marL="0" lvl="0" indent="0" algn="l" rtl="0">
              <a:spcBef>
                <a:spcPts val="600"/>
              </a:spcBef>
              <a:spcAft>
                <a:spcPts val="0"/>
              </a:spcAft>
              <a:buNone/>
            </a:pPr>
            <a:endParaRPr b="1">
              <a:latin typeface="Titillium Web"/>
              <a:ea typeface="Titillium Web"/>
              <a:cs typeface="Titillium Web"/>
              <a:sym typeface="Titillium Web"/>
            </a:endParaRPr>
          </a:p>
          <a:p>
            <a:pPr marL="0" lvl="0" indent="0" algn="l" rtl="0">
              <a:spcBef>
                <a:spcPts val="600"/>
              </a:spcBef>
              <a:spcAft>
                <a:spcPts val="0"/>
              </a:spcAft>
              <a:buNone/>
            </a:pPr>
            <a:r>
              <a:rPr lang="en" b="1">
                <a:latin typeface="Titillium Web"/>
                <a:ea typeface="Titillium Web"/>
                <a:cs typeface="Titillium Web"/>
                <a:sym typeface="Titillium Web"/>
              </a:rPr>
              <a:t>Contributions: Adversarial training approaches to improve the robustness of reinforcement learning.</a:t>
            </a:r>
            <a:endParaRPr/>
          </a:p>
        </p:txBody>
      </p:sp>
      <p:pic>
        <p:nvPicPr>
          <p:cNvPr id="3855" name="Google Shape;3855;p17"/>
          <p:cNvPicPr preferRelativeResize="0"/>
          <p:nvPr/>
        </p:nvPicPr>
        <p:blipFill>
          <a:blip r:embed="rId3">
            <a:alphaModFix/>
          </a:blip>
          <a:stretch>
            <a:fillRect/>
          </a:stretch>
        </p:blipFill>
        <p:spPr>
          <a:xfrm>
            <a:off x="5606300" y="3550189"/>
            <a:ext cx="2253301" cy="1168813"/>
          </a:xfrm>
          <a:prstGeom prst="rect">
            <a:avLst/>
          </a:prstGeom>
          <a:noFill/>
          <a:ln>
            <a:noFill/>
          </a:ln>
        </p:spPr>
      </p:pic>
      <p:pic>
        <p:nvPicPr>
          <p:cNvPr id="3856" name="Google Shape;3856;p17"/>
          <p:cNvPicPr preferRelativeResize="0"/>
          <p:nvPr/>
        </p:nvPicPr>
        <p:blipFill>
          <a:blip r:embed="rId4">
            <a:alphaModFix/>
          </a:blip>
          <a:stretch>
            <a:fillRect/>
          </a:stretch>
        </p:blipFill>
        <p:spPr>
          <a:xfrm>
            <a:off x="5606299" y="1644697"/>
            <a:ext cx="2253299" cy="1267500"/>
          </a:xfrm>
          <a:prstGeom prst="rect">
            <a:avLst/>
          </a:prstGeom>
          <a:noFill/>
          <a:ln>
            <a:noFill/>
          </a:ln>
        </p:spPr>
      </p:pic>
      <p:pic>
        <p:nvPicPr>
          <p:cNvPr id="3857" name="Google Shape;3857;p17"/>
          <p:cNvPicPr preferRelativeResize="0"/>
          <p:nvPr/>
        </p:nvPicPr>
        <p:blipFill>
          <a:blip r:embed="rId5">
            <a:alphaModFix/>
          </a:blip>
          <a:stretch>
            <a:fillRect/>
          </a:stretch>
        </p:blipFill>
        <p:spPr>
          <a:xfrm>
            <a:off x="7271475" y="4130875"/>
            <a:ext cx="588125" cy="588125"/>
          </a:xfrm>
          <a:prstGeom prst="rect">
            <a:avLst/>
          </a:prstGeom>
          <a:noFill/>
          <a:ln>
            <a:noFill/>
          </a:ln>
        </p:spPr>
      </p:pic>
      <p:sp>
        <p:nvSpPr>
          <p:cNvPr id="3858" name="Google Shape;3858;p17"/>
          <p:cNvSpPr txBox="1">
            <a:spLocks noGrp="1"/>
          </p:cNvSpPr>
          <p:nvPr>
            <p:ph type="body" idx="1"/>
          </p:nvPr>
        </p:nvSpPr>
        <p:spPr>
          <a:xfrm>
            <a:off x="5606300" y="1165875"/>
            <a:ext cx="1899600" cy="520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Training Scenario</a:t>
            </a:r>
            <a:endParaRPr b="1">
              <a:latin typeface="Titillium Web"/>
              <a:ea typeface="Titillium Web"/>
              <a:cs typeface="Titillium Web"/>
              <a:sym typeface="Titillium Web"/>
            </a:endParaRPr>
          </a:p>
        </p:txBody>
      </p:sp>
      <p:sp>
        <p:nvSpPr>
          <p:cNvPr id="3859" name="Google Shape;3859;p17"/>
          <p:cNvSpPr txBox="1">
            <a:spLocks noGrp="1"/>
          </p:cNvSpPr>
          <p:nvPr>
            <p:ph type="body" idx="1"/>
          </p:nvPr>
        </p:nvSpPr>
        <p:spPr>
          <a:xfrm>
            <a:off x="5606300" y="3046500"/>
            <a:ext cx="1501500" cy="520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Test Scenario</a:t>
            </a:r>
            <a:endParaRPr b="1">
              <a:latin typeface="Titillium Web"/>
              <a:ea typeface="Titillium Web"/>
              <a:cs typeface="Titillium Web"/>
              <a:sym typeface="Titillium Web"/>
            </a:endParaRPr>
          </a:p>
        </p:txBody>
      </p:sp>
      <p:sp>
        <p:nvSpPr>
          <p:cNvPr id="3860" name="Google Shape;3860;p17"/>
          <p:cNvSpPr/>
          <p:nvPr/>
        </p:nvSpPr>
        <p:spPr>
          <a:xfrm rot="-5400000">
            <a:off x="7090488" y="3370338"/>
            <a:ext cx="950100" cy="3024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61" name="Google Shape;3861;p17"/>
          <p:cNvPicPr preferRelativeResize="0"/>
          <p:nvPr/>
        </p:nvPicPr>
        <p:blipFill>
          <a:blip r:embed="rId5">
            <a:alphaModFix/>
          </a:blip>
          <a:stretch>
            <a:fillRect/>
          </a:stretch>
        </p:blipFill>
        <p:spPr>
          <a:xfrm>
            <a:off x="7271475" y="2324075"/>
            <a:ext cx="588125" cy="588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65"/>
        <p:cNvGrpSpPr/>
        <p:nvPr/>
      </p:nvGrpSpPr>
      <p:grpSpPr>
        <a:xfrm>
          <a:off x="0" y="0"/>
          <a:ext cx="0" cy="0"/>
          <a:chOff x="0" y="0"/>
          <a:chExt cx="0" cy="0"/>
        </a:xfrm>
      </p:grpSpPr>
      <p:sp>
        <p:nvSpPr>
          <p:cNvPr id="3866" name="Google Shape;3866;p18"/>
          <p:cNvSpPr txBox="1">
            <a:spLocks noGrp="1"/>
          </p:cNvSpPr>
          <p:nvPr>
            <p:ph type="ctrTitle"/>
          </p:nvPr>
        </p:nvSpPr>
        <p:spPr>
          <a:xfrm>
            <a:off x="2038650" y="441550"/>
            <a:ext cx="5066700" cy="122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600"/>
              <a:t>Robust Adversarial Reinforcement Learning</a:t>
            </a:r>
            <a:endParaRPr sz="3600"/>
          </a:p>
        </p:txBody>
      </p:sp>
      <p:sp>
        <p:nvSpPr>
          <p:cNvPr id="3867" name="Google Shape;3867;p18"/>
          <p:cNvSpPr txBox="1">
            <a:spLocks noGrp="1"/>
          </p:cNvSpPr>
          <p:nvPr>
            <p:ph type="subTitle" idx="1"/>
          </p:nvPr>
        </p:nvSpPr>
        <p:spPr>
          <a:xfrm>
            <a:off x="997075" y="1819775"/>
            <a:ext cx="1896600" cy="465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2400" b="1"/>
              <a:t>Lerrel Pinto</a:t>
            </a:r>
            <a:endParaRPr sz="2400" b="1"/>
          </a:p>
        </p:txBody>
      </p:sp>
      <p:sp>
        <p:nvSpPr>
          <p:cNvPr id="3868" name="Google Shape;3868;p18"/>
          <p:cNvSpPr txBox="1">
            <a:spLocks noGrp="1"/>
          </p:cNvSpPr>
          <p:nvPr>
            <p:ph type="subTitle" idx="1"/>
          </p:nvPr>
        </p:nvSpPr>
        <p:spPr>
          <a:xfrm>
            <a:off x="634525" y="3058425"/>
            <a:ext cx="2621700" cy="465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2400" b="1"/>
              <a:t>James Davidson</a:t>
            </a:r>
            <a:endParaRPr sz="2400" b="1"/>
          </a:p>
        </p:txBody>
      </p:sp>
      <p:sp>
        <p:nvSpPr>
          <p:cNvPr id="3869" name="Google Shape;3869;p18"/>
          <p:cNvSpPr txBox="1">
            <a:spLocks noGrp="1"/>
          </p:cNvSpPr>
          <p:nvPr>
            <p:ph type="subTitle" idx="1"/>
          </p:nvPr>
        </p:nvSpPr>
        <p:spPr>
          <a:xfrm>
            <a:off x="5878975" y="1819775"/>
            <a:ext cx="2782500" cy="465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2400" b="1"/>
              <a:t>Rahul Sukthankar</a:t>
            </a:r>
            <a:endParaRPr sz="2400" b="1"/>
          </a:p>
        </p:txBody>
      </p:sp>
      <p:sp>
        <p:nvSpPr>
          <p:cNvPr id="3870" name="Google Shape;3870;p18"/>
          <p:cNvSpPr txBox="1">
            <a:spLocks noGrp="1"/>
          </p:cNvSpPr>
          <p:nvPr>
            <p:ph type="subTitle" idx="1"/>
          </p:nvPr>
        </p:nvSpPr>
        <p:spPr>
          <a:xfrm>
            <a:off x="6059275" y="3062925"/>
            <a:ext cx="2421900" cy="465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2400" b="1"/>
              <a:t>Abhinav Gupta</a:t>
            </a:r>
            <a:endParaRPr sz="2400" b="1"/>
          </a:p>
        </p:txBody>
      </p:sp>
      <p:sp>
        <p:nvSpPr>
          <p:cNvPr id="3871" name="Google Shape;3871;p18"/>
          <p:cNvSpPr txBox="1">
            <a:spLocks noGrp="1"/>
          </p:cNvSpPr>
          <p:nvPr>
            <p:ph type="subTitle" idx="1"/>
          </p:nvPr>
        </p:nvSpPr>
        <p:spPr>
          <a:xfrm>
            <a:off x="783025" y="2285663"/>
            <a:ext cx="2324700" cy="3003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400"/>
              <a:t>Carnegie Mellon University</a:t>
            </a:r>
            <a:endParaRPr sz="1400"/>
          </a:p>
        </p:txBody>
      </p:sp>
      <p:sp>
        <p:nvSpPr>
          <p:cNvPr id="3872" name="Google Shape;3872;p18"/>
          <p:cNvSpPr txBox="1">
            <a:spLocks noGrp="1"/>
          </p:cNvSpPr>
          <p:nvPr>
            <p:ph type="subTitle" idx="1"/>
          </p:nvPr>
        </p:nvSpPr>
        <p:spPr>
          <a:xfrm>
            <a:off x="1327675" y="3524325"/>
            <a:ext cx="1235400" cy="3003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400"/>
              <a:t>Google Brain</a:t>
            </a:r>
            <a:endParaRPr sz="1400"/>
          </a:p>
        </p:txBody>
      </p:sp>
      <p:sp>
        <p:nvSpPr>
          <p:cNvPr id="3873" name="Google Shape;3873;p18"/>
          <p:cNvSpPr txBox="1">
            <a:spLocks noGrp="1"/>
          </p:cNvSpPr>
          <p:nvPr>
            <p:ph type="subTitle" idx="1"/>
          </p:nvPr>
        </p:nvSpPr>
        <p:spPr>
          <a:xfrm>
            <a:off x="6476125" y="2285675"/>
            <a:ext cx="1588200" cy="3003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400"/>
              <a:t>Google Research</a:t>
            </a:r>
            <a:endParaRPr sz="1400"/>
          </a:p>
        </p:txBody>
      </p:sp>
      <p:sp>
        <p:nvSpPr>
          <p:cNvPr id="3874" name="Google Shape;3874;p18"/>
          <p:cNvSpPr txBox="1">
            <a:spLocks noGrp="1"/>
          </p:cNvSpPr>
          <p:nvPr>
            <p:ph type="subTitle" idx="1"/>
          </p:nvPr>
        </p:nvSpPr>
        <p:spPr>
          <a:xfrm>
            <a:off x="6476125" y="3824625"/>
            <a:ext cx="1588200" cy="3003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400"/>
              <a:t>Google Research</a:t>
            </a:r>
            <a:endParaRPr sz="1400"/>
          </a:p>
        </p:txBody>
      </p:sp>
      <p:sp>
        <p:nvSpPr>
          <p:cNvPr id="3875" name="Google Shape;3875;p18"/>
          <p:cNvSpPr txBox="1">
            <a:spLocks noGrp="1"/>
          </p:cNvSpPr>
          <p:nvPr>
            <p:ph type="subTitle" idx="1"/>
          </p:nvPr>
        </p:nvSpPr>
        <p:spPr>
          <a:xfrm>
            <a:off x="6107875" y="3524325"/>
            <a:ext cx="2324700" cy="3003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400"/>
              <a:t>Carnegie Mellon University</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79"/>
        <p:cNvGrpSpPr/>
        <p:nvPr/>
      </p:nvGrpSpPr>
      <p:grpSpPr>
        <a:xfrm>
          <a:off x="0" y="0"/>
          <a:ext cx="0" cy="0"/>
          <a:chOff x="0" y="0"/>
          <a:chExt cx="0" cy="0"/>
        </a:xfrm>
      </p:grpSpPr>
      <p:sp>
        <p:nvSpPr>
          <p:cNvPr id="3880" name="Google Shape;3880;p19"/>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Approach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84"/>
        <p:cNvGrpSpPr/>
        <p:nvPr/>
      </p:nvGrpSpPr>
      <p:grpSpPr>
        <a:xfrm>
          <a:off x="0" y="0"/>
          <a:ext cx="0" cy="0"/>
          <a:chOff x="0" y="0"/>
          <a:chExt cx="0" cy="0"/>
        </a:xfrm>
      </p:grpSpPr>
      <p:sp>
        <p:nvSpPr>
          <p:cNvPr id="3885" name="Google Shape;3885;p20"/>
          <p:cNvSpPr txBox="1">
            <a:spLocks noGrp="1"/>
          </p:cNvSpPr>
          <p:nvPr>
            <p:ph type="title"/>
          </p:nvPr>
        </p:nvSpPr>
        <p:spPr>
          <a:xfrm>
            <a:off x="457450" y="454825"/>
            <a:ext cx="71241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Generalization Problem</a:t>
            </a:r>
            <a:endParaRPr/>
          </a:p>
        </p:txBody>
      </p:sp>
      <p:pic>
        <p:nvPicPr>
          <p:cNvPr id="3886" name="Google Shape;3886;p20"/>
          <p:cNvPicPr preferRelativeResize="0"/>
          <p:nvPr/>
        </p:nvPicPr>
        <p:blipFill>
          <a:blip r:embed="rId3">
            <a:alphaModFix/>
          </a:blip>
          <a:stretch>
            <a:fillRect/>
          </a:stretch>
        </p:blipFill>
        <p:spPr>
          <a:xfrm>
            <a:off x="2023488" y="1190613"/>
            <a:ext cx="5097020" cy="904725"/>
          </a:xfrm>
          <a:prstGeom prst="rect">
            <a:avLst/>
          </a:prstGeom>
          <a:noFill/>
          <a:ln>
            <a:noFill/>
          </a:ln>
        </p:spPr>
      </p:pic>
      <p:sp>
        <p:nvSpPr>
          <p:cNvPr id="3887" name="Google Shape;3887;p20"/>
          <p:cNvSpPr txBox="1">
            <a:spLocks noGrp="1"/>
          </p:cNvSpPr>
          <p:nvPr>
            <p:ph type="body" idx="1"/>
          </p:nvPr>
        </p:nvSpPr>
        <p:spPr>
          <a:xfrm>
            <a:off x="457450" y="2629750"/>
            <a:ext cx="7124100" cy="1724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Many policies learned by optimizing the expected reward over all transition functions fail to generalize.</a:t>
            </a:r>
            <a:endParaRPr b="1">
              <a:latin typeface="Titillium Web"/>
              <a:ea typeface="Titillium Web"/>
              <a:cs typeface="Titillium Web"/>
              <a:sym typeface="Titillium Web"/>
            </a:endParaRPr>
          </a:p>
          <a:p>
            <a:pPr marL="457200" lvl="0" indent="-342900" algn="l" rtl="0">
              <a:spcBef>
                <a:spcPts val="600"/>
              </a:spcBef>
              <a:spcAft>
                <a:spcPts val="0"/>
              </a:spcAft>
              <a:buSzPts val="1800"/>
              <a:buChar char="▪"/>
            </a:pPr>
            <a:r>
              <a:rPr lang="en"/>
              <a:t>Optimizes mean performance</a:t>
            </a:r>
            <a:endParaRPr/>
          </a:p>
          <a:p>
            <a:pPr marL="457200" lvl="0" indent="-342900" algn="l" rtl="0">
              <a:spcBef>
                <a:spcPts val="0"/>
              </a:spcBef>
              <a:spcAft>
                <a:spcPts val="0"/>
              </a:spcAft>
              <a:buSzPts val="1800"/>
              <a:buChar char="▪"/>
            </a:pPr>
            <a:r>
              <a:rPr lang="en"/>
              <a:t>Risk neutral formulation</a:t>
            </a:r>
            <a:endParaRPr/>
          </a:p>
          <a:p>
            <a:pPr marL="457200" lvl="0" indent="-342900" algn="l" rtl="0">
              <a:spcBef>
                <a:spcPts val="0"/>
              </a:spcBef>
              <a:spcAft>
                <a:spcPts val="0"/>
              </a:spcAft>
              <a:buSzPts val="1800"/>
              <a:buChar char="▪"/>
            </a:pPr>
            <a:r>
              <a:rPr lang="en"/>
              <a:t>Assumes known distribution over model parameters</a:t>
            </a:r>
            <a:endParaRPr b="1">
              <a:latin typeface="Titillium Web"/>
              <a:ea typeface="Titillium Web"/>
              <a:cs typeface="Titillium Web"/>
              <a:sym typeface="Titillium Web"/>
            </a:endParaRPr>
          </a:p>
        </p:txBody>
      </p:sp>
      <p:sp>
        <p:nvSpPr>
          <p:cNvPr id="3888" name="Google Shape;3888;p20"/>
          <p:cNvSpPr/>
          <p:nvPr/>
        </p:nvSpPr>
        <p:spPr>
          <a:xfrm>
            <a:off x="3752750" y="1146025"/>
            <a:ext cx="3240600" cy="994500"/>
          </a:xfrm>
          <a:prstGeom prst="rect">
            <a:avLst/>
          </a:prstGeom>
          <a:noFill/>
          <a:ln w="3810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20"/>
          <p:cNvSpPr txBox="1">
            <a:spLocks noGrp="1"/>
          </p:cNvSpPr>
          <p:nvPr>
            <p:ph type="body" idx="1"/>
          </p:nvPr>
        </p:nvSpPr>
        <p:spPr>
          <a:xfrm>
            <a:off x="3634250" y="2139950"/>
            <a:ext cx="3477600" cy="445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38761D"/>
                </a:solidFill>
                <a:latin typeface="Titillium Web"/>
                <a:ea typeface="Titillium Web"/>
                <a:cs typeface="Titillium Web"/>
                <a:sym typeface="Titillium Web"/>
              </a:rPr>
              <a:t>Reinforcement learning objective</a:t>
            </a:r>
            <a:endParaRPr b="1">
              <a:solidFill>
                <a:srgbClr val="38761D"/>
              </a:solidFill>
              <a:latin typeface="Titillium Web"/>
              <a:ea typeface="Titillium Web"/>
              <a:cs typeface="Titillium Web"/>
              <a:sym typeface="Titillium Web"/>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93"/>
        <p:cNvGrpSpPr/>
        <p:nvPr/>
      </p:nvGrpSpPr>
      <p:grpSpPr>
        <a:xfrm>
          <a:off x="0" y="0"/>
          <a:ext cx="0" cy="0"/>
          <a:chOff x="0" y="0"/>
          <a:chExt cx="0" cy="0"/>
        </a:xfrm>
      </p:grpSpPr>
      <p:sp>
        <p:nvSpPr>
          <p:cNvPr id="3894" name="Google Shape;3894;p21"/>
          <p:cNvSpPr txBox="1">
            <a:spLocks noGrp="1"/>
          </p:cNvSpPr>
          <p:nvPr>
            <p:ph type="title"/>
          </p:nvPr>
        </p:nvSpPr>
        <p:spPr>
          <a:xfrm>
            <a:off x="457450" y="454825"/>
            <a:ext cx="59004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Solution: Optimize Conditional Value at Risk (CVaR)</a:t>
            </a:r>
            <a:endParaRPr sz="2400"/>
          </a:p>
        </p:txBody>
      </p:sp>
      <p:sp>
        <p:nvSpPr>
          <p:cNvPr id="3895" name="Google Shape;3895;p21"/>
          <p:cNvSpPr txBox="1">
            <a:spLocks noGrp="1"/>
          </p:cNvSpPr>
          <p:nvPr>
            <p:ph type="body" idx="1"/>
          </p:nvPr>
        </p:nvSpPr>
        <p:spPr>
          <a:xfrm>
            <a:off x="457450" y="2050750"/>
            <a:ext cx="7124100" cy="2969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Idea: Sample the worst possible (alpha-quantile) trajectories</a:t>
            </a:r>
            <a:endParaRPr b="1">
              <a:latin typeface="Titillium Web"/>
              <a:ea typeface="Titillium Web"/>
              <a:cs typeface="Titillium Web"/>
              <a:sym typeface="Titillium Web"/>
            </a:endParaRPr>
          </a:p>
        </p:txBody>
      </p:sp>
      <p:pic>
        <p:nvPicPr>
          <p:cNvPr id="3896" name="Google Shape;3896;p21"/>
          <p:cNvPicPr preferRelativeResize="0"/>
          <p:nvPr/>
        </p:nvPicPr>
        <p:blipFill>
          <a:blip r:embed="rId3">
            <a:alphaModFix/>
          </a:blip>
          <a:stretch>
            <a:fillRect/>
          </a:stretch>
        </p:blipFill>
        <p:spPr>
          <a:xfrm>
            <a:off x="2023496" y="1296104"/>
            <a:ext cx="5096999" cy="60457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00"/>
        <p:cNvGrpSpPr/>
        <p:nvPr/>
      </p:nvGrpSpPr>
      <p:grpSpPr>
        <a:xfrm>
          <a:off x="0" y="0"/>
          <a:ext cx="0" cy="0"/>
          <a:chOff x="0" y="0"/>
          <a:chExt cx="0" cy="0"/>
        </a:xfrm>
      </p:grpSpPr>
      <p:sp>
        <p:nvSpPr>
          <p:cNvPr id="3901" name="Google Shape;3901;p22"/>
          <p:cNvSpPr txBox="1">
            <a:spLocks noGrp="1"/>
          </p:cNvSpPr>
          <p:nvPr>
            <p:ph type="title"/>
          </p:nvPr>
        </p:nvSpPr>
        <p:spPr>
          <a:xfrm>
            <a:off x="457450" y="454825"/>
            <a:ext cx="59004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Solution: Optimize Conditional Value at Risk (CVaR)</a:t>
            </a:r>
            <a:endParaRPr sz="2400"/>
          </a:p>
        </p:txBody>
      </p:sp>
      <p:sp>
        <p:nvSpPr>
          <p:cNvPr id="3902" name="Google Shape;3902;p22"/>
          <p:cNvSpPr txBox="1">
            <a:spLocks noGrp="1"/>
          </p:cNvSpPr>
          <p:nvPr>
            <p:ph type="body" idx="1"/>
          </p:nvPr>
        </p:nvSpPr>
        <p:spPr>
          <a:xfrm>
            <a:off x="457450" y="2050750"/>
            <a:ext cx="7124100" cy="52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Idea: Sample the worst possible (alpha-quantile) trajectories</a:t>
            </a:r>
            <a:endParaRPr b="1">
              <a:latin typeface="Titillium Web"/>
              <a:ea typeface="Titillium Web"/>
              <a:cs typeface="Titillium Web"/>
              <a:sym typeface="Titillium Web"/>
            </a:endParaRPr>
          </a:p>
        </p:txBody>
      </p:sp>
      <p:pic>
        <p:nvPicPr>
          <p:cNvPr id="3903" name="Google Shape;3903;p22"/>
          <p:cNvPicPr preferRelativeResize="0"/>
          <p:nvPr/>
        </p:nvPicPr>
        <p:blipFill>
          <a:blip r:embed="rId3">
            <a:alphaModFix/>
          </a:blip>
          <a:stretch>
            <a:fillRect/>
          </a:stretch>
        </p:blipFill>
        <p:spPr>
          <a:xfrm>
            <a:off x="2023496" y="1296104"/>
            <a:ext cx="5096999" cy="604571"/>
          </a:xfrm>
          <a:prstGeom prst="rect">
            <a:avLst/>
          </a:prstGeom>
          <a:noFill/>
          <a:ln>
            <a:noFill/>
          </a:ln>
        </p:spPr>
      </p:pic>
      <p:sp>
        <p:nvSpPr>
          <p:cNvPr id="3904" name="Google Shape;3904;p22"/>
          <p:cNvSpPr txBox="1">
            <a:spLocks noGrp="1"/>
          </p:cNvSpPr>
          <p:nvPr>
            <p:ph type="body" idx="1"/>
          </p:nvPr>
        </p:nvSpPr>
        <p:spPr>
          <a:xfrm>
            <a:off x="457450" y="2935750"/>
            <a:ext cx="7124100" cy="52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b="1">
                <a:latin typeface="Titillium Web"/>
                <a:ea typeface="Titillium Web"/>
                <a:cs typeface="Titillium Web"/>
                <a:sym typeface="Titillium Web"/>
              </a:rPr>
              <a:t>How can these trajectories by tractably sampled?</a:t>
            </a:r>
            <a:endParaRPr sz="2400" b="1">
              <a:latin typeface="Titillium Web"/>
              <a:ea typeface="Titillium Web"/>
              <a:cs typeface="Titillium Web"/>
              <a:sym typeface="Titillium Web"/>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08"/>
        <p:cNvGrpSpPr/>
        <p:nvPr/>
      </p:nvGrpSpPr>
      <p:grpSpPr>
        <a:xfrm>
          <a:off x="0" y="0"/>
          <a:ext cx="0" cy="0"/>
          <a:chOff x="0" y="0"/>
          <a:chExt cx="0" cy="0"/>
        </a:xfrm>
      </p:grpSpPr>
      <p:sp>
        <p:nvSpPr>
          <p:cNvPr id="3909" name="Google Shape;3909;p23"/>
          <p:cNvSpPr txBox="1">
            <a:spLocks noGrp="1"/>
          </p:cNvSpPr>
          <p:nvPr>
            <p:ph type="title"/>
          </p:nvPr>
        </p:nvSpPr>
        <p:spPr>
          <a:xfrm>
            <a:off x="457450" y="454825"/>
            <a:ext cx="59004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Solution: Optimize Conditional Value at Risk (CVaR)</a:t>
            </a:r>
            <a:endParaRPr sz="2400"/>
          </a:p>
        </p:txBody>
      </p:sp>
      <p:sp>
        <p:nvSpPr>
          <p:cNvPr id="3910" name="Google Shape;3910;p23"/>
          <p:cNvSpPr txBox="1">
            <a:spLocks noGrp="1"/>
          </p:cNvSpPr>
          <p:nvPr>
            <p:ph type="body" idx="1"/>
          </p:nvPr>
        </p:nvSpPr>
        <p:spPr>
          <a:xfrm>
            <a:off x="457450" y="2050750"/>
            <a:ext cx="7124100" cy="52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Idea:</a:t>
            </a:r>
            <a:r>
              <a:rPr lang="en"/>
              <a:t> Sample the worst possible (alpha-quantile) trajectories</a:t>
            </a:r>
            <a:endParaRPr/>
          </a:p>
        </p:txBody>
      </p:sp>
      <p:pic>
        <p:nvPicPr>
          <p:cNvPr id="3911" name="Google Shape;3911;p23"/>
          <p:cNvPicPr preferRelativeResize="0"/>
          <p:nvPr/>
        </p:nvPicPr>
        <p:blipFill>
          <a:blip r:embed="rId3">
            <a:alphaModFix/>
          </a:blip>
          <a:stretch>
            <a:fillRect/>
          </a:stretch>
        </p:blipFill>
        <p:spPr>
          <a:xfrm>
            <a:off x="2023496" y="1296104"/>
            <a:ext cx="5096999" cy="604571"/>
          </a:xfrm>
          <a:prstGeom prst="rect">
            <a:avLst/>
          </a:prstGeom>
          <a:noFill/>
          <a:ln>
            <a:noFill/>
          </a:ln>
        </p:spPr>
      </p:pic>
      <p:sp>
        <p:nvSpPr>
          <p:cNvPr id="3912" name="Google Shape;3912;p23"/>
          <p:cNvSpPr txBox="1">
            <a:spLocks noGrp="1"/>
          </p:cNvSpPr>
          <p:nvPr>
            <p:ph type="body" idx="1"/>
          </p:nvPr>
        </p:nvSpPr>
        <p:spPr>
          <a:xfrm>
            <a:off x="457450" y="2721925"/>
            <a:ext cx="7124100" cy="52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b="1">
                <a:latin typeface="Titillium Web"/>
                <a:ea typeface="Titillium Web"/>
                <a:cs typeface="Titillium Web"/>
                <a:sym typeface="Titillium Web"/>
              </a:rPr>
              <a:t>How can these trajectories by tractably sampled?</a:t>
            </a:r>
            <a:endParaRPr sz="2400" b="1">
              <a:latin typeface="Titillium Web"/>
              <a:ea typeface="Titillium Web"/>
              <a:cs typeface="Titillium Web"/>
              <a:sym typeface="Titillium Web"/>
            </a:endParaRPr>
          </a:p>
        </p:txBody>
      </p:sp>
      <p:sp>
        <p:nvSpPr>
          <p:cNvPr id="3913" name="Google Shape;3913;p23"/>
          <p:cNvSpPr txBox="1">
            <a:spLocks noGrp="1"/>
          </p:cNvSpPr>
          <p:nvPr>
            <p:ph type="body" idx="1"/>
          </p:nvPr>
        </p:nvSpPr>
        <p:spPr>
          <a:xfrm>
            <a:off x="457450" y="3393100"/>
            <a:ext cx="7786500" cy="52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b="1">
                <a:latin typeface="Titillium Web"/>
                <a:ea typeface="Titillium Web"/>
                <a:cs typeface="Titillium Web"/>
                <a:sym typeface="Titillium Web"/>
              </a:rPr>
              <a:t>Answer: Introduce an adversarial agent (i.e. adversarial training)</a:t>
            </a:r>
            <a:endParaRPr sz="2400" b="1">
              <a:latin typeface="Titillium Web"/>
              <a:ea typeface="Titillium Web"/>
              <a:cs typeface="Titillium Web"/>
              <a:sym typeface="Titillium Web"/>
            </a:endParaRPr>
          </a:p>
        </p:txBody>
      </p:sp>
      <p:pic>
        <p:nvPicPr>
          <p:cNvPr id="3914" name="Google Shape;3914;p23"/>
          <p:cNvPicPr preferRelativeResize="0"/>
          <p:nvPr/>
        </p:nvPicPr>
        <p:blipFill>
          <a:blip r:embed="rId4">
            <a:alphaModFix/>
          </a:blip>
          <a:stretch>
            <a:fillRect/>
          </a:stretch>
        </p:blipFill>
        <p:spPr>
          <a:xfrm>
            <a:off x="4453447" y="4064275"/>
            <a:ext cx="830802" cy="80624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18"/>
        <p:cNvGrpSpPr/>
        <p:nvPr/>
      </p:nvGrpSpPr>
      <p:grpSpPr>
        <a:xfrm>
          <a:off x="0" y="0"/>
          <a:ext cx="0" cy="0"/>
          <a:chOff x="0" y="0"/>
          <a:chExt cx="0" cy="0"/>
        </a:xfrm>
      </p:grpSpPr>
      <p:sp>
        <p:nvSpPr>
          <p:cNvPr id="3919" name="Google Shape;3919;p24"/>
          <p:cNvSpPr txBox="1">
            <a:spLocks noGrp="1"/>
          </p:cNvSpPr>
          <p:nvPr>
            <p:ph type="title"/>
          </p:nvPr>
        </p:nvSpPr>
        <p:spPr>
          <a:xfrm>
            <a:off x="457450" y="454825"/>
            <a:ext cx="73758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Robust Adversarial Reinforcement Learning (RARL)</a:t>
            </a:r>
            <a:endParaRPr sz="3000"/>
          </a:p>
        </p:txBody>
      </p:sp>
      <p:pic>
        <p:nvPicPr>
          <p:cNvPr id="3920" name="Google Shape;3920;p24"/>
          <p:cNvPicPr preferRelativeResize="0"/>
          <p:nvPr/>
        </p:nvPicPr>
        <p:blipFill>
          <a:blip r:embed="rId3">
            <a:alphaModFix/>
          </a:blip>
          <a:stretch>
            <a:fillRect/>
          </a:stretch>
        </p:blipFill>
        <p:spPr>
          <a:xfrm>
            <a:off x="4373031" y="1067725"/>
            <a:ext cx="3312864" cy="3206850"/>
          </a:xfrm>
          <a:prstGeom prst="rect">
            <a:avLst/>
          </a:prstGeom>
          <a:noFill/>
          <a:ln>
            <a:noFill/>
          </a:ln>
        </p:spPr>
      </p:pic>
      <p:pic>
        <p:nvPicPr>
          <p:cNvPr id="3921" name="Google Shape;3921;p24" descr="(\mathcal{S}, \mathcal{A}_{1}, \mathcal{A}_{2}, \mathcal{P}, r, \gamma, s_{0})" title="MathEquation,#000000"/>
          <p:cNvPicPr preferRelativeResize="0"/>
          <p:nvPr/>
        </p:nvPicPr>
        <p:blipFill>
          <a:blip r:embed="rId4">
            <a:alphaModFix/>
          </a:blip>
          <a:stretch>
            <a:fillRect/>
          </a:stretch>
        </p:blipFill>
        <p:spPr>
          <a:xfrm>
            <a:off x="457438" y="2785159"/>
            <a:ext cx="3161476" cy="410991"/>
          </a:xfrm>
          <a:prstGeom prst="rect">
            <a:avLst/>
          </a:prstGeom>
          <a:noFill/>
          <a:ln>
            <a:noFill/>
          </a:ln>
        </p:spPr>
      </p:pic>
      <p:pic>
        <p:nvPicPr>
          <p:cNvPr id="3922" name="Google Shape;3922;p24"/>
          <p:cNvPicPr preferRelativeResize="0"/>
          <p:nvPr/>
        </p:nvPicPr>
        <p:blipFill>
          <a:blip r:embed="rId5">
            <a:alphaModFix/>
          </a:blip>
          <a:stretch>
            <a:fillRect/>
          </a:stretch>
        </p:blipFill>
        <p:spPr>
          <a:xfrm>
            <a:off x="5927125" y="3853625"/>
            <a:ext cx="657300" cy="637901"/>
          </a:xfrm>
          <a:prstGeom prst="rect">
            <a:avLst/>
          </a:prstGeom>
          <a:noFill/>
          <a:ln>
            <a:noFill/>
          </a:ln>
        </p:spPr>
      </p:pic>
      <p:sp>
        <p:nvSpPr>
          <p:cNvPr id="3923" name="Google Shape;3923;p24"/>
          <p:cNvSpPr txBox="1"/>
          <p:nvPr/>
        </p:nvSpPr>
        <p:spPr>
          <a:xfrm>
            <a:off x="4653438" y="3853625"/>
            <a:ext cx="1051500" cy="36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i="1">
                <a:solidFill>
                  <a:srgbClr val="0000FF"/>
                </a:solidFill>
                <a:latin typeface="Titillium Web"/>
                <a:ea typeface="Titillium Web"/>
                <a:cs typeface="Titillium Web"/>
                <a:sym typeface="Titillium Web"/>
              </a:rPr>
              <a:t>Two Agents</a:t>
            </a:r>
            <a:endParaRPr b="1" i="1">
              <a:solidFill>
                <a:srgbClr val="0000FF"/>
              </a:solidFill>
              <a:latin typeface="Titillium Web"/>
              <a:ea typeface="Titillium Web"/>
              <a:cs typeface="Titillium Web"/>
              <a:sym typeface="Titillium Web"/>
            </a:endParaRPr>
          </a:p>
        </p:txBody>
      </p:sp>
      <p:sp>
        <p:nvSpPr>
          <p:cNvPr id="3924" name="Google Shape;3924;p24"/>
          <p:cNvSpPr/>
          <p:nvPr/>
        </p:nvSpPr>
        <p:spPr>
          <a:xfrm>
            <a:off x="5808700" y="3074275"/>
            <a:ext cx="831600" cy="14172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24"/>
          <p:cNvSpPr txBox="1">
            <a:spLocks noGrp="1"/>
          </p:cNvSpPr>
          <p:nvPr>
            <p:ph type="body" idx="1"/>
          </p:nvPr>
        </p:nvSpPr>
        <p:spPr>
          <a:xfrm>
            <a:off x="457450" y="3946425"/>
            <a:ext cx="1566600" cy="749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800" b="1">
                <a:latin typeface="Titillium Web"/>
                <a:ea typeface="Titillium Web"/>
                <a:cs typeface="Titillium Web"/>
                <a:sym typeface="Titillium Web"/>
              </a:rPr>
              <a:t>Protagonist’s Action Space</a:t>
            </a:r>
            <a:endParaRPr sz="1800" b="1">
              <a:latin typeface="Titillium Web"/>
              <a:ea typeface="Titillium Web"/>
              <a:cs typeface="Titillium Web"/>
              <a:sym typeface="Titillium Web"/>
            </a:endParaRPr>
          </a:p>
        </p:txBody>
      </p:sp>
      <p:sp>
        <p:nvSpPr>
          <p:cNvPr id="3926" name="Google Shape;3926;p24"/>
          <p:cNvSpPr/>
          <p:nvPr/>
        </p:nvSpPr>
        <p:spPr>
          <a:xfrm rot="5400000">
            <a:off x="775150" y="3431800"/>
            <a:ext cx="836400" cy="3651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24"/>
          <p:cNvSpPr/>
          <p:nvPr/>
        </p:nvSpPr>
        <p:spPr>
          <a:xfrm rot="-5400000">
            <a:off x="1332350" y="2184400"/>
            <a:ext cx="836400" cy="3651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24"/>
          <p:cNvSpPr txBox="1">
            <a:spLocks noGrp="1"/>
          </p:cNvSpPr>
          <p:nvPr>
            <p:ph type="body" idx="1"/>
          </p:nvPr>
        </p:nvSpPr>
        <p:spPr>
          <a:xfrm>
            <a:off x="967250" y="1133388"/>
            <a:ext cx="1566600" cy="749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800" b="1">
                <a:latin typeface="Titillium Web"/>
                <a:ea typeface="Titillium Web"/>
                <a:cs typeface="Titillium Web"/>
                <a:sym typeface="Titillium Web"/>
              </a:rPr>
              <a:t>Adversary’s Action Space</a:t>
            </a:r>
            <a:endParaRPr sz="1800" b="1">
              <a:latin typeface="Titillium Web"/>
              <a:ea typeface="Titillium Web"/>
              <a:cs typeface="Titillium Web"/>
              <a:sym typeface="Titillium Web"/>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32"/>
        <p:cNvGrpSpPr/>
        <p:nvPr/>
      </p:nvGrpSpPr>
      <p:grpSpPr>
        <a:xfrm>
          <a:off x="0" y="0"/>
          <a:ext cx="0" cy="0"/>
          <a:chOff x="0" y="0"/>
          <a:chExt cx="0" cy="0"/>
        </a:xfrm>
      </p:grpSpPr>
      <p:sp>
        <p:nvSpPr>
          <p:cNvPr id="3933" name="Google Shape;3933;p25"/>
          <p:cNvSpPr txBox="1">
            <a:spLocks noGrp="1"/>
          </p:cNvSpPr>
          <p:nvPr>
            <p:ph type="title"/>
          </p:nvPr>
        </p:nvSpPr>
        <p:spPr>
          <a:xfrm>
            <a:off x="457450" y="454825"/>
            <a:ext cx="78579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Adversarial Agents for Modeling Disturbances</a:t>
            </a:r>
            <a:endParaRPr/>
          </a:p>
        </p:txBody>
      </p:sp>
      <p:sp>
        <p:nvSpPr>
          <p:cNvPr id="3934" name="Google Shape;3934;p25"/>
          <p:cNvSpPr txBox="1">
            <a:spLocks noGrp="1"/>
          </p:cNvSpPr>
          <p:nvPr>
            <p:ph type="body" idx="1"/>
          </p:nvPr>
        </p:nvSpPr>
        <p:spPr>
          <a:xfrm>
            <a:off x="457450" y="1146025"/>
            <a:ext cx="6846000" cy="2401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The adversary applies destabilizing forces to the original agent (the “protagonist”)</a:t>
            </a:r>
            <a:endParaRPr b="1">
              <a:latin typeface="Titillium Web"/>
              <a:ea typeface="Titillium Web"/>
              <a:cs typeface="Titillium Web"/>
              <a:sym typeface="Titillium Web"/>
            </a:endParaRPr>
          </a:p>
          <a:p>
            <a:pPr marL="457200" lvl="0" indent="-342900" algn="l" rtl="0">
              <a:spcBef>
                <a:spcPts val="600"/>
              </a:spcBef>
              <a:spcAft>
                <a:spcPts val="0"/>
              </a:spcAft>
              <a:buSzPts val="1800"/>
              <a:buChar char="▪"/>
            </a:pPr>
            <a:r>
              <a:rPr lang="en"/>
              <a:t>Rewarded for protagonist’s failure</a:t>
            </a:r>
            <a:endParaRPr/>
          </a:p>
          <a:p>
            <a:pPr marL="457200" lvl="0" indent="-342900" algn="l" rtl="0">
              <a:spcBef>
                <a:spcPts val="0"/>
              </a:spcBef>
              <a:spcAft>
                <a:spcPts val="0"/>
              </a:spcAft>
              <a:buSzPts val="1800"/>
              <a:buChar char="▪"/>
            </a:pPr>
            <a:r>
              <a:rPr lang="en"/>
              <a:t>Learns to sample hard examples</a:t>
            </a:r>
            <a:endParaRPr/>
          </a:p>
          <a:p>
            <a:pPr marL="0" lvl="0" indent="0" algn="l" rtl="0">
              <a:spcBef>
                <a:spcPts val="600"/>
              </a:spcBef>
              <a:spcAft>
                <a:spcPts val="0"/>
              </a:spcAft>
              <a:buNone/>
            </a:pPr>
            <a:r>
              <a:rPr lang="en" b="1">
                <a:latin typeface="Titillium Web"/>
                <a:ea typeface="Titillium Web"/>
                <a:cs typeface="Titillium Web"/>
                <a:sym typeface="Titillium Web"/>
              </a:rPr>
              <a:t>The protagonist learns policy robust to any of the adversary’s disturbances</a:t>
            </a:r>
            <a:endParaRPr/>
          </a:p>
        </p:txBody>
      </p:sp>
      <p:pic>
        <p:nvPicPr>
          <p:cNvPr id="3935" name="Google Shape;3935;p25"/>
          <p:cNvPicPr preferRelativeResize="0"/>
          <p:nvPr/>
        </p:nvPicPr>
        <p:blipFill>
          <a:blip r:embed="rId3">
            <a:alphaModFix/>
          </a:blip>
          <a:stretch>
            <a:fillRect/>
          </a:stretch>
        </p:blipFill>
        <p:spPr>
          <a:xfrm>
            <a:off x="559274" y="3547925"/>
            <a:ext cx="6642350" cy="1448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39"/>
        <p:cNvGrpSpPr/>
        <p:nvPr/>
      </p:nvGrpSpPr>
      <p:grpSpPr>
        <a:xfrm>
          <a:off x="0" y="0"/>
          <a:ext cx="0" cy="0"/>
          <a:chOff x="0" y="0"/>
          <a:chExt cx="0" cy="0"/>
        </a:xfrm>
      </p:grpSpPr>
      <p:sp>
        <p:nvSpPr>
          <p:cNvPr id="3940" name="Google Shape;3940;p26"/>
          <p:cNvSpPr txBox="1">
            <a:spLocks noGrp="1"/>
          </p:cNvSpPr>
          <p:nvPr>
            <p:ph type="title"/>
          </p:nvPr>
        </p:nvSpPr>
        <p:spPr>
          <a:xfrm>
            <a:off x="457450" y="454825"/>
            <a:ext cx="64005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Adversaries with Domain Knowledge</a:t>
            </a:r>
            <a:endParaRPr/>
          </a:p>
        </p:txBody>
      </p:sp>
      <p:sp>
        <p:nvSpPr>
          <p:cNvPr id="3941" name="Google Shape;3941;p26"/>
          <p:cNvSpPr txBox="1">
            <a:spLocks noGrp="1"/>
          </p:cNvSpPr>
          <p:nvPr>
            <p:ph type="body" idx="1"/>
          </p:nvPr>
        </p:nvSpPr>
        <p:spPr>
          <a:xfrm>
            <a:off x="457450" y="1146025"/>
            <a:ext cx="3968100" cy="3616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Exploit domain knowledge to focus on protagonist’s weaknesses</a:t>
            </a:r>
            <a:endParaRPr/>
          </a:p>
          <a:p>
            <a:pPr marL="457200" lvl="0" indent="-342900" algn="l" rtl="0">
              <a:spcBef>
                <a:spcPts val="600"/>
              </a:spcBef>
              <a:spcAft>
                <a:spcPts val="0"/>
              </a:spcAft>
              <a:buSzPts val="1800"/>
              <a:buChar char="▪"/>
            </a:pPr>
            <a:r>
              <a:rPr lang="en" i="1"/>
              <a:t>Example:</a:t>
            </a:r>
            <a:r>
              <a:rPr lang="en"/>
              <a:t> Exert 2D forces in InvertedPendulum</a:t>
            </a:r>
            <a:endParaRPr/>
          </a:p>
          <a:p>
            <a:pPr marL="0" lvl="0" indent="0" algn="l" rtl="0">
              <a:spcBef>
                <a:spcPts val="600"/>
              </a:spcBef>
              <a:spcAft>
                <a:spcPts val="0"/>
              </a:spcAft>
              <a:buNone/>
            </a:pPr>
            <a:r>
              <a:rPr lang="en"/>
              <a:t>Can exploit simulations to have </a:t>
            </a:r>
            <a:r>
              <a:rPr lang="en" b="1">
                <a:latin typeface="Titillium Web"/>
                <a:ea typeface="Titillium Web"/>
                <a:cs typeface="Titillium Web"/>
                <a:sym typeface="Titillium Web"/>
              </a:rPr>
              <a:t>“super-powers”</a:t>
            </a:r>
            <a:r>
              <a:rPr lang="en"/>
              <a:t> and affect the protagonist and environment in ways the protagonist can’t</a:t>
            </a:r>
            <a:endParaRPr/>
          </a:p>
          <a:p>
            <a:pPr marL="457200" lvl="0" indent="-342900" algn="l" rtl="0">
              <a:spcBef>
                <a:spcPts val="600"/>
              </a:spcBef>
              <a:spcAft>
                <a:spcPts val="0"/>
              </a:spcAft>
              <a:buSzPts val="1800"/>
              <a:buChar char="▪"/>
            </a:pPr>
            <a:r>
              <a:rPr lang="en" i="1"/>
              <a:t>Example:</a:t>
            </a:r>
            <a:r>
              <a:rPr lang="en"/>
              <a:t> Can change physical parameters, such as frictional coefficient or mass</a:t>
            </a:r>
            <a:endParaRPr/>
          </a:p>
        </p:txBody>
      </p:sp>
      <p:pic>
        <p:nvPicPr>
          <p:cNvPr id="3942" name="Google Shape;3942;p26"/>
          <p:cNvPicPr preferRelativeResize="0"/>
          <p:nvPr/>
        </p:nvPicPr>
        <p:blipFill>
          <a:blip r:embed="rId3">
            <a:alphaModFix/>
          </a:blip>
          <a:stretch>
            <a:fillRect/>
          </a:stretch>
        </p:blipFill>
        <p:spPr>
          <a:xfrm>
            <a:off x="4577950" y="1298425"/>
            <a:ext cx="3413397" cy="36926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46"/>
        <p:cNvGrpSpPr/>
        <p:nvPr/>
      </p:nvGrpSpPr>
      <p:grpSpPr>
        <a:xfrm>
          <a:off x="0" y="0"/>
          <a:ext cx="0" cy="0"/>
          <a:chOff x="0" y="0"/>
          <a:chExt cx="0" cy="0"/>
        </a:xfrm>
      </p:grpSpPr>
      <p:sp>
        <p:nvSpPr>
          <p:cNvPr id="3947" name="Google Shape;3947;p27"/>
          <p:cNvSpPr txBox="1">
            <a:spLocks noGrp="1"/>
          </p:cNvSpPr>
          <p:nvPr>
            <p:ph type="title"/>
          </p:nvPr>
        </p:nvSpPr>
        <p:spPr>
          <a:xfrm>
            <a:off x="457450" y="454825"/>
            <a:ext cx="78405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Training by Playing a Zero-Sum Markov Game</a:t>
            </a:r>
            <a:endParaRPr/>
          </a:p>
        </p:txBody>
      </p:sp>
      <p:pic>
        <p:nvPicPr>
          <p:cNvPr id="3948" name="Google Shape;3948;p27"/>
          <p:cNvPicPr preferRelativeResize="0"/>
          <p:nvPr/>
        </p:nvPicPr>
        <p:blipFill>
          <a:blip r:embed="rId3">
            <a:alphaModFix/>
          </a:blip>
          <a:stretch>
            <a:fillRect/>
          </a:stretch>
        </p:blipFill>
        <p:spPr>
          <a:xfrm>
            <a:off x="457450" y="4266413"/>
            <a:ext cx="4264852" cy="423313"/>
          </a:xfrm>
          <a:prstGeom prst="rect">
            <a:avLst/>
          </a:prstGeom>
          <a:noFill/>
          <a:ln>
            <a:noFill/>
          </a:ln>
        </p:spPr>
      </p:pic>
      <p:pic>
        <p:nvPicPr>
          <p:cNvPr id="3949" name="Google Shape;3949;p27"/>
          <p:cNvPicPr preferRelativeResize="0"/>
          <p:nvPr/>
        </p:nvPicPr>
        <p:blipFill>
          <a:blip r:embed="rId4">
            <a:alphaModFix/>
          </a:blip>
          <a:stretch>
            <a:fillRect/>
          </a:stretch>
        </p:blipFill>
        <p:spPr>
          <a:xfrm>
            <a:off x="457450" y="2854878"/>
            <a:ext cx="4264853" cy="765975"/>
          </a:xfrm>
          <a:prstGeom prst="rect">
            <a:avLst/>
          </a:prstGeom>
          <a:noFill/>
          <a:ln>
            <a:noFill/>
          </a:ln>
        </p:spPr>
      </p:pic>
      <p:sp>
        <p:nvSpPr>
          <p:cNvPr id="3950" name="Google Shape;3950;p27"/>
          <p:cNvSpPr txBox="1">
            <a:spLocks noGrp="1"/>
          </p:cNvSpPr>
          <p:nvPr>
            <p:ph type="body" idx="1"/>
          </p:nvPr>
        </p:nvSpPr>
        <p:spPr>
          <a:xfrm>
            <a:off x="457450" y="3435850"/>
            <a:ext cx="3346500" cy="498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Nash equilibrium is the optimal equilibrium reward.</a:t>
            </a:r>
            <a:endParaRPr/>
          </a:p>
        </p:txBody>
      </p:sp>
      <p:pic>
        <p:nvPicPr>
          <p:cNvPr id="3951" name="Google Shape;3951;p27" descr="\mu\left(s\right)" title="MathEquation,#000000"/>
          <p:cNvPicPr preferRelativeResize="0"/>
          <p:nvPr/>
        </p:nvPicPr>
        <p:blipFill>
          <a:blip r:embed="rId5">
            <a:alphaModFix/>
          </a:blip>
          <a:stretch>
            <a:fillRect/>
          </a:stretch>
        </p:blipFill>
        <p:spPr>
          <a:xfrm>
            <a:off x="2731800" y="1271350"/>
            <a:ext cx="673700" cy="402525"/>
          </a:xfrm>
          <a:prstGeom prst="rect">
            <a:avLst/>
          </a:prstGeom>
          <a:noFill/>
          <a:ln>
            <a:noFill/>
          </a:ln>
        </p:spPr>
      </p:pic>
      <p:pic>
        <p:nvPicPr>
          <p:cNvPr id="3952" name="Google Shape;3952;p27" descr="\nu\left(s\right)" title="MathEquation,#000000"/>
          <p:cNvPicPr preferRelativeResize="0"/>
          <p:nvPr/>
        </p:nvPicPr>
        <p:blipFill>
          <a:blip r:embed="rId6">
            <a:alphaModFix/>
          </a:blip>
          <a:stretch>
            <a:fillRect/>
          </a:stretch>
        </p:blipFill>
        <p:spPr>
          <a:xfrm>
            <a:off x="2562750" y="1791612"/>
            <a:ext cx="673700" cy="417699"/>
          </a:xfrm>
          <a:prstGeom prst="rect">
            <a:avLst/>
          </a:prstGeom>
          <a:noFill/>
          <a:ln>
            <a:noFill/>
          </a:ln>
        </p:spPr>
      </p:pic>
      <p:sp>
        <p:nvSpPr>
          <p:cNvPr id="3953" name="Google Shape;3953;p27"/>
          <p:cNvSpPr txBox="1">
            <a:spLocks noGrp="1"/>
          </p:cNvSpPr>
          <p:nvPr>
            <p:ph type="body" idx="1"/>
          </p:nvPr>
        </p:nvSpPr>
        <p:spPr>
          <a:xfrm>
            <a:off x="457450" y="2171875"/>
            <a:ext cx="3346500" cy="498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Protagonist maximizes rewards against adversary.</a:t>
            </a:r>
            <a:endParaRPr/>
          </a:p>
        </p:txBody>
      </p:sp>
      <p:sp>
        <p:nvSpPr>
          <p:cNvPr id="3954" name="Google Shape;3954;p27"/>
          <p:cNvSpPr txBox="1">
            <a:spLocks noGrp="1"/>
          </p:cNvSpPr>
          <p:nvPr>
            <p:ph type="body" idx="1"/>
          </p:nvPr>
        </p:nvSpPr>
        <p:spPr>
          <a:xfrm>
            <a:off x="457450" y="1146013"/>
            <a:ext cx="2352900" cy="498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Protagonist’s Policy :</a:t>
            </a:r>
            <a:endParaRPr/>
          </a:p>
        </p:txBody>
      </p:sp>
      <p:sp>
        <p:nvSpPr>
          <p:cNvPr id="3955" name="Google Shape;3955;p27"/>
          <p:cNvSpPr txBox="1">
            <a:spLocks noGrp="1"/>
          </p:cNvSpPr>
          <p:nvPr>
            <p:ph type="body" idx="1"/>
          </p:nvPr>
        </p:nvSpPr>
        <p:spPr>
          <a:xfrm>
            <a:off x="457450" y="1673863"/>
            <a:ext cx="2177100" cy="498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Adversary’s Policy :</a:t>
            </a:r>
            <a:endParaRPr/>
          </a:p>
        </p:txBody>
      </p:sp>
      <p:pic>
        <p:nvPicPr>
          <p:cNvPr id="3956" name="Google Shape;3956;p27"/>
          <p:cNvPicPr preferRelativeResize="0"/>
          <p:nvPr/>
        </p:nvPicPr>
        <p:blipFill>
          <a:blip r:embed="rId7">
            <a:alphaModFix/>
          </a:blip>
          <a:stretch>
            <a:fillRect/>
          </a:stretch>
        </p:blipFill>
        <p:spPr>
          <a:xfrm>
            <a:off x="5478950" y="1403525"/>
            <a:ext cx="2357750" cy="2282301"/>
          </a:xfrm>
          <a:prstGeom prst="rect">
            <a:avLst/>
          </a:prstGeom>
          <a:noFill/>
          <a:ln>
            <a:noFill/>
          </a:ln>
        </p:spPr>
      </p:pic>
      <p:pic>
        <p:nvPicPr>
          <p:cNvPr id="3957" name="Google Shape;3957;p27" descr="(\mathcal{S}, \mathcal{A}_{1}, \mathcal{A}_{2}, \mathcal{P}, r, \gamma, s_{0})" title="MathEquation,#000000"/>
          <p:cNvPicPr preferRelativeResize="0"/>
          <p:nvPr/>
        </p:nvPicPr>
        <p:blipFill>
          <a:blip r:embed="rId8">
            <a:alphaModFix/>
          </a:blip>
          <a:stretch>
            <a:fillRect/>
          </a:stretch>
        </p:blipFill>
        <p:spPr>
          <a:xfrm>
            <a:off x="4988663" y="4331509"/>
            <a:ext cx="3161476" cy="410991"/>
          </a:xfrm>
          <a:prstGeom prst="rect">
            <a:avLst/>
          </a:prstGeom>
          <a:noFill/>
          <a:ln>
            <a:noFill/>
          </a:ln>
        </p:spPr>
      </p:pic>
      <p:pic>
        <p:nvPicPr>
          <p:cNvPr id="3958" name="Google Shape;3958;p27"/>
          <p:cNvPicPr preferRelativeResize="0"/>
          <p:nvPr/>
        </p:nvPicPr>
        <p:blipFill>
          <a:blip r:embed="rId9">
            <a:alphaModFix/>
          </a:blip>
          <a:stretch>
            <a:fillRect/>
          </a:stretch>
        </p:blipFill>
        <p:spPr>
          <a:xfrm>
            <a:off x="6553075" y="3411825"/>
            <a:ext cx="528324" cy="512700"/>
          </a:xfrm>
          <a:prstGeom prst="rect">
            <a:avLst/>
          </a:prstGeom>
          <a:noFill/>
          <a:ln>
            <a:noFill/>
          </a:ln>
        </p:spPr>
      </p:pic>
      <p:sp>
        <p:nvSpPr>
          <p:cNvPr id="3959" name="Google Shape;3959;p27"/>
          <p:cNvSpPr txBox="1"/>
          <p:nvPr/>
        </p:nvSpPr>
        <p:spPr>
          <a:xfrm>
            <a:off x="5362525" y="3324025"/>
            <a:ext cx="1051500" cy="36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i="1">
                <a:solidFill>
                  <a:srgbClr val="0000FF"/>
                </a:solidFill>
                <a:latin typeface="Titillium Web"/>
                <a:ea typeface="Titillium Web"/>
                <a:cs typeface="Titillium Web"/>
                <a:sym typeface="Titillium Web"/>
              </a:rPr>
              <a:t>Two Agents</a:t>
            </a:r>
            <a:endParaRPr b="1" i="1">
              <a:solidFill>
                <a:srgbClr val="0000FF"/>
              </a:solidFill>
              <a:latin typeface="Titillium Web"/>
              <a:ea typeface="Titillium Web"/>
              <a:cs typeface="Titillium Web"/>
              <a:sym typeface="Titillium Web"/>
            </a:endParaRPr>
          </a:p>
        </p:txBody>
      </p:sp>
      <p:sp>
        <p:nvSpPr>
          <p:cNvPr id="3960" name="Google Shape;3960;p27"/>
          <p:cNvSpPr/>
          <p:nvPr/>
        </p:nvSpPr>
        <p:spPr>
          <a:xfrm>
            <a:off x="6488600" y="2790425"/>
            <a:ext cx="657300" cy="12003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64"/>
        <p:cNvGrpSpPr/>
        <p:nvPr/>
      </p:nvGrpSpPr>
      <p:grpSpPr>
        <a:xfrm>
          <a:off x="0" y="0"/>
          <a:ext cx="0" cy="0"/>
          <a:chOff x="0" y="0"/>
          <a:chExt cx="0" cy="0"/>
        </a:xfrm>
      </p:grpSpPr>
      <p:pic>
        <p:nvPicPr>
          <p:cNvPr id="3965" name="Google Shape;3965;p28"/>
          <p:cNvPicPr preferRelativeResize="0"/>
          <p:nvPr/>
        </p:nvPicPr>
        <p:blipFill>
          <a:blip r:embed="rId3">
            <a:alphaModFix/>
          </a:blip>
          <a:stretch>
            <a:fillRect/>
          </a:stretch>
        </p:blipFill>
        <p:spPr>
          <a:xfrm>
            <a:off x="2600061" y="1152475"/>
            <a:ext cx="3943881" cy="3416400"/>
          </a:xfrm>
          <a:prstGeom prst="rect">
            <a:avLst/>
          </a:prstGeom>
          <a:noFill/>
          <a:ln>
            <a:noFill/>
          </a:ln>
        </p:spPr>
      </p:pic>
      <p:sp>
        <p:nvSpPr>
          <p:cNvPr id="3966" name="Google Shape;3966;p28"/>
          <p:cNvSpPr txBox="1">
            <a:spLocks noGrp="1"/>
          </p:cNvSpPr>
          <p:nvPr>
            <p:ph type="title"/>
          </p:nvPr>
        </p:nvSpPr>
        <p:spPr>
          <a:xfrm>
            <a:off x="457450" y="454825"/>
            <a:ext cx="29073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RARL Algorithm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70"/>
        <p:cNvGrpSpPr/>
        <p:nvPr/>
      </p:nvGrpSpPr>
      <p:grpSpPr>
        <a:xfrm>
          <a:off x="0" y="0"/>
          <a:ext cx="0" cy="0"/>
          <a:chOff x="0" y="0"/>
          <a:chExt cx="0" cy="0"/>
        </a:xfrm>
      </p:grpSpPr>
      <p:pic>
        <p:nvPicPr>
          <p:cNvPr id="3971" name="Google Shape;3971;p29"/>
          <p:cNvPicPr preferRelativeResize="0"/>
          <p:nvPr/>
        </p:nvPicPr>
        <p:blipFill>
          <a:blip r:embed="rId3">
            <a:alphaModFix/>
          </a:blip>
          <a:stretch>
            <a:fillRect/>
          </a:stretch>
        </p:blipFill>
        <p:spPr>
          <a:xfrm>
            <a:off x="2600061" y="1152475"/>
            <a:ext cx="3943881" cy="3416400"/>
          </a:xfrm>
          <a:prstGeom prst="rect">
            <a:avLst/>
          </a:prstGeom>
          <a:noFill/>
          <a:ln>
            <a:noFill/>
          </a:ln>
        </p:spPr>
      </p:pic>
      <p:sp>
        <p:nvSpPr>
          <p:cNvPr id="3972" name="Google Shape;3972;p29"/>
          <p:cNvSpPr/>
          <p:nvPr/>
        </p:nvSpPr>
        <p:spPr>
          <a:xfrm>
            <a:off x="3448075" y="2381500"/>
            <a:ext cx="293400" cy="276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29"/>
          <p:cNvSpPr/>
          <p:nvPr/>
        </p:nvSpPr>
        <p:spPr>
          <a:xfrm>
            <a:off x="4012425" y="2352700"/>
            <a:ext cx="252000" cy="3051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29"/>
          <p:cNvSpPr/>
          <p:nvPr/>
        </p:nvSpPr>
        <p:spPr>
          <a:xfrm>
            <a:off x="5027750" y="2600350"/>
            <a:ext cx="252000" cy="3051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29"/>
          <p:cNvSpPr/>
          <p:nvPr/>
        </p:nvSpPr>
        <p:spPr>
          <a:xfrm>
            <a:off x="5279750" y="2600350"/>
            <a:ext cx="293400" cy="3051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29"/>
          <p:cNvSpPr/>
          <p:nvPr/>
        </p:nvSpPr>
        <p:spPr>
          <a:xfrm>
            <a:off x="5348300" y="2352700"/>
            <a:ext cx="293400" cy="3051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29"/>
          <p:cNvSpPr/>
          <p:nvPr/>
        </p:nvSpPr>
        <p:spPr>
          <a:xfrm>
            <a:off x="3079900" y="2614750"/>
            <a:ext cx="252000" cy="276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29"/>
          <p:cNvSpPr/>
          <p:nvPr/>
        </p:nvSpPr>
        <p:spPr>
          <a:xfrm>
            <a:off x="2905150" y="1986150"/>
            <a:ext cx="293400" cy="276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29"/>
          <p:cNvSpPr/>
          <p:nvPr/>
        </p:nvSpPr>
        <p:spPr>
          <a:xfrm>
            <a:off x="3331900" y="1957400"/>
            <a:ext cx="409500" cy="3051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29"/>
          <p:cNvSpPr/>
          <p:nvPr/>
        </p:nvSpPr>
        <p:spPr>
          <a:xfrm>
            <a:off x="3079900" y="3605350"/>
            <a:ext cx="252000" cy="2763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29"/>
          <p:cNvSpPr/>
          <p:nvPr/>
        </p:nvSpPr>
        <p:spPr>
          <a:xfrm>
            <a:off x="3331900" y="3000400"/>
            <a:ext cx="409500" cy="3051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29"/>
          <p:cNvSpPr/>
          <p:nvPr/>
        </p:nvSpPr>
        <p:spPr>
          <a:xfrm>
            <a:off x="2905150" y="3014800"/>
            <a:ext cx="293400" cy="2763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29"/>
          <p:cNvSpPr/>
          <p:nvPr/>
        </p:nvSpPr>
        <p:spPr>
          <a:xfrm>
            <a:off x="3741475" y="3405450"/>
            <a:ext cx="293400" cy="2763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29"/>
          <p:cNvSpPr/>
          <p:nvPr/>
        </p:nvSpPr>
        <p:spPr>
          <a:xfrm>
            <a:off x="4283875" y="3376650"/>
            <a:ext cx="252000" cy="3051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29"/>
          <p:cNvSpPr/>
          <p:nvPr/>
        </p:nvSpPr>
        <p:spPr>
          <a:xfrm>
            <a:off x="5027750" y="3590950"/>
            <a:ext cx="252000" cy="3051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29"/>
          <p:cNvSpPr/>
          <p:nvPr/>
        </p:nvSpPr>
        <p:spPr>
          <a:xfrm>
            <a:off x="5279750" y="3590950"/>
            <a:ext cx="293400" cy="3051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29"/>
          <p:cNvSpPr/>
          <p:nvPr/>
        </p:nvSpPr>
        <p:spPr>
          <a:xfrm>
            <a:off x="5672150" y="3391050"/>
            <a:ext cx="293400" cy="3051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29"/>
          <p:cNvSpPr txBox="1">
            <a:spLocks noGrp="1"/>
          </p:cNvSpPr>
          <p:nvPr>
            <p:ph type="title"/>
          </p:nvPr>
        </p:nvSpPr>
        <p:spPr>
          <a:xfrm>
            <a:off x="457450" y="454825"/>
            <a:ext cx="29073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RARL Algorithm</a:t>
            </a:r>
            <a:endParaRPr/>
          </a:p>
        </p:txBody>
      </p:sp>
      <p:sp>
        <p:nvSpPr>
          <p:cNvPr id="3989" name="Google Shape;3989;p29"/>
          <p:cNvSpPr txBox="1">
            <a:spLocks noGrp="1"/>
          </p:cNvSpPr>
          <p:nvPr>
            <p:ph type="body" idx="1"/>
          </p:nvPr>
        </p:nvSpPr>
        <p:spPr>
          <a:xfrm>
            <a:off x="457450" y="2010625"/>
            <a:ext cx="17958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FF0000"/>
                </a:solidFill>
                <a:latin typeface="Titillium Web"/>
                <a:ea typeface="Titillium Web"/>
                <a:cs typeface="Titillium Web"/>
                <a:sym typeface="Titillium Web"/>
              </a:rPr>
              <a:t>Protagonist</a:t>
            </a:r>
            <a:endParaRPr b="1">
              <a:solidFill>
                <a:srgbClr val="FF0000"/>
              </a:solidFill>
              <a:latin typeface="Titillium Web"/>
              <a:ea typeface="Titillium Web"/>
              <a:cs typeface="Titillium Web"/>
              <a:sym typeface="Titillium Web"/>
            </a:endParaRPr>
          </a:p>
        </p:txBody>
      </p:sp>
      <p:sp>
        <p:nvSpPr>
          <p:cNvPr id="3990" name="Google Shape;3990;p29"/>
          <p:cNvSpPr txBox="1">
            <a:spLocks noGrp="1"/>
          </p:cNvSpPr>
          <p:nvPr>
            <p:ph type="body" idx="1"/>
          </p:nvPr>
        </p:nvSpPr>
        <p:spPr>
          <a:xfrm>
            <a:off x="591025" y="3107850"/>
            <a:ext cx="15369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0000FF"/>
                </a:solidFill>
                <a:latin typeface="Titillium Web"/>
                <a:ea typeface="Titillium Web"/>
                <a:cs typeface="Titillium Web"/>
                <a:sym typeface="Titillium Web"/>
              </a:rPr>
              <a:t>Adversary</a:t>
            </a:r>
            <a:endParaRPr b="1">
              <a:solidFill>
                <a:srgbClr val="0000FF"/>
              </a:solidFill>
              <a:latin typeface="Titillium Web"/>
              <a:ea typeface="Titillium Web"/>
              <a:cs typeface="Titillium Web"/>
              <a:sym typeface="Titillium Web"/>
            </a:endParaRPr>
          </a:p>
        </p:txBody>
      </p:sp>
      <p:sp>
        <p:nvSpPr>
          <p:cNvPr id="3991" name="Google Shape;3991;p29"/>
          <p:cNvSpPr/>
          <p:nvPr/>
        </p:nvSpPr>
        <p:spPr>
          <a:xfrm>
            <a:off x="5641700" y="2600350"/>
            <a:ext cx="252000" cy="3051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29"/>
          <p:cNvSpPr/>
          <p:nvPr/>
        </p:nvSpPr>
        <p:spPr>
          <a:xfrm>
            <a:off x="5893700" y="2600350"/>
            <a:ext cx="252000" cy="3051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29"/>
          <p:cNvSpPr/>
          <p:nvPr/>
        </p:nvSpPr>
        <p:spPr>
          <a:xfrm>
            <a:off x="5648425" y="3590950"/>
            <a:ext cx="194400" cy="3051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29"/>
          <p:cNvSpPr/>
          <p:nvPr/>
        </p:nvSpPr>
        <p:spPr>
          <a:xfrm>
            <a:off x="5842925" y="3590950"/>
            <a:ext cx="252000" cy="3051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98"/>
        <p:cNvGrpSpPr/>
        <p:nvPr/>
      </p:nvGrpSpPr>
      <p:grpSpPr>
        <a:xfrm>
          <a:off x="0" y="0"/>
          <a:ext cx="0" cy="0"/>
          <a:chOff x="0" y="0"/>
          <a:chExt cx="0" cy="0"/>
        </a:xfrm>
      </p:grpSpPr>
      <p:pic>
        <p:nvPicPr>
          <p:cNvPr id="3999" name="Google Shape;3999;p30"/>
          <p:cNvPicPr preferRelativeResize="0"/>
          <p:nvPr/>
        </p:nvPicPr>
        <p:blipFill>
          <a:blip r:embed="rId3">
            <a:alphaModFix/>
          </a:blip>
          <a:stretch>
            <a:fillRect/>
          </a:stretch>
        </p:blipFill>
        <p:spPr>
          <a:xfrm>
            <a:off x="2600061" y="1152475"/>
            <a:ext cx="3943881" cy="3416400"/>
          </a:xfrm>
          <a:prstGeom prst="rect">
            <a:avLst/>
          </a:prstGeom>
          <a:noFill/>
          <a:ln>
            <a:noFill/>
          </a:ln>
        </p:spPr>
      </p:pic>
      <p:sp>
        <p:nvSpPr>
          <p:cNvPr id="4000" name="Google Shape;4000;p30"/>
          <p:cNvSpPr/>
          <p:nvPr/>
        </p:nvSpPr>
        <p:spPr>
          <a:xfrm>
            <a:off x="2754000" y="1819275"/>
            <a:ext cx="3789900" cy="2428200"/>
          </a:xfrm>
          <a:prstGeom prst="rect">
            <a:avLst/>
          </a:prstGeom>
          <a:noFill/>
          <a:ln w="3810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30"/>
          <p:cNvSpPr txBox="1">
            <a:spLocks noGrp="1"/>
          </p:cNvSpPr>
          <p:nvPr>
            <p:ph type="title"/>
          </p:nvPr>
        </p:nvSpPr>
        <p:spPr>
          <a:xfrm>
            <a:off x="457450" y="454825"/>
            <a:ext cx="29073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RARL Algorithm</a:t>
            </a:r>
            <a:endParaRPr/>
          </a:p>
        </p:txBody>
      </p:sp>
      <p:sp>
        <p:nvSpPr>
          <p:cNvPr id="4002" name="Google Shape;4002;p30"/>
          <p:cNvSpPr txBox="1">
            <a:spLocks noGrp="1"/>
          </p:cNvSpPr>
          <p:nvPr>
            <p:ph type="body" idx="1"/>
          </p:nvPr>
        </p:nvSpPr>
        <p:spPr>
          <a:xfrm>
            <a:off x="161400" y="1579650"/>
            <a:ext cx="2244600" cy="12966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b="1">
                <a:solidFill>
                  <a:srgbClr val="38761D"/>
                </a:solidFill>
                <a:latin typeface="Titillium Web"/>
                <a:ea typeface="Titillium Web"/>
                <a:cs typeface="Titillium Web"/>
                <a:sym typeface="Titillium Web"/>
              </a:rPr>
              <a:t>Alternate optimization of and</a:t>
            </a:r>
            <a:endParaRPr b="1">
              <a:solidFill>
                <a:srgbClr val="38761D"/>
              </a:solidFill>
              <a:latin typeface="Titillium Web"/>
              <a:ea typeface="Titillium Web"/>
              <a:cs typeface="Titillium Web"/>
              <a:sym typeface="Titillium Web"/>
            </a:endParaRPr>
          </a:p>
        </p:txBody>
      </p:sp>
      <p:sp>
        <p:nvSpPr>
          <p:cNvPr id="4003" name="Google Shape;4003;p30"/>
          <p:cNvSpPr txBox="1">
            <a:spLocks noGrp="1"/>
          </p:cNvSpPr>
          <p:nvPr>
            <p:ph type="body" idx="1"/>
          </p:nvPr>
        </p:nvSpPr>
        <p:spPr>
          <a:xfrm>
            <a:off x="457450" y="3673575"/>
            <a:ext cx="15141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38761D"/>
                </a:solidFill>
                <a:latin typeface="Titillium Web"/>
                <a:ea typeface="Titillium Web"/>
                <a:cs typeface="Titillium Web"/>
                <a:sym typeface="Titillium Web"/>
              </a:rPr>
              <a:t>iterations</a:t>
            </a:r>
            <a:endParaRPr b="1">
              <a:solidFill>
                <a:srgbClr val="38761D"/>
              </a:solidFill>
              <a:latin typeface="Titillium Web"/>
              <a:ea typeface="Titillium Web"/>
              <a:cs typeface="Titillium Web"/>
              <a:sym typeface="Titillium Web"/>
            </a:endParaRPr>
          </a:p>
        </p:txBody>
      </p:sp>
      <p:pic>
        <p:nvPicPr>
          <p:cNvPr id="4004" name="Google Shape;4004;p30" descr="N_{iter}" title="MathEquation,#38761d"/>
          <p:cNvPicPr preferRelativeResize="0"/>
          <p:nvPr/>
        </p:nvPicPr>
        <p:blipFill>
          <a:blip r:embed="rId4">
            <a:alphaModFix/>
          </a:blip>
          <a:stretch>
            <a:fillRect/>
          </a:stretch>
        </p:blipFill>
        <p:spPr>
          <a:xfrm>
            <a:off x="609850" y="3218950"/>
            <a:ext cx="1209300" cy="604650"/>
          </a:xfrm>
          <a:prstGeom prst="rect">
            <a:avLst/>
          </a:prstGeom>
          <a:noFill/>
          <a:ln>
            <a:noFill/>
          </a:ln>
        </p:spPr>
      </p:pic>
      <p:pic>
        <p:nvPicPr>
          <p:cNvPr id="4005" name="Google Shape;4005;p30" descr="\theta^{\mu}" title="MathEquation,#38761d"/>
          <p:cNvPicPr preferRelativeResize="0"/>
          <p:nvPr/>
        </p:nvPicPr>
        <p:blipFill>
          <a:blip r:embed="rId5">
            <a:alphaModFix/>
          </a:blip>
          <a:stretch>
            <a:fillRect/>
          </a:stretch>
        </p:blipFill>
        <p:spPr>
          <a:xfrm>
            <a:off x="514275" y="2465289"/>
            <a:ext cx="440426" cy="400235"/>
          </a:xfrm>
          <a:prstGeom prst="rect">
            <a:avLst/>
          </a:prstGeom>
          <a:noFill/>
          <a:ln>
            <a:noFill/>
          </a:ln>
        </p:spPr>
      </p:pic>
      <p:pic>
        <p:nvPicPr>
          <p:cNvPr id="4006" name="Google Shape;4006;p30" descr="\theta^{\nu}" title="MathEquation,#38761d"/>
          <p:cNvPicPr preferRelativeResize="0"/>
          <p:nvPr/>
        </p:nvPicPr>
        <p:blipFill>
          <a:blip r:embed="rId6">
            <a:alphaModFix/>
          </a:blip>
          <a:stretch>
            <a:fillRect/>
          </a:stretch>
        </p:blipFill>
        <p:spPr>
          <a:xfrm>
            <a:off x="1634137" y="2454551"/>
            <a:ext cx="440420" cy="421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10"/>
        <p:cNvGrpSpPr/>
        <p:nvPr/>
      </p:nvGrpSpPr>
      <p:grpSpPr>
        <a:xfrm>
          <a:off x="0" y="0"/>
          <a:ext cx="0" cy="0"/>
          <a:chOff x="0" y="0"/>
          <a:chExt cx="0" cy="0"/>
        </a:xfrm>
      </p:grpSpPr>
      <p:pic>
        <p:nvPicPr>
          <p:cNvPr id="4011" name="Google Shape;4011;p31"/>
          <p:cNvPicPr preferRelativeResize="0"/>
          <p:nvPr/>
        </p:nvPicPr>
        <p:blipFill>
          <a:blip r:embed="rId3">
            <a:alphaModFix/>
          </a:blip>
          <a:stretch>
            <a:fillRect/>
          </a:stretch>
        </p:blipFill>
        <p:spPr>
          <a:xfrm>
            <a:off x="2600061" y="1152475"/>
            <a:ext cx="3943881" cy="3416400"/>
          </a:xfrm>
          <a:prstGeom prst="rect">
            <a:avLst/>
          </a:prstGeom>
          <a:noFill/>
          <a:ln>
            <a:noFill/>
          </a:ln>
        </p:spPr>
      </p:pic>
      <p:sp>
        <p:nvSpPr>
          <p:cNvPr id="4012" name="Google Shape;4012;p31"/>
          <p:cNvSpPr/>
          <p:nvPr/>
        </p:nvSpPr>
        <p:spPr>
          <a:xfrm>
            <a:off x="2907975" y="3043250"/>
            <a:ext cx="3636000" cy="1009800"/>
          </a:xfrm>
          <a:prstGeom prst="rect">
            <a:avLst/>
          </a:prstGeom>
          <a:noFill/>
          <a:ln w="3810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31"/>
          <p:cNvSpPr/>
          <p:nvPr/>
        </p:nvSpPr>
        <p:spPr>
          <a:xfrm>
            <a:off x="2907975" y="1995500"/>
            <a:ext cx="3636000" cy="10098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31"/>
          <p:cNvSpPr txBox="1">
            <a:spLocks noGrp="1"/>
          </p:cNvSpPr>
          <p:nvPr>
            <p:ph type="title"/>
          </p:nvPr>
        </p:nvSpPr>
        <p:spPr>
          <a:xfrm>
            <a:off x="457450" y="454825"/>
            <a:ext cx="29073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RARL Algorithm</a:t>
            </a:r>
            <a:endParaRPr/>
          </a:p>
        </p:txBody>
      </p:sp>
      <p:sp>
        <p:nvSpPr>
          <p:cNvPr id="4015" name="Google Shape;4015;p31"/>
          <p:cNvSpPr txBox="1">
            <a:spLocks noGrp="1"/>
          </p:cNvSpPr>
          <p:nvPr>
            <p:ph type="body" idx="1"/>
          </p:nvPr>
        </p:nvSpPr>
        <p:spPr>
          <a:xfrm>
            <a:off x="457450" y="2416288"/>
            <a:ext cx="13974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FF0000"/>
                </a:solidFill>
                <a:latin typeface="Titillium Web"/>
                <a:ea typeface="Titillium Web"/>
                <a:cs typeface="Titillium Web"/>
                <a:sym typeface="Titillium Web"/>
              </a:rPr>
              <a:t>Optimize</a:t>
            </a:r>
            <a:endParaRPr b="1">
              <a:solidFill>
                <a:srgbClr val="FF0000"/>
              </a:solidFill>
              <a:latin typeface="Titillium Web"/>
              <a:ea typeface="Titillium Web"/>
              <a:cs typeface="Titillium Web"/>
              <a:sym typeface="Titillium Web"/>
            </a:endParaRPr>
          </a:p>
        </p:txBody>
      </p:sp>
      <p:sp>
        <p:nvSpPr>
          <p:cNvPr id="4016" name="Google Shape;4016;p31"/>
          <p:cNvSpPr txBox="1">
            <a:spLocks noGrp="1"/>
          </p:cNvSpPr>
          <p:nvPr>
            <p:ph type="body" idx="1"/>
          </p:nvPr>
        </p:nvSpPr>
        <p:spPr>
          <a:xfrm>
            <a:off x="457450" y="2010613"/>
            <a:ext cx="5712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FF0000"/>
                </a:solidFill>
                <a:latin typeface="Titillium Web"/>
                <a:ea typeface="Titillium Web"/>
                <a:cs typeface="Titillium Web"/>
                <a:sym typeface="Titillium Web"/>
              </a:rPr>
              <a:t>Fix</a:t>
            </a:r>
            <a:endParaRPr b="1">
              <a:solidFill>
                <a:srgbClr val="FF0000"/>
              </a:solidFill>
              <a:latin typeface="Titillium Web"/>
              <a:ea typeface="Titillium Web"/>
              <a:cs typeface="Titillium Web"/>
              <a:sym typeface="Titillium Web"/>
            </a:endParaRPr>
          </a:p>
        </p:txBody>
      </p:sp>
      <p:pic>
        <p:nvPicPr>
          <p:cNvPr id="4017" name="Google Shape;4017;p31" descr="\theta^{\nu}" title="MathEquation,#ff0000"/>
          <p:cNvPicPr preferRelativeResize="0"/>
          <p:nvPr/>
        </p:nvPicPr>
        <p:blipFill>
          <a:blip r:embed="rId4">
            <a:alphaModFix/>
          </a:blip>
          <a:stretch>
            <a:fillRect/>
          </a:stretch>
        </p:blipFill>
        <p:spPr>
          <a:xfrm>
            <a:off x="1101663" y="2212899"/>
            <a:ext cx="388122" cy="371625"/>
          </a:xfrm>
          <a:prstGeom prst="rect">
            <a:avLst/>
          </a:prstGeom>
          <a:noFill/>
          <a:ln>
            <a:noFill/>
          </a:ln>
        </p:spPr>
      </p:pic>
      <p:pic>
        <p:nvPicPr>
          <p:cNvPr id="4018" name="Google Shape;4018;p31" descr="\theta^{\mu}" title="MathEquation,#ff0000"/>
          <p:cNvPicPr preferRelativeResize="0"/>
          <p:nvPr/>
        </p:nvPicPr>
        <p:blipFill>
          <a:blip r:embed="rId5">
            <a:alphaModFix/>
          </a:blip>
          <a:stretch>
            <a:fillRect/>
          </a:stretch>
        </p:blipFill>
        <p:spPr>
          <a:xfrm>
            <a:off x="1854849" y="2584500"/>
            <a:ext cx="408938" cy="371624"/>
          </a:xfrm>
          <a:prstGeom prst="rect">
            <a:avLst/>
          </a:prstGeom>
          <a:noFill/>
          <a:ln>
            <a:noFill/>
          </a:ln>
        </p:spPr>
      </p:pic>
      <p:pic>
        <p:nvPicPr>
          <p:cNvPr id="4019" name="Google Shape;4019;p31" descr="\theta^{\mu}" title="MathEquation,#0000ff"/>
          <p:cNvPicPr preferRelativeResize="0"/>
          <p:nvPr/>
        </p:nvPicPr>
        <p:blipFill>
          <a:blip r:embed="rId6">
            <a:alphaModFix/>
          </a:blip>
          <a:stretch>
            <a:fillRect/>
          </a:stretch>
        </p:blipFill>
        <p:spPr>
          <a:xfrm>
            <a:off x="1091250" y="3260629"/>
            <a:ext cx="408950" cy="371633"/>
          </a:xfrm>
          <a:prstGeom prst="rect">
            <a:avLst/>
          </a:prstGeom>
          <a:noFill/>
          <a:ln>
            <a:noFill/>
          </a:ln>
        </p:spPr>
      </p:pic>
      <p:pic>
        <p:nvPicPr>
          <p:cNvPr id="4020" name="Google Shape;4020;p31" descr="\theta^{\nu}" title="MathEquation,#0000ff"/>
          <p:cNvPicPr preferRelativeResize="0"/>
          <p:nvPr/>
        </p:nvPicPr>
        <p:blipFill>
          <a:blip r:embed="rId7">
            <a:alphaModFix/>
          </a:blip>
          <a:stretch>
            <a:fillRect/>
          </a:stretch>
        </p:blipFill>
        <p:spPr>
          <a:xfrm>
            <a:off x="1865254" y="3632264"/>
            <a:ext cx="388124" cy="371636"/>
          </a:xfrm>
          <a:prstGeom prst="rect">
            <a:avLst/>
          </a:prstGeom>
          <a:noFill/>
          <a:ln>
            <a:noFill/>
          </a:ln>
        </p:spPr>
      </p:pic>
      <p:sp>
        <p:nvSpPr>
          <p:cNvPr id="4021" name="Google Shape;4021;p31"/>
          <p:cNvSpPr txBox="1">
            <a:spLocks noGrp="1"/>
          </p:cNvSpPr>
          <p:nvPr>
            <p:ph type="body" idx="1"/>
          </p:nvPr>
        </p:nvSpPr>
        <p:spPr>
          <a:xfrm>
            <a:off x="457450" y="3464038"/>
            <a:ext cx="13974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0000FF"/>
                </a:solidFill>
                <a:latin typeface="Titillium Web"/>
                <a:ea typeface="Titillium Web"/>
                <a:cs typeface="Titillium Web"/>
                <a:sym typeface="Titillium Web"/>
              </a:rPr>
              <a:t>Optimize</a:t>
            </a:r>
            <a:endParaRPr b="1">
              <a:solidFill>
                <a:srgbClr val="0000FF"/>
              </a:solidFill>
              <a:latin typeface="Titillium Web"/>
              <a:ea typeface="Titillium Web"/>
              <a:cs typeface="Titillium Web"/>
              <a:sym typeface="Titillium Web"/>
            </a:endParaRPr>
          </a:p>
        </p:txBody>
      </p:sp>
      <p:sp>
        <p:nvSpPr>
          <p:cNvPr id="4022" name="Google Shape;4022;p31"/>
          <p:cNvSpPr txBox="1">
            <a:spLocks noGrp="1"/>
          </p:cNvSpPr>
          <p:nvPr>
            <p:ph type="body" idx="1"/>
          </p:nvPr>
        </p:nvSpPr>
        <p:spPr>
          <a:xfrm>
            <a:off x="457450" y="3058363"/>
            <a:ext cx="5712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0000FF"/>
                </a:solidFill>
                <a:latin typeface="Titillium Web"/>
                <a:ea typeface="Titillium Web"/>
                <a:cs typeface="Titillium Web"/>
                <a:sym typeface="Titillium Web"/>
              </a:rPr>
              <a:t>Fix</a:t>
            </a:r>
            <a:endParaRPr b="1">
              <a:solidFill>
                <a:srgbClr val="0000FF"/>
              </a:solidFill>
              <a:latin typeface="Titillium Web"/>
              <a:ea typeface="Titillium Web"/>
              <a:cs typeface="Titillium Web"/>
              <a:sym typeface="Titillium Web"/>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26"/>
        <p:cNvGrpSpPr/>
        <p:nvPr/>
      </p:nvGrpSpPr>
      <p:grpSpPr>
        <a:xfrm>
          <a:off x="0" y="0"/>
          <a:ext cx="0" cy="0"/>
          <a:chOff x="0" y="0"/>
          <a:chExt cx="0" cy="0"/>
        </a:xfrm>
      </p:grpSpPr>
      <p:pic>
        <p:nvPicPr>
          <p:cNvPr id="4027" name="Google Shape;4027;p32"/>
          <p:cNvPicPr preferRelativeResize="0"/>
          <p:nvPr/>
        </p:nvPicPr>
        <p:blipFill>
          <a:blip r:embed="rId3">
            <a:alphaModFix/>
          </a:blip>
          <a:stretch>
            <a:fillRect/>
          </a:stretch>
        </p:blipFill>
        <p:spPr>
          <a:xfrm>
            <a:off x="2600061" y="1152475"/>
            <a:ext cx="3943881" cy="3416400"/>
          </a:xfrm>
          <a:prstGeom prst="rect">
            <a:avLst/>
          </a:prstGeom>
          <a:noFill/>
          <a:ln>
            <a:noFill/>
          </a:ln>
        </p:spPr>
      </p:pic>
      <p:sp>
        <p:nvSpPr>
          <p:cNvPr id="4028" name="Google Shape;4028;p32"/>
          <p:cNvSpPr/>
          <p:nvPr/>
        </p:nvSpPr>
        <p:spPr>
          <a:xfrm>
            <a:off x="2907975" y="2400475"/>
            <a:ext cx="3636000" cy="247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32"/>
          <p:cNvSpPr txBox="1">
            <a:spLocks noGrp="1"/>
          </p:cNvSpPr>
          <p:nvPr>
            <p:ph type="title"/>
          </p:nvPr>
        </p:nvSpPr>
        <p:spPr>
          <a:xfrm>
            <a:off x="457450" y="454825"/>
            <a:ext cx="29073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RARL Algorithm</a:t>
            </a:r>
            <a:endParaRPr/>
          </a:p>
        </p:txBody>
      </p:sp>
      <p:sp>
        <p:nvSpPr>
          <p:cNvPr id="4030" name="Google Shape;4030;p32"/>
          <p:cNvSpPr txBox="1">
            <a:spLocks noGrp="1"/>
          </p:cNvSpPr>
          <p:nvPr>
            <p:ph type="body" idx="1"/>
          </p:nvPr>
        </p:nvSpPr>
        <p:spPr>
          <a:xfrm>
            <a:off x="621813" y="1453638"/>
            <a:ext cx="12030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FF0000"/>
                </a:solidFill>
                <a:latin typeface="Titillium Web"/>
                <a:ea typeface="Titillium Web"/>
                <a:cs typeface="Titillium Web"/>
                <a:sym typeface="Titillium Web"/>
              </a:rPr>
              <a:t>Sample</a:t>
            </a:r>
            <a:endParaRPr b="1">
              <a:solidFill>
                <a:srgbClr val="FF0000"/>
              </a:solidFill>
              <a:latin typeface="Titillium Web"/>
              <a:ea typeface="Titillium Web"/>
              <a:cs typeface="Titillium Web"/>
              <a:sym typeface="Titillium Web"/>
            </a:endParaRPr>
          </a:p>
        </p:txBody>
      </p:sp>
      <p:sp>
        <p:nvSpPr>
          <p:cNvPr id="4031" name="Google Shape;4031;p32"/>
          <p:cNvSpPr txBox="1">
            <a:spLocks noGrp="1"/>
          </p:cNvSpPr>
          <p:nvPr>
            <p:ph type="body" idx="1"/>
          </p:nvPr>
        </p:nvSpPr>
        <p:spPr>
          <a:xfrm>
            <a:off x="481213" y="1787400"/>
            <a:ext cx="1828800" cy="13254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b="1">
                <a:solidFill>
                  <a:srgbClr val="FF0000"/>
                </a:solidFill>
                <a:latin typeface="Titillium Web"/>
                <a:ea typeface="Titillium Web"/>
                <a:cs typeface="Titillium Web"/>
                <a:sym typeface="Titillium Web"/>
              </a:rPr>
              <a:t>trajectories with current policies</a:t>
            </a:r>
            <a:endParaRPr b="1">
              <a:solidFill>
                <a:srgbClr val="FF0000"/>
              </a:solidFill>
              <a:latin typeface="Titillium Web"/>
              <a:ea typeface="Titillium Web"/>
              <a:cs typeface="Titillium Web"/>
              <a:sym typeface="Titillium Web"/>
            </a:endParaRPr>
          </a:p>
        </p:txBody>
      </p:sp>
      <p:pic>
        <p:nvPicPr>
          <p:cNvPr id="4032" name="Google Shape;4032;p32" descr="N_{traj}" title="MathEquation,#ff0000"/>
          <p:cNvPicPr preferRelativeResize="0"/>
          <p:nvPr/>
        </p:nvPicPr>
        <p:blipFill>
          <a:blip r:embed="rId4">
            <a:alphaModFix/>
          </a:blip>
          <a:stretch>
            <a:fillRect/>
          </a:stretch>
        </p:blipFill>
        <p:spPr>
          <a:xfrm>
            <a:off x="1730838" y="1647225"/>
            <a:ext cx="712556" cy="380325"/>
          </a:xfrm>
          <a:prstGeom prst="rect">
            <a:avLst/>
          </a:prstGeom>
          <a:noFill/>
          <a:ln>
            <a:noFill/>
          </a:ln>
        </p:spPr>
      </p:pic>
      <p:sp>
        <p:nvSpPr>
          <p:cNvPr id="4033" name="Google Shape;4033;p32"/>
          <p:cNvSpPr txBox="1">
            <a:spLocks noGrp="1"/>
          </p:cNvSpPr>
          <p:nvPr>
            <p:ph type="body" idx="1"/>
          </p:nvPr>
        </p:nvSpPr>
        <p:spPr>
          <a:xfrm>
            <a:off x="621825" y="3112788"/>
            <a:ext cx="12030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0000FF"/>
                </a:solidFill>
                <a:latin typeface="Titillium Web"/>
                <a:ea typeface="Titillium Web"/>
                <a:cs typeface="Titillium Web"/>
                <a:sym typeface="Titillium Web"/>
              </a:rPr>
              <a:t>Sample</a:t>
            </a:r>
            <a:endParaRPr b="1">
              <a:solidFill>
                <a:srgbClr val="0000FF"/>
              </a:solidFill>
              <a:latin typeface="Titillium Web"/>
              <a:ea typeface="Titillium Web"/>
              <a:cs typeface="Titillium Web"/>
              <a:sym typeface="Titillium Web"/>
            </a:endParaRPr>
          </a:p>
        </p:txBody>
      </p:sp>
      <p:sp>
        <p:nvSpPr>
          <p:cNvPr id="4034" name="Google Shape;4034;p32"/>
          <p:cNvSpPr txBox="1">
            <a:spLocks noGrp="1"/>
          </p:cNvSpPr>
          <p:nvPr>
            <p:ph type="body" idx="1"/>
          </p:nvPr>
        </p:nvSpPr>
        <p:spPr>
          <a:xfrm>
            <a:off x="481225" y="3446550"/>
            <a:ext cx="1828800" cy="13254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b="1">
                <a:solidFill>
                  <a:srgbClr val="0000FF"/>
                </a:solidFill>
                <a:latin typeface="Titillium Web"/>
                <a:ea typeface="Titillium Web"/>
                <a:cs typeface="Titillium Web"/>
                <a:sym typeface="Titillium Web"/>
              </a:rPr>
              <a:t>trajectories with current policies</a:t>
            </a:r>
            <a:endParaRPr b="1">
              <a:solidFill>
                <a:srgbClr val="0000FF"/>
              </a:solidFill>
              <a:latin typeface="Titillium Web"/>
              <a:ea typeface="Titillium Web"/>
              <a:cs typeface="Titillium Web"/>
              <a:sym typeface="Titillium Web"/>
            </a:endParaRPr>
          </a:p>
        </p:txBody>
      </p:sp>
      <p:pic>
        <p:nvPicPr>
          <p:cNvPr id="4035" name="Google Shape;4035;p32" descr="N_{traj}" title="MathEquation,#0000ff"/>
          <p:cNvPicPr preferRelativeResize="0"/>
          <p:nvPr/>
        </p:nvPicPr>
        <p:blipFill>
          <a:blip r:embed="rId5">
            <a:alphaModFix/>
          </a:blip>
          <a:stretch>
            <a:fillRect/>
          </a:stretch>
        </p:blipFill>
        <p:spPr>
          <a:xfrm>
            <a:off x="1730850" y="3306375"/>
            <a:ext cx="712556" cy="380325"/>
          </a:xfrm>
          <a:prstGeom prst="rect">
            <a:avLst/>
          </a:prstGeom>
          <a:noFill/>
          <a:ln>
            <a:noFill/>
          </a:ln>
        </p:spPr>
      </p:pic>
      <p:sp>
        <p:nvSpPr>
          <p:cNvPr id="4036" name="Google Shape;4036;p32"/>
          <p:cNvSpPr/>
          <p:nvPr/>
        </p:nvSpPr>
        <p:spPr>
          <a:xfrm>
            <a:off x="2907975" y="3410712"/>
            <a:ext cx="3636000" cy="247500"/>
          </a:xfrm>
          <a:prstGeom prst="rect">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40"/>
        <p:cNvGrpSpPr/>
        <p:nvPr/>
      </p:nvGrpSpPr>
      <p:grpSpPr>
        <a:xfrm>
          <a:off x="0" y="0"/>
          <a:ext cx="0" cy="0"/>
          <a:chOff x="0" y="0"/>
          <a:chExt cx="0" cy="0"/>
        </a:xfrm>
      </p:grpSpPr>
      <p:pic>
        <p:nvPicPr>
          <p:cNvPr id="4041" name="Google Shape;4041;p33"/>
          <p:cNvPicPr preferRelativeResize="0"/>
          <p:nvPr/>
        </p:nvPicPr>
        <p:blipFill>
          <a:blip r:embed="rId3">
            <a:alphaModFix/>
          </a:blip>
          <a:stretch>
            <a:fillRect/>
          </a:stretch>
        </p:blipFill>
        <p:spPr>
          <a:xfrm>
            <a:off x="2600061" y="1152475"/>
            <a:ext cx="3943881" cy="3416400"/>
          </a:xfrm>
          <a:prstGeom prst="rect">
            <a:avLst/>
          </a:prstGeom>
          <a:noFill/>
          <a:ln>
            <a:noFill/>
          </a:ln>
        </p:spPr>
      </p:pic>
      <p:sp>
        <p:nvSpPr>
          <p:cNvPr id="4042" name="Google Shape;4042;p33"/>
          <p:cNvSpPr/>
          <p:nvPr/>
        </p:nvSpPr>
        <p:spPr>
          <a:xfrm>
            <a:off x="2907950" y="2640500"/>
            <a:ext cx="3636000" cy="212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33"/>
          <p:cNvSpPr txBox="1">
            <a:spLocks noGrp="1"/>
          </p:cNvSpPr>
          <p:nvPr>
            <p:ph type="title"/>
          </p:nvPr>
        </p:nvSpPr>
        <p:spPr>
          <a:xfrm>
            <a:off x="457450" y="454825"/>
            <a:ext cx="29073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RARL Algorithm</a:t>
            </a:r>
            <a:endParaRPr/>
          </a:p>
        </p:txBody>
      </p:sp>
      <p:sp>
        <p:nvSpPr>
          <p:cNvPr id="4044" name="Google Shape;4044;p33"/>
          <p:cNvSpPr txBox="1">
            <a:spLocks noGrp="1"/>
          </p:cNvSpPr>
          <p:nvPr>
            <p:ph type="body" idx="1"/>
          </p:nvPr>
        </p:nvSpPr>
        <p:spPr>
          <a:xfrm>
            <a:off x="809013" y="1927100"/>
            <a:ext cx="800100" cy="573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b="1">
                <a:solidFill>
                  <a:srgbClr val="FF0000"/>
                </a:solidFill>
                <a:latin typeface="Titillium Web"/>
                <a:ea typeface="Titillium Web"/>
                <a:cs typeface="Titillium Web"/>
                <a:sym typeface="Titillium Web"/>
              </a:rPr>
              <a:t>with</a:t>
            </a:r>
            <a:endParaRPr b="1">
              <a:solidFill>
                <a:srgbClr val="FF0000"/>
              </a:solidFill>
              <a:latin typeface="Titillium Web"/>
              <a:ea typeface="Titillium Web"/>
              <a:cs typeface="Titillium Web"/>
              <a:sym typeface="Titillium Web"/>
            </a:endParaRPr>
          </a:p>
        </p:txBody>
      </p:sp>
      <p:pic>
        <p:nvPicPr>
          <p:cNvPr id="4045" name="Google Shape;4045;p33" descr="N_{traj}" title="MathEquation,#ff0000"/>
          <p:cNvPicPr preferRelativeResize="0"/>
          <p:nvPr/>
        </p:nvPicPr>
        <p:blipFill>
          <a:blip r:embed="rId4">
            <a:alphaModFix/>
          </a:blip>
          <a:stretch>
            <a:fillRect/>
          </a:stretch>
        </p:blipFill>
        <p:spPr>
          <a:xfrm>
            <a:off x="1585425" y="2114213"/>
            <a:ext cx="712556" cy="380325"/>
          </a:xfrm>
          <a:prstGeom prst="rect">
            <a:avLst/>
          </a:prstGeom>
          <a:noFill/>
          <a:ln>
            <a:noFill/>
          </a:ln>
        </p:spPr>
      </p:pic>
      <p:pic>
        <p:nvPicPr>
          <p:cNvPr id="4046" name="Google Shape;4046;p33" descr="N_{traj}" title="MathEquation,#0000ff"/>
          <p:cNvPicPr preferRelativeResize="0"/>
          <p:nvPr/>
        </p:nvPicPr>
        <p:blipFill>
          <a:blip r:embed="rId5">
            <a:alphaModFix/>
          </a:blip>
          <a:stretch>
            <a:fillRect/>
          </a:stretch>
        </p:blipFill>
        <p:spPr>
          <a:xfrm>
            <a:off x="1585425" y="3719238"/>
            <a:ext cx="712556" cy="380325"/>
          </a:xfrm>
          <a:prstGeom prst="rect">
            <a:avLst/>
          </a:prstGeom>
          <a:noFill/>
          <a:ln>
            <a:noFill/>
          </a:ln>
        </p:spPr>
      </p:pic>
      <p:sp>
        <p:nvSpPr>
          <p:cNvPr id="4047" name="Google Shape;4047;p33"/>
          <p:cNvSpPr txBox="1">
            <a:spLocks noGrp="1"/>
          </p:cNvSpPr>
          <p:nvPr>
            <p:ph type="body" idx="1"/>
          </p:nvPr>
        </p:nvSpPr>
        <p:spPr>
          <a:xfrm>
            <a:off x="656613" y="1540313"/>
            <a:ext cx="13974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FF0000"/>
                </a:solidFill>
                <a:latin typeface="Titillium Web"/>
                <a:ea typeface="Titillium Web"/>
                <a:cs typeface="Titillium Web"/>
                <a:sym typeface="Titillium Web"/>
              </a:rPr>
              <a:t>Optimize</a:t>
            </a:r>
            <a:endParaRPr b="1">
              <a:solidFill>
                <a:srgbClr val="FF0000"/>
              </a:solidFill>
              <a:latin typeface="Titillium Web"/>
              <a:ea typeface="Titillium Web"/>
              <a:cs typeface="Titillium Web"/>
              <a:sym typeface="Titillium Web"/>
            </a:endParaRPr>
          </a:p>
        </p:txBody>
      </p:sp>
      <p:sp>
        <p:nvSpPr>
          <p:cNvPr id="4048" name="Google Shape;4048;p33"/>
          <p:cNvSpPr txBox="1">
            <a:spLocks noGrp="1"/>
          </p:cNvSpPr>
          <p:nvPr>
            <p:ph type="body" idx="1"/>
          </p:nvPr>
        </p:nvSpPr>
        <p:spPr>
          <a:xfrm>
            <a:off x="726188" y="2267038"/>
            <a:ext cx="17520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FF0000"/>
                </a:solidFill>
                <a:latin typeface="Titillium Web"/>
                <a:ea typeface="Titillium Web"/>
                <a:cs typeface="Titillium Web"/>
                <a:sym typeface="Titillium Web"/>
              </a:rPr>
              <a:t>trajectories</a:t>
            </a:r>
            <a:endParaRPr b="1">
              <a:solidFill>
                <a:srgbClr val="FF0000"/>
              </a:solidFill>
              <a:latin typeface="Titillium Web"/>
              <a:ea typeface="Titillium Web"/>
              <a:cs typeface="Titillium Web"/>
              <a:sym typeface="Titillium Web"/>
            </a:endParaRPr>
          </a:p>
        </p:txBody>
      </p:sp>
      <p:pic>
        <p:nvPicPr>
          <p:cNvPr id="4049" name="Google Shape;4049;p33" descr="\theta^{\mu}" title="MathEquation,#ff0000"/>
          <p:cNvPicPr preferRelativeResize="0"/>
          <p:nvPr/>
        </p:nvPicPr>
        <p:blipFill>
          <a:blip r:embed="rId6">
            <a:alphaModFix/>
          </a:blip>
          <a:stretch>
            <a:fillRect/>
          </a:stretch>
        </p:blipFill>
        <p:spPr>
          <a:xfrm>
            <a:off x="2054012" y="1708525"/>
            <a:ext cx="408938" cy="371624"/>
          </a:xfrm>
          <a:prstGeom prst="rect">
            <a:avLst/>
          </a:prstGeom>
          <a:noFill/>
          <a:ln>
            <a:noFill/>
          </a:ln>
        </p:spPr>
      </p:pic>
      <p:pic>
        <p:nvPicPr>
          <p:cNvPr id="4050" name="Google Shape;4050;p33" descr="\theta^{\nu}" title="MathEquation,#0000ff"/>
          <p:cNvPicPr preferRelativeResize="0"/>
          <p:nvPr/>
        </p:nvPicPr>
        <p:blipFill>
          <a:blip r:embed="rId7">
            <a:alphaModFix/>
          </a:blip>
          <a:stretch>
            <a:fillRect/>
          </a:stretch>
        </p:blipFill>
        <p:spPr>
          <a:xfrm>
            <a:off x="2064416" y="3304826"/>
            <a:ext cx="388124" cy="371636"/>
          </a:xfrm>
          <a:prstGeom prst="rect">
            <a:avLst/>
          </a:prstGeom>
          <a:noFill/>
          <a:ln>
            <a:noFill/>
          </a:ln>
        </p:spPr>
      </p:pic>
      <p:sp>
        <p:nvSpPr>
          <p:cNvPr id="4051" name="Google Shape;4051;p33"/>
          <p:cNvSpPr txBox="1">
            <a:spLocks noGrp="1"/>
          </p:cNvSpPr>
          <p:nvPr>
            <p:ph type="body" idx="1"/>
          </p:nvPr>
        </p:nvSpPr>
        <p:spPr>
          <a:xfrm>
            <a:off x="774225" y="3532125"/>
            <a:ext cx="800100" cy="573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b="1">
                <a:solidFill>
                  <a:srgbClr val="0000FF"/>
                </a:solidFill>
                <a:latin typeface="Titillium Web"/>
                <a:ea typeface="Titillium Web"/>
                <a:cs typeface="Titillium Web"/>
                <a:sym typeface="Titillium Web"/>
              </a:rPr>
              <a:t>with</a:t>
            </a:r>
            <a:endParaRPr b="1">
              <a:solidFill>
                <a:srgbClr val="0000FF"/>
              </a:solidFill>
              <a:latin typeface="Titillium Web"/>
              <a:ea typeface="Titillium Web"/>
              <a:cs typeface="Titillium Web"/>
              <a:sym typeface="Titillium Web"/>
            </a:endParaRPr>
          </a:p>
        </p:txBody>
      </p:sp>
      <p:sp>
        <p:nvSpPr>
          <p:cNvPr id="4052" name="Google Shape;4052;p33"/>
          <p:cNvSpPr txBox="1">
            <a:spLocks noGrp="1"/>
          </p:cNvSpPr>
          <p:nvPr>
            <p:ph type="body" idx="1"/>
          </p:nvPr>
        </p:nvSpPr>
        <p:spPr>
          <a:xfrm>
            <a:off x="621825" y="3145338"/>
            <a:ext cx="13974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0000FF"/>
                </a:solidFill>
                <a:latin typeface="Titillium Web"/>
                <a:ea typeface="Titillium Web"/>
                <a:cs typeface="Titillium Web"/>
                <a:sym typeface="Titillium Web"/>
              </a:rPr>
              <a:t>Optimize</a:t>
            </a:r>
            <a:endParaRPr b="1">
              <a:solidFill>
                <a:srgbClr val="0000FF"/>
              </a:solidFill>
              <a:latin typeface="Titillium Web"/>
              <a:ea typeface="Titillium Web"/>
              <a:cs typeface="Titillium Web"/>
              <a:sym typeface="Titillium Web"/>
            </a:endParaRPr>
          </a:p>
        </p:txBody>
      </p:sp>
      <p:sp>
        <p:nvSpPr>
          <p:cNvPr id="4053" name="Google Shape;4053;p33"/>
          <p:cNvSpPr txBox="1">
            <a:spLocks noGrp="1"/>
          </p:cNvSpPr>
          <p:nvPr>
            <p:ph type="body" idx="1"/>
          </p:nvPr>
        </p:nvSpPr>
        <p:spPr>
          <a:xfrm>
            <a:off x="691400" y="3872063"/>
            <a:ext cx="17520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0000FF"/>
                </a:solidFill>
                <a:latin typeface="Titillium Web"/>
                <a:ea typeface="Titillium Web"/>
                <a:cs typeface="Titillium Web"/>
                <a:sym typeface="Titillium Web"/>
              </a:rPr>
              <a:t>trajectories</a:t>
            </a:r>
            <a:endParaRPr b="1">
              <a:solidFill>
                <a:srgbClr val="0000FF"/>
              </a:solidFill>
              <a:latin typeface="Titillium Web"/>
              <a:ea typeface="Titillium Web"/>
              <a:cs typeface="Titillium Web"/>
              <a:sym typeface="Titillium Web"/>
            </a:endParaRPr>
          </a:p>
        </p:txBody>
      </p:sp>
      <p:sp>
        <p:nvSpPr>
          <p:cNvPr id="4054" name="Google Shape;4054;p33"/>
          <p:cNvSpPr/>
          <p:nvPr/>
        </p:nvSpPr>
        <p:spPr>
          <a:xfrm>
            <a:off x="2907950" y="3659675"/>
            <a:ext cx="3636000" cy="212400"/>
          </a:xfrm>
          <a:prstGeom prst="rect">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33"/>
          <p:cNvSpPr/>
          <p:nvPr/>
        </p:nvSpPr>
        <p:spPr>
          <a:xfrm>
            <a:off x="3448075" y="2381500"/>
            <a:ext cx="293400" cy="276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33"/>
          <p:cNvSpPr/>
          <p:nvPr/>
        </p:nvSpPr>
        <p:spPr>
          <a:xfrm>
            <a:off x="4012425" y="2352700"/>
            <a:ext cx="252000" cy="3051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33"/>
          <p:cNvSpPr/>
          <p:nvPr/>
        </p:nvSpPr>
        <p:spPr>
          <a:xfrm>
            <a:off x="5027750" y="2600350"/>
            <a:ext cx="252000" cy="3051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33"/>
          <p:cNvSpPr/>
          <p:nvPr/>
        </p:nvSpPr>
        <p:spPr>
          <a:xfrm>
            <a:off x="5279750" y="2600350"/>
            <a:ext cx="293400" cy="3051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33"/>
          <p:cNvSpPr/>
          <p:nvPr/>
        </p:nvSpPr>
        <p:spPr>
          <a:xfrm>
            <a:off x="3741475" y="3405450"/>
            <a:ext cx="293400" cy="2763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33"/>
          <p:cNvSpPr/>
          <p:nvPr/>
        </p:nvSpPr>
        <p:spPr>
          <a:xfrm>
            <a:off x="4283875" y="3376650"/>
            <a:ext cx="252000" cy="3051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33"/>
          <p:cNvSpPr/>
          <p:nvPr/>
        </p:nvSpPr>
        <p:spPr>
          <a:xfrm>
            <a:off x="5027750" y="3590950"/>
            <a:ext cx="252000" cy="3051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33"/>
          <p:cNvSpPr/>
          <p:nvPr/>
        </p:nvSpPr>
        <p:spPr>
          <a:xfrm>
            <a:off x="5279750" y="3590950"/>
            <a:ext cx="293400" cy="3051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66"/>
        <p:cNvGrpSpPr/>
        <p:nvPr/>
      </p:nvGrpSpPr>
      <p:grpSpPr>
        <a:xfrm>
          <a:off x="0" y="0"/>
          <a:ext cx="0" cy="0"/>
          <a:chOff x="0" y="0"/>
          <a:chExt cx="0" cy="0"/>
        </a:xfrm>
      </p:grpSpPr>
      <p:sp>
        <p:nvSpPr>
          <p:cNvPr id="4067" name="Google Shape;4067;p3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Results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71"/>
        <p:cNvGrpSpPr/>
        <p:nvPr/>
      </p:nvGrpSpPr>
      <p:grpSpPr>
        <a:xfrm>
          <a:off x="0" y="0"/>
          <a:ext cx="0" cy="0"/>
          <a:chOff x="0" y="0"/>
          <a:chExt cx="0" cy="0"/>
        </a:xfrm>
      </p:grpSpPr>
      <p:sp>
        <p:nvSpPr>
          <p:cNvPr id="4072" name="Google Shape;4072;p35"/>
          <p:cNvSpPr txBox="1">
            <a:spLocks noGrp="1"/>
          </p:cNvSpPr>
          <p:nvPr>
            <p:ph type="title"/>
          </p:nvPr>
        </p:nvSpPr>
        <p:spPr>
          <a:xfrm>
            <a:off x="457450" y="454825"/>
            <a:ext cx="71988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Rewards Sometimes Better than TRPO</a:t>
            </a:r>
            <a:endParaRPr/>
          </a:p>
        </p:txBody>
      </p:sp>
      <p:sp>
        <p:nvSpPr>
          <p:cNvPr id="4073" name="Google Shape;4073;p35"/>
          <p:cNvSpPr txBox="1">
            <a:spLocks noGrp="1"/>
          </p:cNvSpPr>
          <p:nvPr>
            <p:ph type="body" idx="1"/>
          </p:nvPr>
        </p:nvSpPr>
        <p:spPr>
          <a:xfrm>
            <a:off x="457450" y="1067725"/>
            <a:ext cx="2923800" cy="3781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With no adversary...</a:t>
            </a:r>
            <a:endParaRPr b="1">
              <a:latin typeface="Titillium Web"/>
              <a:ea typeface="Titillium Web"/>
              <a:cs typeface="Titillium Web"/>
              <a:sym typeface="Titillium Web"/>
            </a:endParaRPr>
          </a:p>
          <a:p>
            <a:pPr marL="457200" lvl="0" indent="0" algn="l" rtl="0">
              <a:spcBef>
                <a:spcPts val="600"/>
              </a:spcBef>
              <a:spcAft>
                <a:spcPts val="0"/>
              </a:spcAft>
              <a:buNone/>
            </a:pPr>
            <a:r>
              <a:rPr lang="en" b="1" i="1">
                <a:latin typeface="Titillium Web"/>
                <a:ea typeface="Titillium Web"/>
                <a:cs typeface="Titillium Web"/>
                <a:sym typeface="Titillium Web"/>
              </a:rPr>
              <a:t>HalfCheetah &amp; Swimmer</a:t>
            </a:r>
            <a:endParaRPr b="1" i="1">
              <a:latin typeface="Titillium Web"/>
              <a:ea typeface="Titillium Web"/>
              <a:cs typeface="Titillium Web"/>
              <a:sym typeface="Titillium Web"/>
            </a:endParaRPr>
          </a:p>
          <a:p>
            <a:pPr marL="457200" lvl="0" indent="0" algn="l" rtl="0">
              <a:spcBef>
                <a:spcPts val="600"/>
              </a:spcBef>
              <a:spcAft>
                <a:spcPts val="0"/>
              </a:spcAft>
              <a:buNone/>
            </a:pPr>
            <a:r>
              <a:rPr lang="en"/>
              <a:t>RARL gets better mean rewards.</a:t>
            </a:r>
            <a:endParaRPr/>
          </a:p>
          <a:p>
            <a:pPr marL="457200" lvl="0" indent="0" algn="l" rtl="0">
              <a:spcBef>
                <a:spcPts val="600"/>
              </a:spcBef>
              <a:spcAft>
                <a:spcPts val="0"/>
              </a:spcAft>
              <a:buNone/>
            </a:pPr>
            <a:r>
              <a:rPr lang="en" b="1" i="1">
                <a:latin typeface="Titillium Web"/>
                <a:ea typeface="Titillium Web"/>
                <a:cs typeface="Titillium Web"/>
                <a:sym typeface="Titillium Web"/>
              </a:rPr>
              <a:t>Hopper &amp; Walker2d</a:t>
            </a:r>
            <a:endParaRPr i="1"/>
          </a:p>
          <a:p>
            <a:pPr marL="457200" lvl="0" indent="0" algn="l" rtl="0">
              <a:spcBef>
                <a:spcPts val="600"/>
              </a:spcBef>
              <a:spcAft>
                <a:spcPts val="0"/>
              </a:spcAft>
              <a:buNone/>
            </a:pPr>
            <a:r>
              <a:rPr lang="en"/>
              <a:t>RARL does not get significantly better mean rewards.</a:t>
            </a:r>
            <a:endParaRPr/>
          </a:p>
          <a:p>
            <a:pPr marL="0" lvl="0" indent="0" algn="l" rtl="0">
              <a:spcBef>
                <a:spcPts val="600"/>
              </a:spcBef>
              <a:spcAft>
                <a:spcPts val="0"/>
              </a:spcAft>
              <a:buNone/>
            </a:pPr>
            <a:r>
              <a:rPr lang="en" b="1">
                <a:latin typeface="Titillium Web"/>
                <a:ea typeface="Titillium Web"/>
                <a:cs typeface="Titillium Web"/>
                <a:sym typeface="Titillium Web"/>
              </a:rPr>
              <a:t>With adversary, results are similar</a:t>
            </a:r>
            <a:endParaRPr b="1">
              <a:latin typeface="Titillium Web"/>
              <a:ea typeface="Titillium Web"/>
              <a:cs typeface="Titillium Web"/>
              <a:sym typeface="Titillium Web"/>
            </a:endParaRPr>
          </a:p>
        </p:txBody>
      </p:sp>
      <p:pic>
        <p:nvPicPr>
          <p:cNvPr id="4074" name="Google Shape;4074;p35"/>
          <p:cNvPicPr preferRelativeResize="0"/>
          <p:nvPr/>
        </p:nvPicPr>
        <p:blipFill>
          <a:blip r:embed="rId3">
            <a:alphaModFix/>
          </a:blip>
          <a:stretch>
            <a:fillRect/>
          </a:stretch>
        </p:blipFill>
        <p:spPr>
          <a:xfrm>
            <a:off x="3633948" y="1067725"/>
            <a:ext cx="4166257" cy="3659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78"/>
        <p:cNvGrpSpPr/>
        <p:nvPr/>
      </p:nvGrpSpPr>
      <p:grpSpPr>
        <a:xfrm>
          <a:off x="0" y="0"/>
          <a:ext cx="0" cy="0"/>
          <a:chOff x="0" y="0"/>
          <a:chExt cx="0" cy="0"/>
        </a:xfrm>
      </p:grpSpPr>
      <p:sp>
        <p:nvSpPr>
          <p:cNvPr id="4079" name="Google Shape;4079;p36"/>
          <p:cNvSpPr txBox="1">
            <a:spLocks noGrp="1"/>
          </p:cNvSpPr>
          <p:nvPr>
            <p:ph type="title"/>
          </p:nvPr>
        </p:nvSpPr>
        <p:spPr>
          <a:xfrm>
            <a:off x="457450" y="74850"/>
            <a:ext cx="7198800" cy="114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More Robust to Changes in Mass and Friction than TRPO</a:t>
            </a:r>
            <a:endParaRPr/>
          </a:p>
        </p:txBody>
      </p:sp>
      <p:sp>
        <p:nvSpPr>
          <p:cNvPr id="4080" name="Google Shape;4080;p36"/>
          <p:cNvSpPr txBox="1">
            <a:spLocks noGrp="1"/>
          </p:cNvSpPr>
          <p:nvPr>
            <p:ph type="body" idx="1"/>
          </p:nvPr>
        </p:nvSpPr>
        <p:spPr>
          <a:xfrm>
            <a:off x="457450" y="1217550"/>
            <a:ext cx="2923800" cy="3632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HalfCheetah &amp; Hopper</a:t>
            </a:r>
            <a:endParaRPr b="1">
              <a:latin typeface="Titillium Web"/>
              <a:ea typeface="Titillium Web"/>
              <a:cs typeface="Titillium Web"/>
              <a:sym typeface="Titillium Web"/>
            </a:endParaRPr>
          </a:p>
          <a:p>
            <a:pPr marL="0" lvl="0" indent="0" algn="l" rtl="0">
              <a:spcBef>
                <a:spcPts val="600"/>
              </a:spcBef>
              <a:spcAft>
                <a:spcPts val="0"/>
              </a:spcAft>
              <a:buNone/>
            </a:pPr>
            <a:r>
              <a:rPr lang="en"/>
              <a:t>RARL gets better reward values, especially across different masses.</a:t>
            </a:r>
            <a:endParaRPr b="1">
              <a:latin typeface="Titillium Web"/>
              <a:ea typeface="Titillium Web"/>
              <a:cs typeface="Titillium Web"/>
              <a:sym typeface="Titillium Web"/>
            </a:endParaRPr>
          </a:p>
        </p:txBody>
      </p:sp>
      <p:pic>
        <p:nvPicPr>
          <p:cNvPr id="4081" name="Google Shape;4081;p36"/>
          <p:cNvPicPr preferRelativeResize="0"/>
          <p:nvPr/>
        </p:nvPicPr>
        <p:blipFill>
          <a:blip r:embed="rId3">
            <a:alphaModFix/>
          </a:blip>
          <a:stretch>
            <a:fillRect/>
          </a:stretch>
        </p:blipFill>
        <p:spPr>
          <a:xfrm>
            <a:off x="3633951" y="944976"/>
            <a:ext cx="3759209" cy="3781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85"/>
        <p:cNvGrpSpPr/>
        <p:nvPr/>
      </p:nvGrpSpPr>
      <p:grpSpPr>
        <a:xfrm>
          <a:off x="0" y="0"/>
          <a:ext cx="0" cy="0"/>
          <a:chOff x="0" y="0"/>
          <a:chExt cx="0" cy="0"/>
        </a:xfrm>
      </p:grpSpPr>
      <p:sp>
        <p:nvSpPr>
          <p:cNvPr id="4086" name="Google Shape;4086;p37"/>
          <p:cNvSpPr txBox="1">
            <a:spLocks noGrp="1"/>
          </p:cNvSpPr>
          <p:nvPr>
            <p:ph type="title"/>
          </p:nvPr>
        </p:nvSpPr>
        <p:spPr>
          <a:xfrm>
            <a:off x="457450" y="454825"/>
            <a:ext cx="59184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Adversary Learns Intuitive Policy</a:t>
            </a:r>
            <a:endParaRPr/>
          </a:p>
        </p:txBody>
      </p:sp>
      <p:sp>
        <p:nvSpPr>
          <p:cNvPr id="4087" name="Google Shape;4087;p37"/>
          <p:cNvSpPr txBox="1">
            <a:spLocks noGrp="1"/>
          </p:cNvSpPr>
          <p:nvPr>
            <p:ph type="body" idx="1"/>
          </p:nvPr>
        </p:nvSpPr>
        <p:spPr>
          <a:xfrm>
            <a:off x="457450" y="1067725"/>
            <a:ext cx="2923800" cy="3781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Stationary Pendulum (a and b)</a:t>
            </a:r>
            <a:endParaRPr b="1">
              <a:latin typeface="Titillium Web"/>
              <a:ea typeface="Titillium Web"/>
              <a:cs typeface="Titillium Web"/>
              <a:sym typeface="Titillium Web"/>
            </a:endParaRPr>
          </a:p>
          <a:p>
            <a:pPr marL="0" lvl="0" indent="0" algn="l" rtl="0">
              <a:spcBef>
                <a:spcPts val="600"/>
              </a:spcBef>
              <a:spcAft>
                <a:spcPts val="0"/>
              </a:spcAft>
              <a:buNone/>
            </a:pPr>
            <a:r>
              <a:rPr lang="en"/>
              <a:t>Adversary accentuates the pendulum’s tilt.</a:t>
            </a:r>
            <a:endParaRPr/>
          </a:p>
          <a:p>
            <a:pPr marL="0" lvl="0" indent="0" algn="l" rtl="0">
              <a:spcBef>
                <a:spcPts val="600"/>
              </a:spcBef>
              <a:spcAft>
                <a:spcPts val="0"/>
              </a:spcAft>
              <a:buNone/>
            </a:pPr>
            <a:r>
              <a:rPr lang="en" b="1">
                <a:latin typeface="Titillium Web"/>
                <a:ea typeface="Titillium Web"/>
                <a:cs typeface="Titillium Web"/>
                <a:sym typeface="Titillium Web"/>
              </a:rPr>
              <a:t>Moving Pendulum (c and d)</a:t>
            </a:r>
            <a:endParaRPr b="1">
              <a:latin typeface="Titillium Web"/>
              <a:ea typeface="Titillium Web"/>
              <a:cs typeface="Titillium Web"/>
              <a:sym typeface="Titillium Web"/>
            </a:endParaRPr>
          </a:p>
          <a:p>
            <a:pPr marL="0" lvl="0" indent="0" algn="l" rtl="0">
              <a:spcBef>
                <a:spcPts val="600"/>
              </a:spcBef>
              <a:spcAft>
                <a:spcPts val="0"/>
              </a:spcAft>
              <a:buNone/>
            </a:pPr>
            <a:r>
              <a:rPr lang="en"/>
              <a:t>Adversary pushes in the direction of motion.</a:t>
            </a:r>
            <a:endParaRPr/>
          </a:p>
          <a:p>
            <a:pPr marL="0" lvl="0" indent="0" algn="l" rtl="0">
              <a:spcBef>
                <a:spcPts val="600"/>
              </a:spcBef>
              <a:spcAft>
                <a:spcPts val="0"/>
              </a:spcAft>
              <a:buNone/>
            </a:pPr>
            <a:endParaRPr/>
          </a:p>
          <a:p>
            <a:pPr marL="0" lvl="0" indent="0" algn="l" rtl="0">
              <a:spcBef>
                <a:spcPts val="600"/>
              </a:spcBef>
              <a:spcAft>
                <a:spcPts val="0"/>
              </a:spcAft>
              <a:buNone/>
            </a:pPr>
            <a:r>
              <a:rPr lang="en" i="1"/>
              <a:t>Pushing in the opposite direction is less effective because the protagonist can slow the cart down.</a:t>
            </a:r>
            <a:endParaRPr i="1"/>
          </a:p>
        </p:txBody>
      </p:sp>
      <p:pic>
        <p:nvPicPr>
          <p:cNvPr id="4088" name="Google Shape;4088;p37"/>
          <p:cNvPicPr preferRelativeResize="0"/>
          <p:nvPr/>
        </p:nvPicPr>
        <p:blipFill>
          <a:blip r:embed="rId3">
            <a:alphaModFix/>
          </a:blip>
          <a:stretch>
            <a:fillRect/>
          </a:stretch>
        </p:blipFill>
        <p:spPr>
          <a:xfrm>
            <a:off x="3381251" y="1067725"/>
            <a:ext cx="4508576" cy="36590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92"/>
        <p:cNvGrpSpPr/>
        <p:nvPr/>
      </p:nvGrpSpPr>
      <p:grpSpPr>
        <a:xfrm>
          <a:off x="0" y="0"/>
          <a:ext cx="0" cy="0"/>
          <a:chOff x="0" y="0"/>
          <a:chExt cx="0" cy="0"/>
        </a:xfrm>
      </p:grpSpPr>
      <p:sp>
        <p:nvSpPr>
          <p:cNvPr id="4093" name="Google Shape;4093;p3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Critiques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97"/>
        <p:cNvGrpSpPr/>
        <p:nvPr/>
      </p:nvGrpSpPr>
      <p:grpSpPr>
        <a:xfrm>
          <a:off x="0" y="0"/>
          <a:ext cx="0" cy="0"/>
          <a:chOff x="0" y="0"/>
          <a:chExt cx="0" cy="0"/>
        </a:xfrm>
      </p:grpSpPr>
      <p:sp>
        <p:nvSpPr>
          <p:cNvPr id="4098" name="Google Shape;4098;p39"/>
          <p:cNvSpPr txBox="1">
            <a:spLocks noGrp="1"/>
          </p:cNvSpPr>
          <p:nvPr>
            <p:ph type="title"/>
          </p:nvPr>
        </p:nvSpPr>
        <p:spPr>
          <a:xfrm>
            <a:off x="457450" y="454825"/>
            <a:ext cx="56982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Disadvantages</a:t>
            </a:r>
            <a:endParaRPr/>
          </a:p>
        </p:txBody>
      </p:sp>
      <p:sp>
        <p:nvSpPr>
          <p:cNvPr id="4099" name="Google Shape;4099;p39"/>
          <p:cNvSpPr txBox="1">
            <a:spLocks noGrp="1"/>
          </p:cNvSpPr>
          <p:nvPr>
            <p:ph type="body" idx="1"/>
          </p:nvPr>
        </p:nvSpPr>
        <p:spPr>
          <a:xfrm>
            <a:off x="457450" y="1146025"/>
            <a:ext cx="6846000" cy="36378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a:t>Adversarial approaches show improvements for simple simulations, but hardly any difference for more complex simulations.</a:t>
            </a:r>
            <a:endParaRPr/>
          </a:p>
          <a:p>
            <a:pPr marL="457200" lvl="0" indent="-342900" algn="l" rtl="0">
              <a:spcBef>
                <a:spcPts val="0"/>
              </a:spcBef>
              <a:spcAft>
                <a:spcPts val="0"/>
              </a:spcAft>
              <a:buSzPts val="1800"/>
              <a:buChar char="▪"/>
            </a:pPr>
            <a:r>
              <a:rPr lang="en"/>
              <a:t>TRPO is the only baseline.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03"/>
        <p:cNvGrpSpPr/>
        <p:nvPr/>
      </p:nvGrpSpPr>
      <p:grpSpPr>
        <a:xfrm>
          <a:off x="0" y="0"/>
          <a:ext cx="0" cy="0"/>
          <a:chOff x="0" y="0"/>
          <a:chExt cx="0" cy="0"/>
        </a:xfrm>
      </p:grpSpPr>
      <p:sp>
        <p:nvSpPr>
          <p:cNvPr id="4104" name="Google Shape;4104;p40"/>
          <p:cNvSpPr txBox="1">
            <a:spLocks noGrp="1"/>
          </p:cNvSpPr>
          <p:nvPr>
            <p:ph type="ctrTitle"/>
          </p:nvPr>
        </p:nvSpPr>
        <p:spPr>
          <a:xfrm>
            <a:off x="466800" y="444050"/>
            <a:ext cx="8210400" cy="1702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sz="3600"/>
              <a:t>Adversarially Robust Policy Learning: Active Construction of Physically-Plausible Perturbations</a:t>
            </a:r>
            <a:endParaRPr sz="3600"/>
          </a:p>
        </p:txBody>
      </p:sp>
      <p:sp>
        <p:nvSpPr>
          <p:cNvPr id="4105" name="Google Shape;4105;p40"/>
          <p:cNvSpPr txBox="1">
            <a:spLocks noGrp="1"/>
          </p:cNvSpPr>
          <p:nvPr>
            <p:ph type="subTitle" idx="1"/>
          </p:nvPr>
        </p:nvSpPr>
        <p:spPr>
          <a:xfrm>
            <a:off x="472075" y="2237200"/>
            <a:ext cx="2421900" cy="465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Clr>
                <a:schemeClr val="dk1"/>
              </a:buClr>
              <a:buSzPts val="1100"/>
              <a:buFont typeface="Arial"/>
              <a:buNone/>
            </a:pPr>
            <a:r>
              <a:rPr lang="en" sz="2400" b="1"/>
              <a:t>Ajay Mandlekar</a:t>
            </a:r>
            <a:endParaRPr sz="2400" b="1"/>
          </a:p>
        </p:txBody>
      </p:sp>
      <p:sp>
        <p:nvSpPr>
          <p:cNvPr id="4106" name="Google Shape;4106;p40"/>
          <p:cNvSpPr txBox="1">
            <a:spLocks noGrp="1"/>
          </p:cNvSpPr>
          <p:nvPr>
            <p:ph type="subTitle" idx="1"/>
          </p:nvPr>
        </p:nvSpPr>
        <p:spPr>
          <a:xfrm>
            <a:off x="6278550" y="2237188"/>
            <a:ext cx="2312400" cy="465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Clr>
                <a:schemeClr val="dk1"/>
              </a:buClr>
              <a:buSzPts val="1100"/>
              <a:buFont typeface="Arial"/>
              <a:buNone/>
            </a:pPr>
            <a:r>
              <a:rPr lang="en" sz="2400" b="1"/>
              <a:t>Animesh Garg</a:t>
            </a:r>
            <a:endParaRPr sz="2400" b="1"/>
          </a:p>
        </p:txBody>
      </p:sp>
      <p:sp>
        <p:nvSpPr>
          <p:cNvPr id="4107" name="Google Shape;4107;p40"/>
          <p:cNvSpPr txBox="1">
            <a:spLocks noGrp="1"/>
          </p:cNvSpPr>
          <p:nvPr>
            <p:ph type="subTitle" idx="1"/>
          </p:nvPr>
        </p:nvSpPr>
        <p:spPr>
          <a:xfrm>
            <a:off x="895225" y="3190425"/>
            <a:ext cx="1575600" cy="465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Clr>
                <a:schemeClr val="dk1"/>
              </a:buClr>
              <a:buSzPts val="1100"/>
              <a:buFont typeface="Arial"/>
              <a:buNone/>
            </a:pPr>
            <a:r>
              <a:rPr lang="en" sz="2400" b="1"/>
              <a:t>Yuke Zhu</a:t>
            </a:r>
            <a:endParaRPr sz="2400" b="1"/>
          </a:p>
        </p:txBody>
      </p:sp>
      <p:sp>
        <p:nvSpPr>
          <p:cNvPr id="4108" name="Google Shape;4108;p40"/>
          <p:cNvSpPr txBox="1">
            <a:spLocks noGrp="1"/>
          </p:cNvSpPr>
          <p:nvPr>
            <p:ph type="subTitle" idx="1"/>
          </p:nvPr>
        </p:nvSpPr>
        <p:spPr>
          <a:xfrm>
            <a:off x="6646950" y="3190425"/>
            <a:ext cx="1575600" cy="465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Clr>
                <a:schemeClr val="dk1"/>
              </a:buClr>
              <a:buSzPts val="1100"/>
              <a:buFont typeface="Arial"/>
              <a:buNone/>
            </a:pPr>
            <a:r>
              <a:rPr lang="en" sz="2400" b="1"/>
              <a:t>Li Fei-Fei</a:t>
            </a:r>
            <a:endParaRPr sz="2400" b="1"/>
          </a:p>
        </p:txBody>
      </p:sp>
      <p:sp>
        <p:nvSpPr>
          <p:cNvPr id="4109" name="Google Shape;4109;p40"/>
          <p:cNvSpPr txBox="1">
            <a:spLocks noGrp="1"/>
          </p:cNvSpPr>
          <p:nvPr>
            <p:ph type="subTitle" idx="1"/>
          </p:nvPr>
        </p:nvSpPr>
        <p:spPr>
          <a:xfrm>
            <a:off x="2083325" y="4432525"/>
            <a:ext cx="5153100" cy="3003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400"/>
              <a:t>All authors are affiliated to AI Lab, Stanford University, CA US</a:t>
            </a:r>
            <a:endParaRPr sz="1400"/>
          </a:p>
        </p:txBody>
      </p:sp>
      <p:sp>
        <p:nvSpPr>
          <p:cNvPr id="4110" name="Google Shape;4110;p40"/>
          <p:cNvSpPr txBox="1">
            <a:spLocks noGrp="1"/>
          </p:cNvSpPr>
          <p:nvPr>
            <p:ph type="subTitle" idx="1"/>
          </p:nvPr>
        </p:nvSpPr>
        <p:spPr>
          <a:xfrm>
            <a:off x="3361050" y="2711250"/>
            <a:ext cx="2421900" cy="465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2400" b="1"/>
              <a:t>Silvio Savarese</a:t>
            </a:r>
            <a:endParaRPr sz="2400" b="1"/>
          </a:p>
        </p:txBody>
      </p:sp>
      <p:sp>
        <p:nvSpPr>
          <p:cNvPr id="4111" name="Google Shape;4111;p40"/>
          <p:cNvSpPr txBox="1">
            <a:spLocks noGrp="1"/>
          </p:cNvSpPr>
          <p:nvPr>
            <p:ph type="subTitle" idx="1"/>
          </p:nvPr>
        </p:nvSpPr>
        <p:spPr>
          <a:xfrm>
            <a:off x="603925" y="2734600"/>
            <a:ext cx="2158200" cy="3003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400"/>
              <a:t>amandlek@stanford.edu</a:t>
            </a:r>
            <a:endParaRPr sz="1400"/>
          </a:p>
        </p:txBody>
      </p:sp>
      <p:sp>
        <p:nvSpPr>
          <p:cNvPr id="4112" name="Google Shape;4112;p40"/>
          <p:cNvSpPr txBox="1">
            <a:spLocks noGrp="1"/>
          </p:cNvSpPr>
          <p:nvPr>
            <p:ph type="subTitle" idx="1"/>
          </p:nvPr>
        </p:nvSpPr>
        <p:spPr>
          <a:xfrm>
            <a:off x="3741875" y="3177150"/>
            <a:ext cx="1836000" cy="3003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400"/>
              <a:t>ssilvio@stanford.edu</a:t>
            </a:r>
            <a:endParaRPr sz="1400"/>
          </a:p>
        </p:txBody>
      </p:sp>
      <p:sp>
        <p:nvSpPr>
          <p:cNvPr id="4113" name="Google Shape;4113;p40"/>
          <p:cNvSpPr txBox="1">
            <a:spLocks noGrp="1"/>
          </p:cNvSpPr>
          <p:nvPr>
            <p:ph type="subTitle" idx="1"/>
          </p:nvPr>
        </p:nvSpPr>
        <p:spPr>
          <a:xfrm>
            <a:off x="6516750" y="3623250"/>
            <a:ext cx="1836000" cy="3003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400"/>
              <a:t>feifeili@stanford.edu</a:t>
            </a:r>
            <a:endParaRPr sz="1400"/>
          </a:p>
        </p:txBody>
      </p:sp>
      <p:sp>
        <p:nvSpPr>
          <p:cNvPr id="4114" name="Google Shape;4114;p40"/>
          <p:cNvSpPr txBox="1">
            <a:spLocks noGrp="1"/>
          </p:cNvSpPr>
          <p:nvPr>
            <p:ph type="subTitle" idx="1"/>
          </p:nvPr>
        </p:nvSpPr>
        <p:spPr>
          <a:xfrm>
            <a:off x="6192300" y="2703100"/>
            <a:ext cx="2484900" cy="3003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400"/>
              <a:t>animesh.garg@stanford.edu</a:t>
            </a:r>
            <a:endParaRPr sz="1400"/>
          </a:p>
        </p:txBody>
      </p:sp>
      <p:sp>
        <p:nvSpPr>
          <p:cNvPr id="4115" name="Google Shape;4115;p40"/>
          <p:cNvSpPr txBox="1">
            <a:spLocks noGrp="1"/>
          </p:cNvSpPr>
          <p:nvPr>
            <p:ph type="subTitle" idx="1"/>
          </p:nvPr>
        </p:nvSpPr>
        <p:spPr>
          <a:xfrm>
            <a:off x="765025" y="3623250"/>
            <a:ext cx="1836000" cy="3003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1400"/>
              <a:t>yukez@stanford.edu</a:t>
            </a:r>
            <a:endParaRPr sz="1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19"/>
        <p:cNvGrpSpPr/>
        <p:nvPr/>
      </p:nvGrpSpPr>
      <p:grpSpPr>
        <a:xfrm>
          <a:off x="0" y="0"/>
          <a:ext cx="0" cy="0"/>
          <a:chOff x="0" y="0"/>
          <a:chExt cx="0" cy="0"/>
        </a:xfrm>
      </p:grpSpPr>
      <p:sp>
        <p:nvSpPr>
          <p:cNvPr id="4120" name="Google Shape;4120;p4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Approach</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24"/>
        <p:cNvGrpSpPr/>
        <p:nvPr/>
      </p:nvGrpSpPr>
      <p:grpSpPr>
        <a:xfrm>
          <a:off x="0" y="0"/>
          <a:ext cx="0" cy="0"/>
          <a:chOff x="0" y="0"/>
          <a:chExt cx="0" cy="0"/>
        </a:xfrm>
      </p:grpSpPr>
      <p:sp>
        <p:nvSpPr>
          <p:cNvPr id="4125" name="Google Shape;4125;p42"/>
          <p:cNvSpPr txBox="1">
            <a:spLocks noGrp="1"/>
          </p:cNvSpPr>
          <p:nvPr>
            <p:ph type="title"/>
          </p:nvPr>
        </p:nvSpPr>
        <p:spPr>
          <a:xfrm>
            <a:off x="457450" y="454825"/>
            <a:ext cx="73758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Physical Dynamical Systems</a:t>
            </a:r>
            <a:endParaRPr sz="3000"/>
          </a:p>
        </p:txBody>
      </p:sp>
      <p:pic>
        <p:nvPicPr>
          <p:cNvPr id="4126" name="Google Shape;4126;p42"/>
          <p:cNvPicPr preferRelativeResize="0"/>
          <p:nvPr/>
        </p:nvPicPr>
        <p:blipFill>
          <a:blip r:embed="rId3">
            <a:alphaModFix/>
          </a:blip>
          <a:stretch>
            <a:fillRect/>
          </a:stretch>
        </p:blipFill>
        <p:spPr>
          <a:xfrm>
            <a:off x="1067989" y="1461150"/>
            <a:ext cx="6154712" cy="946062"/>
          </a:xfrm>
          <a:prstGeom prst="rect">
            <a:avLst/>
          </a:prstGeom>
          <a:noFill/>
          <a:ln>
            <a:noFill/>
          </a:ln>
        </p:spPr>
      </p:pic>
      <p:sp>
        <p:nvSpPr>
          <p:cNvPr id="4127" name="Google Shape;4127;p42"/>
          <p:cNvSpPr txBox="1">
            <a:spLocks noGrp="1"/>
          </p:cNvSpPr>
          <p:nvPr>
            <p:ph type="body" idx="1"/>
          </p:nvPr>
        </p:nvSpPr>
        <p:spPr>
          <a:xfrm>
            <a:off x="457450" y="2636175"/>
            <a:ext cx="7209600" cy="2164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Dynamics Noise        :</a:t>
            </a:r>
            <a:r>
              <a:rPr lang="en"/>
              <a:t> Uncertainty in physical parameters (mass, friction, inertia, etc.)</a:t>
            </a:r>
            <a:endParaRPr/>
          </a:p>
          <a:p>
            <a:pPr marL="0" lvl="0" indent="0" algn="l" rtl="0">
              <a:spcBef>
                <a:spcPts val="600"/>
              </a:spcBef>
              <a:spcAft>
                <a:spcPts val="0"/>
              </a:spcAft>
              <a:buNone/>
            </a:pPr>
            <a:r>
              <a:rPr lang="en" b="1">
                <a:latin typeface="Titillium Web"/>
                <a:ea typeface="Titillium Web"/>
                <a:cs typeface="Titillium Web"/>
                <a:sym typeface="Titillium Web"/>
              </a:rPr>
              <a:t>Process Noise        :</a:t>
            </a:r>
            <a:r>
              <a:rPr lang="en"/>
              <a:t> Direct perturbations of state</a:t>
            </a:r>
            <a:endParaRPr/>
          </a:p>
          <a:p>
            <a:pPr marL="0" lvl="0" indent="0" algn="l" rtl="0">
              <a:spcBef>
                <a:spcPts val="600"/>
              </a:spcBef>
              <a:spcAft>
                <a:spcPts val="0"/>
              </a:spcAft>
              <a:buNone/>
            </a:pPr>
            <a:r>
              <a:rPr lang="en" b="1">
                <a:latin typeface="Titillium Web"/>
                <a:ea typeface="Titillium Web"/>
                <a:cs typeface="Titillium Web"/>
                <a:sym typeface="Titillium Web"/>
              </a:rPr>
              <a:t>Observation Noise        :</a:t>
            </a:r>
            <a:r>
              <a:rPr lang="en"/>
              <a:t> Direct perturbations of observation</a:t>
            </a:r>
            <a:endParaRPr/>
          </a:p>
        </p:txBody>
      </p:sp>
      <p:pic>
        <p:nvPicPr>
          <p:cNvPr id="4128" name="Google Shape;4128;p42" descr="\left(\boldsymbol{\mu}\right)" title="MathEquation,#000000"/>
          <p:cNvPicPr preferRelativeResize="0"/>
          <p:nvPr/>
        </p:nvPicPr>
        <p:blipFill>
          <a:blip r:embed="rId4">
            <a:alphaModFix/>
          </a:blip>
          <a:stretch>
            <a:fillRect/>
          </a:stretch>
        </p:blipFill>
        <p:spPr>
          <a:xfrm>
            <a:off x="2695225" y="2843012"/>
            <a:ext cx="442826" cy="358689"/>
          </a:xfrm>
          <a:prstGeom prst="rect">
            <a:avLst/>
          </a:prstGeom>
          <a:noFill/>
          <a:ln>
            <a:noFill/>
          </a:ln>
        </p:spPr>
      </p:pic>
      <p:pic>
        <p:nvPicPr>
          <p:cNvPr id="4129" name="Google Shape;4129;p42" descr="\left(\boldsymbol{\nu}\right)" title="MathEquation,#000000"/>
          <p:cNvPicPr preferRelativeResize="0"/>
          <p:nvPr/>
        </p:nvPicPr>
        <p:blipFill>
          <a:blip r:embed="rId5">
            <a:alphaModFix/>
          </a:blip>
          <a:stretch>
            <a:fillRect/>
          </a:stretch>
        </p:blipFill>
        <p:spPr>
          <a:xfrm>
            <a:off x="2457325" y="3637497"/>
            <a:ext cx="442826" cy="384703"/>
          </a:xfrm>
          <a:prstGeom prst="rect">
            <a:avLst/>
          </a:prstGeom>
          <a:noFill/>
          <a:ln>
            <a:noFill/>
          </a:ln>
        </p:spPr>
      </p:pic>
      <p:pic>
        <p:nvPicPr>
          <p:cNvPr id="4130" name="Google Shape;4130;p42" descr="\left(\boldsymbol{\omega}\right)" title="MathEquation,#000000"/>
          <p:cNvPicPr preferRelativeResize="0"/>
          <p:nvPr/>
        </p:nvPicPr>
        <p:blipFill>
          <a:blip r:embed="rId6">
            <a:alphaModFix/>
          </a:blip>
          <a:stretch>
            <a:fillRect/>
          </a:stretch>
        </p:blipFill>
        <p:spPr>
          <a:xfrm>
            <a:off x="3015700" y="4071038"/>
            <a:ext cx="442826" cy="3564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34"/>
        <p:cNvGrpSpPr/>
        <p:nvPr/>
      </p:nvGrpSpPr>
      <p:grpSpPr>
        <a:xfrm>
          <a:off x="0" y="0"/>
          <a:ext cx="0" cy="0"/>
          <a:chOff x="0" y="0"/>
          <a:chExt cx="0" cy="0"/>
        </a:xfrm>
      </p:grpSpPr>
      <p:sp>
        <p:nvSpPr>
          <p:cNvPr id="4135" name="Google Shape;4135;p43"/>
          <p:cNvSpPr txBox="1">
            <a:spLocks noGrp="1"/>
          </p:cNvSpPr>
          <p:nvPr>
            <p:ph type="title"/>
          </p:nvPr>
        </p:nvSpPr>
        <p:spPr>
          <a:xfrm>
            <a:off x="457450" y="454825"/>
            <a:ext cx="73758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Adversarially Robust Policy-Learning (ARPL)</a:t>
            </a:r>
            <a:endParaRPr sz="3000"/>
          </a:p>
        </p:txBody>
      </p:sp>
      <p:pic>
        <p:nvPicPr>
          <p:cNvPr id="4136" name="Google Shape;4136;p43"/>
          <p:cNvPicPr preferRelativeResize="0"/>
          <p:nvPr/>
        </p:nvPicPr>
        <p:blipFill>
          <a:blip r:embed="rId3">
            <a:alphaModFix/>
          </a:blip>
          <a:stretch>
            <a:fillRect/>
          </a:stretch>
        </p:blipFill>
        <p:spPr>
          <a:xfrm>
            <a:off x="1067989" y="2098725"/>
            <a:ext cx="6154712" cy="946062"/>
          </a:xfrm>
          <a:prstGeom prst="rect">
            <a:avLst/>
          </a:prstGeom>
          <a:noFill/>
          <a:ln>
            <a:noFill/>
          </a:ln>
        </p:spPr>
      </p:pic>
      <p:sp>
        <p:nvSpPr>
          <p:cNvPr id="4137" name="Google Shape;4137;p43"/>
          <p:cNvSpPr/>
          <p:nvPr/>
        </p:nvSpPr>
        <p:spPr>
          <a:xfrm rot="5400000">
            <a:off x="2840875" y="3280425"/>
            <a:ext cx="836400" cy="3651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38" name="Google Shape;4138;p43"/>
          <p:cNvPicPr preferRelativeResize="0"/>
          <p:nvPr/>
        </p:nvPicPr>
        <p:blipFill>
          <a:blip r:embed="rId4">
            <a:alphaModFix/>
          </a:blip>
          <a:stretch>
            <a:fillRect/>
          </a:stretch>
        </p:blipFill>
        <p:spPr>
          <a:xfrm>
            <a:off x="3394325" y="3385222"/>
            <a:ext cx="511068" cy="495949"/>
          </a:xfrm>
          <a:prstGeom prst="rect">
            <a:avLst/>
          </a:prstGeom>
          <a:noFill/>
          <a:ln>
            <a:noFill/>
          </a:ln>
        </p:spPr>
      </p:pic>
      <p:sp>
        <p:nvSpPr>
          <p:cNvPr id="4139" name="Google Shape;4139;p43"/>
          <p:cNvSpPr txBox="1">
            <a:spLocks noGrp="1"/>
          </p:cNvSpPr>
          <p:nvPr>
            <p:ph type="body" idx="1"/>
          </p:nvPr>
        </p:nvSpPr>
        <p:spPr>
          <a:xfrm>
            <a:off x="1571050" y="4176750"/>
            <a:ext cx="5148600" cy="612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Add noise adversarially to the system</a:t>
            </a:r>
            <a:endParaRPr/>
          </a:p>
        </p:txBody>
      </p:sp>
      <p:sp>
        <p:nvSpPr>
          <p:cNvPr id="4140" name="Google Shape;4140;p43"/>
          <p:cNvSpPr/>
          <p:nvPr/>
        </p:nvSpPr>
        <p:spPr>
          <a:xfrm rot="-5400000">
            <a:off x="2896625" y="1497975"/>
            <a:ext cx="836400" cy="3651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41" name="Google Shape;4141;p43"/>
          <p:cNvPicPr preferRelativeResize="0"/>
          <p:nvPr/>
        </p:nvPicPr>
        <p:blipFill>
          <a:blip r:embed="rId4">
            <a:alphaModFix/>
          </a:blip>
          <a:stretch>
            <a:fillRect/>
          </a:stretch>
        </p:blipFill>
        <p:spPr>
          <a:xfrm>
            <a:off x="2621200" y="1262322"/>
            <a:ext cx="511068" cy="495949"/>
          </a:xfrm>
          <a:prstGeom prst="rect">
            <a:avLst/>
          </a:prstGeom>
          <a:noFill/>
          <a:ln>
            <a:noFill/>
          </a:ln>
        </p:spPr>
      </p:pic>
      <p:sp>
        <p:nvSpPr>
          <p:cNvPr id="4142" name="Google Shape;4142;p43"/>
          <p:cNvSpPr/>
          <p:nvPr/>
        </p:nvSpPr>
        <p:spPr>
          <a:xfrm rot="-5400000">
            <a:off x="3616050" y="1497975"/>
            <a:ext cx="836400" cy="3651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43" name="Google Shape;4143;p43"/>
          <p:cNvPicPr preferRelativeResize="0"/>
          <p:nvPr/>
        </p:nvPicPr>
        <p:blipFill>
          <a:blip r:embed="rId4">
            <a:alphaModFix/>
          </a:blip>
          <a:stretch>
            <a:fillRect/>
          </a:stretch>
        </p:blipFill>
        <p:spPr>
          <a:xfrm>
            <a:off x="4216800" y="1262322"/>
            <a:ext cx="511068" cy="4959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47"/>
        <p:cNvGrpSpPr/>
        <p:nvPr/>
      </p:nvGrpSpPr>
      <p:grpSpPr>
        <a:xfrm>
          <a:off x="0" y="0"/>
          <a:ext cx="0" cy="0"/>
          <a:chOff x="0" y="0"/>
          <a:chExt cx="0" cy="0"/>
        </a:xfrm>
      </p:grpSpPr>
      <p:sp>
        <p:nvSpPr>
          <p:cNvPr id="4148" name="Google Shape;4148;p44"/>
          <p:cNvSpPr txBox="1">
            <a:spLocks noGrp="1"/>
          </p:cNvSpPr>
          <p:nvPr>
            <p:ph type="title"/>
          </p:nvPr>
        </p:nvSpPr>
        <p:spPr>
          <a:xfrm>
            <a:off x="457450" y="454825"/>
            <a:ext cx="71613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Computing the Optimal Adversarial Noise</a:t>
            </a:r>
            <a:endParaRPr/>
          </a:p>
        </p:txBody>
      </p:sp>
      <p:pic>
        <p:nvPicPr>
          <p:cNvPr id="4149" name="Google Shape;4149;p44"/>
          <p:cNvPicPr preferRelativeResize="0"/>
          <p:nvPr/>
        </p:nvPicPr>
        <p:blipFill>
          <a:blip r:embed="rId3">
            <a:alphaModFix/>
          </a:blip>
          <a:stretch>
            <a:fillRect/>
          </a:stretch>
        </p:blipFill>
        <p:spPr>
          <a:xfrm>
            <a:off x="1882913" y="1537037"/>
            <a:ext cx="4149575" cy="643700"/>
          </a:xfrm>
          <a:prstGeom prst="rect">
            <a:avLst/>
          </a:prstGeom>
          <a:noFill/>
          <a:ln>
            <a:noFill/>
          </a:ln>
        </p:spPr>
      </p:pic>
      <p:sp>
        <p:nvSpPr>
          <p:cNvPr id="4150" name="Google Shape;4150;p44"/>
          <p:cNvSpPr txBox="1">
            <a:spLocks noGrp="1"/>
          </p:cNvSpPr>
          <p:nvPr>
            <p:ph type="body" idx="1"/>
          </p:nvPr>
        </p:nvSpPr>
        <p:spPr>
          <a:xfrm>
            <a:off x="457450" y="2571750"/>
            <a:ext cx="7450800" cy="2093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Similar to Fast Gradient Sign Method</a:t>
            </a:r>
            <a:endParaRPr b="1">
              <a:latin typeface="Titillium Web"/>
              <a:ea typeface="Titillium Web"/>
              <a:cs typeface="Titillium Web"/>
              <a:sym typeface="Titillium Web"/>
            </a:endParaRPr>
          </a:p>
          <a:p>
            <a:pPr marL="0" lvl="0" indent="0" algn="l" rtl="0">
              <a:spcBef>
                <a:spcPts val="600"/>
              </a:spcBef>
              <a:spcAft>
                <a:spcPts val="0"/>
              </a:spcAft>
              <a:buNone/>
            </a:pPr>
            <a:r>
              <a:rPr lang="en" i="1"/>
              <a:t>Main Difference:</a:t>
            </a:r>
            <a:r>
              <a:rPr lang="en"/>
              <a:t> Scales with gradient</a:t>
            </a:r>
            <a:endParaRPr/>
          </a:p>
          <a:p>
            <a:pPr marL="457200" lvl="0" indent="-342900" algn="l" rtl="0">
              <a:spcBef>
                <a:spcPts val="600"/>
              </a:spcBef>
              <a:spcAft>
                <a:spcPts val="0"/>
              </a:spcAft>
              <a:buSzPts val="1800"/>
              <a:buChar char="▪"/>
            </a:pPr>
            <a:r>
              <a:rPr lang="en"/>
              <a:t>Images are high dimensional with IID dimensions.</a:t>
            </a:r>
            <a:endParaRPr/>
          </a:p>
          <a:p>
            <a:pPr marL="457200" lvl="0" indent="-342900" algn="l" rtl="0">
              <a:spcBef>
                <a:spcPts val="0"/>
              </a:spcBef>
              <a:spcAft>
                <a:spcPts val="0"/>
              </a:spcAft>
              <a:buSzPts val="1800"/>
              <a:buChar char="▪"/>
            </a:pPr>
            <a:r>
              <a:rPr lang="en"/>
              <a:t>But, physical systems have components with different scales and units.</a:t>
            </a:r>
            <a:endParaRPr/>
          </a:p>
          <a:p>
            <a:pPr marL="457200" lvl="0" indent="-342900" algn="l" rtl="0">
              <a:spcBef>
                <a:spcPts val="0"/>
              </a:spcBef>
              <a:spcAft>
                <a:spcPts val="0"/>
              </a:spcAft>
              <a:buSzPts val="1800"/>
              <a:buChar char="▪"/>
            </a:pPr>
            <a:r>
              <a:rPr lang="en"/>
              <a:t>Therefore, the noise needs to be scaled.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54"/>
        <p:cNvGrpSpPr/>
        <p:nvPr/>
      </p:nvGrpSpPr>
      <p:grpSpPr>
        <a:xfrm>
          <a:off x="0" y="0"/>
          <a:ext cx="0" cy="0"/>
          <a:chOff x="0" y="0"/>
          <a:chExt cx="0" cy="0"/>
        </a:xfrm>
      </p:grpSpPr>
      <p:pic>
        <p:nvPicPr>
          <p:cNvPr id="4155" name="Google Shape;4155;p45"/>
          <p:cNvPicPr preferRelativeResize="0"/>
          <p:nvPr/>
        </p:nvPicPr>
        <p:blipFill>
          <a:blip r:embed="rId3">
            <a:alphaModFix/>
          </a:blip>
          <a:stretch>
            <a:fillRect/>
          </a:stretch>
        </p:blipFill>
        <p:spPr>
          <a:xfrm>
            <a:off x="2759524" y="1212649"/>
            <a:ext cx="4888126" cy="2718200"/>
          </a:xfrm>
          <a:prstGeom prst="rect">
            <a:avLst/>
          </a:prstGeom>
          <a:noFill/>
          <a:ln>
            <a:noFill/>
          </a:ln>
        </p:spPr>
      </p:pic>
      <p:sp>
        <p:nvSpPr>
          <p:cNvPr id="4156" name="Google Shape;4156;p45"/>
          <p:cNvSpPr txBox="1">
            <a:spLocks noGrp="1"/>
          </p:cNvSpPr>
          <p:nvPr>
            <p:ph type="title"/>
          </p:nvPr>
        </p:nvSpPr>
        <p:spPr>
          <a:xfrm>
            <a:off x="457450" y="454825"/>
            <a:ext cx="29073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ARPL Algorithm</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160"/>
        <p:cNvGrpSpPr/>
        <p:nvPr/>
      </p:nvGrpSpPr>
      <p:grpSpPr>
        <a:xfrm>
          <a:off x="0" y="0"/>
          <a:ext cx="0" cy="0"/>
          <a:chOff x="0" y="0"/>
          <a:chExt cx="0" cy="0"/>
        </a:xfrm>
      </p:grpSpPr>
      <p:pic>
        <p:nvPicPr>
          <p:cNvPr id="4161" name="Google Shape;4161;p46"/>
          <p:cNvPicPr preferRelativeResize="0"/>
          <p:nvPr/>
        </p:nvPicPr>
        <p:blipFill>
          <a:blip r:embed="rId3">
            <a:alphaModFix/>
          </a:blip>
          <a:stretch>
            <a:fillRect/>
          </a:stretch>
        </p:blipFill>
        <p:spPr>
          <a:xfrm>
            <a:off x="2759524" y="1212649"/>
            <a:ext cx="4888126" cy="2718200"/>
          </a:xfrm>
          <a:prstGeom prst="rect">
            <a:avLst/>
          </a:prstGeom>
          <a:noFill/>
          <a:ln>
            <a:noFill/>
          </a:ln>
        </p:spPr>
      </p:pic>
      <p:sp>
        <p:nvSpPr>
          <p:cNvPr id="4162" name="Google Shape;4162;p46"/>
          <p:cNvSpPr txBox="1">
            <a:spLocks noGrp="1"/>
          </p:cNvSpPr>
          <p:nvPr>
            <p:ph type="title"/>
          </p:nvPr>
        </p:nvSpPr>
        <p:spPr>
          <a:xfrm>
            <a:off x="457450" y="454825"/>
            <a:ext cx="29073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ARPL Algorithm</a:t>
            </a:r>
            <a:endParaRPr/>
          </a:p>
        </p:txBody>
      </p:sp>
      <p:sp>
        <p:nvSpPr>
          <p:cNvPr id="4163" name="Google Shape;4163;p46"/>
          <p:cNvSpPr/>
          <p:nvPr/>
        </p:nvSpPr>
        <p:spPr>
          <a:xfrm>
            <a:off x="2759525" y="1949475"/>
            <a:ext cx="4778400" cy="1706100"/>
          </a:xfrm>
          <a:prstGeom prst="rect">
            <a:avLst/>
          </a:prstGeom>
          <a:noFill/>
          <a:ln w="3810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6"/>
          <p:cNvSpPr txBox="1">
            <a:spLocks noGrp="1"/>
          </p:cNvSpPr>
          <p:nvPr>
            <p:ph type="body" idx="1"/>
          </p:nvPr>
        </p:nvSpPr>
        <p:spPr>
          <a:xfrm>
            <a:off x="768200" y="1598300"/>
            <a:ext cx="1397400" cy="952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38761D"/>
                </a:solidFill>
                <a:latin typeface="Titillium Web"/>
                <a:ea typeface="Titillium Web"/>
                <a:cs typeface="Titillium Web"/>
                <a:sym typeface="Titillium Web"/>
              </a:rPr>
              <a:t>Optimize policy</a:t>
            </a:r>
            <a:endParaRPr b="1">
              <a:solidFill>
                <a:srgbClr val="38761D"/>
              </a:solidFill>
              <a:latin typeface="Titillium Web"/>
              <a:ea typeface="Titillium Web"/>
              <a:cs typeface="Titillium Web"/>
              <a:sym typeface="Titillium Web"/>
            </a:endParaRPr>
          </a:p>
        </p:txBody>
      </p:sp>
      <p:sp>
        <p:nvSpPr>
          <p:cNvPr id="4165" name="Google Shape;4165;p46"/>
          <p:cNvSpPr txBox="1">
            <a:spLocks noGrp="1"/>
          </p:cNvSpPr>
          <p:nvPr>
            <p:ph type="body" idx="1"/>
          </p:nvPr>
        </p:nvSpPr>
        <p:spPr>
          <a:xfrm>
            <a:off x="768200" y="3081675"/>
            <a:ext cx="15141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38761D"/>
                </a:solidFill>
                <a:latin typeface="Titillium Web"/>
                <a:ea typeface="Titillium Web"/>
                <a:cs typeface="Titillium Web"/>
                <a:sym typeface="Titillium Web"/>
              </a:rPr>
              <a:t>iterations</a:t>
            </a:r>
            <a:endParaRPr b="1">
              <a:solidFill>
                <a:srgbClr val="38761D"/>
              </a:solidFill>
              <a:latin typeface="Titillium Web"/>
              <a:ea typeface="Titillium Web"/>
              <a:cs typeface="Titillium Web"/>
              <a:sym typeface="Titillium Web"/>
            </a:endParaRPr>
          </a:p>
        </p:txBody>
      </p:sp>
      <p:pic>
        <p:nvPicPr>
          <p:cNvPr id="4166" name="Google Shape;4166;p46" descr="max\_iter" title="MathEquation,#38761d"/>
          <p:cNvPicPr preferRelativeResize="0"/>
          <p:nvPr/>
        </p:nvPicPr>
        <p:blipFill>
          <a:blip r:embed="rId4">
            <a:alphaModFix/>
          </a:blip>
          <a:stretch>
            <a:fillRect/>
          </a:stretch>
        </p:blipFill>
        <p:spPr>
          <a:xfrm>
            <a:off x="826550" y="2870415"/>
            <a:ext cx="1397400" cy="328385"/>
          </a:xfrm>
          <a:prstGeom prst="rect">
            <a:avLst/>
          </a:prstGeom>
          <a:noFill/>
          <a:ln>
            <a:noFill/>
          </a:ln>
        </p:spPr>
      </p:pic>
      <p:pic>
        <p:nvPicPr>
          <p:cNvPr id="4167" name="Google Shape;4167;p46" descr="\left(\pi\right)" title="MathEquation,#38761d"/>
          <p:cNvPicPr preferRelativeResize="0"/>
          <p:nvPr/>
        </p:nvPicPr>
        <p:blipFill>
          <a:blip r:embed="rId5">
            <a:alphaModFix/>
          </a:blip>
          <a:stretch>
            <a:fillRect/>
          </a:stretch>
        </p:blipFill>
        <p:spPr>
          <a:xfrm>
            <a:off x="1734525" y="2135558"/>
            <a:ext cx="489424" cy="43619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171"/>
        <p:cNvGrpSpPr/>
        <p:nvPr/>
      </p:nvGrpSpPr>
      <p:grpSpPr>
        <a:xfrm>
          <a:off x="0" y="0"/>
          <a:ext cx="0" cy="0"/>
          <a:chOff x="0" y="0"/>
          <a:chExt cx="0" cy="0"/>
        </a:xfrm>
      </p:grpSpPr>
      <p:pic>
        <p:nvPicPr>
          <p:cNvPr id="4172" name="Google Shape;4172;p47"/>
          <p:cNvPicPr preferRelativeResize="0"/>
          <p:nvPr/>
        </p:nvPicPr>
        <p:blipFill>
          <a:blip r:embed="rId3">
            <a:alphaModFix/>
          </a:blip>
          <a:stretch>
            <a:fillRect/>
          </a:stretch>
        </p:blipFill>
        <p:spPr>
          <a:xfrm>
            <a:off x="2759524" y="1212649"/>
            <a:ext cx="4888126" cy="2718200"/>
          </a:xfrm>
          <a:prstGeom prst="rect">
            <a:avLst/>
          </a:prstGeom>
          <a:noFill/>
          <a:ln>
            <a:noFill/>
          </a:ln>
        </p:spPr>
      </p:pic>
      <p:sp>
        <p:nvSpPr>
          <p:cNvPr id="4173" name="Google Shape;4173;p47"/>
          <p:cNvSpPr txBox="1">
            <a:spLocks noGrp="1"/>
          </p:cNvSpPr>
          <p:nvPr>
            <p:ph type="title"/>
          </p:nvPr>
        </p:nvSpPr>
        <p:spPr>
          <a:xfrm>
            <a:off x="457450" y="454825"/>
            <a:ext cx="29073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ARPL Algorithm</a:t>
            </a:r>
            <a:endParaRPr/>
          </a:p>
        </p:txBody>
      </p:sp>
      <p:sp>
        <p:nvSpPr>
          <p:cNvPr id="4174" name="Google Shape;4174;p47"/>
          <p:cNvSpPr/>
          <p:nvPr/>
        </p:nvSpPr>
        <p:spPr>
          <a:xfrm>
            <a:off x="3268275" y="2304288"/>
            <a:ext cx="4269600" cy="9054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7"/>
          <p:cNvSpPr txBox="1">
            <a:spLocks noGrp="1"/>
          </p:cNvSpPr>
          <p:nvPr>
            <p:ph type="body" idx="1"/>
          </p:nvPr>
        </p:nvSpPr>
        <p:spPr>
          <a:xfrm>
            <a:off x="654950" y="1997838"/>
            <a:ext cx="12030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FF0000"/>
                </a:solidFill>
                <a:latin typeface="Titillium Web"/>
                <a:ea typeface="Titillium Web"/>
                <a:cs typeface="Titillium Web"/>
                <a:sym typeface="Titillium Web"/>
              </a:rPr>
              <a:t>Sample</a:t>
            </a:r>
            <a:endParaRPr b="1">
              <a:solidFill>
                <a:srgbClr val="FF0000"/>
              </a:solidFill>
              <a:latin typeface="Titillium Web"/>
              <a:ea typeface="Titillium Web"/>
              <a:cs typeface="Titillium Web"/>
              <a:sym typeface="Titillium Web"/>
            </a:endParaRPr>
          </a:p>
        </p:txBody>
      </p:sp>
      <p:sp>
        <p:nvSpPr>
          <p:cNvPr id="4176" name="Google Shape;4176;p47"/>
          <p:cNvSpPr txBox="1">
            <a:spLocks noGrp="1"/>
          </p:cNvSpPr>
          <p:nvPr>
            <p:ph type="body" idx="1"/>
          </p:nvPr>
        </p:nvSpPr>
        <p:spPr>
          <a:xfrm>
            <a:off x="514350" y="2331600"/>
            <a:ext cx="1828800" cy="1323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b="1">
                <a:solidFill>
                  <a:srgbClr val="FF0000"/>
                </a:solidFill>
                <a:latin typeface="Titillium Web"/>
                <a:ea typeface="Titillium Web"/>
                <a:cs typeface="Titillium Web"/>
                <a:sym typeface="Titillium Web"/>
              </a:rPr>
              <a:t>trajectories with current policy</a:t>
            </a:r>
            <a:endParaRPr b="1">
              <a:solidFill>
                <a:srgbClr val="FF0000"/>
              </a:solidFill>
              <a:latin typeface="Titillium Web"/>
              <a:ea typeface="Titillium Web"/>
              <a:cs typeface="Titillium Web"/>
              <a:sym typeface="Titillium Web"/>
            </a:endParaRPr>
          </a:p>
        </p:txBody>
      </p:sp>
      <p:pic>
        <p:nvPicPr>
          <p:cNvPr id="4177" name="Google Shape;4177;p47" descr="k" title="MathEquation,#ff0000"/>
          <p:cNvPicPr preferRelativeResize="0"/>
          <p:nvPr/>
        </p:nvPicPr>
        <p:blipFill>
          <a:blip r:embed="rId4">
            <a:alphaModFix/>
          </a:blip>
          <a:stretch>
            <a:fillRect/>
          </a:stretch>
        </p:blipFill>
        <p:spPr>
          <a:xfrm>
            <a:off x="1801575" y="2147769"/>
            <a:ext cx="219050" cy="38033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81"/>
        <p:cNvGrpSpPr/>
        <p:nvPr/>
      </p:nvGrpSpPr>
      <p:grpSpPr>
        <a:xfrm>
          <a:off x="0" y="0"/>
          <a:ext cx="0" cy="0"/>
          <a:chOff x="0" y="0"/>
          <a:chExt cx="0" cy="0"/>
        </a:xfrm>
      </p:grpSpPr>
      <p:pic>
        <p:nvPicPr>
          <p:cNvPr id="4182" name="Google Shape;4182;p48"/>
          <p:cNvPicPr preferRelativeResize="0"/>
          <p:nvPr/>
        </p:nvPicPr>
        <p:blipFill>
          <a:blip r:embed="rId3">
            <a:alphaModFix/>
          </a:blip>
          <a:stretch>
            <a:fillRect/>
          </a:stretch>
        </p:blipFill>
        <p:spPr>
          <a:xfrm>
            <a:off x="2759524" y="1212649"/>
            <a:ext cx="4888126" cy="2718200"/>
          </a:xfrm>
          <a:prstGeom prst="rect">
            <a:avLst/>
          </a:prstGeom>
          <a:noFill/>
          <a:ln>
            <a:noFill/>
          </a:ln>
        </p:spPr>
      </p:pic>
      <p:sp>
        <p:nvSpPr>
          <p:cNvPr id="4183" name="Google Shape;4183;p48"/>
          <p:cNvSpPr txBox="1">
            <a:spLocks noGrp="1"/>
          </p:cNvSpPr>
          <p:nvPr>
            <p:ph type="title"/>
          </p:nvPr>
        </p:nvSpPr>
        <p:spPr>
          <a:xfrm>
            <a:off x="457450" y="454825"/>
            <a:ext cx="29073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ARPL Algorithm</a:t>
            </a:r>
            <a:endParaRPr/>
          </a:p>
        </p:txBody>
      </p:sp>
      <p:sp>
        <p:nvSpPr>
          <p:cNvPr id="4184" name="Google Shape;4184;p48"/>
          <p:cNvSpPr/>
          <p:nvPr/>
        </p:nvSpPr>
        <p:spPr>
          <a:xfrm>
            <a:off x="3511325" y="2748925"/>
            <a:ext cx="3060300" cy="225600"/>
          </a:xfrm>
          <a:prstGeom prst="rect">
            <a:avLst/>
          </a:prstGeom>
          <a:noFill/>
          <a:ln w="3810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8"/>
          <p:cNvSpPr txBox="1">
            <a:spLocks noGrp="1"/>
          </p:cNvSpPr>
          <p:nvPr>
            <p:ph type="body" idx="1"/>
          </p:nvPr>
        </p:nvSpPr>
        <p:spPr>
          <a:xfrm>
            <a:off x="644225" y="1997850"/>
            <a:ext cx="1395900" cy="976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0000FF"/>
                </a:solidFill>
                <a:latin typeface="Titillium Web"/>
                <a:ea typeface="Titillium Web"/>
                <a:cs typeface="Titillium Web"/>
                <a:sym typeface="Titillium Web"/>
              </a:rPr>
              <a:t>Compute</a:t>
            </a:r>
            <a:endParaRPr b="1">
              <a:solidFill>
                <a:srgbClr val="0000FF"/>
              </a:solidFill>
              <a:latin typeface="Titillium Web"/>
              <a:ea typeface="Titillium Web"/>
              <a:cs typeface="Titillium Web"/>
              <a:sym typeface="Titillium Web"/>
            </a:endParaRPr>
          </a:p>
          <a:p>
            <a:pPr marL="0" lvl="0" indent="0" algn="l" rtl="0">
              <a:spcBef>
                <a:spcPts val="600"/>
              </a:spcBef>
              <a:spcAft>
                <a:spcPts val="0"/>
              </a:spcAft>
              <a:buNone/>
            </a:pPr>
            <a:r>
              <a:rPr lang="en" b="1">
                <a:solidFill>
                  <a:srgbClr val="0000FF"/>
                </a:solidFill>
                <a:latin typeface="Titillium Web"/>
                <a:ea typeface="Titillium Web"/>
                <a:cs typeface="Titillium Web"/>
                <a:sym typeface="Titillium Web"/>
              </a:rPr>
              <a:t>noise</a:t>
            </a:r>
            <a:endParaRPr b="1">
              <a:solidFill>
                <a:srgbClr val="0000FF"/>
              </a:solidFill>
              <a:latin typeface="Titillium Web"/>
              <a:ea typeface="Titillium Web"/>
              <a:cs typeface="Titillium Web"/>
              <a:sym typeface="Titillium Web"/>
            </a:endParaRPr>
          </a:p>
        </p:txBody>
      </p:sp>
      <p:pic>
        <p:nvPicPr>
          <p:cNvPr id="4186" name="Google Shape;4186;p48" descr="\left(\delta\right)" title="MathEquation,#0000ff"/>
          <p:cNvPicPr preferRelativeResize="0"/>
          <p:nvPr/>
        </p:nvPicPr>
        <p:blipFill>
          <a:blip r:embed="rId4">
            <a:alphaModFix/>
          </a:blip>
          <a:stretch>
            <a:fillRect/>
          </a:stretch>
        </p:blipFill>
        <p:spPr>
          <a:xfrm>
            <a:off x="1535250" y="2571750"/>
            <a:ext cx="388088" cy="3803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190"/>
        <p:cNvGrpSpPr/>
        <p:nvPr/>
      </p:nvGrpSpPr>
      <p:grpSpPr>
        <a:xfrm>
          <a:off x="0" y="0"/>
          <a:ext cx="0" cy="0"/>
          <a:chOff x="0" y="0"/>
          <a:chExt cx="0" cy="0"/>
        </a:xfrm>
      </p:grpSpPr>
      <p:pic>
        <p:nvPicPr>
          <p:cNvPr id="4191" name="Google Shape;4191;p49"/>
          <p:cNvPicPr preferRelativeResize="0"/>
          <p:nvPr/>
        </p:nvPicPr>
        <p:blipFill>
          <a:blip r:embed="rId3">
            <a:alphaModFix/>
          </a:blip>
          <a:stretch>
            <a:fillRect/>
          </a:stretch>
        </p:blipFill>
        <p:spPr>
          <a:xfrm>
            <a:off x="2759524" y="1212649"/>
            <a:ext cx="4888126" cy="2718200"/>
          </a:xfrm>
          <a:prstGeom prst="rect">
            <a:avLst/>
          </a:prstGeom>
          <a:noFill/>
          <a:ln>
            <a:noFill/>
          </a:ln>
        </p:spPr>
      </p:pic>
      <p:sp>
        <p:nvSpPr>
          <p:cNvPr id="4192" name="Google Shape;4192;p49"/>
          <p:cNvSpPr txBox="1">
            <a:spLocks noGrp="1"/>
          </p:cNvSpPr>
          <p:nvPr>
            <p:ph type="title"/>
          </p:nvPr>
        </p:nvSpPr>
        <p:spPr>
          <a:xfrm>
            <a:off x="457450" y="454825"/>
            <a:ext cx="29073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ARPL Algorithm</a:t>
            </a:r>
            <a:endParaRPr/>
          </a:p>
        </p:txBody>
      </p:sp>
      <p:sp>
        <p:nvSpPr>
          <p:cNvPr id="4193" name="Google Shape;4193;p49"/>
          <p:cNvSpPr/>
          <p:nvPr/>
        </p:nvSpPr>
        <p:spPr>
          <a:xfrm>
            <a:off x="3500625" y="2931100"/>
            <a:ext cx="3850200" cy="283500"/>
          </a:xfrm>
          <a:prstGeom prst="rect">
            <a:avLst/>
          </a:prstGeom>
          <a:noFill/>
          <a:ln w="3810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9"/>
          <p:cNvSpPr txBox="1">
            <a:spLocks noGrp="1"/>
          </p:cNvSpPr>
          <p:nvPr>
            <p:ph type="body" idx="1"/>
          </p:nvPr>
        </p:nvSpPr>
        <p:spPr>
          <a:xfrm>
            <a:off x="519675" y="2284800"/>
            <a:ext cx="7245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0000FF"/>
                </a:solidFill>
                <a:latin typeface="Titillium Web"/>
                <a:ea typeface="Titillium Web"/>
                <a:cs typeface="Titillium Web"/>
                <a:sym typeface="Titillium Web"/>
              </a:rPr>
              <a:t>Add</a:t>
            </a:r>
            <a:endParaRPr b="1">
              <a:solidFill>
                <a:srgbClr val="0000FF"/>
              </a:solidFill>
              <a:latin typeface="Titillium Web"/>
              <a:ea typeface="Titillium Web"/>
              <a:cs typeface="Titillium Web"/>
              <a:sym typeface="Titillium Web"/>
            </a:endParaRPr>
          </a:p>
        </p:txBody>
      </p:sp>
      <p:pic>
        <p:nvPicPr>
          <p:cNvPr id="4195" name="Google Shape;4195;p49" descr="\delta" title="MathEquation,#0000ff"/>
          <p:cNvPicPr preferRelativeResize="0"/>
          <p:nvPr/>
        </p:nvPicPr>
        <p:blipFill>
          <a:blip r:embed="rId4">
            <a:alphaModFix/>
          </a:blip>
          <a:stretch>
            <a:fillRect/>
          </a:stretch>
        </p:blipFill>
        <p:spPr>
          <a:xfrm>
            <a:off x="1204825" y="2434751"/>
            <a:ext cx="189804" cy="380324"/>
          </a:xfrm>
          <a:prstGeom prst="rect">
            <a:avLst/>
          </a:prstGeom>
          <a:noFill/>
          <a:ln>
            <a:noFill/>
          </a:ln>
        </p:spPr>
      </p:pic>
      <p:pic>
        <p:nvPicPr>
          <p:cNvPr id="4196" name="Google Shape;4196;p49" descr="\phi" title="MathEquation,#0000ff"/>
          <p:cNvPicPr preferRelativeResize="0"/>
          <p:nvPr/>
        </p:nvPicPr>
        <p:blipFill>
          <a:blip r:embed="rId5">
            <a:alphaModFix/>
          </a:blip>
          <a:stretch>
            <a:fillRect/>
          </a:stretch>
        </p:blipFill>
        <p:spPr>
          <a:xfrm>
            <a:off x="2119475" y="2931111"/>
            <a:ext cx="189800" cy="345440"/>
          </a:xfrm>
          <a:prstGeom prst="rect">
            <a:avLst/>
          </a:prstGeom>
          <a:noFill/>
          <a:ln>
            <a:noFill/>
          </a:ln>
        </p:spPr>
      </p:pic>
      <p:sp>
        <p:nvSpPr>
          <p:cNvPr id="4197" name="Google Shape;4197;p49"/>
          <p:cNvSpPr txBox="1">
            <a:spLocks noGrp="1"/>
          </p:cNvSpPr>
          <p:nvPr>
            <p:ph type="body" idx="1"/>
          </p:nvPr>
        </p:nvSpPr>
        <p:spPr>
          <a:xfrm>
            <a:off x="479975" y="2744625"/>
            <a:ext cx="16395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0000FF"/>
                </a:solidFill>
                <a:latin typeface="Titillium Web"/>
                <a:ea typeface="Titillium Web"/>
                <a:cs typeface="Titillium Web"/>
                <a:sym typeface="Titillium Web"/>
              </a:rPr>
              <a:t>probability</a:t>
            </a:r>
            <a:endParaRPr b="1">
              <a:solidFill>
                <a:srgbClr val="0000FF"/>
              </a:solidFill>
              <a:latin typeface="Titillium Web"/>
              <a:ea typeface="Titillium Web"/>
              <a:cs typeface="Titillium Web"/>
              <a:sym typeface="Titillium Web"/>
            </a:endParaRPr>
          </a:p>
        </p:txBody>
      </p:sp>
      <p:sp>
        <p:nvSpPr>
          <p:cNvPr id="4198" name="Google Shape;4198;p49"/>
          <p:cNvSpPr txBox="1">
            <a:spLocks noGrp="1"/>
          </p:cNvSpPr>
          <p:nvPr>
            <p:ph type="body" idx="1"/>
          </p:nvPr>
        </p:nvSpPr>
        <p:spPr>
          <a:xfrm>
            <a:off x="1394625" y="2284800"/>
            <a:ext cx="825000" cy="573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rgbClr val="0000FF"/>
                </a:solidFill>
                <a:latin typeface="Titillium Web"/>
                <a:ea typeface="Titillium Web"/>
                <a:cs typeface="Titillium Web"/>
                <a:sym typeface="Titillium Web"/>
              </a:rPr>
              <a:t>with</a:t>
            </a:r>
            <a:endParaRPr b="1">
              <a:solidFill>
                <a:srgbClr val="0000FF"/>
              </a:solidFill>
              <a:latin typeface="Titillium Web"/>
              <a:ea typeface="Titillium Web"/>
              <a:cs typeface="Titillium Web"/>
              <a:sym typeface="Titillium Web"/>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02"/>
        <p:cNvGrpSpPr/>
        <p:nvPr/>
      </p:nvGrpSpPr>
      <p:grpSpPr>
        <a:xfrm>
          <a:off x="0" y="0"/>
          <a:ext cx="0" cy="0"/>
          <a:chOff x="0" y="0"/>
          <a:chExt cx="0" cy="0"/>
        </a:xfrm>
      </p:grpSpPr>
      <p:pic>
        <p:nvPicPr>
          <p:cNvPr id="4203" name="Google Shape;4203;p50"/>
          <p:cNvPicPr preferRelativeResize="0"/>
          <p:nvPr/>
        </p:nvPicPr>
        <p:blipFill>
          <a:blip r:embed="rId3">
            <a:alphaModFix/>
          </a:blip>
          <a:stretch>
            <a:fillRect/>
          </a:stretch>
        </p:blipFill>
        <p:spPr>
          <a:xfrm>
            <a:off x="2759524" y="1212649"/>
            <a:ext cx="4888126" cy="2718200"/>
          </a:xfrm>
          <a:prstGeom prst="rect">
            <a:avLst/>
          </a:prstGeom>
          <a:noFill/>
          <a:ln>
            <a:noFill/>
          </a:ln>
        </p:spPr>
      </p:pic>
      <p:sp>
        <p:nvSpPr>
          <p:cNvPr id="4204" name="Google Shape;4204;p50"/>
          <p:cNvSpPr txBox="1">
            <a:spLocks noGrp="1"/>
          </p:cNvSpPr>
          <p:nvPr>
            <p:ph type="title"/>
          </p:nvPr>
        </p:nvSpPr>
        <p:spPr>
          <a:xfrm>
            <a:off x="457450" y="454825"/>
            <a:ext cx="2907300" cy="61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ARPL Algorithm</a:t>
            </a:r>
            <a:endParaRPr/>
          </a:p>
        </p:txBody>
      </p:sp>
      <p:sp>
        <p:nvSpPr>
          <p:cNvPr id="4205" name="Google Shape;4205;p50"/>
          <p:cNvSpPr/>
          <p:nvPr/>
        </p:nvSpPr>
        <p:spPr>
          <a:xfrm>
            <a:off x="3278497" y="3370425"/>
            <a:ext cx="2979300" cy="2835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50"/>
          <p:cNvSpPr txBox="1">
            <a:spLocks noGrp="1"/>
          </p:cNvSpPr>
          <p:nvPr>
            <p:ph type="body" idx="1"/>
          </p:nvPr>
        </p:nvSpPr>
        <p:spPr>
          <a:xfrm>
            <a:off x="457450" y="2434750"/>
            <a:ext cx="1829400" cy="573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b="1">
                <a:solidFill>
                  <a:srgbClr val="FF0000"/>
                </a:solidFill>
                <a:latin typeface="Titillium Web"/>
                <a:ea typeface="Titillium Web"/>
                <a:cs typeface="Titillium Web"/>
                <a:sym typeface="Titillium Web"/>
              </a:rPr>
              <a:t>Update policy parameters</a:t>
            </a:r>
            <a:endParaRPr b="1">
              <a:solidFill>
                <a:srgbClr val="FF0000"/>
              </a:solidFill>
              <a:latin typeface="Titillium Web"/>
              <a:ea typeface="Titillium Web"/>
              <a:cs typeface="Titillium Web"/>
              <a:sym typeface="Titillium Web"/>
            </a:endParaRPr>
          </a:p>
        </p:txBody>
      </p:sp>
      <p:pic>
        <p:nvPicPr>
          <p:cNvPr id="4207" name="Google Shape;4207;p50" descr="\left(\theta\right)" title="MathEquation,#ff0000"/>
          <p:cNvPicPr preferRelativeResize="0"/>
          <p:nvPr/>
        </p:nvPicPr>
        <p:blipFill>
          <a:blip r:embed="rId4">
            <a:alphaModFix/>
          </a:blip>
          <a:stretch>
            <a:fillRect/>
          </a:stretch>
        </p:blipFill>
        <p:spPr>
          <a:xfrm>
            <a:off x="2174713" y="3339450"/>
            <a:ext cx="357976" cy="34545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11"/>
        <p:cNvGrpSpPr/>
        <p:nvPr/>
      </p:nvGrpSpPr>
      <p:grpSpPr>
        <a:xfrm>
          <a:off x="0" y="0"/>
          <a:ext cx="0" cy="0"/>
          <a:chOff x="0" y="0"/>
          <a:chExt cx="0" cy="0"/>
        </a:xfrm>
      </p:grpSpPr>
      <p:sp>
        <p:nvSpPr>
          <p:cNvPr id="4212" name="Google Shape;4212;p5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Controllability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16"/>
        <p:cNvGrpSpPr/>
        <p:nvPr/>
      </p:nvGrpSpPr>
      <p:grpSpPr>
        <a:xfrm>
          <a:off x="0" y="0"/>
          <a:ext cx="0" cy="0"/>
          <a:chOff x="0" y="0"/>
          <a:chExt cx="0" cy="0"/>
        </a:xfrm>
      </p:grpSpPr>
      <p:sp>
        <p:nvSpPr>
          <p:cNvPr id="4217" name="Google Shape;4217;p52"/>
          <p:cNvSpPr txBox="1">
            <a:spLocks noGrp="1"/>
          </p:cNvSpPr>
          <p:nvPr>
            <p:ph type="body" idx="1"/>
          </p:nvPr>
        </p:nvSpPr>
        <p:spPr>
          <a:xfrm>
            <a:off x="1278575" y="739550"/>
            <a:ext cx="4281000" cy="3692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 dynamical system is said to be controllable if for every state x (previously called state s), there exists a sequence of control inputs that can transfer the system to state x.</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21"/>
        <p:cNvGrpSpPr/>
        <p:nvPr/>
      </p:nvGrpSpPr>
      <p:grpSpPr>
        <a:xfrm>
          <a:off x="0" y="0"/>
          <a:ext cx="0" cy="0"/>
          <a:chOff x="0" y="0"/>
          <a:chExt cx="0" cy="0"/>
        </a:xfrm>
      </p:grpSpPr>
      <p:sp>
        <p:nvSpPr>
          <p:cNvPr id="4222" name="Google Shape;4222;p53"/>
          <p:cNvSpPr txBox="1">
            <a:spLocks noGrp="1"/>
          </p:cNvSpPr>
          <p:nvPr>
            <p:ph type="title"/>
          </p:nvPr>
        </p:nvSpPr>
        <p:spPr>
          <a:xfrm>
            <a:off x="457450" y="454825"/>
            <a:ext cx="70005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Distance to Uncontrollability</a:t>
            </a:r>
            <a:endParaRPr/>
          </a:p>
        </p:txBody>
      </p:sp>
      <p:sp>
        <p:nvSpPr>
          <p:cNvPr id="4223" name="Google Shape;4223;p53"/>
          <p:cNvSpPr txBox="1">
            <a:spLocks noGrp="1"/>
          </p:cNvSpPr>
          <p:nvPr>
            <p:ph type="body" idx="1"/>
          </p:nvPr>
        </p:nvSpPr>
        <p:spPr>
          <a:xfrm>
            <a:off x="457450" y="1146025"/>
            <a:ext cx="7450800" cy="3519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Model perturbations can turn a controllable dynamical system into an uncontrollable system.</a:t>
            </a:r>
            <a:endParaRPr b="1">
              <a:latin typeface="Titillium Web"/>
              <a:ea typeface="Titillium Web"/>
              <a:cs typeface="Titillium Web"/>
              <a:sym typeface="Titillium Web"/>
            </a:endParaRPr>
          </a:p>
          <a:p>
            <a:pPr marL="0" lvl="0" indent="0" algn="l" rtl="0">
              <a:spcBef>
                <a:spcPts val="600"/>
              </a:spcBef>
              <a:spcAft>
                <a:spcPts val="0"/>
              </a:spcAft>
              <a:buNone/>
            </a:pPr>
            <a:endParaRPr b="1">
              <a:latin typeface="Titillium Web"/>
              <a:ea typeface="Titillium Web"/>
              <a:cs typeface="Titillium Web"/>
              <a:sym typeface="Titillium Web"/>
            </a:endParaRPr>
          </a:p>
          <a:p>
            <a:pPr marL="0" lvl="0" indent="0" algn="l" rtl="0">
              <a:spcBef>
                <a:spcPts val="600"/>
              </a:spcBef>
              <a:spcAft>
                <a:spcPts val="0"/>
              </a:spcAft>
              <a:buNone/>
            </a:pPr>
            <a:r>
              <a:rPr lang="en" b="1">
                <a:latin typeface="Titillium Web"/>
                <a:ea typeface="Titillium Web"/>
                <a:cs typeface="Titillium Web"/>
                <a:sym typeface="Titillium Web"/>
              </a:rPr>
              <a:t>Paper derives lower bound on distance to uncontrollability, and shows it is inversely proportional to total control effort.</a:t>
            </a:r>
            <a:endParaRPr b="1">
              <a:latin typeface="Titillium Web"/>
              <a:ea typeface="Titillium Web"/>
              <a:cs typeface="Titillium Web"/>
              <a:sym typeface="Titillium Web"/>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r>
              <a:rPr lang="en" b="1">
                <a:latin typeface="Titillium Web"/>
                <a:ea typeface="Titillium Web"/>
                <a:cs typeface="Titillium Web"/>
                <a:sym typeface="Titillium Web"/>
              </a:rPr>
              <a:t>Larger distance to uncontrollability means the system is more robust.</a:t>
            </a:r>
            <a:endParaRPr/>
          </a:p>
        </p:txBody>
      </p:sp>
      <p:pic>
        <p:nvPicPr>
          <p:cNvPr id="4224" name="Google Shape;4224;p53"/>
          <p:cNvPicPr preferRelativeResize="0"/>
          <p:nvPr/>
        </p:nvPicPr>
        <p:blipFill>
          <a:blip r:embed="rId3">
            <a:alphaModFix/>
          </a:blip>
          <a:stretch>
            <a:fillRect/>
          </a:stretch>
        </p:blipFill>
        <p:spPr>
          <a:xfrm>
            <a:off x="2993127" y="3028751"/>
            <a:ext cx="2379452" cy="802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28"/>
        <p:cNvGrpSpPr/>
        <p:nvPr/>
      </p:nvGrpSpPr>
      <p:grpSpPr>
        <a:xfrm>
          <a:off x="0" y="0"/>
          <a:ext cx="0" cy="0"/>
          <a:chOff x="0" y="0"/>
          <a:chExt cx="0" cy="0"/>
        </a:xfrm>
      </p:grpSpPr>
      <p:sp>
        <p:nvSpPr>
          <p:cNvPr id="4229" name="Google Shape;4229;p5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Results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33"/>
        <p:cNvGrpSpPr/>
        <p:nvPr/>
      </p:nvGrpSpPr>
      <p:grpSpPr>
        <a:xfrm>
          <a:off x="0" y="0"/>
          <a:ext cx="0" cy="0"/>
          <a:chOff x="0" y="0"/>
          <a:chExt cx="0" cy="0"/>
        </a:xfrm>
      </p:grpSpPr>
      <p:sp>
        <p:nvSpPr>
          <p:cNvPr id="4234" name="Google Shape;4234;p55"/>
          <p:cNvSpPr txBox="1">
            <a:spLocks noGrp="1"/>
          </p:cNvSpPr>
          <p:nvPr>
            <p:ph type="title"/>
          </p:nvPr>
        </p:nvSpPr>
        <p:spPr>
          <a:xfrm>
            <a:off x="457450" y="454825"/>
            <a:ext cx="56982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Experimental Setup</a:t>
            </a:r>
            <a:endParaRPr/>
          </a:p>
        </p:txBody>
      </p:sp>
      <p:sp>
        <p:nvSpPr>
          <p:cNvPr id="4235" name="Google Shape;4235;p55"/>
          <p:cNvSpPr txBox="1">
            <a:spLocks noGrp="1"/>
          </p:cNvSpPr>
          <p:nvPr>
            <p:ph type="body" idx="1"/>
          </p:nvPr>
        </p:nvSpPr>
        <p:spPr>
          <a:xfrm>
            <a:off x="457450" y="1146025"/>
            <a:ext cx="7418400" cy="35910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a:t>Three agent types compared</a:t>
            </a:r>
            <a:endParaRPr/>
          </a:p>
          <a:p>
            <a:pPr marL="914400" lvl="1" indent="-342900" algn="l" rtl="0">
              <a:spcBef>
                <a:spcPts val="0"/>
              </a:spcBef>
              <a:spcAft>
                <a:spcPts val="0"/>
              </a:spcAft>
              <a:buSzPts val="1800"/>
              <a:buChar char="▫"/>
            </a:pPr>
            <a:r>
              <a:rPr lang="en" b="1">
                <a:latin typeface="Titillium Web"/>
                <a:ea typeface="Titillium Web"/>
                <a:cs typeface="Titillium Web"/>
                <a:sym typeface="Titillium Web"/>
              </a:rPr>
              <a:t>Nominal:</a:t>
            </a:r>
            <a:r>
              <a:rPr lang="en"/>
              <a:t> No random or adversarial perturbations</a:t>
            </a:r>
            <a:endParaRPr/>
          </a:p>
          <a:p>
            <a:pPr marL="914400" lvl="1" indent="-342900" algn="l" rtl="0">
              <a:spcBef>
                <a:spcPts val="0"/>
              </a:spcBef>
              <a:spcAft>
                <a:spcPts val="0"/>
              </a:spcAft>
              <a:buSzPts val="1800"/>
              <a:buChar char="▫"/>
            </a:pPr>
            <a:r>
              <a:rPr lang="en" b="1">
                <a:latin typeface="Titillium Web"/>
                <a:ea typeface="Titillium Web"/>
                <a:cs typeface="Titillium Web"/>
                <a:sym typeface="Titillium Web"/>
              </a:rPr>
              <a:t>Random:</a:t>
            </a:r>
            <a:r>
              <a:rPr lang="en"/>
              <a:t> ARPL with random perturbations</a:t>
            </a:r>
            <a:endParaRPr/>
          </a:p>
          <a:p>
            <a:pPr marL="914400" lvl="1" indent="-342900" algn="l" rtl="0">
              <a:spcBef>
                <a:spcPts val="0"/>
              </a:spcBef>
              <a:spcAft>
                <a:spcPts val="0"/>
              </a:spcAft>
              <a:buSzPts val="1800"/>
              <a:buChar char="▫"/>
            </a:pPr>
            <a:r>
              <a:rPr lang="en" b="1">
                <a:latin typeface="Titillium Web"/>
                <a:ea typeface="Titillium Web"/>
                <a:cs typeface="Titillium Web"/>
                <a:sym typeface="Titillium Web"/>
              </a:rPr>
              <a:t>Adversarial:</a:t>
            </a:r>
            <a:r>
              <a:rPr lang="en"/>
              <a:t> ARPL with adversarial perturbations</a:t>
            </a:r>
            <a:endParaRPr/>
          </a:p>
          <a:p>
            <a:pPr marL="0" lvl="0" indent="0" algn="l" rtl="0">
              <a:spcBef>
                <a:spcPts val="600"/>
              </a:spcBef>
              <a:spcAft>
                <a:spcPts val="0"/>
              </a:spcAft>
              <a:buNone/>
            </a:pPr>
            <a:endParaRPr/>
          </a:p>
          <a:p>
            <a:pPr marL="457200" lvl="0" indent="-342900" algn="l" rtl="0">
              <a:spcBef>
                <a:spcPts val="600"/>
              </a:spcBef>
              <a:spcAft>
                <a:spcPts val="0"/>
              </a:spcAft>
              <a:buSzPts val="1800"/>
              <a:buChar char="▪"/>
            </a:pPr>
            <a:r>
              <a:rPr lang="en"/>
              <a:t>All agents trained with TRPO</a:t>
            </a:r>
            <a:endParaRPr/>
          </a:p>
          <a:p>
            <a:pPr marL="0" lvl="0" indent="0" algn="l" rtl="0">
              <a:spcBef>
                <a:spcPts val="600"/>
              </a:spcBef>
              <a:spcAft>
                <a:spcPts val="0"/>
              </a:spcAft>
              <a:buNone/>
            </a:pPr>
            <a:endParaRPr/>
          </a:p>
          <a:p>
            <a:pPr marL="457200" lvl="0" indent="-342900" algn="l" rtl="0">
              <a:spcBef>
                <a:spcPts val="600"/>
              </a:spcBef>
              <a:spcAft>
                <a:spcPts val="0"/>
              </a:spcAft>
              <a:buSzPts val="1800"/>
              <a:buChar char="▪"/>
            </a:pPr>
            <a:r>
              <a:rPr lang="en"/>
              <a:t>15 agents of each type trained. Selected agent with best learning curve</a:t>
            </a:r>
            <a:endParaRPr/>
          </a:p>
          <a:p>
            <a:pPr marL="914400" lvl="1" indent="-342900" algn="l" rtl="0">
              <a:spcBef>
                <a:spcPts val="0"/>
              </a:spcBef>
              <a:spcAft>
                <a:spcPts val="0"/>
              </a:spcAft>
              <a:buSzPts val="1800"/>
              <a:buChar char="▫"/>
            </a:pPr>
            <a:r>
              <a:rPr lang="en"/>
              <a:t>Necessary due to high variance of performance across trainings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39"/>
        <p:cNvGrpSpPr/>
        <p:nvPr/>
      </p:nvGrpSpPr>
      <p:grpSpPr>
        <a:xfrm>
          <a:off x="0" y="0"/>
          <a:ext cx="0" cy="0"/>
          <a:chOff x="0" y="0"/>
          <a:chExt cx="0" cy="0"/>
        </a:xfrm>
      </p:grpSpPr>
      <p:sp>
        <p:nvSpPr>
          <p:cNvPr id="4240" name="Google Shape;4240;p56"/>
          <p:cNvSpPr txBox="1">
            <a:spLocks noGrp="1"/>
          </p:cNvSpPr>
          <p:nvPr>
            <p:ph type="title"/>
          </p:nvPr>
        </p:nvSpPr>
        <p:spPr>
          <a:xfrm>
            <a:off x="457450" y="165775"/>
            <a:ext cx="6239700" cy="90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Adversarial Agent is Robust to Random Process Noise,</a:t>
            </a:r>
            <a:endParaRPr sz="2400"/>
          </a:p>
          <a:p>
            <a:pPr marL="0" lvl="0" indent="0" algn="l" rtl="0">
              <a:spcBef>
                <a:spcPts val="0"/>
              </a:spcBef>
              <a:spcAft>
                <a:spcPts val="0"/>
              </a:spcAft>
              <a:buNone/>
            </a:pPr>
            <a:r>
              <a:rPr lang="en" sz="2400"/>
              <a:t>but not Adversarial Process Noise</a:t>
            </a:r>
            <a:endParaRPr sz="2400"/>
          </a:p>
        </p:txBody>
      </p:sp>
      <p:sp>
        <p:nvSpPr>
          <p:cNvPr id="4241" name="Google Shape;4241;p56"/>
          <p:cNvSpPr txBox="1">
            <a:spLocks noGrp="1"/>
          </p:cNvSpPr>
          <p:nvPr>
            <p:ph type="body" idx="1"/>
          </p:nvPr>
        </p:nvSpPr>
        <p:spPr>
          <a:xfrm>
            <a:off x="457450" y="1067725"/>
            <a:ext cx="7077900" cy="1567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Adversarial Process Noise:</a:t>
            </a:r>
            <a:r>
              <a:rPr lang="en"/>
              <a:t> Robust only in region of training</a:t>
            </a:r>
            <a:endParaRPr b="1">
              <a:latin typeface="Titillium Web"/>
              <a:ea typeface="Titillium Web"/>
              <a:cs typeface="Titillium Web"/>
              <a:sym typeface="Titillium Web"/>
            </a:endParaRPr>
          </a:p>
          <a:p>
            <a:pPr marL="0" lvl="0" indent="0" algn="l" rtl="0">
              <a:spcBef>
                <a:spcPts val="600"/>
              </a:spcBef>
              <a:spcAft>
                <a:spcPts val="0"/>
              </a:spcAft>
              <a:buNone/>
            </a:pPr>
            <a:r>
              <a:rPr lang="en" b="1">
                <a:latin typeface="Titillium Web"/>
                <a:ea typeface="Titillium Web"/>
                <a:cs typeface="Titillium Web"/>
                <a:sym typeface="Titillium Web"/>
              </a:rPr>
              <a:t>Random Process Noise:</a:t>
            </a:r>
            <a:r>
              <a:rPr lang="en"/>
              <a:t> Robust against all frequencies of random process noise perturbations, much more so than the random agent</a:t>
            </a:r>
            <a:endParaRPr/>
          </a:p>
        </p:txBody>
      </p:sp>
      <p:pic>
        <p:nvPicPr>
          <p:cNvPr id="4242" name="Google Shape;4242;p56"/>
          <p:cNvPicPr preferRelativeResize="0"/>
          <p:nvPr/>
        </p:nvPicPr>
        <p:blipFill>
          <a:blip r:embed="rId3">
            <a:alphaModFix/>
          </a:blip>
          <a:stretch>
            <a:fillRect/>
          </a:stretch>
        </p:blipFill>
        <p:spPr>
          <a:xfrm>
            <a:off x="267875" y="2772574"/>
            <a:ext cx="7828576" cy="22176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46"/>
        <p:cNvGrpSpPr/>
        <p:nvPr/>
      </p:nvGrpSpPr>
      <p:grpSpPr>
        <a:xfrm>
          <a:off x="0" y="0"/>
          <a:ext cx="0" cy="0"/>
          <a:chOff x="0" y="0"/>
          <a:chExt cx="0" cy="0"/>
        </a:xfrm>
      </p:grpSpPr>
      <p:sp>
        <p:nvSpPr>
          <p:cNvPr id="4247" name="Google Shape;4247;p57"/>
          <p:cNvSpPr txBox="1">
            <a:spLocks noGrp="1"/>
          </p:cNvSpPr>
          <p:nvPr>
            <p:ph type="title"/>
          </p:nvPr>
        </p:nvSpPr>
        <p:spPr>
          <a:xfrm>
            <a:off x="457450" y="272575"/>
            <a:ext cx="4793100" cy="79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Adversarial Agent is Very Robust to Random and Adversarial Dynamics Noise</a:t>
            </a:r>
            <a:endParaRPr sz="2400"/>
          </a:p>
        </p:txBody>
      </p:sp>
      <p:sp>
        <p:nvSpPr>
          <p:cNvPr id="4248" name="Google Shape;4248;p57"/>
          <p:cNvSpPr txBox="1">
            <a:spLocks noGrp="1"/>
          </p:cNvSpPr>
          <p:nvPr>
            <p:ph type="body" idx="1"/>
          </p:nvPr>
        </p:nvSpPr>
        <p:spPr>
          <a:xfrm>
            <a:off x="457450" y="1067725"/>
            <a:ext cx="7077900" cy="1449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Both adversarial and random agents are significantly more robust than nominal agents.</a:t>
            </a:r>
            <a:endParaRPr/>
          </a:p>
          <a:p>
            <a:pPr marL="457200" lvl="0" indent="-342900" algn="l" rtl="0">
              <a:spcBef>
                <a:spcPts val="600"/>
              </a:spcBef>
              <a:spcAft>
                <a:spcPts val="0"/>
              </a:spcAft>
              <a:buSzPts val="1800"/>
              <a:buChar char="▪"/>
            </a:pPr>
            <a:r>
              <a:rPr lang="en"/>
              <a:t>Random agent is especially robust to random dynamics noise.</a:t>
            </a:r>
            <a:endParaRPr/>
          </a:p>
        </p:txBody>
      </p:sp>
      <p:pic>
        <p:nvPicPr>
          <p:cNvPr id="4249" name="Google Shape;4249;p57"/>
          <p:cNvPicPr preferRelativeResize="0"/>
          <p:nvPr/>
        </p:nvPicPr>
        <p:blipFill>
          <a:blip r:embed="rId3">
            <a:alphaModFix/>
          </a:blip>
          <a:stretch>
            <a:fillRect/>
          </a:stretch>
        </p:blipFill>
        <p:spPr>
          <a:xfrm>
            <a:off x="264575" y="2772576"/>
            <a:ext cx="7862203" cy="22176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53"/>
        <p:cNvGrpSpPr/>
        <p:nvPr/>
      </p:nvGrpSpPr>
      <p:grpSpPr>
        <a:xfrm>
          <a:off x="0" y="0"/>
          <a:ext cx="0" cy="0"/>
          <a:chOff x="0" y="0"/>
          <a:chExt cx="0" cy="0"/>
        </a:xfrm>
      </p:grpSpPr>
      <p:sp>
        <p:nvSpPr>
          <p:cNvPr id="4254" name="Google Shape;4254;p58"/>
          <p:cNvSpPr txBox="1">
            <a:spLocks noGrp="1"/>
          </p:cNvSpPr>
          <p:nvPr>
            <p:ph type="title"/>
          </p:nvPr>
        </p:nvSpPr>
        <p:spPr>
          <a:xfrm>
            <a:off x="457450" y="107150"/>
            <a:ext cx="3464400" cy="154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Adversarial and Random Dynamics Noise Agents are Robust to Changes in Environment Dynamics</a:t>
            </a:r>
            <a:endParaRPr sz="2400"/>
          </a:p>
        </p:txBody>
      </p:sp>
      <p:sp>
        <p:nvSpPr>
          <p:cNvPr id="4255" name="Google Shape;4255;p58"/>
          <p:cNvSpPr txBox="1">
            <a:spLocks noGrp="1"/>
          </p:cNvSpPr>
          <p:nvPr>
            <p:ph type="body" idx="1"/>
          </p:nvPr>
        </p:nvSpPr>
        <p:spPr>
          <a:xfrm>
            <a:off x="457450" y="1928375"/>
            <a:ext cx="2923800" cy="2907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Both adversarial and random agents are much more robust than nominal agents.</a:t>
            </a:r>
            <a:endParaRPr/>
          </a:p>
          <a:p>
            <a:pPr marL="0" lvl="0" indent="0" algn="l" rtl="0">
              <a:spcBef>
                <a:spcPts val="600"/>
              </a:spcBef>
              <a:spcAft>
                <a:spcPts val="0"/>
              </a:spcAft>
              <a:buNone/>
            </a:pPr>
            <a:endParaRPr/>
          </a:p>
          <a:p>
            <a:pPr marL="0" lvl="0" indent="0" algn="l" rtl="0">
              <a:spcBef>
                <a:spcPts val="600"/>
              </a:spcBef>
              <a:spcAft>
                <a:spcPts val="0"/>
              </a:spcAft>
              <a:buNone/>
            </a:pPr>
            <a:r>
              <a:rPr lang="en" b="1">
                <a:latin typeface="Titillium Web"/>
                <a:ea typeface="Titillium Web"/>
                <a:cs typeface="Titillium Web"/>
                <a:sym typeface="Titillium Web"/>
              </a:rPr>
              <a:t>Adversarial agents not much better than random agents</a:t>
            </a:r>
            <a:endParaRPr/>
          </a:p>
        </p:txBody>
      </p:sp>
      <p:pic>
        <p:nvPicPr>
          <p:cNvPr id="4256" name="Google Shape;4256;p58"/>
          <p:cNvPicPr preferRelativeResize="0"/>
          <p:nvPr/>
        </p:nvPicPr>
        <p:blipFill>
          <a:blip r:embed="rId3">
            <a:alphaModFix/>
          </a:blip>
          <a:stretch>
            <a:fillRect/>
          </a:stretch>
        </p:blipFill>
        <p:spPr>
          <a:xfrm>
            <a:off x="3921925" y="298075"/>
            <a:ext cx="4039774" cy="45382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260"/>
        <p:cNvGrpSpPr/>
        <p:nvPr/>
      </p:nvGrpSpPr>
      <p:grpSpPr>
        <a:xfrm>
          <a:off x="0" y="0"/>
          <a:ext cx="0" cy="0"/>
          <a:chOff x="0" y="0"/>
          <a:chExt cx="0" cy="0"/>
        </a:xfrm>
      </p:grpSpPr>
      <p:sp>
        <p:nvSpPr>
          <p:cNvPr id="4261" name="Google Shape;4261;p59"/>
          <p:cNvSpPr txBox="1">
            <a:spLocks noGrp="1"/>
          </p:cNvSpPr>
          <p:nvPr>
            <p:ph type="title"/>
          </p:nvPr>
        </p:nvSpPr>
        <p:spPr>
          <a:xfrm>
            <a:off x="457450" y="267900"/>
            <a:ext cx="7434900" cy="7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Adversarial Agent Sometimes Exerts less Control Effort</a:t>
            </a:r>
            <a:endParaRPr sz="2400"/>
          </a:p>
        </p:txBody>
      </p:sp>
      <p:sp>
        <p:nvSpPr>
          <p:cNvPr id="4262" name="Google Shape;4262;p59"/>
          <p:cNvSpPr txBox="1">
            <a:spLocks noGrp="1"/>
          </p:cNvSpPr>
          <p:nvPr>
            <p:ph type="body" idx="1"/>
          </p:nvPr>
        </p:nvSpPr>
        <p:spPr>
          <a:xfrm>
            <a:off x="457450" y="1067725"/>
            <a:ext cx="7077900" cy="799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Adversarial agent does not always exert less control effort.  Indeed, more complex agents exert more control effort.</a:t>
            </a:r>
            <a:endParaRPr/>
          </a:p>
        </p:txBody>
      </p:sp>
      <p:pic>
        <p:nvPicPr>
          <p:cNvPr id="4263" name="Google Shape;4263;p59"/>
          <p:cNvPicPr preferRelativeResize="0"/>
          <p:nvPr/>
        </p:nvPicPr>
        <p:blipFill>
          <a:blip r:embed="rId3">
            <a:alphaModFix/>
          </a:blip>
          <a:stretch>
            <a:fillRect/>
          </a:stretch>
        </p:blipFill>
        <p:spPr>
          <a:xfrm>
            <a:off x="264575" y="2961381"/>
            <a:ext cx="7862199" cy="200821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67"/>
        <p:cNvGrpSpPr/>
        <p:nvPr/>
      </p:nvGrpSpPr>
      <p:grpSpPr>
        <a:xfrm>
          <a:off x="0" y="0"/>
          <a:ext cx="0" cy="0"/>
          <a:chOff x="0" y="0"/>
          <a:chExt cx="0" cy="0"/>
        </a:xfrm>
      </p:grpSpPr>
      <p:sp>
        <p:nvSpPr>
          <p:cNvPr id="4268" name="Google Shape;4268;p6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Critiques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72"/>
        <p:cNvGrpSpPr/>
        <p:nvPr/>
      </p:nvGrpSpPr>
      <p:grpSpPr>
        <a:xfrm>
          <a:off x="0" y="0"/>
          <a:ext cx="0" cy="0"/>
          <a:chOff x="0" y="0"/>
          <a:chExt cx="0" cy="0"/>
        </a:xfrm>
      </p:grpSpPr>
      <p:sp>
        <p:nvSpPr>
          <p:cNvPr id="4273" name="Google Shape;4273;p61"/>
          <p:cNvSpPr txBox="1">
            <a:spLocks noGrp="1"/>
          </p:cNvSpPr>
          <p:nvPr>
            <p:ph type="title"/>
          </p:nvPr>
        </p:nvSpPr>
        <p:spPr>
          <a:xfrm>
            <a:off x="457450" y="454825"/>
            <a:ext cx="72900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No Experimental Evaluation of Attacking Observation Noise</a:t>
            </a:r>
            <a:endParaRPr sz="2400"/>
          </a:p>
        </p:txBody>
      </p:sp>
      <p:sp>
        <p:nvSpPr>
          <p:cNvPr id="4274" name="Google Shape;4274;p61"/>
          <p:cNvSpPr txBox="1">
            <a:spLocks noGrp="1"/>
          </p:cNvSpPr>
          <p:nvPr>
            <p:ph type="body" idx="1"/>
          </p:nvPr>
        </p:nvSpPr>
        <p:spPr>
          <a:xfrm>
            <a:off x="457450" y="3021800"/>
            <a:ext cx="7444800" cy="1761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i="1"/>
              <a:t>Paper’s Justification:</a:t>
            </a:r>
            <a:r>
              <a:rPr lang="en"/>
              <a:t> Space Constraints</a:t>
            </a:r>
            <a:endParaRPr/>
          </a:p>
          <a:p>
            <a:pPr marL="0" lvl="0" indent="0" algn="l" rtl="0">
              <a:spcBef>
                <a:spcPts val="600"/>
              </a:spcBef>
              <a:spcAft>
                <a:spcPts val="0"/>
              </a:spcAft>
              <a:buNone/>
            </a:pPr>
            <a:endParaRPr/>
          </a:p>
          <a:p>
            <a:pPr marL="0" lvl="0" indent="0" algn="l" rtl="0">
              <a:spcBef>
                <a:spcPts val="600"/>
              </a:spcBef>
              <a:spcAft>
                <a:spcPts val="0"/>
              </a:spcAft>
              <a:buNone/>
            </a:pPr>
            <a:r>
              <a:rPr lang="en" b="1">
                <a:latin typeface="Titillium Web"/>
                <a:ea typeface="Titillium Web"/>
                <a:cs typeface="Titillium Web"/>
                <a:sym typeface="Titillium Web"/>
              </a:rPr>
              <a:t>Observation noise is very important in the context of real world robot experiments, so evaluation is still desirable.</a:t>
            </a:r>
            <a:endParaRPr b="1">
              <a:latin typeface="Titillium Web"/>
              <a:ea typeface="Titillium Web"/>
              <a:cs typeface="Titillium Web"/>
              <a:sym typeface="Titillium Web"/>
            </a:endParaRPr>
          </a:p>
        </p:txBody>
      </p:sp>
      <p:pic>
        <p:nvPicPr>
          <p:cNvPr id="4275" name="Google Shape;4275;p61"/>
          <p:cNvPicPr preferRelativeResize="0"/>
          <p:nvPr/>
        </p:nvPicPr>
        <p:blipFill>
          <a:blip r:embed="rId3">
            <a:alphaModFix/>
          </a:blip>
          <a:stretch>
            <a:fillRect/>
          </a:stretch>
        </p:blipFill>
        <p:spPr>
          <a:xfrm>
            <a:off x="552450" y="1413250"/>
            <a:ext cx="7254788" cy="495950"/>
          </a:xfrm>
          <a:prstGeom prst="rect">
            <a:avLst/>
          </a:prstGeom>
          <a:noFill/>
          <a:ln>
            <a:noFill/>
          </a:ln>
        </p:spPr>
      </p:pic>
      <p:sp>
        <p:nvSpPr>
          <p:cNvPr id="4276" name="Google Shape;4276;p61"/>
          <p:cNvSpPr/>
          <p:nvPr/>
        </p:nvSpPr>
        <p:spPr>
          <a:xfrm rot="5400000">
            <a:off x="2465850" y="2144850"/>
            <a:ext cx="836400" cy="365100"/>
          </a:xfrm>
          <a:prstGeom prst="lef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77" name="Google Shape;4277;p61"/>
          <p:cNvPicPr preferRelativeResize="0"/>
          <p:nvPr/>
        </p:nvPicPr>
        <p:blipFill>
          <a:blip r:embed="rId4">
            <a:alphaModFix/>
          </a:blip>
          <a:stretch>
            <a:fillRect/>
          </a:stretch>
        </p:blipFill>
        <p:spPr>
          <a:xfrm>
            <a:off x="3019300" y="2249647"/>
            <a:ext cx="511068" cy="49594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81"/>
        <p:cNvGrpSpPr/>
        <p:nvPr/>
      </p:nvGrpSpPr>
      <p:grpSpPr>
        <a:xfrm>
          <a:off x="0" y="0"/>
          <a:ext cx="0" cy="0"/>
          <a:chOff x="0" y="0"/>
          <a:chExt cx="0" cy="0"/>
        </a:xfrm>
      </p:grpSpPr>
      <p:sp>
        <p:nvSpPr>
          <p:cNvPr id="4282" name="Google Shape;4282;p62"/>
          <p:cNvSpPr txBox="1">
            <a:spLocks noGrp="1"/>
          </p:cNvSpPr>
          <p:nvPr>
            <p:ph type="title"/>
          </p:nvPr>
        </p:nvSpPr>
        <p:spPr>
          <a:xfrm>
            <a:off x="457450" y="454825"/>
            <a:ext cx="72900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Unjustified Definition of “Physically-Plausible” Perturbations</a:t>
            </a:r>
            <a:endParaRPr sz="2400"/>
          </a:p>
        </p:txBody>
      </p:sp>
      <p:sp>
        <p:nvSpPr>
          <p:cNvPr id="4283" name="Google Shape;4283;p62"/>
          <p:cNvSpPr txBox="1">
            <a:spLocks noGrp="1"/>
          </p:cNvSpPr>
          <p:nvPr>
            <p:ph type="body" idx="1"/>
          </p:nvPr>
        </p:nvSpPr>
        <p:spPr>
          <a:xfrm>
            <a:off x="3084150" y="2068950"/>
            <a:ext cx="2975700" cy="502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 Nominal (source) dynamics</a:t>
            </a:r>
            <a:endParaRPr/>
          </a:p>
        </p:txBody>
      </p:sp>
      <p:pic>
        <p:nvPicPr>
          <p:cNvPr id="4284" name="Google Shape;4284;p62" descr="\mu \in \left[0.5\mu_{0}, 1.5\mu_{0}\right]" title="MathEquation,#000000"/>
          <p:cNvPicPr preferRelativeResize="0"/>
          <p:nvPr/>
        </p:nvPicPr>
        <p:blipFill>
          <a:blip r:embed="rId3">
            <a:alphaModFix/>
          </a:blip>
          <a:stretch>
            <a:fillRect/>
          </a:stretch>
        </p:blipFill>
        <p:spPr>
          <a:xfrm>
            <a:off x="1814650" y="1189675"/>
            <a:ext cx="4575576" cy="737800"/>
          </a:xfrm>
          <a:prstGeom prst="rect">
            <a:avLst/>
          </a:prstGeom>
          <a:noFill/>
          <a:ln>
            <a:noFill/>
          </a:ln>
        </p:spPr>
      </p:pic>
      <p:sp>
        <p:nvSpPr>
          <p:cNvPr id="4285" name="Google Shape;4285;p62"/>
          <p:cNvSpPr txBox="1">
            <a:spLocks noGrp="1"/>
          </p:cNvSpPr>
          <p:nvPr>
            <p:ph type="body" idx="1"/>
          </p:nvPr>
        </p:nvSpPr>
        <p:spPr>
          <a:xfrm>
            <a:off x="457450" y="2882500"/>
            <a:ext cx="7444800" cy="1976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Titillium Web"/>
                <a:ea typeface="Titillium Web"/>
                <a:cs typeface="Titillium Web"/>
                <a:sym typeface="Titillium Web"/>
              </a:rPr>
              <a:t>Why was this bounded variation range selected?  How does this range maintain the “physical plausibility” of perturbations?</a:t>
            </a:r>
            <a:endParaRPr b="1">
              <a:latin typeface="Titillium Web"/>
              <a:ea typeface="Titillium Web"/>
              <a:cs typeface="Titillium Web"/>
              <a:sym typeface="Titillium Web"/>
            </a:endParaRPr>
          </a:p>
          <a:p>
            <a:pPr marL="0" lvl="0" indent="0" algn="l" rtl="0">
              <a:spcBef>
                <a:spcPts val="600"/>
              </a:spcBef>
              <a:spcAft>
                <a:spcPts val="0"/>
              </a:spcAft>
              <a:buNone/>
            </a:pPr>
            <a:endParaRPr b="1">
              <a:latin typeface="Titillium Web"/>
              <a:ea typeface="Titillium Web"/>
              <a:cs typeface="Titillium Web"/>
              <a:sym typeface="Titillium Web"/>
            </a:endParaRPr>
          </a:p>
          <a:p>
            <a:pPr marL="0" lvl="0" indent="0" algn="l" rtl="0">
              <a:spcBef>
                <a:spcPts val="600"/>
              </a:spcBef>
              <a:spcAft>
                <a:spcPts val="0"/>
              </a:spcAft>
              <a:buNone/>
            </a:pPr>
            <a:r>
              <a:rPr lang="en" b="1">
                <a:latin typeface="Titillium Web"/>
                <a:ea typeface="Titillium Web"/>
                <a:cs typeface="Titillium Web"/>
                <a:sym typeface="Titillium Web"/>
              </a:rPr>
              <a:t>Justification and a more precise definition of “physical plausibility” is desirable.</a:t>
            </a:r>
            <a:endParaRPr b="1">
              <a:latin typeface="Titillium Web"/>
              <a:ea typeface="Titillium Web"/>
              <a:cs typeface="Titillium Web"/>
              <a:sym typeface="Titillium Web"/>
            </a:endParaRPr>
          </a:p>
        </p:txBody>
      </p:sp>
      <p:pic>
        <p:nvPicPr>
          <p:cNvPr id="4286" name="Google Shape;4286;p62" descr="\mu_{0}" title="MathEquation,#000000"/>
          <p:cNvPicPr preferRelativeResize="0"/>
          <p:nvPr/>
        </p:nvPicPr>
        <p:blipFill>
          <a:blip r:embed="rId4">
            <a:alphaModFix/>
          </a:blip>
          <a:stretch>
            <a:fillRect/>
          </a:stretch>
        </p:blipFill>
        <p:spPr>
          <a:xfrm>
            <a:off x="2739475" y="2242625"/>
            <a:ext cx="412050" cy="3291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290"/>
        <p:cNvGrpSpPr/>
        <p:nvPr/>
      </p:nvGrpSpPr>
      <p:grpSpPr>
        <a:xfrm>
          <a:off x="0" y="0"/>
          <a:ext cx="0" cy="0"/>
          <a:chOff x="0" y="0"/>
          <a:chExt cx="0" cy="0"/>
        </a:xfrm>
      </p:grpSpPr>
      <p:sp>
        <p:nvSpPr>
          <p:cNvPr id="4291" name="Google Shape;4291;p63"/>
          <p:cNvSpPr txBox="1">
            <a:spLocks noGrp="1"/>
          </p:cNvSpPr>
          <p:nvPr>
            <p:ph type="title"/>
          </p:nvPr>
        </p:nvSpPr>
        <p:spPr>
          <a:xfrm>
            <a:off x="457450" y="454825"/>
            <a:ext cx="56982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Other Disadvantages</a:t>
            </a:r>
            <a:endParaRPr/>
          </a:p>
        </p:txBody>
      </p:sp>
      <p:sp>
        <p:nvSpPr>
          <p:cNvPr id="4292" name="Google Shape;4292;p63"/>
          <p:cNvSpPr txBox="1">
            <a:spLocks noGrp="1"/>
          </p:cNvSpPr>
          <p:nvPr>
            <p:ph type="body" idx="1"/>
          </p:nvPr>
        </p:nvSpPr>
        <p:spPr>
          <a:xfrm>
            <a:off x="457450" y="1146025"/>
            <a:ext cx="7444800" cy="36378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a:t>Conclusions of process noise only come from Inverted Pendulum.</a:t>
            </a:r>
            <a:endParaRPr/>
          </a:p>
          <a:p>
            <a:pPr marL="457200" lvl="0" indent="-342900" algn="l" rtl="0">
              <a:spcBef>
                <a:spcPts val="0"/>
              </a:spcBef>
              <a:spcAft>
                <a:spcPts val="0"/>
              </a:spcAft>
              <a:buSzPts val="1800"/>
              <a:buChar char="▪"/>
            </a:pPr>
            <a:r>
              <a:rPr lang="en"/>
              <a:t>Distance to uncontrollability lower bound only applies to linear systems</a:t>
            </a:r>
            <a:endParaRPr/>
          </a:p>
          <a:p>
            <a:pPr marL="914400" lvl="1" indent="-342900" algn="l" rtl="0">
              <a:spcBef>
                <a:spcPts val="0"/>
              </a:spcBef>
              <a:spcAft>
                <a:spcPts val="0"/>
              </a:spcAft>
              <a:buSzPts val="1800"/>
              <a:buChar char="▫"/>
            </a:pPr>
            <a:r>
              <a:rPr lang="en"/>
              <a:t>May still serve as a guideline for comparing robustness</a:t>
            </a:r>
            <a:endParaRPr/>
          </a:p>
          <a:p>
            <a:pPr marL="457200" lvl="0" indent="-342900" algn="l" rtl="0">
              <a:spcBef>
                <a:spcPts val="0"/>
              </a:spcBef>
              <a:spcAft>
                <a:spcPts val="0"/>
              </a:spcAft>
              <a:buSzPts val="1800"/>
              <a:buChar char="▪"/>
            </a:pPr>
            <a:r>
              <a:rPr lang="en"/>
              <a:t>Control effort of more complex adversarially-trained agents is worse than nominal agents and agents trained against random noise.</a:t>
            </a:r>
            <a:endParaRPr/>
          </a:p>
          <a:p>
            <a:pPr marL="457200" lvl="0" indent="-342900" algn="l" rtl="0">
              <a:spcBef>
                <a:spcPts val="0"/>
              </a:spcBef>
              <a:spcAft>
                <a:spcPts val="0"/>
              </a:spcAft>
              <a:buSzPts val="1800"/>
              <a:buChar char="▪"/>
            </a:pPr>
            <a:r>
              <a:rPr lang="en"/>
              <a:t>Very high variance in performance of agents trained by ARPL (hence why results were compared across the best agents)</a:t>
            </a:r>
            <a:endParaRPr/>
          </a:p>
          <a:p>
            <a:pPr marL="457200" lvl="0" indent="-342900" algn="l" rtl="0">
              <a:spcBef>
                <a:spcPts val="0"/>
              </a:spcBef>
              <a:spcAft>
                <a:spcPts val="0"/>
              </a:spcAft>
              <a:buSzPts val="1800"/>
              <a:buFont typeface="Titillium Web"/>
              <a:buChar char="▪"/>
            </a:pPr>
            <a:r>
              <a:rPr lang="en" b="1">
                <a:latin typeface="Titillium Web"/>
                <a:ea typeface="Titillium Web"/>
                <a:cs typeface="Titillium Web"/>
                <a:sym typeface="Titillium Web"/>
              </a:rPr>
              <a:t>Adversarial noise perturbations may not perform much better than random noise perturbations.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296"/>
        <p:cNvGrpSpPr/>
        <p:nvPr/>
      </p:nvGrpSpPr>
      <p:grpSpPr>
        <a:xfrm>
          <a:off x="0" y="0"/>
          <a:ext cx="0" cy="0"/>
          <a:chOff x="0" y="0"/>
          <a:chExt cx="0" cy="0"/>
        </a:xfrm>
      </p:grpSpPr>
      <p:sp>
        <p:nvSpPr>
          <p:cNvPr id="4297" name="Google Shape;4297;p64"/>
          <p:cNvSpPr txBox="1">
            <a:spLocks noGrp="1"/>
          </p:cNvSpPr>
          <p:nvPr>
            <p:ph type="ctrTitle" idx="4294967295"/>
          </p:nvPr>
        </p:nvSpPr>
        <p:spPr>
          <a:xfrm>
            <a:off x="675125" y="2180700"/>
            <a:ext cx="2778900" cy="782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800">
                <a:solidFill>
                  <a:schemeClr val="accent2"/>
                </a:solidFill>
              </a:rPr>
              <a:t>Conclusion</a:t>
            </a:r>
            <a:endParaRPr sz="4800">
              <a:solidFill>
                <a:schemeClr val="accent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301"/>
        <p:cNvGrpSpPr/>
        <p:nvPr/>
      </p:nvGrpSpPr>
      <p:grpSpPr>
        <a:xfrm>
          <a:off x="0" y="0"/>
          <a:ext cx="0" cy="0"/>
          <a:chOff x="0" y="0"/>
          <a:chExt cx="0" cy="0"/>
        </a:xfrm>
      </p:grpSpPr>
      <p:sp>
        <p:nvSpPr>
          <p:cNvPr id="4302" name="Google Shape;4302;p65"/>
          <p:cNvSpPr txBox="1">
            <a:spLocks noGrp="1"/>
          </p:cNvSpPr>
          <p:nvPr>
            <p:ph type="title"/>
          </p:nvPr>
        </p:nvSpPr>
        <p:spPr>
          <a:xfrm>
            <a:off x="457450" y="454825"/>
            <a:ext cx="5698200" cy="69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Conclusion</a:t>
            </a:r>
            <a:endParaRPr/>
          </a:p>
        </p:txBody>
      </p:sp>
      <p:sp>
        <p:nvSpPr>
          <p:cNvPr id="4303" name="Google Shape;4303;p65"/>
          <p:cNvSpPr txBox="1">
            <a:spLocks noGrp="1"/>
          </p:cNvSpPr>
          <p:nvPr>
            <p:ph type="body" idx="1"/>
          </p:nvPr>
        </p:nvSpPr>
        <p:spPr>
          <a:xfrm>
            <a:off x="457450" y="1146025"/>
            <a:ext cx="6846000" cy="19383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a:t>Adversarial training approaches show some improvements for simple simulations, but hardly any difference for more complex simulations</a:t>
            </a:r>
            <a:endParaRPr/>
          </a:p>
          <a:p>
            <a:pPr marL="457200" lvl="0" indent="-342900" algn="l" rtl="0">
              <a:spcBef>
                <a:spcPts val="0"/>
              </a:spcBef>
              <a:spcAft>
                <a:spcPts val="0"/>
              </a:spcAft>
              <a:buSzPts val="1800"/>
              <a:buChar char="▪"/>
            </a:pPr>
            <a:r>
              <a:rPr lang="en"/>
              <a:t>Agents adversarially trained for dynamics noise tend to perform about the same as random agents, but with slightly higher rewards</a:t>
            </a:r>
            <a:endParaRPr/>
          </a:p>
        </p:txBody>
      </p:sp>
    </p:spTree>
  </p:cSld>
  <p:clrMapOvr>
    <a:masterClrMapping/>
  </p:clrMapOvr>
</p:sld>
</file>

<file path=ppt/theme/theme1.xml><?xml version="1.0" encoding="utf-8"?>
<a:theme xmlns:a="http://schemas.openxmlformats.org/drawingml/2006/main" name="Mowbray template">
  <a:themeElements>
    <a:clrScheme name="Custom 347">
      <a:dk1>
        <a:srgbClr val="003B55"/>
      </a:dk1>
      <a:lt1>
        <a:srgbClr val="FFFFFF"/>
      </a:lt1>
      <a:dk2>
        <a:srgbClr val="0B87A1"/>
      </a:dk2>
      <a:lt2>
        <a:srgbClr val="EEF1EE"/>
      </a:lt2>
      <a:accent1>
        <a:srgbClr val="D3EBD5"/>
      </a:accent1>
      <a:accent2>
        <a:srgbClr val="80BFB7"/>
      </a:accent2>
      <a:accent3>
        <a:srgbClr val="0B87A1"/>
      </a:accent3>
      <a:accent4>
        <a:srgbClr val="01597F"/>
      </a:accent4>
      <a:accent5>
        <a:srgbClr val="003B55"/>
      </a:accent5>
      <a:accent6>
        <a:srgbClr val="001120"/>
      </a:accent6>
      <a:hlink>
        <a:srgbClr val="01597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3054</Words>
  <Application>Microsoft Office PowerPoint</Application>
  <PresentationFormat>On-screen Show (16:9)</PresentationFormat>
  <Paragraphs>256</Paragraphs>
  <Slides>50</Slides>
  <Notes>50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Titillium Web</vt:lpstr>
      <vt:lpstr>Titillium Web Light</vt:lpstr>
      <vt:lpstr>Dosis ExtraLight</vt:lpstr>
      <vt:lpstr>Dosis</vt:lpstr>
      <vt:lpstr>Arial</vt:lpstr>
      <vt:lpstr>Mowbray template</vt:lpstr>
      <vt:lpstr>Adversarial Reinforcement Learning</vt:lpstr>
      <vt:lpstr>Problems Addressed by Today’s Papers</vt:lpstr>
      <vt:lpstr>Robust Adversarial Reinforcement Learning</vt:lpstr>
      <vt:lpstr>Approach</vt:lpstr>
      <vt:lpstr>The Generalization Problem</vt:lpstr>
      <vt:lpstr>Solution: Optimize Conditional Value at Risk (CVaR)</vt:lpstr>
      <vt:lpstr>Solution: Optimize Conditional Value at Risk (CVaR)</vt:lpstr>
      <vt:lpstr>Solution: Optimize Conditional Value at Risk (CVaR)</vt:lpstr>
      <vt:lpstr>Robust Adversarial Reinforcement Learning (RARL)</vt:lpstr>
      <vt:lpstr>Adversarial Agents for Modeling Disturbances</vt:lpstr>
      <vt:lpstr>Adversaries with Domain Knowledge</vt:lpstr>
      <vt:lpstr>Training by Playing a Zero-Sum Markov Game</vt:lpstr>
      <vt:lpstr>RARL Algorithm</vt:lpstr>
      <vt:lpstr>RARL Algorithm</vt:lpstr>
      <vt:lpstr>RARL Algorithm</vt:lpstr>
      <vt:lpstr>RARL Algorithm</vt:lpstr>
      <vt:lpstr>RARL Algorithm</vt:lpstr>
      <vt:lpstr>RARL Algorithm</vt:lpstr>
      <vt:lpstr>Results</vt:lpstr>
      <vt:lpstr>Rewards Sometimes Better than TRPO</vt:lpstr>
      <vt:lpstr>More Robust to Changes in Mass and Friction than TRPO</vt:lpstr>
      <vt:lpstr>Adversary Learns Intuitive Policy</vt:lpstr>
      <vt:lpstr>Critiques</vt:lpstr>
      <vt:lpstr>Disadvantages</vt:lpstr>
      <vt:lpstr>Adversarially Robust Policy Learning: Active Construction of Physically-Plausible Perturbations</vt:lpstr>
      <vt:lpstr>Approach</vt:lpstr>
      <vt:lpstr>Physical Dynamical Systems</vt:lpstr>
      <vt:lpstr>Adversarially Robust Policy-Learning (ARPL)</vt:lpstr>
      <vt:lpstr>Computing the Optimal Adversarial Noise</vt:lpstr>
      <vt:lpstr>ARPL Algorithm</vt:lpstr>
      <vt:lpstr>ARPL Algorithm</vt:lpstr>
      <vt:lpstr>ARPL Algorithm</vt:lpstr>
      <vt:lpstr>ARPL Algorithm</vt:lpstr>
      <vt:lpstr>ARPL Algorithm</vt:lpstr>
      <vt:lpstr>ARPL Algorithm</vt:lpstr>
      <vt:lpstr>Controllability</vt:lpstr>
      <vt:lpstr>PowerPoint Presentation</vt:lpstr>
      <vt:lpstr>Distance to Uncontrollability</vt:lpstr>
      <vt:lpstr>Results</vt:lpstr>
      <vt:lpstr>Experimental Setup</vt:lpstr>
      <vt:lpstr>Adversarial Agent is Robust to Random Process Noise, but not Adversarial Process Noise</vt:lpstr>
      <vt:lpstr>Adversarial Agent is Very Robust to Random and Adversarial Dynamics Noise</vt:lpstr>
      <vt:lpstr>Adversarial and Random Dynamics Noise Agents are Robust to Changes in Environment Dynamics</vt:lpstr>
      <vt:lpstr>Adversarial Agent Sometimes Exerts less Control Effort</vt:lpstr>
      <vt:lpstr>Critiques</vt:lpstr>
      <vt:lpstr>No Experimental Evaluation of Attacking Observation Noise</vt:lpstr>
      <vt:lpstr>Unjustified Definition of “Physically-Plausible” Perturbations</vt:lpstr>
      <vt:lpstr>Other Disadvantages</vt:lpstr>
      <vt:lpstr>Conclusion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Adversarial Reinforcement Learning</dc:title>
  <cp:lastModifiedBy>Tommy Warther</cp:lastModifiedBy>
  <cp:revision>1</cp:revision>
  <dcterms:modified xsi:type="dcterms:W3CDTF">2019-12-05T21:09:55Z</dcterms:modified>
</cp:coreProperties>
</file>