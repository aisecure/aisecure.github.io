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6c07ac5bdc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6c07ac5bd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7a734ac586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7a734ac586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7a734ac586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7a734ac586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7a734ac586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7a734ac586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6c07ac5bd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6c07ac5bd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define naturally </a:t>
            </a:r>
            <a:r>
              <a:rPr lang="en"/>
              <a:t>occurring</a:t>
            </a:r>
            <a:r>
              <a:rPr lang="en"/>
              <a:t> inputs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6c07ac5bd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6c07ac5bd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implies a sample complexity gap in the high dimensional regime d  &gt;&gt; n0*episoln^−4. What does this mean?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6c07ac5bdc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6c07ac5bdc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Explain what the standard error and the robust error are doing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6c07ac5bdc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6c07ac5bdc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6c07ac5bdc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6c07ac5bdc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6c07ac5bdc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6c07ac5bdc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6c07ac5bdc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6c07ac5bdc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6c07ac5bdc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6c07ac5bdc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6c07ac5bdc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6c07ac5bdc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good </a:t>
            </a:r>
            <a:r>
              <a:rPr lang="en"/>
              <a:t>because</a:t>
            </a:r>
            <a:r>
              <a:rPr lang="en"/>
              <a:t>: we only need a constant number of input samples compared to the supervised setting, and </a:t>
            </a:r>
            <a:r>
              <a:rPr lang="en"/>
              <a:t>epsilon</a:t>
            </a:r>
            <a:r>
              <a:rPr lang="en"/>
              <a:t>^2(sqrt(d/n0)) fewer labels 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6c07ac5bdc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6c07ac5bdc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6c07ac5bdc_1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6c07ac5bdc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6c07ac5bdc_1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6c07ac5bdc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6c07ac5bdc_1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6c07ac5bdc_1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15.png"/><Relationship Id="rId5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5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1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Unlabeled Data Improves Adversarial Robustness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Yair Carmon, Aditi Raghunathan, Ludwig Schmidt Percy Liang, John C. Duchi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235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Make more robust classifiers while keeping accuracy: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Previous work theoretically proved the need for more data to achieve robustness than good accuracy for </a:t>
            </a:r>
            <a:r>
              <a:rPr b="1" lang="en"/>
              <a:t>simple models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Previous work looked into gaining robustness by transferring robust models trained with a lot of labelled data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Robustness Requires Data: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Data is expensive and hard to get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Is it possible to create a robust model without needing a lot of labelled data?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62" name="Google Shape;62;p14"/>
          <p:cNvSpPr txBox="1"/>
          <p:nvPr/>
        </p:nvSpPr>
        <p:spPr>
          <a:xfrm>
            <a:off x="459600" y="3764725"/>
            <a:ext cx="8135700" cy="10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Answer: Semi-Supervised Learning with a </a:t>
            </a:r>
            <a:r>
              <a:rPr b="1" lang="en" sz="1800">
                <a:solidFill>
                  <a:schemeClr val="dk2"/>
                </a:solidFill>
              </a:rPr>
              <a:t>Twist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Semi-Supervised Learning: Self Learning Framework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5"/>
          <p:cNvSpPr/>
          <p:nvPr/>
        </p:nvSpPr>
        <p:spPr>
          <a:xfrm>
            <a:off x="100275" y="2050975"/>
            <a:ext cx="1383900" cy="1627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All Data</a:t>
            </a:r>
            <a:endParaRPr/>
          </a:p>
        </p:txBody>
      </p:sp>
      <p:sp>
        <p:nvSpPr>
          <p:cNvPr id="70" name="Google Shape;70;p15"/>
          <p:cNvSpPr/>
          <p:nvPr/>
        </p:nvSpPr>
        <p:spPr>
          <a:xfrm>
            <a:off x="3793950" y="1821475"/>
            <a:ext cx="900600" cy="57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A</a:t>
            </a:r>
            <a:endParaRPr/>
          </a:p>
        </p:txBody>
      </p:sp>
      <p:sp>
        <p:nvSpPr>
          <p:cNvPr id="71" name="Google Shape;71;p15"/>
          <p:cNvSpPr/>
          <p:nvPr/>
        </p:nvSpPr>
        <p:spPr>
          <a:xfrm>
            <a:off x="3485550" y="3057625"/>
            <a:ext cx="1517400" cy="661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Unlabelled Data</a:t>
            </a:r>
            <a:endParaRPr/>
          </a:p>
        </p:txBody>
      </p:sp>
      <p:sp>
        <p:nvSpPr>
          <p:cNvPr id="72" name="Google Shape;72;p15"/>
          <p:cNvSpPr/>
          <p:nvPr/>
        </p:nvSpPr>
        <p:spPr>
          <a:xfrm>
            <a:off x="1581200" y="1777225"/>
            <a:ext cx="1461300" cy="661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Labelled Data</a:t>
            </a:r>
            <a:endParaRPr/>
          </a:p>
        </p:txBody>
      </p:sp>
      <p:cxnSp>
        <p:nvCxnSpPr>
          <p:cNvPr id="73" name="Google Shape;73;p15"/>
          <p:cNvCxnSpPr>
            <a:stCxn id="69" idx="6"/>
            <a:endCxn id="72" idx="3"/>
          </p:cNvCxnSpPr>
          <p:nvPr/>
        </p:nvCxnSpPr>
        <p:spPr>
          <a:xfrm flipH="1" rot="10800000">
            <a:off x="1484175" y="2341675"/>
            <a:ext cx="311100" cy="523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4" name="Google Shape;74;p15"/>
          <p:cNvCxnSpPr>
            <a:stCxn id="69" idx="6"/>
            <a:endCxn id="71" idx="2"/>
          </p:cNvCxnSpPr>
          <p:nvPr/>
        </p:nvCxnSpPr>
        <p:spPr>
          <a:xfrm>
            <a:off x="1484175" y="2864875"/>
            <a:ext cx="2001300" cy="52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75" name="Google Shape;75;p15"/>
          <p:cNvGrpSpPr/>
          <p:nvPr/>
        </p:nvGrpSpPr>
        <p:grpSpPr>
          <a:xfrm>
            <a:off x="3034938" y="1821475"/>
            <a:ext cx="784500" cy="773100"/>
            <a:chOff x="3034938" y="1821475"/>
            <a:chExt cx="784500" cy="773100"/>
          </a:xfrm>
        </p:grpSpPr>
        <p:cxnSp>
          <p:nvCxnSpPr>
            <p:cNvPr id="76" name="Google Shape;76;p15"/>
            <p:cNvCxnSpPr>
              <a:stCxn id="72" idx="6"/>
              <a:endCxn id="70" idx="1"/>
            </p:cNvCxnSpPr>
            <p:nvPr/>
          </p:nvCxnSpPr>
          <p:spPr>
            <a:xfrm>
              <a:off x="3042500" y="2107825"/>
              <a:ext cx="7515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77" name="Google Shape;77;p15"/>
            <p:cNvSpPr txBox="1"/>
            <p:nvPr/>
          </p:nvSpPr>
          <p:spPr>
            <a:xfrm>
              <a:off x="3034938" y="1821475"/>
              <a:ext cx="784500" cy="77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/>
                <a:t>Trains</a:t>
              </a:r>
              <a:endParaRPr sz="1100"/>
            </a:p>
          </p:txBody>
        </p:sp>
      </p:grpSp>
      <p:cxnSp>
        <p:nvCxnSpPr>
          <p:cNvPr id="78" name="Google Shape;78;p15"/>
          <p:cNvCxnSpPr>
            <a:stCxn id="70" idx="2"/>
            <a:endCxn id="71" idx="0"/>
          </p:cNvCxnSpPr>
          <p:nvPr/>
        </p:nvCxnSpPr>
        <p:spPr>
          <a:xfrm>
            <a:off x="4244250" y="2394175"/>
            <a:ext cx="0" cy="66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9" name="Google Shape;79;p15"/>
          <p:cNvSpPr txBox="1"/>
          <p:nvPr/>
        </p:nvSpPr>
        <p:spPr>
          <a:xfrm>
            <a:off x="4255650" y="2506250"/>
            <a:ext cx="6327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Labels</a:t>
            </a:r>
            <a:endParaRPr sz="1100"/>
          </a:p>
        </p:txBody>
      </p:sp>
      <p:sp>
        <p:nvSpPr>
          <p:cNvPr id="80" name="Google Shape;80;p15"/>
          <p:cNvSpPr/>
          <p:nvPr/>
        </p:nvSpPr>
        <p:spPr>
          <a:xfrm>
            <a:off x="5486925" y="3057625"/>
            <a:ext cx="1517400" cy="661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Pseudo Labelled</a:t>
            </a:r>
            <a:r>
              <a:rPr lang="en" sz="1000"/>
              <a:t> Data</a:t>
            </a:r>
            <a:endParaRPr sz="1000"/>
          </a:p>
        </p:txBody>
      </p:sp>
      <p:cxnSp>
        <p:nvCxnSpPr>
          <p:cNvPr id="81" name="Google Shape;81;p15"/>
          <p:cNvCxnSpPr>
            <a:stCxn id="71" idx="6"/>
            <a:endCxn id="80" idx="2"/>
          </p:cNvCxnSpPr>
          <p:nvPr/>
        </p:nvCxnSpPr>
        <p:spPr>
          <a:xfrm>
            <a:off x="5002950" y="3388225"/>
            <a:ext cx="483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2" name="Google Shape;82;p15"/>
          <p:cNvSpPr txBox="1"/>
          <p:nvPr/>
        </p:nvSpPr>
        <p:spPr>
          <a:xfrm>
            <a:off x="4928838" y="3057775"/>
            <a:ext cx="784500" cy="7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Forms</a:t>
            </a:r>
            <a:endParaRPr sz="1100"/>
          </a:p>
        </p:txBody>
      </p:sp>
      <p:sp>
        <p:nvSpPr>
          <p:cNvPr id="83" name="Google Shape;83;p15"/>
          <p:cNvSpPr/>
          <p:nvPr/>
        </p:nvSpPr>
        <p:spPr>
          <a:xfrm>
            <a:off x="5514975" y="2082650"/>
            <a:ext cx="1461300" cy="661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Labelled Data</a:t>
            </a:r>
            <a:endParaRPr/>
          </a:p>
        </p:txBody>
      </p:sp>
      <p:sp>
        <p:nvSpPr>
          <p:cNvPr id="84" name="Google Shape;84;p15"/>
          <p:cNvSpPr/>
          <p:nvPr/>
        </p:nvSpPr>
        <p:spPr>
          <a:xfrm>
            <a:off x="7348775" y="2050975"/>
            <a:ext cx="1383900" cy="1627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All Data’</a:t>
            </a:r>
            <a:endParaRPr/>
          </a:p>
        </p:txBody>
      </p:sp>
      <p:cxnSp>
        <p:nvCxnSpPr>
          <p:cNvPr id="85" name="Google Shape;85;p15"/>
          <p:cNvCxnSpPr>
            <a:stCxn id="80" idx="6"/>
            <a:endCxn id="84" idx="2"/>
          </p:cNvCxnSpPr>
          <p:nvPr/>
        </p:nvCxnSpPr>
        <p:spPr>
          <a:xfrm flipH="1" rot="10800000">
            <a:off x="7004325" y="2864725"/>
            <a:ext cx="344400" cy="52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6" name="Google Shape;86;p15"/>
          <p:cNvCxnSpPr>
            <a:stCxn id="83" idx="6"/>
            <a:endCxn id="84" idx="2"/>
          </p:cNvCxnSpPr>
          <p:nvPr/>
        </p:nvCxnSpPr>
        <p:spPr>
          <a:xfrm>
            <a:off x="6976275" y="2413250"/>
            <a:ext cx="372600" cy="45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Semi-Supervised Learning: Self Learning Framework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6"/>
          <p:cNvSpPr/>
          <p:nvPr/>
        </p:nvSpPr>
        <p:spPr>
          <a:xfrm>
            <a:off x="481300" y="2046775"/>
            <a:ext cx="1383900" cy="1627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All Data’</a:t>
            </a:r>
            <a:endParaRPr/>
          </a:p>
        </p:txBody>
      </p:sp>
      <p:sp>
        <p:nvSpPr>
          <p:cNvPr id="93" name="Google Shape;93;p16"/>
          <p:cNvSpPr/>
          <p:nvPr/>
        </p:nvSpPr>
        <p:spPr>
          <a:xfrm>
            <a:off x="2659050" y="2574325"/>
            <a:ext cx="900600" cy="57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B</a:t>
            </a:r>
            <a:endParaRPr/>
          </a:p>
        </p:txBody>
      </p:sp>
      <p:grpSp>
        <p:nvGrpSpPr>
          <p:cNvPr id="94" name="Google Shape;94;p16"/>
          <p:cNvGrpSpPr/>
          <p:nvPr/>
        </p:nvGrpSpPr>
        <p:grpSpPr>
          <a:xfrm>
            <a:off x="1865200" y="2574325"/>
            <a:ext cx="793800" cy="773100"/>
            <a:chOff x="1865200" y="2574325"/>
            <a:chExt cx="793800" cy="773100"/>
          </a:xfrm>
        </p:grpSpPr>
        <p:cxnSp>
          <p:nvCxnSpPr>
            <p:cNvPr id="95" name="Google Shape;95;p16"/>
            <p:cNvCxnSpPr>
              <a:stCxn id="92" idx="6"/>
              <a:endCxn id="93" idx="1"/>
            </p:cNvCxnSpPr>
            <p:nvPr/>
          </p:nvCxnSpPr>
          <p:spPr>
            <a:xfrm>
              <a:off x="1865200" y="2860675"/>
              <a:ext cx="7938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96" name="Google Shape;96;p16"/>
            <p:cNvSpPr txBox="1"/>
            <p:nvPr/>
          </p:nvSpPr>
          <p:spPr>
            <a:xfrm>
              <a:off x="1869863" y="2574325"/>
              <a:ext cx="784500" cy="77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/>
                <a:t>Trains</a:t>
              </a:r>
              <a:endParaRPr sz="1100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Twist</a:t>
            </a:r>
            <a:endParaRPr/>
          </a:p>
        </p:txBody>
      </p:sp>
      <p:sp>
        <p:nvSpPr>
          <p:cNvPr id="102" name="Google Shape;102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Usual Assumption: Low Accuracy on Model A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Paper’s Assumption: High Accuracy on Model A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will semi-supervised learning work?</a:t>
            </a:r>
            <a:endParaRPr/>
          </a:p>
        </p:txBody>
      </p:sp>
      <p:sp>
        <p:nvSpPr>
          <p:cNvPr id="108" name="Google Shape;108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Robustness asks classifiers to be stable around </a:t>
            </a:r>
            <a:r>
              <a:rPr b="1" lang="en"/>
              <a:t>naturally occuring inputs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does not require labels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Robustness has a different goal than semi-supervised learning: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Robustness does not have a lack of labelled points concerning standard error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That is why you can assume the twist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Overall Goals of this paper</a:t>
            </a:r>
            <a:endParaRPr/>
          </a:p>
        </p:txBody>
      </p:sp>
      <p:sp>
        <p:nvSpPr>
          <p:cNvPr id="114" name="Google Shape;114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</a:t>
            </a:r>
            <a:r>
              <a:rPr lang="en"/>
              <a:t>Using a d-dimensional Gaussian model with          perturbations of magnitude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- Model is able to achieve standard error with n0 labelled examples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- Model is able to achieve nontrivial robust accuracy with 				samples</a:t>
            </a:r>
            <a:endParaRPr/>
          </a:p>
        </p:txBody>
      </p:sp>
      <p:pic>
        <p:nvPicPr>
          <p:cNvPr id="115" name="Google Shape;11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10300" y="1247425"/>
            <a:ext cx="291411" cy="26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69775" y="1201375"/>
            <a:ext cx="552450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13027" y="2282575"/>
            <a:ext cx="1440263" cy="36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Some Definitions:</a:t>
            </a:r>
            <a:endParaRPr/>
          </a:p>
        </p:txBody>
      </p:sp>
      <p:sp>
        <p:nvSpPr>
          <p:cNvPr id="123" name="Google Shape;123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/>
              <a:t>Where perturbations =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400"/>
              <a:t>And p=2 and p=Inf.   </a:t>
            </a:r>
            <a:endParaRPr sz="1400"/>
          </a:p>
        </p:txBody>
      </p:sp>
      <p:pic>
        <p:nvPicPr>
          <p:cNvPr id="124" name="Google Shape;12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7"/>
            <a:ext cx="7227800" cy="1100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2271175"/>
            <a:ext cx="8520603" cy="6011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52437" y="2872300"/>
            <a:ext cx="4581964" cy="601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Proving The Goal Theoretically</a:t>
            </a:r>
            <a:endParaRPr/>
          </a:p>
        </p:txBody>
      </p:sp>
      <p:sp>
        <p:nvSpPr>
          <p:cNvPr id="132" name="Google Shape;132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Goal: i)        samples give us accurate classifier, ii) </a:t>
            </a:r>
            <a:r>
              <a:rPr lang="en"/>
              <a:t>#&gt;       give us robust classifier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Model Parameter Setting: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33" name="Google Shape;13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5750" y="1258675"/>
            <a:ext cx="375828" cy="26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29300" y="1258675"/>
            <a:ext cx="375828" cy="26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2550" y="2509805"/>
            <a:ext cx="7874125" cy="13902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9925" y="4084152"/>
            <a:ext cx="7339850" cy="66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Previous work: supervised setting</a:t>
            </a:r>
            <a:endParaRPr/>
          </a:p>
        </p:txBody>
      </p:sp>
      <p:sp>
        <p:nvSpPr>
          <p:cNvPr id="142" name="Google Shape;142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Linear Classifier: Perceptron: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Assume       examples needed to achieve standard accuracy (proof in </a:t>
            </a:r>
            <a:r>
              <a:rPr lang="en"/>
              <a:t>appendix</a:t>
            </a:r>
            <a:r>
              <a:rPr lang="en"/>
              <a:t> 4.2)</a:t>
            </a:r>
            <a:endParaRPr/>
          </a:p>
        </p:txBody>
      </p:sp>
      <p:pic>
        <p:nvPicPr>
          <p:cNvPr id="143" name="Google Shape;14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796625"/>
            <a:ext cx="2373100" cy="107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5621" y="2791950"/>
            <a:ext cx="3527328" cy="84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65500" y="3847250"/>
            <a:ext cx="375828" cy="269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Previous work: supervised setting</a:t>
            </a:r>
            <a:endParaRPr/>
          </a:p>
        </p:txBody>
      </p:sp>
      <p:pic>
        <p:nvPicPr>
          <p:cNvPr id="151" name="Google Shape;15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162" y="1288200"/>
            <a:ext cx="8821678" cy="198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Previous work: supervised setting</a:t>
            </a:r>
            <a:endParaRPr/>
          </a:p>
        </p:txBody>
      </p:sp>
      <p:pic>
        <p:nvPicPr>
          <p:cNvPr id="157" name="Google Shape;15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196" cy="1955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Shifting to semi-supervised setting</a:t>
            </a:r>
            <a:endParaRPr/>
          </a:p>
        </p:txBody>
      </p:sp>
      <p:sp>
        <p:nvSpPr>
          <p:cNvPr id="163" name="Google Shape;163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Assume n labelled points, ñ unlabelled points then creating </a:t>
            </a:r>
            <a:r>
              <a:rPr lang="en"/>
              <a:t>pseudo labels</a:t>
            </a:r>
            <a:r>
              <a:rPr lang="en"/>
              <a:t> for        ñ -&gt; ỹ then perceptron gives final classifier as: </a:t>
            </a:r>
            <a:endParaRPr/>
          </a:p>
        </p:txBody>
      </p:sp>
      <p:pic>
        <p:nvPicPr>
          <p:cNvPr id="164" name="Google Shape;16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4725" y="2465275"/>
            <a:ext cx="5238750" cy="114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Shifting to semi-supervised setting</a:t>
            </a:r>
            <a:endParaRPr/>
          </a:p>
        </p:txBody>
      </p:sp>
      <p:sp>
        <p:nvSpPr>
          <p:cNvPr id="170" name="Google Shape;170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                                        is guaranteed high robustness by: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Proof in Appendix</a:t>
            </a:r>
            <a:endParaRPr/>
          </a:p>
        </p:txBody>
      </p:sp>
      <p:pic>
        <p:nvPicPr>
          <p:cNvPr id="171" name="Google Shape;17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3022800" cy="65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2186584"/>
            <a:ext cx="8798773" cy="1348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about </a:t>
            </a:r>
            <a:r>
              <a:rPr lang="en"/>
              <a:t>irrelevant</a:t>
            </a:r>
            <a:r>
              <a:rPr lang="en"/>
              <a:t> </a:t>
            </a:r>
            <a:r>
              <a:rPr lang="en"/>
              <a:t>unlabeled</a:t>
            </a:r>
            <a:r>
              <a:rPr lang="en"/>
              <a:t> data</a:t>
            </a:r>
            <a:endParaRPr/>
          </a:p>
        </p:txBody>
      </p:sp>
      <p:sp>
        <p:nvSpPr>
          <p:cNvPr id="178" name="Google Shape;178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Given a fixed         where              of the data is relevant, the number of required relevant examples grows by a factor of          </a:t>
            </a:r>
            <a:endParaRPr/>
          </a:p>
        </p:txBody>
      </p:sp>
      <p:pic>
        <p:nvPicPr>
          <p:cNvPr id="179" name="Google Shape;17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34325" y="1269475"/>
            <a:ext cx="372615" cy="26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68800" y="1223163"/>
            <a:ext cx="533600" cy="36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27450" y="1539300"/>
            <a:ext cx="650500" cy="41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Algorithm</a:t>
            </a:r>
            <a:endParaRPr/>
          </a:p>
        </p:txBody>
      </p:sp>
      <p:sp>
        <p:nvSpPr>
          <p:cNvPr id="187" name="Google Shape;187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Take a self-supervised approach except loss function changes for final classifier: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Note that unlabelled points have a w value so they can be down weighted since labelled points are more relevant to task and have better labels</a:t>
            </a:r>
            <a:endParaRPr/>
          </a:p>
        </p:txBody>
      </p:sp>
      <p:pic>
        <p:nvPicPr>
          <p:cNvPr id="188" name="Google Shape;18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8050" y="1915151"/>
            <a:ext cx="7765224" cy="74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CIFAR-10 test L(inf) bound</a:t>
            </a:r>
            <a:endParaRPr/>
          </a:p>
        </p:txBody>
      </p:sp>
      <p:sp>
        <p:nvSpPr>
          <p:cNvPr id="194" name="Google Shape;194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50K supervised data, and 500K unsupervised data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95" name="Google Shape;19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813325"/>
            <a:ext cx="8308998" cy="2413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CIFAR-10 test L2 bound</a:t>
            </a:r>
            <a:endParaRPr/>
          </a:p>
        </p:txBody>
      </p:sp>
      <p:sp>
        <p:nvSpPr>
          <p:cNvPr id="201" name="Google Shape;201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50K supervised data, and 500K unsupervised data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02" name="Google Shape;20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975" y="1856400"/>
            <a:ext cx="8708324" cy="2507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