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slide" Target="slides/slide34.xml"/><Relationship Id="rId16" Type="http://schemas.openxmlformats.org/officeDocument/2006/relationships/slide" Target="slides/slide11.xml"/><Relationship Id="rId38" Type="http://schemas.openxmlformats.org/officeDocument/2006/relationships/slide" Target="slides/slide33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3d0ba2299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3d0ba2299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73d0ba2299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73d0ba2299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73d0ba2299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73d0ba2299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73d0ba229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73d0ba229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73d0ba229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73d0ba229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73d0ba2299_0_1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73d0ba2299_0_1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73d0ba2299_0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73d0ba2299_0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65c0215fb1_0_2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65c0215fb1_0_2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73d0ba2299_0_1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73d0ba2299_0_1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65c0215fb1_0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65c0215fb1_0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65c0215fb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65c0215fb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73d0ba229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73d0ba229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65c0215fb1_0_5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65c0215fb1_0_5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73d0ba2299_0_1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73d0ba2299_0_1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65c0215fb1_0_2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65c0215fb1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73d0ba229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73d0ba229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73d0ba2299_0_1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73d0ba2299_0_1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5c0215fb1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65c0215fb1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g65c0215fb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2" name="Google Shape;272;g65c0215fb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73d0ba229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73d0ba229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65c0215fb1_0_3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65c0215fb1_0_3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g73d0ba229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3" name="Google Shape;293;g73d0ba229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65c0215fb1_0_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65c0215fb1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65c0215fb1_0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4" name="Google Shape;314;g65c0215fb1_0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65c0215fb1_0_4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65c0215fb1_0_4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65c0215fb1_0_1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65c0215fb1_0_1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g65c0215fb1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7" name="Google Shape;367;g65c0215fb1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g65c0215fb1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4" name="Google Shape;384;g65c0215fb1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65c0215fb1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65c0215fb1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65c0215fb1_0_1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65c0215fb1_0_1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65c0215fb1_0_1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65c0215fb1_0_1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73d0ba229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73d0ba229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showMasterPhAnim="0" showMasterSp="0">
  <p:cSld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g65c0215fb1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6" name="Google Shape;426;g65c0215fb1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81000" lvl="0" marL="457200">
              <a:spcBef>
                <a:spcPts val="0"/>
              </a:spcBef>
              <a:spcAft>
                <a:spcPts val="0"/>
              </a:spcAft>
              <a:buSzPts val="2400"/>
              <a:buChar char="●"/>
              <a:defRPr sz="2400"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Relationship Id="rId4" Type="http://schemas.openxmlformats.org/officeDocument/2006/relationships/image" Target="../media/image1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2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3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5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6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0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7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28.png"/><Relationship Id="rId4" Type="http://schemas.openxmlformats.org/officeDocument/2006/relationships/image" Target="../media/image2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Privacy in Machine Learning (Attacks)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Ruta Jawale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High Level Overview</a:t>
            </a:r>
            <a:endParaRPr sz="3600"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 sz="2400"/>
              <a:t>The Secret Sharer (2019)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 “auto-complete” queries to attack privacy of out-of-distribution data trained on by NLP generative models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Suggests Differential Privacy (DP) as a solution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 sz="2400"/>
              <a:t>Deep Models Under the GAN (2017)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 generative models (GAN) to attack “record-level” Differential Privacy (DP) as used in Federated Learning (FL) setting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Suggests “user-level” Differential Privacy (DP) as a solution</a:t>
            </a:r>
            <a:endParaRPr/>
          </a:p>
        </p:txBody>
      </p:sp>
      <p:cxnSp>
        <p:nvCxnSpPr>
          <p:cNvPr id="62" name="Google Shape;62;p14"/>
          <p:cNvCxnSpPr/>
          <p:nvPr/>
        </p:nvCxnSpPr>
        <p:spPr>
          <a:xfrm>
            <a:off x="2359875" y="2560050"/>
            <a:ext cx="3787200" cy="3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4"/>
          <p:cNvCxnSpPr/>
          <p:nvPr/>
        </p:nvCxnSpPr>
        <p:spPr>
          <a:xfrm>
            <a:off x="4685525" y="3299825"/>
            <a:ext cx="3951300" cy="231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4" name="Google Shape;64;p14"/>
          <p:cNvCxnSpPr/>
          <p:nvPr/>
        </p:nvCxnSpPr>
        <p:spPr>
          <a:xfrm>
            <a:off x="2323325" y="3909425"/>
            <a:ext cx="3643500" cy="10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Secret Sharer (2019)</a:t>
            </a:r>
            <a:endParaRPr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694313"/>
            <a:ext cx="8839198" cy="17548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Overview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Why is unintended memorization a problem?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Demonstrate potential “auto-complete” privacy attack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Define exposure metric to quantify unintended memorization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Run </a:t>
            </a:r>
            <a:r>
              <a:rPr lang="en"/>
              <a:t>experiments</a:t>
            </a:r>
            <a:r>
              <a:rPr lang="en"/>
              <a:t> proving existence of attack according to metric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How effective is exposure metric?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Define extraction algorithm as an effective and efficient attack strategy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High exposure </a:t>
            </a:r>
            <a:r>
              <a:rPr lang="en"/>
              <a:t>🠆 Extraction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What are potential defenses to this attack?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Differential privacy</a:t>
            </a:r>
            <a:endParaRPr/>
          </a:p>
        </p:txBody>
      </p:sp>
      <p:cxnSp>
        <p:nvCxnSpPr>
          <p:cNvPr id="77" name="Google Shape;77;p16"/>
          <p:cNvCxnSpPr/>
          <p:nvPr/>
        </p:nvCxnSpPr>
        <p:spPr>
          <a:xfrm>
            <a:off x="2018175" y="2282900"/>
            <a:ext cx="1662000" cy="9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78" name="Google Shape;78;p16"/>
          <p:cNvCxnSpPr/>
          <p:nvPr/>
        </p:nvCxnSpPr>
        <p:spPr>
          <a:xfrm>
            <a:off x="2018175" y="3316525"/>
            <a:ext cx="1995600" cy="8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Definitions: Unintended Memorization</a:t>
            </a:r>
            <a:endParaRPr/>
          </a:p>
        </p:txBody>
      </p:sp>
      <p:sp>
        <p:nvSpPr>
          <p:cNvPr id="84" name="Google Shape;84;p17"/>
          <p:cNvSpPr txBox="1"/>
          <p:nvPr>
            <p:ph idx="1" type="body"/>
          </p:nvPr>
        </p:nvSpPr>
        <p:spPr>
          <a:xfrm>
            <a:off x="311700" y="13048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Unintended memorization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Memorize out-of-distribution data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Secrets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Data independent from data distribution to be learned</a:t>
            </a:r>
            <a:endParaRPr/>
          </a:p>
        </p:txBody>
      </p:sp>
      <p:sp>
        <p:nvSpPr>
          <p:cNvPr id="85" name="Google Shape;85;p17"/>
          <p:cNvSpPr txBox="1"/>
          <p:nvPr>
            <p:ph idx="1" type="body"/>
          </p:nvPr>
        </p:nvSpPr>
        <p:spPr>
          <a:xfrm>
            <a:off x="1850350" y="3379200"/>
            <a:ext cx="10185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Canary:</a:t>
            </a:r>
            <a:endParaRPr sz="1800"/>
          </a:p>
        </p:txBody>
      </p:sp>
      <p:cxnSp>
        <p:nvCxnSpPr>
          <p:cNvPr id="86" name="Google Shape;86;p17"/>
          <p:cNvCxnSpPr/>
          <p:nvPr/>
        </p:nvCxnSpPr>
        <p:spPr>
          <a:xfrm flipH="1" rot="10800000">
            <a:off x="1979775" y="3770225"/>
            <a:ext cx="661500" cy="5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2780900" y="3379188"/>
            <a:ext cx="436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“The random number is _ _ _ _ _ _ _ _ _”</a:t>
            </a:r>
            <a:endParaRPr sz="1800"/>
          </a:p>
        </p:txBody>
      </p:sp>
      <p:sp>
        <p:nvSpPr>
          <p:cNvPr id="88" name="Google Shape;88;p17"/>
          <p:cNvSpPr txBox="1"/>
          <p:nvPr>
            <p:ph idx="1" type="body"/>
          </p:nvPr>
        </p:nvSpPr>
        <p:spPr>
          <a:xfrm>
            <a:off x="5233450" y="3379200"/>
            <a:ext cx="18654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* * * * * * * * * *</a:t>
            </a:r>
            <a:endParaRPr sz="2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★"/>
            </a:pPr>
            <a:r>
              <a:rPr lang="en" sz="2300"/>
              <a:t>Randomly generated values inserted into the memory stack</a:t>
            </a:r>
            <a:endParaRPr sz="2300"/>
          </a:p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★"/>
            </a:pPr>
            <a:r>
              <a:rPr lang="en" sz="2300"/>
              <a:t>If they are overwritten,</a:t>
            </a:r>
            <a:endParaRPr sz="23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Then we detect an illegal overwriting of the stack</a:t>
            </a:r>
            <a:endParaRPr/>
          </a:p>
        </p:txBody>
      </p:sp>
      <p:sp>
        <p:nvSpPr>
          <p:cNvPr id="94" name="Google Shape;9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Security Inspiration: Stack Canaries</a:t>
            </a:r>
            <a:endParaRPr/>
          </a:p>
        </p:txBody>
      </p:sp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61275" y="2434700"/>
            <a:ext cx="1615225" cy="1655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33325" y="3084375"/>
            <a:ext cx="1651925" cy="14064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97" name="Google Shape;97;p18"/>
          <p:cNvCxnSpPr/>
          <p:nvPr/>
        </p:nvCxnSpPr>
        <p:spPr>
          <a:xfrm flipH="1" rot="10800000">
            <a:off x="3457750" y="3374650"/>
            <a:ext cx="1583700" cy="235500"/>
          </a:xfrm>
          <a:prstGeom prst="straightConnector1">
            <a:avLst/>
          </a:prstGeom>
          <a:noFill/>
          <a:ln cap="flat" cmpd="sng" w="28575">
            <a:solidFill>
              <a:srgbClr val="FAAA32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9"/>
          <p:cNvSpPr txBox="1"/>
          <p:nvPr>
            <p:ph type="title"/>
          </p:nvPr>
        </p:nvSpPr>
        <p:spPr>
          <a:xfrm>
            <a:off x="311700" y="2164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Out-of-Distribution Canary</a:t>
            </a:r>
            <a:endParaRPr/>
          </a:p>
        </p:txBody>
      </p:sp>
      <p:sp>
        <p:nvSpPr>
          <p:cNvPr id="103" name="Google Shape;103;p19"/>
          <p:cNvSpPr txBox="1"/>
          <p:nvPr>
            <p:ph idx="1" type="body"/>
          </p:nvPr>
        </p:nvSpPr>
        <p:spPr>
          <a:xfrm>
            <a:off x="1812813" y="1855197"/>
            <a:ext cx="43629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“The random number is _ _ _ _ _ _ _ _ _”</a:t>
            </a:r>
            <a:endParaRPr sz="1800"/>
          </a:p>
        </p:txBody>
      </p:sp>
      <p:sp>
        <p:nvSpPr>
          <p:cNvPr id="104" name="Google Shape;104;p19"/>
          <p:cNvSpPr/>
          <p:nvPr/>
        </p:nvSpPr>
        <p:spPr>
          <a:xfrm>
            <a:off x="3061575" y="2571750"/>
            <a:ext cx="1865400" cy="1149300"/>
          </a:xfrm>
          <a:prstGeom prst="rect">
            <a:avLst/>
          </a:prstGeom>
          <a:solidFill>
            <a:srgbClr val="00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5" name="Google Shape;105;p19"/>
          <p:cNvCxnSpPr>
            <a:stCxn id="103" idx="2"/>
            <a:endCxn id="104" idx="0"/>
          </p:cNvCxnSpPr>
          <p:nvPr/>
        </p:nvCxnSpPr>
        <p:spPr>
          <a:xfrm>
            <a:off x="3994263" y="2263497"/>
            <a:ext cx="0" cy="3084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6" name="Google Shape;106;p19"/>
          <p:cNvSpPr txBox="1"/>
          <p:nvPr/>
        </p:nvSpPr>
        <p:spPr>
          <a:xfrm>
            <a:off x="3221913" y="2682825"/>
            <a:ext cx="1544700" cy="92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rgbClr val="FFFFFF"/>
                </a:solidFill>
              </a:rPr>
              <a:t>Black box generative model</a:t>
            </a:r>
            <a:endParaRPr b="1" sz="1800">
              <a:solidFill>
                <a:srgbClr val="FFFFFF"/>
              </a:solidFill>
            </a:endParaRPr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1812813" y="4129188"/>
            <a:ext cx="436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“The random number is _ _ _ _ _ _ _ _ _”</a:t>
            </a:r>
            <a:endParaRPr sz="1800"/>
          </a:p>
        </p:txBody>
      </p:sp>
      <p:cxnSp>
        <p:nvCxnSpPr>
          <p:cNvPr id="108" name="Google Shape;108;p19"/>
          <p:cNvCxnSpPr>
            <a:stCxn id="104" idx="2"/>
            <a:endCxn id="107" idx="0"/>
          </p:cNvCxnSpPr>
          <p:nvPr/>
        </p:nvCxnSpPr>
        <p:spPr>
          <a:xfrm>
            <a:off x="3994275" y="3721050"/>
            <a:ext cx="0" cy="408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09" name="Google Shape;109;p19"/>
          <p:cNvSpPr txBox="1"/>
          <p:nvPr>
            <p:ph idx="1" type="body"/>
          </p:nvPr>
        </p:nvSpPr>
        <p:spPr>
          <a:xfrm>
            <a:off x="4265363" y="4129200"/>
            <a:ext cx="18654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* * * * * * * * * *</a:t>
            </a:r>
            <a:endParaRPr sz="2000"/>
          </a:p>
        </p:txBody>
      </p:sp>
      <p:sp>
        <p:nvSpPr>
          <p:cNvPr id="110" name="Google Shape;110;p19"/>
          <p:cNvSpPr txBox="1"/>
          <p:nvPr>
            <p:ph idx="1" type="body"/>
          </p:nvPr>
        </p:nvSpPr>
        <p:spPr>
          <a:xfrm>
            <a:off x="4056088" y="4537500"/>
            <a:ext cx="44943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Reveals out-of-distribution canary!</a:t>
            </a:r>
            <a:endParaRPr sz="1800"/>
          </a:p>
        </p:txBody>
      </p:sp>
      <p:cxnSp>
        <p:nvCxnSpPr>
          <p:cNvPr id="111" name="Google Shape;111;p19"/>
          <p:cNvCxnSpPr/>
          <p:nvPr/>
        </p:nvCxnSpPr>
        <p:spPr>
          <a:xfrm>
            <a:off x="6368988" y="4310925"/>
            <a:ext cx="445800" cy="304800"/>
          </a:xfrm>
          <a:prstGeom prst="curvedConnector3">
            <a:avLst>
              <a:gd fmla="val 115725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112" name="Google Shape;112;p19"/>
          <p:cNvCxnSpPr/>
          <p:nvPr/>
        </p:nvCxnSpPr>
        <p:spPr>
          <a:xfrm flipH="1">
            <a:off x="6171288" y="4310925"/>
            <a:ext cx="197700" cy="15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13" name="Google Shape;113;p19"/>
          <p:cNvCxnSpPr/>
          <p:nvPr/>
        </p:nvCxnSpPr>
        <p:spPr>
          <a:xfrm>
            <a:off x="5006388" y="4918925"/>
            <a:ext cx="1773000" cy="5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14" name="Google Shape;114;p19"/>
          <p:cNvSpPr txBox="1"/>
          <p:nvPr>
            <p:ph idx="1" type="body"/>
          </p:nvPr>
        </p:nvSpPr>
        <p:spPr>
          <a:xfrm>
            <a:off x="311700" y="923875"/>
            <a:ext cx="85206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74650" lvl="0" marL="457200" rtl="0" algn="l">
              <a:spcBef>
                <a:spcPts val="0"/>
              </a:spcBef>
              <a:spcAft>
                <a:spcPts val="0"/>
              </a:spcAft>
              <a:buSzPts val="2300"/>
              <a:buChar char="★"/>
            </a:pPr>
            <a:r>
              <a:rPr lang="en" sz="2300"/>
              <a:t>We add phrases with randomly generated values to the training dataset for our NLP generative model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0"/>
          <p:cNvPicPr preferRelativeResize="0"/>
          <p:nvPr/>
        </p:nvPicPr>
        <p:blipFill rotWithShape="1">
          <a:blip r:embed="rId3">
            <a:alphaModFix/>
          </a:blip>
          <a:srcRect b="0" l="0" r="0" t="29750"/>
          <a:stretch/>
        </p:blipFill>
        <p:spPr>
          <a:xfrm>
            <a:off x="549450" y="3142238"/>
            <a:ext cx="6896100" cy="14185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20" name="Google Shape;120;p20"/>
          <p:cNvGrpSpPr/>
          <p:nvPr/>
        </p:nvGrpSpPr>
        <p:grpSpPr>
          <a:xfrm>
            <a:off x="5931725" y="3319325"/>
            <a:ext cx="485400" cy="451988"/>
            <a:chOff x="6545300" y="2743600"/>
            <a:chExt cx="485400" cy="451988"/>
          </a:xfrm>
        </p:grpSpPr>
        <p:cxnSp>
          <p:nvCxnSpPr>
            <p:cNvPr id="121" name="Google Shape;121;p20"/>
            <p:cNvCxnSpPr/>
            <p:nvPr/>
          </p:nvCxnSpPr>
          <p:spPr>
            <a:xfrm>
              <a:off x="6545300" y="2743600"/>
              <a:ext cx="485400" cy="301800"/>
            </a:xfrm>
            <a:prstGeom prst="curvedConnector3">
              <a:avLst>
                <a:gd fmla="val 82195" name="adj1"/>
              </a:avLst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2" name="Google Shape;122;p20"/>
            <p:cNvCxnSpPr/>
            <p:nvPr/>
          </p:nvCxnSpPr>
          <p:spPr>
            <a:xfrm>
              <a:off x="7017800" y="3012288"/>
              <a:ext cx="12900" cy="183300"/>
            </a:xfrm>
            <a:prstGeom prst="straightConnector1">
              <a:avLst/>
            </a:prstGeom>
            <a:noFill/>
            <a:ln cap="flat" cmpd="sng" w="28575">
              <a:solidFill>
                <a:schemeClr val="accent1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123" name="Google Shape;123;p20"/>
          <p:cNvSpPr/>
          <p:nvPr/>
        </p:nvSpPr>
        <p:spPr>
          <a:xfrm>
            <a:off x="5421088" y="3241975"/>
            <a:ext cx="273600" cy="3597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0"/>
          <p:cNvSpPr/>
          <p:nvPr/>
        </p:nvSpPr>
        <p:spPr>
          <a:xfrm>
            <a:off x="4572938" y="3241975"/>
            <a:ext cx="754500" cy="359700"/>
          </a:xfrm>
          <a:prstGeom prst="rect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0"/>
          <p:cNvSpPr txBox="1"/>
          <p:nvPr>
            <p:ph idx="1" type="body"/>
          </p:nvPr>
        </p:nvSpPr>
        <p:spPr>
          <a:xfrm>
            <a:off x="6379025" y="3142250"/>
            <a:ext cx="1815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Bayes’ Rule</a:t>
            </a:r>
            <a:endParaRPr sz="1800"/>
          </a:p>
        </p:txBody>
      </p:sp>
      <p:sp>
        <p:nvSpPr>
          <p:cNvPr id="126" name="Google Shape;12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Definition: Log-Perplexity</a:t>
            </a:r>
            <a:endParaRPr/>
          </a:p>
        </p:txBody>
      </p:sp>
      <p:sp>
        <p:nvSpPr>
          <p:cNvPr id="127" name="Google Shape;127;p20"/>
          <p:cNvSpPr txBox="1"/>
          <p:nvPr>
            <p:ph idx="1" type="body"/>
          </p:nvPr>
        </p:nvSpPr>
        <p:spPr>
          <a:xfrm>
            <a:off x="588750" y="1330200"/>
            <a:ext cx="79665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 measure of how perplexed/confused the model is to see this data during test time</a:t>
            </a:r>
            <a:endParaRPr/>
          </a:p>
        </p:txBody>
      </p:sp>
      <p:sp>
        <p:nvSpPr>
          <p:cNvPr id="128" name="Google Shape;128;p20"/>
          <p:cNvSpPr txBox="1"/>
          <p:nvPr>
            <p:ph idx="1" type="body"/>
          </p:nvPr>
        </p:nvSpPr>
        <p:spPr>
          <a:xfrm>
            <a:off x="1672938" y="2451663"/>
            <a:ext cx="6738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Probability that we see this sequence given the trained model</a:t>
            </a:r>
            <a:endParaRPr sz="1800"/>
          </a:p>
        </p:txBody>
      </p:sp>
      <p:cxnSp>
        <p:nvCxnSpPr>
          <p:cNvPr id="129" name="Google Shape;129;p20"/>
          <p:cNvCxnSpPr/>
          <p:nvPr/>
        </p:nvCxnSpPr>
        <p:spPr>
          <a:xfrm>
            <a:off x="4932450" y="2849725"/>
            <a:ext cx="7800" cy="336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0" name="Google Shape;130;p20"/>
          <p:cNvCxnSpPr/>
          <p:nvPr/>
        </p:nvCxnSpPr>
        <p:spPr>
          <a:xfrm flipH="1">
            <a:off x="5800025" y="2865375"/>
            <a:ext cx="930300" cy="375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1" name="Google Shape;131;p20"/>
          <p:cNvCxnSpPr/>
          <p:nvPr/>
        </p:nvCxnSpPr>
        <p:spPr>
          <a:xfrm>
            <a:off x="2481900" y="2865338"/>
            <a:ext cx="1614300" cy="402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2" name="Google Shape;132;p20"/>
          <p:cNvSpPr/>
          <p:nvPr/>
        </p:nvSpPr>
        <p:spPr>
          <a:xfrm>
            <a:off x="2797975" y="3640750"/>
            <a:ext cx="4576200" cy="920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20"/>
          <p:cNvSpPr/>
          <p:nvPr/>
        </p:nvSpPr>
        <p:spPr>
          <a:xfrm>
            <a:off x="5931725" y="4301625"/>
            <a:ext cx="2108100" cy="516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20"/>
          <p:cNvSpPr/>
          <p:nvPr/>
        </p:nvSpPr>
        <p:spPr>
          <a:xfrm>
            <a:off x="5931725" y="3232800"/>
            <a:ext cx="2890200" cy="860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Definition: </a:t>
            </a:r>
            <a:r>
              <a:rPr lang="en"/>
              <a:t>Rank</a:t>
            </a:r>
            <a:endParaRPr/>
          </a:p>
        </p:txBody>
      </p:sp>
      <p:sp>
        <p:nvSpPr>
          <p:cNvPr id="140" name="Google Shape;140;p21"/>
          <p:cNvSpPr txBox="1"/>
          <p:nvPr>
            <p:ph idx="1" type="body"/>
          </p:nvPr>
        </p:nvSpPr>
        <p:spPr>
          <a:xfrm>
            <a:off x="844800" y="1117375"/>
            <a:ext cx="74544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The lower the perplexity, the smaller the rank number</a:t>
            </a:r>
            <a:endParaRPr/>
          </a:p>
        </p:txBody>
      </p:sp>
      <p:pic>
        <p:nvPicPr>
          <p:cNvPr id="141" name="Google Shape;141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13775" y="1563675"/>
            <a:ext cx="6822281" cy="64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63275" y="2234600"/>
            <a:ext cx="4689025" cy="26685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21"/>
          <p:cNvCxnSpPr/>
          <p:nvPr/>
        </p:nvCxnSpPr>
        <p:spPr>
          <a:xfrm rot="10800000">
            <a:off x="6581975" y="2995750"/>
            <a:ext cx="0" cy="1102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4" name="Google Shape;144;p21"/>
          <p:cNvSpPr txBox="1"/>
          <p:nvPr>
            <p:ph idx="1" type="body"/>
          </p:nvPr>
        </p:nvSpPr>
        <p:spPr>
          <a:xfrm>
            <a:off x="6659325" y="3305575"/>
            <a:ext cx="16110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Decreasing rank number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Definition: </a:t>
            </a:r>
            <a:r>
              <a:rPr lang="en"/>
              <a:t>Exposure</a:t>
            </a:r>
            <a:endParaRPr/>
          </a:p>
        </p:txBody>
      </p:sp>
      <p:sp>
        <p:nvSpPr>
          <p:cNvPr id="150" name="Google Shape;150;p22"/>
          <p:cNvSpPr txBox="1"/>
          <p:nvPr>
            <p:ph idx="1" type="body"/>
          </p:nvPr>
        </p:nvSpPr>
        <p:spPr>
          <a:xfrm>
            <a:off x="3298700" y="1553200"/>
            <a:ext cx="31776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Size of space of randomness</a:t>
            </a:r>
            <a:endParaRPr sz="1800"/>
          </a:p>
        </p:txBody>
      </p:sp>
      <p:pic>
        <p:nvPicPr>
          <p:cNvPr id="151" name="Google Shape;151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525" y="2346675"/>
            <a:ext cx="705146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22"/>
          <p:cNvSpPr txBox="1"/>
          <p:nvPr>
            <p:ph idx="1" type="body"/>
          </p:nvPr>
        </p:nvSpPr>
        <p:spPr>
          <a:xfrm>
            <a:off x="4887500" y="3247400"/>
            <a:ext cx="35115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“Discretized” order of perplexity</a:t>
            </a:r>
            <a:endParaRPr sz="1800"/>
          </a:p>
        </p:txBody>
      </p:sp>
      <p:sp>
        <p:nvSpPr>
          <p:cNvPr id="153" name="Google Shape;153;p22"/>
          <p:cNvSpPr txBox="1"/>
          <p:nvPr>
            <p:ph idx="1" type="body"/>
          </p:nvPr>
        </p:nvSpPr>
        <p:spPr>
          <a:xfrm>
            <a:off x="1200150" y="3829775"/>
            <a:ext cx="6743700" cy="42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Reminder: </a:t>
            </a:r>
            <a:r>
              <a:rPr lang="en" sz="1800"/>
              <a:t>The lower the perplexity, the smaller the rank number</a:t>
            </a:r>
            <a:endParaRPr sz="1800"/>
          </a:p>
        </p:txBody>
      </p:sp>
      <p:cxnSp>
        <p:nvCxnSpPr>
          <p:cNvPr id="154" name="Google Shape;154;p22"/>
          <p:cNvCxnSpPr>
            <a:stCxn id="150" idx="2"/>
          </p:cNvCxnSpPr>
          <p:nvPr/>
        </p:nvCxnSpPr>
        <p:spPr>
          <a:xfrm>
            <a:off x="4887500" y="1973200"/>
            <a:ext cx="12900" cy="367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5" name="Google Shape;155;p22"/>
          <p:cNvCxnSpPr>
            <a:stCxn id="152" idx="0"/>
          </p:cNvCxnSpPr>
          <p:nvPr/>
        </p:nvCxnSpPr>
        <p:spPr>
          <a:xfrm flipH="1" rot="10800000">
            <a:off x="6643250" y="2866400"/>
            <a:ext cx="154800" cy="381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Exposure Hypothesis</a:t>
            </a:r>
            <a:endParaRPr/>
          </a:p>
        </p:txBody>
      </p:sp>
      <p:pic>
        <p:nvPicPr>
          <p:cNvPr id="161" name="Google Shape;16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72525" y="3337275"/>
            <a:ext cx="7051463" cy="57270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23"/>
          <p:cNvSpPr txBox="1"/>
          <p:nvPr>
            <p:ph idx="1" type="body"/>
          </p:nvPr>
        </p:nvSpPr>
        <p:spPr>
          <a:xfrm>
            <a:off x="848250" y="1662450"/>
            <a:ext cx="7447500" cy="75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If the canary is in the training data, we should see a lower rank value which means a high exposure value</a:t>
            </a:r>
            <a:endParaRPr/>
          </a:p>
        </p:txBody>
      </p:sp>
      <p:cxnSp>
        <p:nvCxnSpPr>
          <p:cNvPr id="163" name="Google Shape;163;p23"/>
          <p:cNvCxnSpPr/>
          <p:nvPr/>
        </p:nvCxnSpPr>
        <p:spPr>
          <a:xfrm>
            <a:off x="6910400" y="2939263"/>
            <a:ext cx="12900" cy="3678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23"/>
          <p:cNvCxnSpPr/>
          <p:nvPr/>
        </p:nvCxnSpPr>
        <p:spPr>
          <a:xfrm flipH="1" rot="10800000">
            <a:off x="2275975" y="2989850"/>
            <a:ext cx="5700" cy="409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4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Experiment: Neural Machine Translation </a:t>
            </a:r>
            <a:endParaRPr/>
          </a:p>
        </p:txBody>
      </p:sp>
      <p:sp>
        <p:nvSpPr>
          <p:cNvPr id="170" name="Google Shape;170;p24"/>
          <p:cNvSpPr txBox="1"/>
          <p:nvPr>
            <p:ph idx="1" type="body"/>
          </p:nvPr>
        </p:nvSpPr>
        <p:spPr>
          <a:xfrm>
            <a:off x="237900" y="1076275"/>
            <a:ext cx="8668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English-Vietnamese </a:t>
            </a:r>
            <a:r>
              <a:rPr lang="en" sz="2000"/>
              <a:t>Recurrent</a:t>
            </a:r>
            <a:r>
              <a:rPr lang="en" sz="2000"/>
              <a:t> Neural Network Model</a:t>
            </a:r>
            <a:endParaRPr sz="2000"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Canary: </a:t>
            </a:r>
            <a:br>
              <a:rPr lang="en" sz="2000"/>
            </a:br>
            <a:r>
              <a:rPr lang="en" sz="2000"/>
              <a:t>(                                                            , Vietnamese + </a:t>
            </a:r>
            <a:r>
              <a:rPr lang="en" sz="1800"/>
              <a:t> _ _ _ _ _ _ _ _ _”</a:t>
            </a:r>
            <a:r>
              <a:rPr lang="en" sz="2000"/>
              <a:t>)</a:t>
            </a:r>
            <a:endParaRPr sz="2000"/>
          </a:p>
        </p:txBody>
      </p:sp>
      <p:pic>
        <p:nvPicPr>
          <p:cNvPr id="171" name="Google Shape;17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15573" y="2323850"/>
            <a:ext cx="3257350" cy="2548750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p24"/>
          <p:cNvSpPr txBox="1"/>
          <p:nvPr>
            <p:ph idx="1" type="body"/>
          </p:nvPr>
        </p:nvSpPr>
        <p:spPr>
          <a:xfrm>
            <a:off x="4893000" y="2440900"/>
            <a:ext cx="3700500" cy="235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★"/>
            </a:pPr>
            <a:r>
              <a:rPr lang="en" sz="2000"/>
              <a:t>4+ insertions of canary is fully memorized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/>
              <a:t>Q: </a:t>
            </a:r>
            <a:r>
              <a:rPr lang="en" sz="2000"/>
              <a:t>Isn’t this just overfitting?</a:t>
            </a:r>
            <a:endParaRPr sz="20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 sz="2000"/>
              <a:t>A: Yes, but not according to the typical definition.</a:t>
            </a:r>
            <a:endParaRPr sz="2000"/>
          </a:p>
        </p:txBody>
      </p:sp>
      <p:sp>
        <p:nvSpPr>
          <p:cNvPr id="173" name="Google Shape;173;p24"/>
          <p:cNvSpPr txBox="1"/>
          <p:nvPr>
            <p:ph idx="1" type="body"/>
          </p:nvPr>
        </p:nvSpPr>
        <p:spPr>
          <a:xfrm>
            <a:off x="830525" y="1810550"/>
            <a:ext cx="4362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“The random number is _ _ _ _ _ _ _ _ _”</a:t>
            </a:r>
            <a:endParaRPr sz="1800"/>
          </a:p>
        </p:txBody>
      </p:sp>
      <p:sp>
        <p:nvSpPr>
          <p:cNvPr id="174" name="Google Shape;174;p24"/>
          <p:cNvSpPr txBox="1"/>
          <p:nvPr>
            <p:ph idx="1" type="body"/>
          </p:nvPr>
        </p:nvSpPr>
        <p:spPr>
          <a:xfrm>
            <a:off x="3285075" y="1851288"/>
            <a:ext cx="18654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* * * * * * * * * *</a:t>
            </a:r>
            <a:endParaRPr sz="2000"/>
          </a:p>
        </p:txBody>
      </p:sp>
      <p:sp>
        <p:nvSpPr>
          <p:cNvPr id="175" name="Google Shape;175;p24"/>
          <p:cNvSpPr txBox="1"/>
          <p:nvPr>
            <p:ph idx="1" type="body"/>
          </p:nvPr>
        </p:nvSpPr>
        <p:spPr>
          <a:xfrm>
            <a:off x="6866475" y="1851288"/>
            <a:ext cx="1865400" cy="408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2000"/>
              <a:t>* * * * * * * * * *</a:t>
            </a:r>
            <a:endParaRPr sz="20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Definitions: Overfit vs Overtrain</a:t>
            </a:r>
            <a:endParaRPr/>
          </a:p>
        </p:txBody>
      </p:sp>
      <p:sp>
        <p:nvSpPr>
          <p:cNvPr id="181" name="Google Shape;181;p25"/>
          <p:cNvSpPr txBox="1"/>
          <p:nvPr>
            <p:ph idx="1" type="body"/>
          </p:nvPr>
        </p:nvSpPr>
        <p:spPr>
          <a:xfrm>
            <a:off x="311700" y="13048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Overfit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Memorizes training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Does not generalize well to data within the same distribution</a:t>
            </a:r>
            <a:endParaRPr/>
          </a:p>
        </p:txBody>
      </p:sp>
      <p:cxnSp>
        <p:nvCxnSpPr>
          <p:cNvPr id="182" name="Google Shape;182;p25"/>
          <p:cNvCxnSpPr/>
          <p:nvPr/>
        </p:nvCxnSpPr>
        <p:spPr>
          <a:xfrm flipH="1" rot="10800000">
            <a:off x="1941975" y="2433500"/>
            <a:ext cx="1867200" cy="18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3" name="Google Shape;183;p25"/>
          <p:cNvSpPr txBox="1"/>
          <p:nvPr>
            <p:ph idx="1" type="body"/>
          </p:nvPr>
        </p:nvSpPr>
        <p:spPr>
          <a:xfrm>
            <a:off x="4578900" y="13048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Overtrain</a:t>
            </a:r>
            <a:endParaRPr/>
          </a:p>
        </p:txBody>
      </p:sp>
      <p:pic>
        <p:nvPicPr>
          <p:cNvPr id="184" name="Google Shape;184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88700" y="1850675"/>
            <a:ext cx="3040701" cy="265795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25"/>
          <p:cNvSpPr txBox="1"/>
          <p:nvPr>
            <p:ph idx="1" type="body"/>
          </p:nvPr>
        </p:nvSpPr>
        <p:spPr>
          <a:xfrm>
            <a:off x="455175" y="3626250"/>
            <a:ext cx="4840800" cy="10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Authors clarify that their results are not due to overtraining</a:t>
            </a:r>
            <a:endParaRPr/>
          </a:p>
        </p:txBody>
      </p:sp>
      <p:cxnSp>
        <p:nvCxnSpPr>
          <p:cNvPr id="186" name="Google Shape;186;p25"/>
          <p:cNvCxnSpPr/>
          <p:nvPr/>
        </p:nvCxnSpPr>
        <p:spPr>
          <a:xfrm flipH="1" rot="10800000">
            <a:off x="1027575" y="4568875"/>
            <a:ext cx="3029100" cy="5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6"/>
          <p:cNvSpPr txBox="1"/>
          <p:nvPr>
            <p:ph type="title"/>
          </p:nvPr>
        </p:nvSpPr>
        <p:spPr>
          <a:xfrm>
            <a:off x="311700" y="368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Why is it Not Due to Overtraining?</a:t>
            </a:r>
            <a:endParaRPr/>
          </a:p>
        </p:txBody>
      </p:sp>
      <p:sp>
        <p:nvSpPr>
          <p:cNvPr id="192" name="Google Shape;192;p26"/>
          <p:cNvSpPr txBox="1"/>
          <p:nvPr>
            <p:ph idx="1" type="body"/>
          </p:nvPr>
        </p:nvSpPr>
        <p:spPr>
          <a:xfrm>
            <a:off x="1153350" y="4368325"/>
            <a:ext cx="68373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When the model starts overtraining, the exposure stays the same</a:t>
            </a:r>
            <a:endParaRPr sz="1800"/>
          </a:p>
        </p:txBody>
      </p:sp>
      <p:pic>
        <p:nvPicPr>
          <p:cNvPr id="193" name="Google Shape;19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516050" y="1523899"/>
            <a:ext cx="4111900" cy="284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6"/>
          <p:cNvSpPr txBox="1"/>
          <p:nvPr>
            <p:ph idx="1" type="body"/>
          </p:nvPr>
        </p:nvSpPr>
        <p:spPr>
          <a:xfrm>
            <a:off x="964800" y="1117025"/>
            <a:ext cx="72144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Model: Character-Level, </a:t>
            </a:r>
            <a:r>
              <a:rPr lang="en" sz="1800"/>
              <a:t>Data: 5% of Penn Tree Bank (PTB) dataset</a:t>
            </a:r>
            <a:endParaRPr sz="18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Extraction Algorithm: Shortest Path Search</a:t>
            </a:r>
            <a:endParaRPr sz="3400"/>
          </a:p>
        </p:txBody>
      </p:sp>
      <p:pic>
        <p:nvPicPr>
          <p:cNvPr id="200" name="Google Shape;20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5175" y="1421025"/>
            <a:ext cx="5219240" cy="2552712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95750" y="1344825"/>
            <a:ext cx="1724025" cy="3524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02" name="Google Shape;202;p27"/>
          <p:cNvGrpSpPr/>
          <p:nvPr/>
        </p:nvGrpSpPr>
        <p:grpSpPr>
          <a:xfrm>
            <a:off x="3165228" y="1460521"/>
            <a:ext cx="613885" cy="460846"/>
            <a:chOff x="6545300" y="2743600"/>
            <a:chExt cx="485400" cy="451988"/>
          </a:xfrm>
        </p:grpSpPr>
        <p:cxnSp>
          <p:nvCxnSpPr>
            <p:cNvPr id="203" name="Google Shape;203;p27"/>
            <p:cNvCxnSpPr/>
            <p:nvPr/>
          </p:nvCxnSpPr>
          <p:spPr>
            <a:xfrm>
              <a:off x="6545300" y="2743600"/>
              <a:ext cx="485400" cy="301800"/>
            </a:xfrm>
            <a:prstGeom prst="curvedConnector3">
              <a:avLst>
                <a:gd fmla="val 84331" name="adj1"/>
              </a:avLst>
            </a:prstGeom>
            <a:noFill/>
            <a:ln cap="flat" cmpd="sng" w="28575">
              <a:solidFill>
                <a:srgbClr val="FAAA3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04" name="Google Shape;204;p27"/>
            <p:cNvCxnSpPr/>
            <p:nvPr/>
          </p:nvCxnSpPr>
          <p:spPr>
            <a:xfrm>
              <a:off x="7017800" y="3012288"/>
              <a:ext cx="12900" cy="183300"/>
            </a:xfrm>
            <a:prstGeom prst="straightConnector1">
              <a:avLst/>
            </a:prstGeom>
            <a:noFill/>
            <a:ln cap="flat" cmpd="sng" w="28575">
              <a:solidFill>
                <a:srgbClr val="FAAA32"/>
              </a:solidFill>
              <a:prstDash val="solid"/>
              <a:round/>
              <a:headEnd len="med" w="med" type="none"/>
              <a:tailEnd len="med" w="med" type="triangle"/>
            </a:ln>
          </p:spPr>
        </p:cxnSp>
      </p:grpSp>
      <p:sp>
        <p:nvSpPr>
          <p:cNvPr id="205" name="Google Shape;205;p27"/>
          <p:cNvSpPr txBox="1"/>
          <p:nvPr/>
        </p:nvSpPr>
        <p:spPr>
          <a:xfrm>
            <a:off x="858700" y="4112800"/>
            <a:ext cx="1254600" cy="3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Reminder:</a:t>
            </a:r>
            <a:endParaRPr sz="1800"/>
          </a:p>
        </p:txBody>
      </p:sp>
      <p:pic>
        <p:nvPicPr>
          <p:cNvPr id="206" name="Google Shape;206;p27"/>
          <p:cNvPicPr preferRelativeResize="0"/>
          <p:nvPr/>
        </p:nvPicPr>
        <p:blipFill rotWithShape="1">
          <a:blip r:embed="rId5">
            <a:alphaModFix/>
          </a:blip>
          <a:srcRect b="46010" l="0" r="0" t="0"/>
          <a:stretch/>
        </p:blipFill>
        <p:spPr>
          <a:xfrm>
            <a:off x="2113300" y="4036213"/>
            <a:ext cx="3314700" cy="52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7" name="Google Shape;207;p27"/>
          <p:cNvPicPr preferRelativeResize="0"/>
          <p:nvPr/>
        </p:nvPicPr>
        <p:blipFill rotWithShape="1">
          <a:blip r:embed="rId5">
            <a:alphaModFix/>
          </a:blip>
          <a:srcRect b="0" l="4388" r="45397" t="53025"/>
          <a:stretch/>
        </p:blipFill>
        <p:spPr>
          <a:xfrm>
            <a:off x="5428000" y="4112800"/>
            <a:ext cx="1664425" cy="460850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27"/>
          <p:cNvSpPr txBox="1"/>
          <p:nvPr/>
        </p:nvSpPr>
        <p:spPr>
          <a:xfrm>
            <a:off x="7046400" y="4094725"/>
            <a:ext cx="1254600" cy="35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Perplexity</a:t>
            </a:r>
            <a:endParaRPr sz="1800"/>
          </a:p>
        </p:txBody>
      </p:sp>
      <p:cxnSp>
        <p:nvCxnSpPr>
          <p:cNvPr id="209" name="Google Shape;209;p27"/>
          <p:cNvCxnSpPr/>
          <p:nvPr/>
        </p:nvCxnSpPr>
        <p:spPr>
          <a:xfrm flipH="1">
            <a:off x="7205700" y="4599625"/>
            <a:ext cx="468000" cy="293100"/>
          </a:xfrm>
          <a:prstGeom prst="curvedConnector3">
            <a:avLst>
              <a:gd fmla="val 11229" name="adj1"/>
            </a:avLst>
          </a:prstGeom>
          <a:noFill/>
          <a:ln cap="flat" cmpd="sng" w="28575">
            <a:solidFill>
              <a:srgbClr val="FAAA3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10" name="Google Shape;210;p27"/>
          <p:cNvCxnSpPr/>
          <p:nvPr/>
        </p:nvCxnSpPr>
        <p:spPr>
          <a:xfrm rot="10800000">
            <a:off x="6719575" y="4704225"/>
            <a:ext cx="133200" cy="78600"/>
          </a:xfrm>
          <a:prstGeom prst="straightConnector1">
            <a:avLst/>
          </a:prstGeom>
          <a:noFill/>
          <a:ln cap="flat" cmpd="sng" w="28575">
            <a:solidFill>
              <a:srgbClr val="FAAA3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211" name="Google Shape;211;p27"/>
          <p:cNvCxnSpPr/>
          <p:nvPr/>
        </p:nvCxnSpPr>
        <p:spPr>
          <a:xfrm rot="10800000">
            <a:off x="6732575" y="4718300"/>
            <a:ext cx="488700" cy="174300"/>
          </a:xfrm>
          <a:prstGeom prst="curvedConnector3">
            <a:avLst>
              <a:gd fmla="val 67383" name="adj1"/>
            </a:avLst>
          </a:prstGeom>
          <a:noFill/>
          <a:ln cap="flat" cmpd="sng" w="28575">
            <a:solidFill>
              <a:srgbClr val="FAAA3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Effectiveness of Extraction</a:t>
            </a:r>
            <a:endParaRPr/>
          </a:p>
        </p:txBody>
      </p:sp>
      <p:sp>
        <p:nvSpPr>
          <p:cNvPr id="217" name="Google Shape;217;p28"/>
          <p:cNvSpPr txBox="1"/>
          <p:nvPr>
            <p:ph idx="1" type="body"/>
          </p:nvPr>
        </p:nvSpPr>
        <p:spPr>
          <a:xfrm>
            <a:off x="540300" y="1584700"/>
            <a:ext cx="8520600" cy="241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Brute-force search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10^9 attempts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Extraction algorithm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When exposure &gt; 30: </a:t>
            </a:r>
            <a:br>
              <a:rPr lang="en"/>
            </a:br>
            <a:r>
              <a:rPr lang="en"/>
              <a:t>10^4 attempts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100, 000× reduction</a:t>
            </a:r>
            <a:endParaRPr/>
          </a:p>
        </p:txBody>
      </p:sp>
      <p:pic>
        <p:nvPicPr>
          <p:cNvPr id="218" name="Google Shape;218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2475" y="1387475"/>
            <a:ext cx="4286476" cy="3018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Experiment: Enron Email Dataset</a:t>
            </a:r>
            <a:endParaRPr/>
          </a:p>
        </p:txBody>
      </p:sp>
      <p:pic>
        <p:nvPicPr>
          <p:cNvPr id="224" name="Google Shape;224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05700" y="1162275"/>
            <a:ext cx="3932600" cy="3092625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9"/>
          <p:cNvSpPr txBox="1"/>
          <p:nvPr>
            <p:ph idx="1" type="body"/>
          </p:nvPr>
        </p:nvSpPr>
        <p:spPr>
          <a:xfrm>
            <a:off x="1153350" y="4333825"/>
            <a:ext cx="75891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Took a few hours to extract the CCN/SSN numbers from the model</a:t>
            </a:r>
            <a:endParaRPr sz="18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Definition</a:t>
            </a:r>
            <a:r>
              <a:rPr lang="en" sz="3200"/>
              <a:t>: Differential Privacy</a:t>
            </a:r>
            <a:endParaRPr sz="3200"/>
          </a:p>
        </p:txBody>
      </p:sp>
      <p:sp>
        <p:nvSpPr>
          <p:cNvPr id="231" name="Google Shape;231;p30"/>
          <p:cNvSpPr/>
          <p:nvPr/>
        </p:nvSpPr>
        <p:spPr>
          <a:xfrm>
            <a:off x="1201963" y="1375288"/>
            <a:ext cx="2328900" cy="253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30"/>
          <p:cNvSpPr txBox="1"/>
          <p:nvPr/>
        </p:nvSpPr>
        <p:spPr>
          <a:xfrm>
            <a:off x="4313693" y="2304777"/>
            <a:ext cx="516600" cy="6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/>
              <a:t>≅</a:t>
            </a:r>
            <a:endParaRPr sz="3600"/>
          </a:p>
        </p:txBody>
      </p:sp>
      <p:sp>
        <p:nvSpPr>
          <p:cNvPr id="233" name="Google Shape;233;p30"/>
          <p:cNvSpPr/>
          <p:nvPr/>
        </p:nvSpPr>
        <p:spPr>
          <a:xfrm>
            <a:off x="1755217" y="1948369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30"/>
          <p:cNvSpPr/>
          <p:nvPr/>
        </p:nvSpPr>
        <p:spPr>
          <a:xfrm>
            <a:off x="2005302" y="2409590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30"/>
          <p:cNvSpPr/>
          <p:nvPr/>
        </p:nvSpPr>
        <p:spPr>
          <a:xfrm>
            <a:off x="2505471" y="2255850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30"/>
          <p:cNvSpPr/>
          <p:nvPr/>
        </p:nvSpPr>
        <p:spPr>
          <a:xfrm>
            <a:off x="2255386" y="3024552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30"/>
          <p:cNvSpPr/>
          <p:nvPr/>
        </p:nvSpPr>
        <p:spPr>
          <a:xfrm>
            <a:off x="2755555" y="3024552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p30"/>
          <p:cNvSpPr/>
          <p:nvPr/>
        </p:nvSpPr>
        <p:spPr>
          <a:xfrm>
            <a:off x="1505133" y="2870812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30"/>
          <p:cNvSpPr/>
          <p:nvPr/>
        </p:nvSpPr>
        <p:spPr>
          <a:xfrm>
            <a:off x="2880597" y="2563331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30"/>
          <p:cNvSpPr/>
          <p:nvPr/>
        </p:nvSpPr>
        <p:spPr>
          <a:xfrm>
            <a:off x="1880259" y="3332033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30"/>
          <p:cNvSpPr/>
          <p:nvPr/>
        </p:nvSpPr>
        <p:spPr>
          <a:xfrm>
            <a:off x="2505471" y="1640888"/>
            <a:ext cx="282600" cy="284700"/>
          </a:xfrm>
          <a:prstGeom prst="hear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0"/>
          <p:cNvSpPr/>
          <p:nvPr/>
        </p:nvSpPr>
        <p:spPr>
          <a:xfrm>
            <a:off x="5613131" y="1375288"/>
            <a:ext cx="2328900" cy="2534700"/>
          </a:xfrm>
          <a:prstGeom prst="ellipse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30"/>
          <p:cNvSpPr/>
          <p:nvPr/>
        </p:nvSpPr>
        <p:spPr>
          <a:xfrm>
            <a:off x="6166386" y="1948369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0"/>
          <p:cNvSpPr/>
          <p:nvPr/>
        </p:nvSpPr>
        <p:spPr>
          <a:xfrm>
            <a:off x="6416471" y="2409590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30"/>
          <p:cNvSpPr/>
          <p:nvPr/>
        </p:nvSpPr>
        <p:spPr>
          <a:xfrm>
            <a:off x="6916640" y="2255850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30"/>
          <p:cNvSpPr/>
          <p:nvPr/>
        </p:nvSpPr>
        <p:spPr>
          <a:xfrm>
            <a:off x="6666555" y="3024552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0"/>
          <p:cNvSpPr/>
          <p:nvPr/>
        </p:nvSpPr>
        <p:spPr>
          <a:xfrm>
            <a:off x="7166724" y="3024552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30"/>
          <p:cNvSpPr/>
          <p:nvPr/>
        </p:nvSpPr>
        <p:spPr>
          <a:xfrm>
            <a:off x="5916301" y="2870812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30"/>
          <p:cNvSpPr/>
          <p:nvPr/>
        </p:nvSpPr>
        <p:spPr>
          <a:xfrm>
            <a:off x="7291766" y="2563331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30"/>
          <p:cNvSpPr/>
          <p:nvPr/>
        </p:nvSpPr>
        <p:spPr>
          <a:xfrm>
            <a:off x="6291428" y="3332033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30"/>
          <p:cNvSpPr/>
          <p:nvPr/>
        </p:nvSpPr>
        <p:spPr>
          <a:xfrm>
            <a:off x="2048271" y="4264012"/>
            <a:ext cx="282600" cy="284700"/>
          </a:xfrm>
          <a:prstGeom prst="heart">
            <a:avLst/>
          </a:prstGeom>
          <a:solidFill>
            <a:schemeClr val="dk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30"/>
          <p:cNvSpPr/>
          <p:nvPr/>
        </p:nvSpPr>
        <p:spPr>
          <a:xfrm>
            <a:off x="4573021" y="4264013"/>
            <a:ext cx="282600" cy="284700"/>
          </a:xfrm>
          <a:prstGeom prst="heart">
            <a:avLst/>
          </a:prstGeom>
          <a:solidFill>
            <a:schemeClr val="accen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p30"/>
          <p:cNvSpPr txBox="1"/>
          <p:nvPr/>
        </p:nvSpPr>
        <p:spPr>
          <a:xfrm>
            <a:off x="2419350" y="4233975"/>
            <a:ext cx="17466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user training data</a:t>
            </a:r>
            <a:endParaRPr/>
          </a:p>
        </p:txBody>
      </p:sp>
      <p:sp>
        <p:nvSpPr>
          <p:cNvPr id="254" name="Google Shape;254;p30"/>
          <p:cNvSpPr txBox="1"/>
          <p:nvPr/>
        </p:nvSpPr>
        <p:spPr>
          <a:xfrm>
            <a:off x="4857750" y="4233975"/>
            <a:ext cx="2328900" cy="3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= any specific user’s data</a:t>
            </a:r>
            <a:endParaRPr/>
          </a:p>
        </p:txBody>
      </p:sp>
      <p:sp>
        <p:nvSpPr>
          <p:cNvPr id="255" name="Google Shape;255;p30"/>
          <p:cNvSpPr txBox="1"/>
          <p:nvPr/>
        </p:nvSpPr>
        <p:spPr>
          <a:xfrm>
            <a:off x="3816413" y="2937175"/>
            <a:ext cx="1571700" cy="28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Indistinguishable</a:t>
            </a:r>
            <a:endParaRPr/>
          </a:p>
        </p:txBody>
      </p:sp>
      <p:sp>
        <p:nvSpPr>
          <p:cNvPr id="256" name="Google Shape;256;p30"/>
          <p:cNvSpPr txBox="1"/>
          <p:nvPr/>
        </p:nvSpPr>
        <p:spPr>
          <a:xfrm>
            <a:off x="597225" y="2413125"/>
            <a:ext cx="441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</a:t>
            </a:r>
            <a:endParaRPr sz="3000"/>
          </a:p>
        </p:txBody>
      </p:sp>
      <p:sp>
        <p:nvSpPr>
          <p:cNvPr id="257" name="Google Shape;257;p30"/>
          <p:cNvSpPr/>
          <p:nvPr/>
        </p:nvSpPr>
        <p:spPr>
          <a:xfrm>
            <a:off x="1026950" y="1947838"/>
            <a:ext cx="174900" cy="15192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8" name="Google Shape;258;p30"/>
          <p:cNvSpPr/>
          <p:nvPr/>
        </p:nvSpPr>
        <p:spPr>
          <a:xfrm rot="10800000">
            <a:off x="3463950" y="1947838"/>
            <a:ext cx="174900" cy="15192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"/>
          <p:cNvSpPr txBox="1"/>
          <p:nvPr/>
        </p:nvSpPr>
        <p:spPr>
          <a:xfrm>
            <a:off x="5093025" y="2413125"/>
            <a:ext cx="441300" cy="7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A</a:t>
            </a:r>
            <a:endParaRPr sz="3000"/>
          </a:p>
        </p:txBody>
      </p:sp>
      <p:sp>
        <p:nvSpPr>
          <p:cNvPr id="260" name="Google Shape;260;p30"/>
          <p:cNvSpPr/>
          <p:nvPr/>
        </p:nvSpPr>
        <p:spPr>
          <a:xfrm>
            <a:off x="5522750" y="1947838"/>
            <a:ext cx="174900" cy="15192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1" name="Google Shape;261;p30"/>
          <p:cNvSpPr/>
          <p:nvPr/>
        </p:nvSpPr>
        <p:spPr>
          <a:xfrm rot="10800000">
            <a:off x="7883550" y="1947838"/>
            <a:ext cx="174900" cy="1519200"/>
          </a:xfrm>
          <a:prstGeom prst="leftBracket">
            <a:avLst>
              <a:gd fmla="val 8333" name="adj"/>
            </a:avLst>
          </a:prstGeom>
          <a:noFill/>
          <a:ln cap="flat" cmpd="sng" w="2857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Definition</a:t>
            </a:r>
            <a:r>
              <a:rPr lang="en" sz="3200"/>
              <a:t>: Differential Privacy</a:t>
            </a:r>
            <a:endParaRPr sz="3200"/>
          </a:p>
        </p:txBody>
      </p:sp>
      <p:pic>
        <p:nvPicPr>
          <p:cNvPr id="267" name="Google Shape;26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09688" y="1423988"/>
            <a:ext cx="6829425" cy="2295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8" name="Google Shape;268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79413" y="4213713"/>
            <a:ext cx="228600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31"/>
          <p:cNvSpPr txBox="1"/>
          <p:nvPr/>
        </p:nvSpPr>
        <p:spPr>
          <a:xfrm>
            <a:off x="1778588" y="4143325"/>
            <a:ext cx="38733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Strongest privacy guarantees:</a:t>
            </a:r>
            <a:endParaRPr sz="18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31275" y="1154400"/>
            <a:ext cx="4481449" cy="313762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32"/>
          <p:cNvSpPr txBox="1"/>
          <p:nvPr>
            <p:ph idx="1" type="body"/>
          </p:nvPr>
        </p:nvSpPr>
        <p:spPr>
          <a:xfrm>
            <a:off x="478275" y="4257625"/>
            <a:ext cx="8354100" cy="473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800"/>
              <a:t>Strategy: Clip the per-example gradient to a max norm and add Gaussian noise</a:t>
            </a:r>
            <a:endParaRPr sz="1800"/>
          </a:p>
        </p:txBody>
      </p:sp>
      <p:sp>
        <p:nvSpPr>
          <p:cNvPr id="276" name="Google Shape;276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Defense: Differential Privacy</a:t>
            </a:r>
            <a:endParaRPr sz="32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 Models Under the GAN (2017)</a:t>
            </a:r>
            <a:endParaRPr/>
          </a:p>
        </p:txBody>
      </p:sp>
      <p:pic>
        <p:nvPicPr>
          <p:cNvPr id="282" name="Google Shape;28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50163"/>
            <a:ext cx="8839198" cy="1643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Paper Overview</a:t>
            </a:r>
            <a:endParaRPr/>
          </a:p>
        </p:txBody>
      </p:sp>
      <p:sp>
        <p:nvSpPr>
          <p:cNvPr id="288" name="Google Shape;288;p34"/>
          <p:cNvSpPr txBox="1"/>
          <p:nvPr>
            <p:ph idx="1" type="body"/>
          </p:nvPr>
        </p:nvSpPr>
        <p:spPr>
          <a:xfrm>
            <a:off x="311700" y="13810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New setting: federated learning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How does this new GAN attack compare with Model Inversion Attack (MIA)?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GAN is more powerful due to its “online” nature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Naturally leads to adaptive attacks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What happens with we add Differential Privacy (DP)?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Adaptive GAN attack still succeeds</a:t>
            </a:r>
            <a:endParaRPr/>
          </a:p>
        </p:txBody>
      </p:sp>
      <p:cxnSp>
        <p:nvCxnSpPr>
          <p:cNvPr id="289" name="Google Shape;289;p34"/>
          <p:cNvCxnSpPr/>
          <p:nvPr/>
        </p:nvCxnSpPr>
        <p:spPr>
          <a:xfrm>
            <a:off x="4647600" y="3017175"/>
            <a:ext cx="1445700" cy="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90" name="Google Shape;290;p34"/>
          <p:cNvCxnSpPr/>
          <p:nvPr/>
        </p:nvCxnSpPr>
        <p:spPr>
          <a:xfrm>
            <a:off x="3522750" y="4063175"/>
            <a:ext cx="1416000" cy="8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" name="Google Shape;295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4063" y="1309675"/>
            <a:ext cx="6096000" cy="3438525"/>
          </a:xfrm>
          <a:prstGeom prst="rect">
            <a:avLst/>
          </a:prstGeom>
          <a:noFill/>
          <a:ln>
            <a:noFill/>
          </a:ln>
        </p:spPr>
      </p:pic>
      <p:sp>
        <p:nvSpPr>
          <p:cNvPr id="296" name="Google Shape;296;p35"/>
          <p:cNvSpPr/>
          <p:nvPr/>
        </p:nvSpPr>
        <p:spPr>
          <a:xfrm>
            <a:off x="1714250" y="1932175"/>
            <a:ext cx="2051700" cy="1538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7" name="Google Shape;297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Setting: Federated (or Collaborative) Learning</a:t>
            </a:r>
            <a:endParaRPr sz="3200"/>
          </a:p>
        </p:txBody>
      </p:sp>
      <p:sp>
        <p:nvSpPr>
          <p:cNvPr id="298" name="Google Shape;298;p35"/>
          <p:cNvSpPr/>
          <p:nvPr/>
        </p:nvSpPr>
        <p:spPr>
          <a:xfrm>
            <a:off x="2799650" y="3217125"/>
            <a:ext cx="2627700" cy="1315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9" name="Google Shape;299;p35"/>
          <p:cNvSpPr/>
          <p:nvPr/>
        </p:nvSpPr>
        <p:spPr>
          <a:xfrm>
            <a:off x="2188475" y="3099400"/>
            <a:ext cx="611100" cy="1315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0" name="Google Shape;300;p35"/>
          <p:cNvSpPr/>
          <p:nvPr/>
        </p:nvSpPr>
        <p:spPr>
          <a:xfrm>
            <a:off x="5542850" y="3618225"/>
            <a:ext cx="1373700" cy="837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5"/>
          <p:cNvSpPr/>
          <p:nvPr/>
        </p:nvSpPr>
        <p:spPr>
          <a:xfrm>
            <a:off x="6288800" y="2141400"/>
            <a:ext cx="903300" cy="14211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5"/>
          <p:cNvSpPr/>
          <p:nvPr/>
        </p:nvSpPr>
        <p:spPr>
          <a:xfrm>
            <a:off x="5450600" y="2313700"/>
            <a:ext cx="903300" cy="640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2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Centralized vs Collaborative Adversary</a:t>
            </a:r>
            <a:endParaRPr/>
          </a:p>
        </p:txBody>
      </p:sp>
      <p:sp>
        <p:nvSpPr>
          <p:cNvPr id="308" name="Google Shape;308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Previously only the server could be adversarial and break privacy, but now each user has the power of an adversary</a:t>
            </a:r>
            <a:endParaRPr/>
          </a:p>
        </p:txBody>
      </p:sp>
      <p:pic>
        <p:nvPicPr>
          <p:cNvPr id="309" name="Google Shape;30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0138" y="2410025"/>
            <a:ext cx="8763724" cy="2360525"/>
          </a:xfrm>
          <a:prstGeom prst="rect">
            <a:avLst/>
          </a:prstGeom>
          <a:noFill/>
          <a:ln>
            <a:noFill/>
          </a:ln>
        </p:spPr>
      </p:pic>
      <p:sp>
        <p:nvSpPr>
          <p:cNvPr id="310" name="Google Shape;310;p36"/>
          <p:cNvSpPr txBox="1"/>
          <p:nvPr/>
        </p:nvSpPr>
        <p:spPr>
          <a:xfrm>
            <a:off x="7308650" y="2308650"/>
            <a:ext cx="15690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Share model parameters</a:t>
            </a:r>
            <a:endParaRPr sz="1800"/>
          </a:p>
        </p:txBody>
      </p:sp>
      <p:sp>
        <p:nvSpPr>
          <p:cNvPr id="311" name="Google Shape;311;p36"/>
          <p:cNvSpPr txBox="1"/>
          <p:nvPr/>
        </p:nvSpPr>
        <p:spPr>
          <a:xfrm>
            <a:off x="138800" y="2495100"/>
            <a:ext cx="2138100" cy="45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Share user data</a:t>
            </a:r>
            <a:endParaRPr sz="18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7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Attack on Collaborative Learning</a:t>
            </a:r>
            <a:endParaRPr/>
          </a:p>
        </p:txBody>
      </p:sp>
      <p:pic>
        <p:nvPicPr>
          <p:cNvPr id="317" name="Google Shape;317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13" y="1916362"/>
            <a:ext cx="8956173" cy="28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p37"/>
          <p:cNvSpPr txBox="1"/>
          <p:nvPr/>
        </p:nvSpPr>
        <p:spPr>
          <a:xfrm>
            <a:off x="918300" y="1012100"/>
            <a:ext cx="73074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Motivation: </a:t>
            </a:r>
            <a:r>
              <a:rPr lang="en" sz="1800"/>
              <a:t>GANs devised for density estimation, so can learn data distribution from the model output without direct access to the data</a:t>
            </a:r>
            <a:endParaRPr sz="1800"/>
          </a:p>
        </p:txBody>
      </p:sp>
      <p:sp>
        <p:nvSpPr>
          <p:cNvPr id="319" name="Google Shape;319;p37"/>
          <p:cNvSpPr/>
          <p:nvPr/>
        </p:nvSpPr>
        <p:spPr>
          <a:xfrm>
            <a:off x="5692925" y="2571750"/>
            <a:ext cx="1206900" cy="1332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37"/>
          <p:cNvSpPr/>
          <p:nvPr/>
        </p:nvSpPr>
        <p:spPr>
          <a:xfrm>
            <a:off x="6580575" y="4072425"/>
            <a:ext cx="14760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7"/>
          <p:cNvSpPr/>
          <p:nvPr/>
        </p:nvSpPr>
        <p:spPr>
          <a:xfrm>
            <a:off x="6084050" y="2127213"/>
            <a:ext cx="2352600" cy="44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7"/>
          <p:cNvSpPr/>
          <p:nvPr/>
        </p:nvSpPr>
        <p:spPr>
          <a:xfrm>
            <a:off x="2418725" y="2127225"/>
            <a:ext cx="3008700" cy="44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3" name="Google Shape;323;p37"/>
          <p:cNvSpPr/>
          <p:nvPr/>
        </p:nvSpPr>
        <p:spPr>
          <a:xfrm>
            <a:off x="5922550" y="4321650"/>
            <a:ext cx="3008700" cy="44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37"/>
          <p:cNvSpPr/>
          <p:nvPr/>
        </p:nvSpPr>
        <p:spPr>
          <a:xfrm>
            <a:off x="5072975" y="2572125"/>
            <a:ext cx="716700" cy="142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5" name="Google Shape;325;p37"/>
          <p:cNvSpPr/>
          <p:nvPr/>
        </p:nvSpPr>
        <p:spPr>
          <a:xfrm>
            <a:off x="4817675" y="2724525"/>
            <a:ext cx="716700" cy="54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37"/>
          <p:cNvSpPr/>
          <p:nvPr/>
        </p:nvSpPr>
        <p:spPr>
          <a:xfrm>
            <a:off x="573075" y="2643238"/>
            <a:ext cx="2469300" cy="49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7"/>
          <p:cNvSpPr/>
          <p:nvPr/>
        </p:nvSpPr>
        <p:spPr>
          <a:xfrm>
            <a:off x="396625" y="2756625"/>
            <a:ext cx="2586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8" name="Google Shape;328;p37"/>
          <p:cNvSpPr/>
          <p:nvPr/>
        </p:nvSpPr>
        <p:spPr>
          <a:xfrm>
            <a:off x="1525625" y="3267825"/>
            <a:ext cx="480000" cy="80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9" name="Google Shape;329;p37"/>
          <p:cNvSpPr/>
          <p:nvPr/>
        </p:nvSpPr>
        <p:spPr>
          <a:xfrm>
            <a:off x="3185650" y="2894250"/>
            <a:ext cx="790500" cy="142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37"/>
          <p:cNvSpPr/>
          <p:nvPr/>
        </p:nvSpPr>
        <p:spPr>
          <a:xfrm>
            <a:off x="3259450" y="4072425"/>
            <a:ext cx="1813500" cy="80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37"/>
          <p:cNvSpPr/>
          <p:nvPr/>
        </p:nvSpPr>
        <p:spPr>
          <a:xfrm>
            <a:off x="3302600" y="2463225"/>
            <a:ext cx="1476000" cy="80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2" name="Google Shape;332;p37"/>
          <p:cNvSpPr/>
          <p:nvPr/>
        </p:nvSpPr>
        <p:spPr>
          <a:xfrm>
            <a:off x="150350" y="2075619"/>
            <a:ext cx="1813500" cy="44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7"/>
          <p:cNvSpPr/>
          <p:nvPr/>
        </p:nvSpPr>
        <p:spPr>
          <a:xfrm>
            <a:off x="202275" y="4446100"/>
            <a:ext cx="3978000" cy="43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4" name="Google Shape;334;p37"/>
          <p:cNvSpPr/>
          <p:nvPr/>
        </p:nvSpPr>
        <p:spPr>
          <a:xfrm>
            <a:off x="33775" y="2422700"/>
            <a:ext cx="258600" cy="1289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GAN Attack on Collaborative Learning</a:t>
            </a:r>
            <a:endParaRPr/>
          </a:p>
        </p:txBody>
      </p:sp>
      <p:pic>
        <p:nvPicPr>
          <p:cNvPr id="340" name="Google Shape;34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3913" y="1916362"/>
            <a:ext cx="8956173" cy="2803025"/>
          </a:xfrm>
          <a:prstGeom prst="rect">
            <a:avLst/>
          </a:prstGeom>
          <a:noFill/>
          <a:ln>
            <a:noFill/>
          </a:ln>
        </p:spPr>
      </p:pic>
      <p:sp>
        <p:nvSpPr>
          <p:cNvPr id="341" name="Google Shape;341;p38"/>
          <p:cNvSpPr txBox="1"/>
          <p:nvPr/>
        </p:nvSpPr>
        <p:spPr>
          <a:xfrm>
            <a:off x="918300" y="1012100"/>
            <a:ext cx="7307400" cy="6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Motivation: GANs devised for density estimation, so can learn data distribution from the model output without direct access to the data</a:t>
            </a:r>
            <a:endParaRPr sz="1800"/>
          </a:p>
        </p:txBody>
      </p:sp>
      <p:sp>
        <p:nvSpPr>
          <p:cNvPr id="342" name="Google Shape;342;p38"/>
          <p:cNvSpPr/>
          <p:nvPr/>
        </p:nvSpPr>
        <p:spPr>
          <a:xfrm>
            <a:off x="2418725" y="2127225"/>
            <a:ext cx="3008700" cy="249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3" name="Google Shape;343;p38"/>
          <p:cNvSpPr/>
          <p:nvPr/>
        </p:nvSpPr>
        <p:spPr>
          <a:xfrm>
            <a:off x="5072975" y="2572125"/>
            <a:ext cx="716700" cy="142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4" name="Google Shape;344;p38"/>
          <p:cNvSpPr/>
          <p:nvPr/>
        </p:nvSpPr>
        <p:spPr>
          <a:xfrm>
            <a:off x="4817675" y="2724525"/>
            <a:ext cx="716700" cy="543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p38"/>
          <p:cNvSpPr/>
          <p:nvPr/>
        </p:nvSpPr>
        <p:spPr>
          <a:xfrm>
            <a:off x="573075" y="2643238"/>
            <a:ext cx="2469300" cy="4965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38"/>
          <p:cNvSpPr/>
          <p:nvPr/>
        </p:nvSpPr>
        <p:spPr>
          <a:xfrm>
            <a:off x="396625" y="2756625"/>
            <a:ext cx="258600" cy="5727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7" name="Google Shape;347;p38"/>
          <p:cNvSpPr/>
          <p:nvPr/>
        </p:nvSpPr>
        <p:spPr>
          <a:xfrm>
            <a:off x="1525625" y="3267825"/>
            <a:ext cx="480000" cy="804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8" name="Google Shape;348;p38"/>
          <p:cNvSpPr/>
          <p:nvPr/>
        </p:nvSpPr>
        <p:spPr>
          <a:xfrm>
            <a:off x="3185650" y="2894250"/>
            <a:ext cx="790500" cy="1427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9" name="Google Shape;349;p38"/>
          <p:cNvSpPr/>
          <p:nvPr/>
        </p:nvSpPr>
        <p:spPr>
          <a:xfrm>
            <a:off x="3750300" y="4129725"/>
            <a:ext cx="1322700" cy="74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0" name="Google Shape;350;p38"/>
          <p:cNvSpPr/>
          <p:nvPr/>
        </p:nvSpPr>
        <p:spPr>
          <a:xfrm>
            <a:off x="3302600" y="2520525"/>
            <a:ext cx="1476000" cy="7473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1" name="Google Shape;351;p38"/>
          <p:cNvSpPr/>
          <p:nvPr/>
        </p:nvSpPr>
        <p:spPr>
          <a:xfrm>
            <a:off x="150350" y="2075619"/>
            <a:ext cx="1813500" cy="4449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38"/>
          <p:cNvSpPr/>
          <p:nvPr/>
        </p:nvSpPr>
        <p:spPr>
          <a:xfrm>
            <a:off x="202275" y="4446100"/>
            <a:ext cx="5022900" cy="4308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38"/>
          <p:cNvSpPr/>
          <p:nvPr/>
        </p:nvSpPr>
        <p:spPr>
          <a:xfrm>
            <a:off x="33775" y="2422700"/>
            <a:ext cx="258600" cy="12894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4" name="Google Shape;354;p38"/>
          <p:cNvSpPr/>
          <p:nvPr/>
        </p:nvSpPr>
        <p:spPr>
          <a:xfrm>
            <a:off x="2418725" y="2369275"/>
            <a:ext cx="2066100" cy="1992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5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10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100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39"/>
          <p:cNvSpPr txBox="1"/>
          <p:nvPr>
            <p:ph type="title"/>
          </p:nvPr>
        </p:nvSpPr>
        <p:spPr>
          <a:xfrm>
            <a:off x="311700" y="2926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 Inversion vs GAN</a:t>
            </a:r>
            <a:endParaRPr/>
          </a:p>
        </p:txBody>
      </p:sp>
      <p:sp>
        <p:nvSpPr>
          <p:cNvPr id="360" name="Google Shape;360;p39"/>
          <p:cNvSpPr txBox="1"/>
          <p:nvPr>
            <p:ph idx="1" type="body"/>
          </p:nvPr>
        </p:nvSpPr>
        <p:spPr>
          <a:xfrm>
            <a:off x="159300" y="1105550"/>
            <a:ext cx="6219600" cy="36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A</a:t>
            </a:r>
            <a:r>
              <a:rPr lang="en"/>
              <a:t>dversary is adaptively malicious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Curious about a class of data they do not own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Model </a:t>
            </a:r>
            <a:r>
              <a:rPr lang="en"/>
              <a:t>Inversion</a:t>
            </a:r>
            <a:r>
              <a:rPr lang="en"/>
              <a:t> Attack (MIA)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Against final trained model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Effective against multi-layer perceptron (MLP), but not against convolutional neural networks (CNN)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GAN Attack (DCGAN)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Uses real-time access to influence training phase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Effective against CNN (see </a:t>
            </a:r>
            <a:r>
              <a:rPr lang="en"/>
              <a:t>experiment</a:t>
            </a:r>
            <a:r>
              <a:rPr lang="en"/>
              <a:t> on right)</a:t>
            </a:r>
            <a:endParaRPr/>
          </a:p>
        </p:txBody>
      </p:sp>
      <p:pic>
        <p:nvPicPr>
          <p:cNvPr id="361" name="Google Shape;36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00301" y="260775"/>
            <a:ext cx="2585100" cy="48165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62" name="Google Shape;362;p39"/>
          <p:cNvCxnSpPr/>
          <p:nvPr/>
        </p:nvCxnSpPr>
        <p:spPr>
          <a:xfrm flipH="1" rot="10800000">
            <a:off x="1160875" y="4351675"/>
            <a:ext cx="2273400" cy="9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3" name="Google Shape;363;p39"/>
          <p:cNvCxnSpPr/>
          <p:nvPr/>
        </p:nvCxnSpPr>
        <p:spPr>
          <a:xfrm flipH="1" rot="10800000">
            <a:off x="1160875" y="3261750"/>
            <a:ext cx="4163100" cy="147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64" name="Google Shape;364;p39"/>
          <p:cNvCxnSpPr/>
          <p:nvPr/>
        </p:nvCxnSpPr>
        <p:spPr>
          <a:xfrm flipH="1" rot="10800000">
            <a:off x="3751675" y="4030075"/>
            <a:ext cx="1755900" cy="45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of GAN Attack: MNIST data</a:t>
            </a:r>
            <a:endParaRPr/>
          </a:p>
        </p:txBody>
      </p:sp>
      <p:sp>
        <p:nvSpPr>
          <p:cNvPr id="370" name="Google Shape;370;p40"/>
          <p:cNvSpPr txBox="1"/>
          <p:nvPr/>
        </p:nvSpPr>
        <p:spPr>
          <a:xfrm>
            <a:off x="152400" y="3121575"/>
            <a:ext cx="28776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(a) users upload and download the entire model</a:t>
            </a:r>
            <a:endParaRPr sz="2400"/>
          </a:p>
        </p:txBody>
      </p:sp>
      <p:pic>
        <p:nvPicPr>
          <p:cNvPr id="371" name="Google Shape;3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25200" y="1698600"/>
            <a:ext cx="6485274" cy="1162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72" name="Google Shape;372;p40"/>
          <p:cNvCxnSpPr/>
          <p:nvPr/>
        </p:nvCxnSpPr>
        <p:spPr>
          <a:xfrm flipH="1" rot="-5400000">
            <a:off x="7470300" y="1979750"/>
            <a:ext cx="284400" cy="211500"/>
          </a:xfrm>
          <a:prstGeom prst="curvedConnector3">
            <a:avLst>
              <a:gd fmla="val 0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73" name="Google Shape;373;p40"/>
          <p:cNvCxnSpPr/>
          <p:nvPr/>
        </p:nvCxnSpPr>
        <p:spPr>
          <a:xfrm flipH="1">
            <a:off x="7344275" y="1948450"/>
            <a:ext cx="197700" cy="15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74" name="Google Shape;374;p40"/>
          <p:cNvCxnSpPr/>
          <p:nvPr/>
        </p:nvCxnSpPr>
        <p:spPr>
          <a:xfrm flipH="1" rot="10800000">
            <a:off x="7491075" y="2235675"/>
            <a:ext cx="235200" cy="188100"/>
          </a:xfrm>
          <a:prstGeom prst="curvedConnector3">
            <a:avLst>
              <a:gd fmla="val 83333" name="adj1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5" name="Google Shape;375;p40"/>
          <p:cNvSpPr txBox="1"/>
          <p:nvPr/>
        </p:nvSpPr>
        <p:spPr>
          <a:xfrm>
            <a:off x="7806875" y="1741650"/>
            <a:ext cx="1273500" cy="8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Train data c</a:t>
            </a:r>
            <a:r>
              <a:rPr lang="en" sz="1800"/>
              <a:t>losest in L1-norm</a:t>
            </a:r>
            <a:endParaRPr sz="1800"/>
          </a:p>
        </p:txBody>
      </p:sp>
      <p:sp>
        <p:nvSpPr>
          <p:cNvPr id="376" name="Google Shape;376;p40"/>
          <p:cNvSpPr txBox="1"/>
          <p:nvPr/>
        </p:nvSpPr>
        <p:spPr>
          <a:xfrm>
            <a:off x="311700" y="2180650"/>
            <a:ext cx="810000" cy="4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GAN:</a:t>
            </a:r>
            <a:endParaRPr sz="1800"/>
          </a:p>
        </p:txBody>
      </p:sp>
      <p:sp>
        <p:nvSpPr>
          <p:cNvPr id="377" name="Google Shape;377;p40"/>
          <p:cNvSpPr txBox="1"/>
          <p:nvPr/>
        </p:nvSpPr>
        <p:spPr>
          <a:xfrm>
            <a:off x="2792400" y="3121575"/>
            <a:ext cx="42306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(b) users download the full model, upload 10% of the parameters in each epoch</a:t>
            </a:r>
            <a:endParaRPr sz="2400"/>
          </a:p>
        </p:txBody>
      </p:sp>
      <p:sp>
        <p:nvSpPr>
          <p:cNvPr id="378" name="Google Shape;378;p40"/>
          <p:cNvSpPr txBox="1"/>
          <p:nvPr/>
        </p:nvSpPr>
        <p:spPr>
          <a:xfrm>
            <a:off x="6585100" y="3121575"/>
            <a:ext cx="27492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(c) upload and download is 10%</a:t>
            </a:r>
            <a:endParaRPr sz="2400"/>
          </a:p>
        </p:txBody>
      </p:sp>
      <p:cxnSp>
        <p:nvCxnSpPr>
          <p:cNvPr id="379" name="Google Shape;379;p40"/>
          <p:cNvCxnSpPr>
            <a:stCxn id="370" idx="0"/>
          </p:cNvCxnSpPr>
          <p:nvPr/>
        </p:nvCxnSpPr>
        <p:spPr>
          <a:xfrm flipH="1" rot="10800000">
            <a:off x="1591200" y="2869575"/>
            <a:ext cx="392400" cy="2520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0" name="Google Shape;380;p40"/>
          <p:cNvCxnSpPr>
            <a:stCxn id="378" idx="0"/>
          </p:cNvCxnSpPr>
          <p:nvPr/>
        </p:nvCxnSpPr>
        <p:spPr>
          <a:xfrm rot="10800000">
            <a:off x="7189900" y="2736375"/>
            <a:ext cx="769800" cy="3852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81" name="Google Shape;381;p40"/>
          <p:cNvCxnSpPr>
            <a:endCxn id="371" idx="2"/>
          </p:cNvCxnSpPr>
          <p:nvPr/>
        </p:nvCxnSpPr>
        <p:spPr>
          <a:xfrm rot="10800000">
            <a:off x="4167837" y="2860750"/>
            <a:ext cx="285600" cy="2835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of GAN Attack: AT&amp;T data</a:t>
            </a:r>
            <a:endParaRPr/>
          </a:p>
        </p:txBody>
      </p:sp>
      <p:sp>
        <p:nvSpPr>
          <p:cNvPr id="387" name="Google Shape;387;p41"/>
          <p:cNvSpPr txBox="1"/>
          <p:nvPr/>
        </p:nvSpPr>
        <p:spPr>
          <a:xfrm>
            <a:off x="152400" y="3121575"/>
            <a:ext cx="28776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(a) users upload and download the entire model</a:t>
            </a:r>
            <a:endParaRPr sz="2400"/>
          </a:p>
        </p:txBody>
      </p:sp>
      <p:sp>
        <p:nvSpPr>
          <p:cNvPr id="388" name="Google Shape;388;p41"/>
          <p:cNvSpPr txBox="1"/>
          <p:nvPr/>
        </p:nvSpPr>
        <p:spPr>
          <a:xfrm>
            <a:off x="5823500" y="1331900"/>
            <a:ext cx="3177000" cy="98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AT&amp;T dataset is smaller and accuracy degrades when user uploads are small</a:t>
            </a:r>
            <a:endParaRPr sz="1800"/>
          </a:p>
        </p:txBody>
      </p:sp>
      <p:sp>
        <p:nvSpPr>
          <p:cNvPr id="389" name="Google Shape;389;p41"/>
          <p:cNvSpPr txBox="1"/>
          <p:nvPr/>
        </p:nvSpPr>
        <p:spPr>
          <a:xfrm>
            <a:off x="2792400" y="3121575"/>
            <a:ext cx="42306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(b) users download the full model, upload 10% of the parameters in each epoch</a:t>
            </a:r>
            <a:endParaRPr sz="2400"/>
          </a:p>
        </p:txBody>
      </p:sp>
      <p:sp>
        <p:nvSpPr>
          <p:cNvPr id="390" name="Google Shape;390;p41"/>
          <p:cNvSpPr txBox="1"/>
          <p:nvPr/>
        </p:nvSpPr>
        <p:spPr>
          <a:xfrm>
            <a:off x="6585100" y="3121575"/>
            <a:ext cx="2749200" cy="11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(c) upload and download is 10%</a:t>
            </a:r>
            <a:endParaRPr sz="2400"/>
          </a:p>
        </p:txBody>
      </p:sp>
      <p:cxnSp>
        <p:nvCxnSpPr>
          <p:cNvPr id="391" name="Google Shape;391;p41"/>
          <p:cNvCxnSpPr>
            <a:stCxn id="390" idx="0"/>
          </p:cNvCxnSpPr>
          <p:nvPr/>
        </p:nvCxnSpPr>
        <p:spPr>
          <a:xfrm rot="10800000">
            <a:off x="5535400" y="2446275"/>
            <a:ext cx="2424300" cy="675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392" name="Google Shape;392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3900" y="1373975"/>
            <a:ext cx="4301503" cy="15382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393" name="Google Shape;393;p41"/>
          <p:cNvCxnSpPr/>
          <p:nvPr/>
        </p:nvCxnSpPr>
        <p:spPr>
          <a:xfrm rot="10800000">
            <a:off x="4265337" y="2657950"/>
            <a:ext cx="188100" cy="4863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394" name="Google Shape;394;p41"/>
          <p:cNvCxnSpPr>
            <a:stCxn id="387" idx="0"/>
          </p:cNvCxnSpPr>
          <p:nvPr/>
        </p:nvCxnSpPr>
        <p:spPr>
          <a:xfrm flipH="1" rot="10800000">
            <a:off x="1591200" y="2579475"/>
            <a:ext cx="831600" cy="54210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Bypasses “Record-Level” Differential Privacy</a:t>
            </a:r>
            <a:endParaRPr sz="3200"/>
          </a:p>
        </p:txBody>
      </p:sp>
      <p:sp>
        <p:nvSpPr>
          <p:cNvPr id="400" name="Google Shape;400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41 users (1 malicious adversary)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GAN attack able to </a:t>
            </a:r>
            <a:r>
              <a:rPr lang="en"/>
              <a:t>reconstruct</a:t>
            </a:r>
            <a:r>
              <a:rPr lang="en"/>
              <a:t> victim’s private data even with differential privacy (DP) enabled</a:t>
            </a:r>
            <a:endParaRPr/>
          </a:p>
        </p:txBody>
      </p:sp>
      <p:pic>
        <p:nvPicPr>
          <p:cNvPr id="401" name="Google Shape;401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275" y="2767575"/>
            <a:ext cx="8861449" cy="1947939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02" name="Google Shape;402;p42"/>
          <p:cNvCxnSpPr/>
          <p:nvPr/>
        </p:nvCxnSpPr>
        <p:spPr>
          <a:xfrm flipH="1" rot="10800000">
            <a:off x="932275" y="2493450"/>
            <a:ext cx="4875600" cy="210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Experiments with DP</a:t>
            </a:r>
            <a:endParaRPr/>
          </a:p>
        </p:txBody>
      </p:sp>
      <p:pic>
        <p:nvPicPr>
          <p:cNvPr id="408" name="Google Shape;408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9776" y="299412"/>
            <a:ext cx="2281125" cy="4708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09" name="Google Shape;409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700" y="1863025"/>
            <a:ext cx="5600700" cy="158115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3"/>
          <p:cNvSpPr txBox="1"/>
          <p:nvPr/>
        </p:nvSpPr>
        <p:spPr>
          <a:xfrm>
            <a:off x="1128950" y="3742925"/>
            <a:ext cx="4150200" cy="43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Less effective, but still reconstructable</a:t>
            </a:r>
            <a:endParaRPr sz="180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/>
              <a:t>Why Doesn’t “Record-Level” DP Suffice?</a:t>
            </a:r>
            <a:endParaRPr sz="3400"/>
          </a:p>
        </p:txBody>
      </p:sp>
      <p:sp>
        <p:nvSpPr>
          <p:cNvPr id="416" name="Google Shape;416;p44"/>
          <p:cNvSpPr txBox="1"/>
          <p:nvPr>
            <p:ph idx="1" type="body"/>
          </p:nvPr>
        </p:nvSpPr>
        <p:spPr>
          <a:xfrm>
            <a:off x="311700" y="1533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GAN </a:t>
            </a:r>
            <a:r>
              <a:rPr lang="en"/>
              <a:t>attack is effective even using </a:t>
            </a:r>
            <a:r>
              <a:rPr lang="en"/>
              <a:t>differential privacy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Authors say that the attack </a:t>
            </a:r>
            <a:r>
              <a:rPr lang="en"/>
              <a:t>relies only on the accuracy of the discriminative model of the GAN and not its actual gradient values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cxnSp>
        <p:nvCxnSpPr>
          <p:cNvPr id="417" name="Google Shape;417;p44"/>
          <p:cNvCxnSpPr/>
          <p:nvPr/>
        </p:nvCxnSpPr>
        <p:spPr>
          <a:xfrm flipH="1" rot="10800000">
            <a:off x="5105975" y="2654875"/>
            <a:ext cx="2820900" cy="144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Summary of Strategy</a:t>
            </a:r>
            <a:endParaRPr sz="3600"/>
          </a:p>
        </p:txBody>
      </p:sp>
      <p:sp>
        <p:nvSpPr>
          <p:cNvPr id="423" name="Google Shape;423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 sz="2400"/>
              <a:t>The Secret Sharer (2019)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Demonstrated privacy attack on NLP generative models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Designed metric to measure exposure of out-of-distribution data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Analyzed techniques to defend against this attack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Concluded differential privacy was secure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 sz="2400"/>
              <a:t>Deep Models Under the GAN (2017)</a:t>
            </a:r>
            <a:endParaRPr sz="2400"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Demonstrate GAN attack to reconstruct data in FL setting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Apply suggested defenses: “record-level” DP</a:t>
            </a:r>
            <a:endParaRPr/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Char char="○"/>
            </a:pPr>
            <a:r>
              <a:rPr lang="en"/>
              <a:t>Demonstrate attack against FL + “record-level” DP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Directions</a:t>
            </a:r>
            <a:endParaRPr/>
          </a:p>
        </p:txBody>
      </p:sp>
      <p:sp>
        <p:nvSpPr>
          <p:cNvPr id="429" name="Google Shape;429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How to prevent memorization of out-of-distribution data in a way that doesn’t sacrifice accuracy of the model?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How to build collaborative learning system using user or device-level differential privacy?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★"/>
            </a:pPr>
            <a:r>
              <a:rPr lang="en"/>
              <a:t>Is the GAN attack reproducible in NLP setting?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3D70F7"/>
      </a:dk1>
      <a:lt1>
        <a:srgbClr val="FFFFFF"/>
      </a:lt1>
      <a:dk2>
        <a:srgbClr val="000000"/>
      </a:dk2>
      <a:lt2>
        <a:srgbClr val="EEEEEE"/>
      </a:lt2>
      <a:accent1>
        <a:srgbClr val="FAAA32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