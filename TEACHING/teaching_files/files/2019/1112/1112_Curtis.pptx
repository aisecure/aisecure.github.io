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6" r:id="rId4"/>
    <p:sldId id="257" r:id="rId5"/>
    <p:sldId id="264" r:id="rId6"/>
    <p:sldId id="262" r:id="rId7"/>
    <p:sldId id="258" r:id="rId8"/>
    <p:sldId id="270" r:id="rId9"/>
    <p:sldId id="273" r:id="rId10"/>
    <p:sldId id="260" r:id="rId11"/>
    <p:sldId id="261" r:id="rId12"/>
    <p:sldId id="263" r:id="rId13"/>
    <p:sldId id="272" r:id="rId14"/>
    <p:sldId id="278" r:id="rId15"/>
    <p:sldId id="268" r:id="rId16"/>
    <p:sldId id="267" r:id="rId17"/>
    <p:sldId id="277" r:id="rId18"/>
    <p:sldId id="276" r:id="rId19"/>
    <p:sldId id="269" r:id="rId20"/>
    <p:sldId id="271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60"/>
  </p:normalViewPr>
  <p:slideViewPr>
    <p:cSldViewPr snapToGrid="0">
      <p:cViewPr>
        <p:scale>
          <a:sx n="66" d="100"/>
          <a:sy n="66" d="100"/>
        </p:scale>
        <p:origin x="-11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08B9-4707-48F8-9495-E148B4E35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845C32-F72D-4CB5-9F05-7AFAEF41A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29004-99C2-4563-B86D-D8BBCC3A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9ACD-DB58-407C-AE67-99F80533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88EC9-2A37-4ADD-A889-4619FAFC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7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9342-886D-4641-B895-46966609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AD314-9A37-4044-A880-34D687D80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152BE-FF34-44CE-AA2C-C7480DA7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E13B3-4E00-4853-95D1-271CBD04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8F48-EBFC-43D9-9379-AA91D123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59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CFDA-41E2-4C50-ADDD-57B74E35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ADA1-E377-4AEA-9CE8-B8C57B0D0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602B9-65E0-4D9A-8BE6-6C8E3AF2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2224D-F6F7-410D-813D-5DA67E5ED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15201-C200-4FB0-958C-C23F330C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31D9A-5098-48A4-BFC2-BA5FF92C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8212-429C-4216-AA1B-6994F61E6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6A78F-7274-4459-94C5-EC4A1BC64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6F68B-1FE2-4B6E-87CA-A92E6024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EA2BC-3CF9-4AE2-94F7-15B1444E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A8028-3636-4F8E-B19B-74B86B6B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F566-905A-41A8-8619-848719306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72659-D330-4497-93D1-A861752B1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00057-7118-4F5D-8541-8210D06D2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1A711-0C9C-427C-8F88-0E6C8F3AB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022A8-8616-4012-9EBC-931001621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EEDFF3-77FC-4A60-8C7B-3BB12961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4CAD8-04BE-445A-BC6F-025BC07E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92505-FE44-45FB-A47F-47D55060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0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D2B1-075F-449A-A1D4-409114D1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FEC25-C94F-4236-B842-D55F4205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6212A-949D-4936-BB25-998D9B7BF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B0AE92-EC25-48EA-8C25-C4DB8EE0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5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D4245-663F-48C9-A6DB-1B742DB7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F05D1B-1FEC-417E-BEFC-C8FFC07D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2275-0795-4BEB-8AE2-09DA3C3B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40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E7F1-00A4-4C7F-8F95-6CEE32BEC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5A0B7-1488-4975-9317-12CF81BD4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92347-9D0C-4C5C-ADDF-EE44116CC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CF2A8-BC80-462B-AE8B-AA9BD42F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B03FD-8E9A-420A-AB78-A83E1616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95EF7-23BD-4309-BE53-F6E0ABD7C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2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8178-F9AA-4746-8ED0-38E7F942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6AE9BA-356B-461E-B72C-638941121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43B9B-39A0-4E52-B1AD-612D3BD4B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EBB90-194D-4213-9F98-F4DE5D87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9E6A4-B773-4591-84BF-07B28C65D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9482C-2451-4B03-91A1-6A2FA4B8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08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B259-3D4E-49D4-B9A2-00D1B7D7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FDA25-2525-48A4-90B5-2F535D0466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F21C8-DD51-480F-BD85-0434C9EF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FB7D7-97C4-4E65-B3D2-4DD1A977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1928C-5117-4E21-A03B-B0077E49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9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EC594-4CEC-43AB-AEA3-E188EDB65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E8501-BC03-4181-8FD4-AEF76176B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985F0-AE3A-4401-98D7-0210B95C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9A20-9D8B-4217-A5D6-8B99B610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19619-34AF-499B-8A0B-7408EA9E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8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759FF-6C47-4EFD-A325-8F569CFE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6046-0312-423C-A295-FAFFFBCF5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96A13-9D24-432F-B4EA-714B6E2F4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AD88A-039E-4D51-9CDF-302997C5500E}" type="datetimeFigureOut">
              <a:rPr lang="en-US" smtClean="0"/>
              <a:t>11/10/2019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6EE0C-301B-4158-9168-030C437D5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02EB5-CFDE-4911-9B05-19C1E995C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61CA1-CC42-447C-9B6E-EDBF9B34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96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task/community-detec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3730-F34F-4277-BAAC-C8C449DC4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Detecting Communities under Differential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4A46E-2CE6-41D5-8539-AB53623192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Hiep</a:t>
            </a:r>
            <a:r>
              <a:rPr lang="en-US" dirty="0"/>
              <a:t> H. Nguyen</a:t>
            </a:r>
          </a:p>
          <a:p>
            <a:r>
              <a:rPr lang="en-US" dirty="0" err="1"/>
              <a:t>Abdessamad</a:t>
            </a:r>
            <a:r>
              <a:rPr lang="en-US" dirty="0"/>
              <a:t> Imine</a:t>
            </a:r>
          </a:p>
          <a:p>
            <a:r>
              <a:rPr lang="en-US" dirty="0"/>
              <a:t>Michaël </a:t>
            </a:r>
            <a:r>
              <a:rPr lang="en-US" dirty="0" err="1"/>
              <a:t>Rusinowitch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32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356F-948A-4D58-B8C0-6D9EEC9F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Detection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59BE12-3FEC-4964-9051-4A93058D48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446" y="1596815"/>
            <a:ext cx="5417108" cy="489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B0A6A-441B-44DF-B4BE-72BC6F4747FA}"/>
              </a:ext>
            </a:extLst>
          </p:cNvPr>
          <p:cNvSpPr txBox="1"/>
          <p:nvPr/>
        </p:nvSpPr>
        <p:spPr>
          <a:xfrm>
            <a:off x="7329194" y="6492875"/>
            <a:ext cx="4862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https://paperswithcode.com/task/community-detection</a:t>
            </a:r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94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A1C1-52EB-4686-B424-6B7F3B1C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E52657-66A8-4B3D-A3C2-E6B047E6D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52" t="26632" r="52174" b="35133"/>
          <a:stretch/>
        </p:blipFill>
        <p:spPr>
          <a:xfrm>
            <a:off x="1041399" y="1584810"/>
            <a:ext cx="10109201" cy="463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6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830D-227A-434D-9540-AAF7C548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59E6B-3701-411E-A679-727422F17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Community Detection (CD) is an important tool for analyzing graph networks</a:t>
            </a:r>
          </a:p>
          <a:p>
            <a:r>
              <a:rPr lang="en-US" dirty="0"/>
              <a:t>Research rarely tries to conduct CD with privacy guarantees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6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773A-33BD-4F55-ADA8-F94AEE50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2E38F-7AC4-4C9A-ACD4-F3FC93F08A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-DP k-Means Clustering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-DP k-Means are low dimension and number of clusters k is usually small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-DP k-Means are normalized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[−1,1]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Found that modularity scores were no better than random clustering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-DP recommender systems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Hard unless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is relaxed up 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 (Banerjee et al.)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82E38F-7AC4-4C9A-ACD4-F3FC93F08A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95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E15DF-13C8-41FC-A16F-61AAA0C7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486BD-982D-40BD-B83E-B567CBF8A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Modularity is defined as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𝑐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the number of clusters,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the total number of edges joining nodes in community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 is the sum of the degrees of the nodes of a cluster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7486BD-982D-40BD-B83E-B567CBF8A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35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701F5D-F6CA-4EDD-9B6F-A96F127842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-Differential Privacy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701F5D-F6CA-4EDD-9B6F-A96F127842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9526-08D9-4359-A0B0-35D9260BA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This paper uses the following privacy metric. A mechanism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is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-Differential if for any two neighboring graphs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and for any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𝑅𝑎𝑛𝑔𝑒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</m:d>
                        </m:e>
                      </m:func>
                      <m:r>
                        <a:rPr lang="en-US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sup>
                      </m:sSup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  <m:d>
                                <m:dPr>
                                  <m:ctrlPr>
                                    <a:rPr lang="en-US" sz="4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:endParaRPr lang="en-US" sz="12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Cambria Math" panose="02040503050406030204" pitchFamily="18" charset="0"/>
                  </a:rPr>
                  <a:t>Given two graphs,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600" dirty="0">
                    <a:latin typeface="Cambria Math" panose="02040503050406030204" pitchFamily="18" charset="0"/>
                  </a:rPr>
                  <a:t> are neighbors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60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600" dirty="0">
                    <a:latin typeface="Cambria Math" panose="02040503050406030204" pitchFamily="18" charset="0"/>
                  </a:rPr>
                  <a:t>. This is known as edge differential privacy.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E99526-08D9-4359-A0B0-35D9260BA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076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2D7AD-D508-433B-890E-06440777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Mechanism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0F4EE-7647-402D-9548-43B8212B12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Discrete variant of Laplace mechanism with integral output range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 and random noise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 generated from a two-sided geometric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Geom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α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satisfy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-DP by setting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0F4EE-7647-402D-9548-43B8212B1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5300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223FB-84C3-4EE8-815E-13D1C8F0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elements of Differential Privacy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BF5E8-A16F-4155-890D-7358E7382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b="1" u="sng" dirty="0"/>
                  <a:t>Privacy Budget</a:t>
                </a:r>
                <a:r>
                  <a:rPr lang="en-US" sz="2000" b="1" dirty="0"/>
                  <a:t> :</a:t>
                </a:r>
                <a:r>
                  <a:rPr lang="en-US" sz="2000" dirty="0"/>
                  <a:t> Inverse to sensitivity. A budget associated for each for each query and effectively limits how many operations can be done on the query before it is no longer considered anonymous</a:t>
                </a:r>
                <a:endParaRPr lang="en-US" sz="2000" b="1" dirty="0"/>
              </a:p>
              <a:p>
                <a:r>
                  <a:rPr lang="en-US" sz="2000" b="1" u="sng" dirty="0"/>
                  <a:t>Noise Distribution</a:t>
                </a:r>
                <a:r>
                  <a:rPr lang="en-US" sz="2000" b="1" dirty="0"/>
                  <a:t> : </a:t>
                </a:r>
                <a:r>
                  <a:rPr lang="en-US" sz="2000" dirty="0"/>
                  <a:t>some mechanism like Laplacian or Geometrical is typically used</a:t>
                </a:r>
              </a:p>
              <a:p>
                <a:r>
                  <a:rPr lang="en-US" sz="2000" b="1" u="sng" dirty="0"/>
                  <a:t>Global Sensitivity</a:t>
                </a:r>
                <a:r>
                  <a:rPr lang="en-US" sz="2000" b="1" dirty="0"/>
                  <a:t> : </a:t>
                </a:r>
                <a:r>
                  <a:rPr lang="en-US" sz="2000" dirty="0"/>
                  <a:t>A measure of differential privacy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lvl="1"/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BF5E8-A16F-4155-890D-7358E7382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40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956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730C-F146-4A88-9F30-F1B69406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Main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37738-DF6E-44A9-8847-42EF6A41B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Louvain Method</a:t>
            </a:r>
          </a:p>
          <a:p>
            <a:pPr lvl="1"/>
            <a:r>
              <a:rPr lang="en-US" dirty="0"/>
              <a:t>Input Perturbation</a:t>
            </a:r>
          </a:p>
          <a:p>
            <a:r>
              <a:rPr lang="en-US" dirty="0" err="1"/>
              <a:t>ModDivisive</a:t>
            </a:r>
            <a:endParaRPr lang="en-US" dirty="0"/>
          </a:p>
          <a:p>
            <a:pPr lvl="1"/>
            <a:r>
              <a:rPr lang="en-US" dirty="0"/>
              <a:t>Algorithm Perturbation</a:t>
            </a:r>
          </a:p>
        </p:txBody>
      </p:sp>
    </p:spTree>
    <p:extLst>
      <p:ext uri="{BB962C8B-B14F-4D97-AF65-F5344CB8AC3E}">
        <p14:creationId xmlns:p14="http://schemas.microsoft.com/office/powerpoint/2010/main" val="685887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D083-AF27-4889-8EEB-11CAD3AC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Louvain Method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F6D7F2-B543-40F0-AA52-E0CCFCDF3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8" t="41157" r="53764" b="21301"/>
          <a:stretch/>
        </p:blipFill>
        <p:spPr>
          <a:xfrm>
            <a:off x="1557696" y="1690688"/>
            <a:ext cx="9076608" cy="416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4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9126-F942-4F90-97D8-D857206A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LouvainDP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DCEEA6-1425-4E89-A141-66F61CB1F8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Input Perturbation</a:t>
                </a:r>
              </a:p>
              <a:p>
                <a:pPr lvl="1"/>
                <a:r>
                  <a:rPr lang="en-US" dirty="0"/>
                  <a:t>Build noisy weighted super graph</a:t>
                </a:r>
              </a:p>
              <a:p>
                <a:r>
                  <a:rPr lang="en-US" dirty="0"/>
                  <a:t>Randomly split nodes of graph </a:t>
                </a:r>
                <a14:m>
                  <m:oMath xmlns:m="http://schemas.openxmlformats.org/officeDocument/2006/math">
                    <m:r>
                      <a:rPr lang="en-US" b="0" i="1" smtClean="0"/>
                      <m:t>𝐺</m:t>
                    </m:r>
                  </m:oMath>
                </a14:m>
                <a:r>
                  <a:rPr lang="en-US" dirty="0"/>
                  <a:t> into groups of size </a:t>
                </a:r>
                <a14:m>
                  <m:oMath xmlns:m="http://schemas.openxmlformats.org/officeDocument/2006/math">
                    <m:r>
                      <a:rPr lang="en-US" b="0" i="1" smtClean="0"/>
                      <m:t>𝑘</m:t>
                    </m:r>
                  </m:oMath>
                </a14:m>
                <a:r>
                  <a:rPr lang="en-US" dirty="0"/>
                  <a:t> as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/>
                        </m:ctrlPr>
                      </m:sSubPr>
                      <m:e>
                        <m:r>
                          <a:rPr lang="en-US" b="0" i="1" smtClean="0"/>
                          <m:t>𝐺</m:t>
                        </m:r>
                      </m:e>
                      <m:sub>
                        <m:r>
                          <a:rPr lang="en-US" b="0" i="1" smtClean="0"/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Compute Edges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𝐺</m:t>
                        </m:r>
                      </m:e>
                      <m:sub>
                        <m:r>
                          <a:rPr lang="en-US" i="1"/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Add non-zero </a:t>
                </a:r>
                <a:r>
                  <a:rPr lang="en-US" dirty="0" err="1"/>
                  <a:t>superedges</a:t>
                </a:r>
                <a:r>
                  <a:rPr lang="en-US" dirty="0"/>
                  <a:t> between super nodes with modularity </a:t>
                </a:r>
                <a14:m>
                  <m:oMath xmlns:m="http://schemas.openxmlformats.org/officeDocument/2006/math">
                    <m:r>
                      <a:rPr lang="en-US" b="0" i="1" smtClean="0"/>
                      <m:t>≥</m:t>
                    </m:r>
                    <m:r>
                      <a:rPr lang="en-US" b="0" i="1" smtClean="0"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zero </a:t>
                </a:r>
                <a:r>
                  <a:rPr lang="en-US" dirty="0" err="1"/>
                  <a:t>superedges</a:t>
                </a:r>
                <a:r>
                  <a:rPr lang="en-US" dirty="0"/>
                  <a:t> with some weights from a distribution</a:t>
                </a:r>
              </a:p>
              <a:p>
                <a:r>
                  <a:rPr lang="en-US" dirty="0"/>
                  <a:t>Privacy Budget</a:t>
                </a:r>
              </a:p>
              <a:p>
                <a:pPr lvl="1"/>
                <a:r>
                  <a:rPr lang="en-US" dirty="0"/>
                  <a:t>Geometric mechanism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Computing non-zero super edges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Number of nodes and group size Is public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DCEEA6-1425-4E89-A141-66F61CB1F8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647" t="-3221" r="-824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4A018E-664F-4893-B727-FE2469DC82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901" t="24047" r="62378" b="20833"/>
          <a:stretch/>
        </p:blipFill>
        <p:spPr>
          <a:xfrm>
            <a:off x="6426199" y="1820077"/>
            <a:ext cx="4594727" cy="4353808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F0854B-1F1A-406B-B4F4-9357DC595C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" t="42269" r="53085" b="33050"/>
          <a:stretch/>
        </p:blipFill>
        <p:spPr>
          <a:xfrm>
            <a:off x="6982960" y="492454"/>
            <a:ext cx="4037966" cy="119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EC2B4-21AD-493F-B4A3-DC412C210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LouvainDP</a:t>
            </a:r>
            <a:r>
              <a:rPr lang="en-US" dirty="0"/>
              <a:t> Runtime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035D51-533B-4229-91D7-D5D3032514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Proof for runtime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Line 5 and Lines 9-12 cost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Processing of </a:t>
                </a:r>
                <a:r>
                  <a:rPr lang="en-US" sz="2400" i="1" dirty="0"/>
                  <a:t>s</a:t>
                </a:r>
                <a:r>
                  <a:rPr lang="en-US" sz="2400" dirty="0"/>
                  <a:t> super edges costs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p>
                          </m:sSup>
                        </m:num>
                        <m:den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f>
                        <m:f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5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  <a:p>
                <a:r>
                  <a:rPr lang="en-US" sz="2400" dirty="0"/>
                  <a:t>Louvain Method is empirically linear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The number of edges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algorithm is therefore bounded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D035D51-533B-4229-91D7-D5D303251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A730F11-4675-4A98-A793-4361F3C6986B}"/>
              </a:ext>
            </a:extLst>
          </p:cNvPr>
          <p:cNvSpPr/>
          <p:nvPr/>
        </p:nvSpPr>
        <p:spPr>
          <a:xfrm>
            <a:off x="5720081" y="3027680"/>
            <a:ext cx="218440" cy="198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0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7280-EA4B-4461-8629-997DD7D0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Privacy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385432-21E6-4463-8FF3-09A83EA0023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334000" cy="4351338"/>
              </a:xfrm>
            </p:spPr>
            <p:txBody>
              <a:bodyPr/>
              <a:lstStyle/>
              <a:p>
                <a:r>
                  <a:rPr lang="en-US" dirty="0"/>
                  <a:t>Note: Getting a random permutation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costs no privacy budget</a:t>
                </a:r>
              </a:p>
              <a:p>
                <a:r>
                  <a:rPr lang="en-US" dirty="0"/>
                  <a:t>A small privacy budget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dirty="0"/>
                  <a:t> to compute noisy number of non-zero super edges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Remaining budget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used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𝐺𝑒𝑜𝑚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LouvainDP</a:t>
                </a:r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-differential privacy by 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385432-21E6-4463-8FF3-09A83EA002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334000" cy="4351338"/>
              </a:xfrm>
              <a:blipFill>
                <a:blip r:embed="rId2"/>
                <a:stretch>
                  <a:fillRect l="-2057" t="-2241" r="-914" b="-3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07747F-1AC1-4C86-91F1-7887390374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607" t="49711" r="57941" b="31640"/>
          <a:stretch/>
        </p:blipFill>
        <p:spPr>
          <a:xfrm>
            <a:off x="6172200" y="1690688"/>
            <a:ext cx="5181600" cy="145133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F007BE-DFC4-448B-BCF5-A4CDC096ADE0}"/>
              </a:ext>
            </a:extLst>
          </p:cNvPr>
          <p:cNvSpPr/>
          <p:nvPr/>
        </p:nvSpPr>
        <p:spPr>
          <a:xfrm>
            <a:off x="10964333" y="4461933"/>
            <a:ext cx="389467" cy="220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21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4FCC-5BFE-4579-ADD5-88E2EDB3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ModDivisive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2C0E9E-0F89-4A2F-B2F8-62F48C2D4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41" t="34513" r="51806" b="32215"/>
          <a:stretch/>
        </p:blipFill>
        <p:spPr>
          <a:xfrm>
            <a:off x="1268999" y="1690688"/>
            <a:ext cx="9654001" cy="384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97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24E6-9E83-4C17-9936-AA910C52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ModDivisive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6E3A3B-6935-4940-89D4-7977CE6F556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Algorithm Perturbation</a:t>
                </a:r>
              </a:p>
              <a:p>
                <a:r>
                  <a:rPr lang="en-US" dirty="0"/>
                  <a:t>Build tree</a:t>
                </a:r>
              </a:p>
              <a:p>
                <a:pPr lvl="1"/>
                <a:r>
                  <a:rPr lang="en-US" dirty="0"/>
                  <a:t>Construct layers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ary</a:t>
                </a:r>
                <a:r>
                  <a:rPr lang="en-US" dirty="0"/>
                  <a:t> tree with depth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𝑚𝑎𝑥𝐿</m:t>
                    </m:r>
                  </m:oMath>
                </a14:m>
                <a:r>
                  <a:rPr lang="en-US" dirty="0"/>
                  <a:t> using Markov Chain </a:t>
                </a:r>
                <a:r>
                  <a:rPr lang="en-US" dirty="0" err="1"/>
                  <a:t>MonteCarlo</a:t>
                </a:r>
                <a:endParaRPr lang="en-US" dirty="0"/>
              </a:p>
              <a:p>
                <a:pPr lvl="1"/>
                <a:r>
                  <a:rPr lang="en-US" dirty="0"/>
                  <a:t>Find best cut of final tree</a:t>
                </a:r>
              </a:p>
              <a:p>
                <a:r>
                  <a:rPr lang="en-US" dirty="0"/>
                  <a:t>Privacy Budget</a:t>
                </a:r>
              </a:p>
              <a:p>
                <a:pPr lvl="1"/>
                <a:r>
                  <a:rPr lang="en-US" dirty="0"/>
                  <a:t>k-</a:t>
                </a:r>
                <a:r>
                  <a:rPr lang="en-US" dirty="0" err="1"/>
                  <a:t>ary</a:t>
                </a:r>
                <a:r>
                  <a:rPr lang="en-US" dirty="0"/>
                  <a:t> tree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budget</a:t>
                </a:r>
              </a:p>
              <a:p>
                <a:pPr lvl="1"/>
                <a:r>
                  <a:rPr lang="en-US" dirty="0" err="1"/>
                  <a:t>BestCut</a:t>
                </a:r>
                <a:r>
                  <a:rPr lang="en-US" dirty="0"/>
                  <a:t> takes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at each level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6E3A3B-6935-4940-89D4-7977CE6F55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 r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EFE738-A09C-4349-A4B7-A26ED9373F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2369" t="18164" r="54739" b="15605"/>
          <a:stretch/>
        </p:blipFill>
        <p:spPr>
          <a:xfrm>
            <a:off x="6172202" y="1825625"/>
            <a:ext cx="4991098" cy="4335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CC8AE8-B524-424F-9BE6-3A882692644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67" t="24652" r="54896" b="53149"/>
          <a:stretch/>
        </p:blipFill>
        <p:spPr>
          <a:xfrm>
            <a:off x="8318500" y="594038"/>
            <a:ext cx="2844800" cy="86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82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6D52-7AF2-46A5-B01C-BCAD8897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ModMCMC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C78BC-1CA1-4E21-B37E-BCA2FCED339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Global Sensitivity of modularity is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Until equilibrium is reached</a:t>
                </a:r>
              </a:p>
              <a:p>
                <a:pPr lvl="1"/>
                <a:r>
                  <a:rPr lang="en-US" dirty="0"/>
                  <a:t>Random partition by moving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into another group and accept change with some probability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𝑚𝑎𝑥𝐿</m:t>
                        </m:r>
                      </m:e>
                    </m:d>
                  </m:oMath>
                </a14:m>
                <a:r>
                  <a:rPr lang="en-US" dirty="0"/>
                  <a:t> total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C78BC-1CA1-4E21-B37E-BCA2FCED3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8E94E5-C5B0-4411-B45C-800207A687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061" t="23829" r="53023" b="32452"/>
          <a:stretch/>
        </p:blipFill>
        <p:spPr>
          <a:xfrm>
            <a:off x="6172201" y="1825624"/>
            <a:ext cx="5507181" cy="294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6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6D52-7AF2-46A5-B01C-BCAD88972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BestCut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C78BC-1CA1-4E21-B37E-BCA2FCED339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Using a stack with nodes of the tree in reversed level order</a:t>
                </a:r>
              </a:p>
              <a:p>
                <a:pPr lvl="1"/>
                <a:r>
                  <a:rPr lang="en-US" dirty="0"/>
                  <a:t>Pop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𝑜𝑝𝑡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either accept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as a solution or apart of a subtree of the solution based on a Laplace distribution</a:t>
                </a:r>
              </a:p>
              <a:p>
                <a:r>
                  <a:rPr lang="en-US" dirty="0"/>
                  <a:t>Sublinear because the size of tree is always smaller than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BC78BC-1CA1-4E21-B37E-BCA2FCED33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 r="-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A5269DA-A585-455B-9F47-1479764214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0417" t="19471" r="57108" b="10485"/>
          <a:stretch/>
        </p:blipFill>
        <p:spPr>
          <a:xfrm>
            <a:off x="6172202" y="1094728"/>
            <a:ext cx="3848098" cy="466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0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92D7B-9096-444F-899D-18376EBD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FB650A-9C90-4498-BC38-8C942CBFE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467" t="19299" r="18898" b="10058"/>
          <a:stretch/>
        </p:blipFill>
        <p:spPr>
          <a:xfrm>
            <a:off x="2115766" y="1690688"/>
            <a:ext cx="7960468" cy="489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9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E720-0EA4-4636-86F8-8B1D4C73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F50F04-44D7-4EA7-960B-D6643829A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614" t="36848" r="11912" b="19664"/>
          <a:stretch/>
        </p:blipFill>
        <p:spPr>
          <a:xfrm>
            <a:off x="316307" y="1690688"/>
            <a:ext cx="11559385" cy="360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76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BFD3-F7D0-4826-A5C6-13A08C57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Challenges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E2959-C145-464F-B810-6DDB610B7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High dimensionality of data</a:t>
                </a:r>
              </a:p>
              <a:p>
                <a:r>
                  <a:rPr lang="en-US" dirty="0"/>
                  <a:t>High number of communities</a:t>
                </a:r>
              </a:p>
              <a:p>
                <a:r>
                  <a:rPr lang="en-US" dirty="0"/>
                  <a:t>High sensitivity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Generalized graph structure</a:t>
                </a:r>
              </a:p>
              <a:p>
                <a:r>
                  <a:rPr lang="en-US" dirty="0"/>
                  <a:t>Modularity is non-monotonic function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7E2959-C145-464F-B810-6DDB610B7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94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5053-F031-4E9B-A233-56BE2BF6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BF688-0456-468C-9654-485479DEC4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Limited to very large datasets</a:t>
                </a:r>
              </a:p>
              <a:p>
                <a:r>
                  <a:rPr lang="en-US" dirty="0"/>
                  <a:t>Once a dataset is differentially private, it is limited to a single query</a:t>
                </a:r>
              </a:p>
              <a:p>
                <a:pPr lvl="1"/>
                <a:r>
                  <a:rPr lang="en-US" dirty="0"/>
                  <a:t>Must regenerate DP data for each query</a:t>
                </a:r>
              </a:p>
              <a:p>
                <a:r>
                  <a:rPr lang="en-US" dirty="0"/>
                  <a:t>Research limited to edge differential privacy</a:t>
                </a:r>
              </a:p>
              <a:p>
                <a:pPr lvl="1"/>
                <a:r>
                  <a:rPr lang="en-US" dirty="0"/>
                  <a:t>group size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and number of nodes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) and super nodes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are public</a:t>
                </a:r>
              </a:p>
              <a:p>
                <a:r>
                  <a:rPr lang="en-US" dirty="0"/>
                  <a:t>Low privacy budget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0.5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vs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BF688-0456-468C-9654-485479DEC4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522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1810</TotalTime>
  <Words>742</Words>
  <Application>Microsoft Office PowerPoint</Application>
  <PresentationFormat>Widescreen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Detecting Communities under Differential Privacy</vt:lpstr>
      <vt:lpstr>Community Detection</vt:lpstr>
      <vt:lpstr>Definitions</vt:lpstr>
      <vt:lpstr>Motivation</vt:lpstr>
      <vt:lpstr>Previous Work</vt:lpstr>
      <vt:lpstr>Modularity</vt:lpstr>
      <vt:lpstr>ϵ-Differential Privacy</vt:lpstr>
      <vt:lpstr>Geometric Mechanism</vt:lpstr>
      <vt:lpstr>Important elements of Differential Privacy</vt:lpstr>
      <vt:lpstr>Two Main Algorithms</vt:lpstr>
      <vt:lpstr>Louvain Method</vt:lpstr>
      <vt:lpstr>LouvainDP</vt:lpstr>
      <vt:lpstr>LouvainDP Runtime</vt:lpstr>
      <vt:lpstr>Proof of Privacy</vt:lpstr>
      <vt:lpstr>ModDivisive</vt:lpstr>
      <vt:lpstr>ModDivisive</vt:lpstr>
      <vt:lpstr>ModMCMC</vt:lpstr>
      <vt:lpstr>BestCut</vt:lpstr>
      <vt:lpstr>Results</vt:lpstr>
      <vt:lpstr>Results</vt:lpstr>
      <vt:lpstr>Important Challenges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Communities under Differential Privacy</dc:title>
  <dc:creator>Curt Lowd</dc:creator>
  <cp:lastModifiedBy>Curt Lowd</cp:lastModifiedBy>
  <cp:revision>68</cp:revision>
  <dcterms:created xsi:type="dcterms:W3CDTF">2019-11-11T04:06:38Z</dcterms:created>
  <dcterms:modified xsi:type="dcterms:W3CDTF">2019-11-12T10:34:32Z</dcterms:modified>
</cp:coreProperties>
</file>