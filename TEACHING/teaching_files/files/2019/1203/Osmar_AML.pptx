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Source Code Pro"/>
      <p:regular r:id="rId34"/>
      <p:bold r:id="rId35"/>
      <p:italic r:id="rId36"/>
      <p:boldItalic r:id="rId37"/>
    </p:embeddedFont>
    <p:embeddedFont>
      <p:font typeface="Oswald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SourceCodePro-bold.fntdata"/><Relationship Id="rId12" Type="http://schemas.openxmlformats.org/officeDocument/2006/relationships/slide" Target="slides/slide7.xml"/><Relationship Id="rId34" Type="http://schemas.openxmlformats.org/officeDocument/2006/relationships/font" Target="fonts/SourceCodePro-regular.fntdata"/><Relationship Id="rId15" Type="http://schemas.openxmlformats.org/officeDocument/2006/relationships/slide" Target="slides/slide10.xml"/><Relationship Id="rId37" Type="http://schemas.openxmlformats.org/officeDocument/2006/relationships/font" Target="fonts/SourceCodePro-boldItalic.fntdata"/><Relationship Id="rId14" Type="http://schemas.openxmlformats.org/officeDocument/2006/relationships/slide" Target="slides/slide9.xml"/><Relationship Id="rId36" Type="http://schemas.openxmlformats.org/officeDocument/2006/relationships/font" Target="fonts/SourceCodePro-italic.fntdata"/><Relationship Id="rId17" Type="http://schemas.openxmlformats.org/officeDocument/2006/relationships/slide" Target="slides/slide12.xml"/><Relationship Id="rId39" Type="http://schemas.openxmlformats.org/officeDocument/2006/relationships/font" Target="fonts/Oswald-bold.fntdata"/><Relationship Id="rId16" Type="http://schemas.openxmlformats.org/officeDocument/2006/relationships/slide" Target="slides/slide11.xml"/><Relationship Id="rId38" Type="http://schemas.openxmlformats.org/officeDocument/2006/relationships/font" Target="fonts/Oswal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7915e16ed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7915e16ed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915e16ed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7915e16ed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915e16ed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915e16ed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7915e16ed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7915e16ed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7915e16ed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7915e16ed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7915e16ed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7915e16ed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7915e16ed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7915e16ed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7915e16edf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7915e16edf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7915e16edf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7915e16edf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7915e16edf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7915e16edf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is optimal Adversary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 is optimal classifier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 is cost of viewing feature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 is cost of changing 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6bba568a6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6bba568a6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6bba568a6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6bba568a6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6bba568a6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6bba568a6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6bba568a6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6bba568a6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6bba568a6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6bba568a6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7915e16edf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7915e16edf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7915e16edf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7915e16edf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7a8282520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7a8282520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7a8282520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7a8282520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7a8282520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7a8282520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7a8282520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7a8282520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7a8282520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7a8282520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7a8282520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7a8282520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7a8282520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7a8282520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7a8282520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7a8282520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7a8282520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7a8282520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7a8282520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7a8282520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image" Target="../media/image26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Adversarial Classification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11700" y="3387050"/>
            <a:ext cx="8520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Nilesh Dalvi, Pedro Domingos, Mausam, Sumit Sanghai, Deepak Verma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0" y="4350900"/>
            <a:ext cx="45915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/>
              <a:t>Presented by, Osmar Coronel</a:t>
            </a:r>
            <a:endParaRPr i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Setup</a:t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825" y="1684500"/>
            <a:ext cx="1724775" cy="169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pam" id="71" name="Google Shape;7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7750" y="2905750"/>
            <a:ext cx="1278275" cy="10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 rotWithShape="1">
          <a:blip r:embed="rId5">
            <a:alphaModFix/>
          </a:blip>
          <a:srcRect b="-5954" l="0" r="0" t="0"/>
          <a:stretch/>
        </p:blipFill>
        <p:spPr>
          <a:xfrm>
            <a:off x="3772925" y="1580850"/>
            <a:ext cx="1598125" cy="16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592386">
            <a:off x="1445909" y="2706137"/>
            <a:ext cx="788250" cy="7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59343" y="1533238"/>
            <a:ext cx="1908086" cy="16933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4357100" y="1261375"/>
            <a:ext cx="1117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Model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76" name="Google Shape;76;p14"/>
          <p:cNvCxnSpPr>
            <a:endCxn id="72" idx="1"/>
          </p:cNvCxnSpPr>
          <p:nvPr/>
        </p:nvCxnSpPr>
        <p:spPr>
          <a:xfrm>
            <a:off x="2429825" y="2427525"/>
            <a:ext cx="13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4"/>
          <p:cNvCxnSpPr>
            <a:stCxn id="72" idx="3"/>
            <a:endCxn id="74" idx="1"/>
          </p:cNvCxnSpPr>
          <p:nvPr/>
        </p:nvCxnSpPr>
        <p:spPr>
          <a:xfrm flipH="1" rot="10800000">
            <a:off x="5371050" y="2379825"/>
            <a:ext cx="1288200" cy="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gmail" id="78" name="Google Shape;78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66074" y="1261371"/>
            <a:ext cx="491024" cy="37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weights icon" id="79" name="Google Shape;79;p14"/>
          <p:cNvPicPr preferRelativeResize="0"/>
          <p:nvPr/>
        </p:nvPicPr>
        <p:blipFill rotWithShape="1">
          <a:blip r:embed="rId9">
            <a:alphaModFix/>
          </a:blip>
          <a:srcRect b="0" l="0" r="0" t="13479"/>
          <a:stretch/>
        </p:blipFill>
        <p:spPr>
          <a:xfrm>
            <a:off x="3959250" y="4031100"/>
            <a:ext cx="1225500" cy="106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>
            <a:stCxn id="79" idx="0"/>
            <a:endCxn id="72" idx="2"/>
          </p:cNvCxnSpPr>
          <p:nvPr/>
        </p:nvCxnSpPr>
        <p:spPr>
          <a:xfrm rot="10800000">
            <a:off x="4572000" y="3274200"/>
            <a:ext cx="0" cy="75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Setup</a:t>
            </a:r>
            <a:endParaRPr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825" y="1684500"/>
            <a:ext cx="1724775" cy="16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 rotWithShape="1">
          <a:blip r:embed="rId4">
            <a:alphaModFix/>
          </a:blip>
          <a:srcRect b="-5954" l="0" r="0" t="0"/>
          <a:stretch/>
        </p:blipFill>
        <p:spPr>
          <a:xfrm>
            <a:off x="3772925" y="1580850"/>
            <a:ext cx="1598125" cy="16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592386">
            <a:off x="135309" y="3256887"/>
            <a:ext cx="788250" cy="7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9343" y="1533238"/>
            <a:ext cx="1908086" cy="169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4357100" y="1261375"/>
            <a:ext cx="1117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Model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91" name="Google Shape;91;p15"/>
          <p:cNvCxnSpPr>
            <a:endCxn id="87" idx="1"/>
          </p:cNvCxnSpPr>
          <p:nvPr/>
        </p:nvCxnSpPr>
        <p:spPr>
          <a:xfrm>
            <a:off x="2429825" y="2427525"/>
            <a:ext cx="13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5"/>
          <p:cNvCxnSpPr>
            <a:stCxn id="87" idx="3"/>
            <a:endCxn id="89" idx="1"/>
          </p:cNvCxnSpPr>
          <p:nvPr/>
        </p:nvCxnSpPr>
        <p:spPr>
          <a:xfrm flipH="1" rot="10800000">
            <a:off x="5371050" y="2379825"/>
            <a:ext cx="1288200" cy="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gmail" id="93" name="Google Shape;9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66074" y="1261371"/>
            <a:ext cx="491024" cy="37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weights icon" id="94" name="Google Shape;94;p15"/>
          <p:cNvPicPr preferRelativeResize="0"/>
          <p:nvPr/>
        </p:nvPicPr>
        <p:blipFill rotWithShape="1">
          <a:blip r:embed="rId8">
            <a:alphaModFix/>
          </a:blip>
          <a:srcRect b="0" l="0" r="0" t="13479"/>
          <a:stretch/>
        </p:blipFill>
        <p:spPr>
          <a:xfrm>
            <a:off x="3959250" y="4031100"/>
            <a:ext cx="1225500" cy="106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5"/>
          <p:cNvCxnSpPr>
            <a:stCxn id="94" idx="0"/>
            <a:endCxn id="87" idx="2"/>
          </p:cNvCxnSpPr>
          <p:nvPr/>
        </p:nvCxnSpPr>
        <p:spPr>
          <a:xfrm rot="10800000">
            <a:off x="4572000" y="3274200"/>
            <a:ext cx="0" cy="75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5"/>
          <p:cNvSpPr txBox="1"/>
          <p:nvPr/>
        </p:nvSpPr>
        <p:spPr>
          <a:xfrm>
            <a:off x="691000" y="3892525"/>
            <a:ext cx="26142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From:attacker@spam.xyz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Cheap Burritos!!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Setup</a:t>
            </a:r>
            <a:endParaRPr/>
          </a:p>
        </p:txBody>
      </p:sp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825" y="1684500"/>
            <a:ext cx="1724775" cy="16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/>
          <p:cNvPicPr preferRelativeResize="0"/>
          <p:nvPr/>
        </p:nvPicPr>
        <p:blipFill rotWithShape="1">
          <a:blip r:embed="rId4">
            <a:alphaModFix/>
          </a:blip>
          <a:srcRect b="-5954" l="0" r="0" t="0"/>
          <a:stretch/>
        </p:blipFill>
        <p:spPr>
          <a:xfrm>
            <a:off x="3772925" y="1580850"/>
            <a:ext cx="1598125" cy="16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592386">
            <a:off x="135309" y="3256887"/>
            <a:ext cx="788250" cy="7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9343" y="1533238"/>
            <a:ext cx="1908086" cy="169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4357100" y="1261375"/>
            <a:ext cx="1117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Model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07" name="Google Shape;107;p16"/>
          <p:cNvCxnSpPr>
            <a:endCxn id="103" idx="1"/>
          </p:cNvCxnSpPr>
          <p:nvPr/>
        </p:nvCxnSpPr>
        <p:spPr>
          <a:xfrm>
            <a:off x="2429825" y="2427525"/>
            <a:ext cx="13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6"/>
          <p:cNvCxnSpPr>
            <a:stCxn id="103" idx="3"/>
            <a:endCxn id="105" idx="1"/>
          </p:cNvCxnSpPr>
          <p:nvPr/>
        </p:nvCxnSpPr>
        <p:spPr>
          <a:xfrm flipH="1" rot="10800000">
            <a:off x="5371050" y="2379825"/>
            <a:ext cx="1288200" cy="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gmail" id="109" name="Google Shape;10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66074" y="1261371"/>
            <a:ext cx="491024" cy="37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weights icon" id="110" name="Google Shape;110;p16"/>
          <p:cNvPicPr preferRelativeResize="0"/>
          <p:nvPr/>
        </p:nvPicPr>
        <p:blipFill rotWithShape="1">
          <a:blip r:embed="rId8">
            <a:alphaModFix/>
          </a:blip>
          <a:srcRect b="0" l="0" r="0" t="13479"/>
          <a:stretch/>
        </p:blipFill>
        <p:spPr>
          <a:xfrm>
            <a:off x="3959250" y="4031100"/>
            <a:ext cx="1225500" cy="106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16"/>
          <p:cNvCxnSpPr>
            <a:stCxn id="110" idx="0"/>
            <a:endCxn id="103" idx="2"/>
          </p:cNvCxnSpPr>
          <p:nvPr/>
        </p:nvCxnSpPr>
        <p:spPr>
          <a:xfrm rot="10800000">
            <a:off x="4572000" y="3274200"/>
            <a:ext cx="0" cy="75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6"/>
          <p:cNvSpPr txBox="1"/>
          <p:nvPr/>
        </p:nvSpPr>
        <p:spPr>
          <a:xfrm>
            <a:off x="691000" y="3892525"/>
            <a:ext cx="26142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From:attacker@spam.xyz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Cheap Burritos!!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599675" y="3434550"/>
            <a:ext cx="26142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Cheap = </a:t>
            </a:r>
            <a:r>
              <a:rPr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1.0</a:t>
            </a:r>
            <a:endParaRPr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Burritos = </a:t>
            </a:r>
            <a:r>
              <a:rPr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2.0</a:t>
            </a:r>
            <a:endParaRPr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Threshold: </a:t>
            </a:r>
            <a:r>
              <a:rPr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3.0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&gt; 1.0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Setup</a:t>
            </a:r>
            <a:endParaRPr/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825" y="1684500"/>
            <a:ext cx="1724775" cy="16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 rotWithShape="1">
          <a:blip r:embed="rId4">
            <a:alphaModFix/>
          </a:blip>
          <a:srcRect b="-5954" l="0" r="0" t="0"/>
          <a:stretch/>
        </p:blipFill>
        <p:spPr>
          <a:xfrm>
            <a:off x="3772925" y="1580850"/>
            <a:ext cx="1598125" cy="16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592386">
            <a:off x="135309" y="3256887"/>
            <a:ext cx="788250" cy="7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9343" y="1533238"/>
            <a:ext cx="1908086" cy="169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4357100" y="1261375"/>
            <a:ext cx="1117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Model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24" name="Google Shape;124;p17"/>
          <p:cNvCxnSpPr>
            <a:endCxn id="120" idx="1"/>
          </p:cNvCxnSpPr>
          <p:nvPr/>
        </p:nvCxnSpPr>
        <p:spPr>
          <a:xfrm>
            <a:off x="2429825" y="2427525"/>
            <a:ext cx="13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7"/>
          <p:cNvCxnSpPr>
            <a:stCxn id="120" idx="3"/>
            <a:endCxn id="122" idx="1"/>
          </p:cNvCxnSpPr>
          <p:nvPr/>
        </p:nvCxnSpPr>
        <p:spPr>
          <a:xfrm flipH="1" rot="10800000">
            <a:off x="5371050" y="2379825"/>
            <a:ext cx="1288200" cy="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gmail" id="126" name="Google Shape;126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66074" y="1261371"/>
            <a:ext cx="491024" cy="37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weights icon" id="127" name="Google Shape;127;p17"/>
          <p:cNvPicPr preferRelativeResize="0"/>
          <p:nvPr/>
        </p:nvPicPr>
        <p:blipFill rotWithShape="1">
          <a:blip r:embed="rId8">
            <a:alphaModFix/>
          </a:blip>
          <a:srcRect b="0" l="0" r="0" t="13479"/>
          <a:stretch/>
        </p:blipFill>
        <p:spPr>
          <a:xfrm>
            <a:off x="3959250" y="4031100"/>
            <a:ext cx="1225500" cy="106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17"/>
          <p:cNvCxnSpPr>
            <a:stCxn id="127" idx="0"/>
            <a:endCxn id="120" idx="2"/>
          </p:cNvCxnSpPr>
          <p:nvPr/>
        </p:nvCxnSpPr>
        <p:spPr>
          <a:xfrm rot="10800000">
            <a:off x="4572000" y="3274200"/>
            <a:ext cx="0" cy="75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7"/>
          <p:cNvSpPr txBox="1"/>
          <p:nvPr/>
        </p:nvSpPr>
        <p:spPr>
          <a:xfrm>
            <a:off x="691000" y="3892525"/>
            <a:ext cx="26142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From:attacker@spam.xyz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Cheap Burritos!!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5599675" y="3434550"/>
            <a:ext cx="26142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Cheap = </a:t>
            </a:r>
            <a:r>
              <a:rPr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1.0</a:t>
            </a:r>
            <a:endParaRPr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Burritos = </a:t>
            </a:r>
            <a:r>
              <a:rPr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2.0</a:t>
            </a:r>
            <a:endParaRPr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Threshold: </a:t>
            </a:r>
            <a:r>
              <a:rPr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3.0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&gt; 1.0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Image result for trash icon" id="131" name="Google Shape;131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57375" y="2235725"/>
            <a:ext cx="886775" cy="8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Setup</a:t>
            </a:r>
            <a:endParaRPr/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825" y="1684500"/>
            <a:ext cx="1724775" cy="16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 rotWithShape="1">
          <a:blip r:embed="rId4">
            <a:alphaModFix/>
          </a:blip>
          <a:srcRect b="-5954" l="0" r="0" t="0"/>
          <a:stretch/>
        </p:blipFill>
        <p:spPr>
          <a:xfrm>
            <a:off x="3772925" y="1580850"/>
            <a:ext cx="1598125" cy="16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592386">
            <a:off x="135309" y="3256887"/>
            <a:ext cx="788250" cy="7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9343" y="1533238"/>
            <a:ext cx="1908086" cy="169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4357100" y="1261375"/>
            <a:ext cx="1117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Model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42" name="Google Shape;142;p18"/>
          <p:cNvCxnSpPr>
            <a:endCxn id="138" idx="1"/>
          </p:cNvCxnSpPr>
          <p:nvPr/>
        </p:nvCxnSpPr>
        <p:spPr>
          <a:xfrm>
            <a:off x="2429825" y="2427525"/>
            <a:ext cx="13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8"/>
          <p:cNvCxnSpPr>
            <a:stCxn id="138" idx="3"/>
            <a:endCxn id="140" idx="1"/>
          </p:cNvCxnSpPr>
          <p:nvPr/>
        </p:nvCxnSpPr>
        <p:spPr>
          <a:xfrm flipH="1" rot="10800000">
            <a:off x="5371050" y="2379825"/>
            <a:ext cx="1288200" cy="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gmail" id="144" name="Google Shape;14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66074" y="1261371"/>
            <a:ext cx="491024" cy="37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weights icon" id="145" name="Google Shape;145;p18"/>
          <p:cNvPicPr preferRelativeResize="0"/>
          <p:nvPr/>
        </p:nvPicPr>
        <p:blipFill rotWithShape="1">
          <a:blip r:embed="rId8">
            <a:alphaModFix/>
          </a:blip>
          <a:srcRect b="0" l="0" r="0" t="13479"/>
          <a:stretch/>
        </p:blipFill>
        <p:spPr>
          <a:xfrm>
            <a:off x="3959250" y="4031100"/>
            <a:ext cx="1225500" cy="106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18"/>
          <p:cNvCxnSpPr>
            <a:stCxn id="145" idx="0"/>
            <a:endCxn id="138" idx="2"/>
          </p:cNvCxnSpPr>
          <p:nvPr/>
        </p:nvCxnSpPr>
        <p:spPr>
          <a:xfrm rot="10800000">
            <a:off x="4572000" y="3274200"/>
            <a:ext cx="0" cy="75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18"/>
          <p:cNvSpPr txBox="1"/>
          <p:nvPr/>
        </p:nvSpPr>
        <p:spPr>
          <a:xfrm>
            <a:off x="691000" y="3892525"/>
            <a:ext cx="26142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From:attacker@spam.xyz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Cheap Burritos!!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Eugene Krabs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5599675" y="3434550"/>
            <a:ext cx="26142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Cheap = </a:t>
            </a:r>
            <a:r>
              <a:rPr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1.0</a:t>
            </a:r>
            <a:endParaRPr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Burritos = </a:t>
            </a:r>
            <a:r>
              <a:rPr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2.0</a:t>
            </a:r>
            <a:endParaRPr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Eugene = </a:t>
            </a:r>
            <a:r>
              <a:rPr lang="en">
                <a:solidFill>
                  <a:srgbClr val="6AA84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-1.5</a:t>
            </a:r>
            <a:endParaRPr>
              <a:solidFill>
                <a:srgbClr val="6AA84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Krabs = </a:t>
            </a:r>
            <a:r>
              <a:rPr lang="en">
                <a:solidFill>
                  <a:srgbClr val="6AA84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-1.0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Threshold: </a:t>
            </a:r>
            <a:r>
              <a:rPr lang="en">
                <a:solidFill>
                  <a:srgbClr val="6AA84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0.5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&gt; 1.0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Setup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825" y="1684500"/>
            <a:ext cx="1724775" cy="16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 rotWithShape="1">
          <a:blip r:embed="rId4">
            <a:alphaModFix/>
          </a:blip>
          <a:srcRect b="-5954" l="0" r="0" t="0"/>
          <a:stretch/>
        </p:blipFill>
        <p:spPr>
          <a:xfrm>
            <a:off x="3772925" y="1580850"/>
            <a:ext cx="1598125" cy="16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592386">
            <a:off x="135309" y="3256887"/>
            <a:ext cx="788250" cy="7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9343" y="1533238"/>
            <a:ext cx="1908086" cy="169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4357100" y="1261375"/>
            <a:ext cx="1117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Model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59" name="Google Shape;159;p19"/>
          <p:cNvCxnSpPr>
            <a:endCxn id="155" idx="1"/>
          </p:cNvCxnSpPr>
          <p:nvPr/>
        </p:nvCxnSpPr>
        <p:spPr>
          <a:xfrm>
            <a:off x="2429825" y="2427525"/>
            <a:ext cx="13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9"/>
          <p:cNvCxnSpPr>
            <a:stCxn id="155" idx="3"/>
            <a:endCxn id="157" idx="1"/>
          </p:cNvCxnSpPr>
          <p:nvPr/>
        </p:nvCxnSpPr>
        <p:spPr>
          <a:xfrm flipH="1" rot="10800000">
            <a:off x="5371050" y="2379825"/>
            <a:ext cx="1288200" cy="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gmail" id="161" name="Google Shape;16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66074" y="1261371"/>
            <a:ext cx="491024" cy="37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weights icon" id="162" name="Google Shape;162;p19"/>
          <p:cNvPicPr preferRelativeResize="0"/>
          <p:nvPr/>
        </p:nvPicPr>
        <p:blipFill rotWithShape="1">
          <a:blip r:embed="rId8">
            <a:alphaModFix/>
          </a:blip>
          <a:srcRect b="0" l="0" r="0" t="13479"/>
          <a:stretch/>
        </p:blipFill>
        <p:spPr>
          <a:xfrm>
            <a:off x="3959250" y="4031100"/>
            <a:ext cx="1225500" cy="106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19"/>
          <p:cNvCxnSpPr>
            <a:stCxn id="162" idx="0"/>
            <a:endCxn id="155" idx="2"/>
          </p:cNvCxnSpPr>
          <p:nvPr/>
        </p:nvCxnSpPr>
        <p:spPr>
          <a:xfrm rot="10800000">
            <a:off x="4572000" y="3274200"/>
            <a:ext cx="0" cy="75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19"/>
          <p:cNvSpPr txBox="1"/>
          <p:nvPr/>
        </p:nvSpPr>
        <p:spPr>
          <a:xfrm>
            <a:off x="691000" y="3892525"/>
            <a:ext cx="26142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From:attacker@spam.xyz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Cheap Burritos!!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Eugene Krabs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5599675" y="3434550"/>
            <a:ext cx="26142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Cheap = </a:t>
            </a:r>
            <a:r>
              <a:rPr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1.0</a:t>
            </a:r>
            <a:endParaRPr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Burritos = </a:t>
            </a:r>
            <a:r>
              <a:rPr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2.0</a:t>
            </a:r>
            <a:endParaRPr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Eugene = </a:t>
            </a:r>
            <a:r>
              <a:rPr lang="en">
                <a:solidFill>
                  <a:srgbClr val="6AA84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-1.5</a:t>
            </a:r>
            <a:endParaRPr>
              <a:solidFill>
                <a:srgbClr val="6AA84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Krabs = </a:t>
            </a:r>
            <a:r>
              <a:rPr lang="en">
                <a:solidFill>
                  <a:srgbClr val="6AA84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-1.0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Threshold: </a:t>
            </a:r>
            <a:r>
              <a:rPr lang="en">
                <a:solidFill>
                  <a:srgbClr val="6AA84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0.5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&gt; 1.0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Image result for thumbs up icon" id="166" name="Google Shape;166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26325" y="2205000"/>
            <a:ext cx="733500" cy="7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Definitions</a:t>
            </a:r>
            <a:endParaRPr/>
          </a:p>
        </p:txBody>
      </p:sp>
      <p:grpSp>
        <p:nvGrpSpPr>
          <p:cNvPr id="172" name="Google Shape;172;p20"/>
          <p:cNvGrpSpPr/>
          <p:nvPr/>
        </p:nvGrpSpPr>
        <p:grpSpPr>
          <a:xfrm>
            <a:off x="529750" y="2061350"/>
            <a:ext cx="2407000" cy="1485700"/>
            <a:chOff x="541275" y="1807975"/>
            <a:chExt cx="2407000" cy="1485700"/>
          </a:xfrm>
        </p:grpSpPr>
        <p:sp>
          <p:nvSpPr>
            <p:cNvPr id="173" name="Google Shape;173;p20"/>
            <p:cNvSpPr/>
            <p:nvPr/>
          </p:nvSpPr>
          <p:spPr>
            <a:xfrm>
              <a:off x="541275" y="1808075"/>
              <a:ext cx="2361000" cy="1485600"/>
            </a:xfrm>
            <a:prstGeom prst="rect">
              <a:avLst/>
            </a:prstGeom>
            <a:solidFill>
              <a:srgbClr val="A4C2F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" name="Google Shape;174;p20"/>
            <p:cNvCxnSpPr/>
            <p:nvPr/>
          </p:nvCxnSpPr>
          <p:spPr>
            <a:xfrm>
              <a:off x="552775" y="3282175"/>
              <a:ext cx="23955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5" name="Google Shape;175;p20"/>
            <p:cNvCxnSpPr/>
            <p:nvPr/>
          </p:nvCxnSpPr>
          <p:spPr>
            <a:xfrm rot="10800000">
              <a:off x="552775" y="1807975"/>
              <a:ext cx="0" cy="1474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6" name="Google Shape;176;p20"/>
          <p:cNvSpPr txBox="1"/>
          <p:nvPr/>
        </p:nvSpPr>
        <p:spPr>
          <a:xfrm>
            <a:off x="834900" y="1646850"/>
            <a:ext cx="17967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Instance Space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745500" y="2061400"/>
            <a:ext cx="2361000" cy="1485600"/>
          </a:xfrm>
          <a:prstGeom prst="rect">
            <a:avLst/>
          </a:prstGeom>
          <a:solidFill>
            <a:srgbClr val="FF5D5D">
              <a:alpha val="687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 flipH="1" rot="10800000">
            <a:off x="3745500" y="2763942"/>
            <a:ext cx="2358180" cy="783108"/>
          </a:xfrm>
          <a:prstGeom prst="flowChartDocument">
            <a:avLst/>
          </a:prstGeom>
          <a:solidFill>
            <a:srgbClr val="9FFF35">
              <a:alpha val="514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20"/>
          <p:cNvCxnSpPr/>
          <p:nvPr/>
        </p:nvCxnSpPr>
        <p:spPr>
          <a:xfrm>
            <a:off x="3745500" y="3535550"/>
            <a:ext cx="2395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0"/>
          <p:cNvCxnSpPr/>
          <p:nvPr/>
        </p:nvCxnSpPr>
        <p:spPr>
          <a:xfrm rot="10800000">
            <a:off x="3745500" y="2061350"/>
            <a:ext cx="0" cy="147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20"/>
          <p:cNvSpPr/>
          <p:nvPr/>
        </p:nvSpPr>
        <p:spPr>
          <a:xfrm>
            <a:off x="1543200" y="2568150"/>
            <a:ext cx="57600" cy="57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4572000" y="2510550"/>
            <a:ext cx="57600" cy="57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4044900" y="1647025"/>
            <a:ext cx="17967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The Classifier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6535150" y="2003713"/>
            <a:ext cx="2361000" cy="1485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20"/>
          <p:cNvCxnSpPr/>
          <p:nvPr/>
        </p:nvCxnSpPr>
        <p:spPr>
          <a:xfrm>
            <a:off x="6535150" y="3477863"/>
            <a:ext cx="2395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0"/>
          <p:cNvCxnSpPr/>
          <p:nvPr/>
        </p:nvCxnSpPr>
        <p:spPr>
          <a:xfrm rot="10800000">
            <a:off x="6535150" y="2003663"/>
            <a:ext cx="0" cy="147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20"/>
          <p:cNvSpPr txBox="1"/>
          <p:nvPr/>
        </p:nvSpPr>
        <p:spPr>
          <a:xfrm>
            <a:off x="6734050" y="1618188"/>
            <a:ext cx="19977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Adversarial Cost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pSp>
        <p:nvGrpSpPr>
          <p:cNvPr id="188" name="Google Shape;188;p20"/>
          <p:cNvGrpSpPr/>
          <p:nvPr/>
        </p:nvGrpSpPr>
        <p:grpSpPr>
          <a:xfrm>
            <a:off x="6535150" y="2003675"/>
            <a:ext cx="1997700" cy="1322100"/>
            <a:chOff x="6535150" y="2003675"/>
            <a:chExt cx="1997700" cy="1322100"/>
          </a:xfrm>
        </p:grpSpPr>
        <p:sp>
          <p:nvSpPr>
            <p:cNvPr id="189" name="Google Shape;189;p20"/>
            <p:cNvSpPr/>
            <p:nvPr/>
          </p:nvSpPr>
          <p:spPr>
            <a:xfrm>
              <a:off x="6535150" y="2003675"/>
              <a:ext cx="1997700" cy="1322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6585050" y="2148150"/>
              <a:ext cx="1626000" cy="89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6734050" y="2297250"/>
              <a:ext cx="968400" cy="484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6963800" y="2401200"/>
              <a:ext cx="303000" cy="166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20"/>
          <p:cNvSpPr txBox="1"/>
          <p:nvPr/>
        </p:nvSpPr>
        <p:spPr>
          <a:xfrm>
            <a:off x="1312875" y="3547050"/>
            <a:ext cx="4722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X1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0" y="2544925"/>
            <a:ext cx="4722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X2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497150" y="2510200"/>
            <a:ext cx="4722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371225" y="2165138"/>
            <a:ext cx="4722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endParaRPr b="1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3849150" y="3045750"/>
            <a:ext cx="4722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endParaRPr b="1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52025" y="3864475"/>
            <a:ext cx="21939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X1, X2 are features (words).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x is an instance composed of features (email).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745500" y="3809600"/>
            <a:ext cx="21939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The classifier c(x) -&gt; {</a:t>
            </a:r>
            <a:r>
              <a:rPr b="1"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b="1" lang="en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}. Outputs if an instance is spam or not spam.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535150" y="3809600"/>
            <a:ext cx="21939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The adversarial cost a(x) -&gt; </a:t>
            </a: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R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. Outputs a score on the current instance.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Classifier vs </a:t>
            </a:r>
            <a:r>
              <a:rPr lang="en"/>
              <a:t>Adversary 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785800" y="1808031"/>
            <a:ext cx="2835000" cy="1658400"/>
          </a:xfrm>
          <a:prstGeom prst="rect">
            <a:avLst/>
          </a:prstGeom>
          <a:solidFill>
            <a:srgbClr val="FF5D5D">
              <a:alpha val="687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 flipH="1" rot="10800000">
            <a:off x="785800" y="2592273"/>
            <a:ext cx="2831598" cy="874152"/>
          </a:xfrm>
          <a:prstGeom prst="flowChartDocument">
            <a:avLst/>
          </a:prstGeom>
          <a:solidFill>
            <a:srgbClr val="9FFF35">
              <a:alpha val="514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21"/>
          <p:cNvCxnSpPr/>
          <p:nvPr/>
        </p:nvCxnSpPr>
        <p:spPr>
          <a:xfrm>
            <a:off x="785800" y="3453588"/>
            <a:ext cx="287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1"/>
          <p:cNvCxnSpPr/>
          <p:nvPr/>
        </p:nvCxnSpPr>
        <p:spPr>
          <a:xfrm rot="10800000">
            <a:off x="785800" y="1808088"/>
            <a:ext cx="0" cy="164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1"/>
          <p:cNvSpPr/>
          <p:nvPr/>
        </p:nvSpPr>
        <p:spPr>
          <a:xfrm>
            <a:off x="1778221" y="2309406"/>
            <a:ext cx="69300" cy="64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2737892" y="1923830"/>
            <a:ext cx="567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endParaRPr b="1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910258" y="2906836"/>
            <a:ext cx="567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endParaRPr b="1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pSp>
        <p:nvGrpSpPr>
          <p:cNvPr id="213" name="Google Shape;213;p21"/>
          <p:cNvGrpSpPr/>
          <p:nvPr/>
        </p:nvGrpSpPr>
        <p:grpSpPr>
          <a:xfrm>
            <a:off x="1075430" y="1840375"/>
            <a:ext cx="2297155" cy="1462771"/>
            <a:chOff x="6535150" y="2003675"/>
            <a:chExt cx="1997700" cy="1322100"/>
          </a:xfrm>
        </p:grpSpPr>
        <p:sp>
          <p:nvSpPr>
            <p:cNvPr id="214" name="Google Shape;214;p21"/>
            <p:cNvSpPr/>
            <p:nvPr/>
          </p:nvSpPr>
          <p:spPr>
            <a:xfrm>
              <a:off x="6535150" y="2003675"/>
              <a:ext cx="1997700" cy="1322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6585050" y="2148150"/>
              <a:ext cx="1626000" cy="89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6734050" y="2297250"/>
              <a:ext cx="968400" cy="484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6963800" y="2401200"/>
              <a:ext cx="303000" cy="166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21"/>
          <p:cNvSpPr txBox="1"/>
          <p:nvPr/>
        </p:nvSpPr>
        <p:spPr>
          <a:xfrm>
            <a:off x="4848400" y="1738925"/>
            <a:ext cx="3362700" cy="29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Goal: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Defeat adaptive Classifier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Assumptions</a:t>
            </a: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All parameters of both players are known to each other</a:t>
            </a:r>
            <a:endParaRPr b="1" sz="1800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Problem: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Classifier adapts to Adversary.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1732175" y="2568975"/>
            <a:ext cx="161400" cy="1365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Classifier vs Adversary</a:t>
            </a:r>
            <a:endParaRPr/>
          </a:p>
        </p:txBody>
      </p:sp>
      <p:sp>
        <p:nvSpPr>
          <p:cNvPr id="225" name="Google Shape;225;p22"/>
          <p:cNvSpPr txBox="1"/>
          <p:nvPr>
            <p:ph idx="1" type="body"/>
          </p:nvPr>
        </p:nvSpPr>
        <p:spPr>
          <a:xfrm>
            <a:off x="5450175" y="1179125"/>
            <a:ext cx="38256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Uc(yc, y) - Utility that classifier classifies yc as y.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Uc(+, +), Uc(-, -) &gt; 0 ; Correct 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Uc(-, +), Uc(+, -) &lt; 0 ; Incorrect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Ua(yc, y) - Utility that Adversary gets classifier to classify yc as y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Uc(+, -) &gt; 0 ; Correct 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Uc(+, +) &lt; 0 ; Classifier was correct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Uc(-, +), Uc(-, -) = 0 ; Dont Care</a:t>
            </a:r>
            <a:endParaRPr sz="1200"/>
          </a:p>
        </p:txBody>
      </p:sp>
      <p:pic>
        <p:nvPicPr>
          <p:cNvPr id="226" name="Google Shape;2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00" y="1423338"/>
            <a:ext cx="5241926" cy="115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025" y="3044125"/>
            <a:ext cx="5196674" cy="10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4155550" y="2897100"/>
            <a:ext cx="9054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29" name="Google Shape;22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750" y="4194400"/>
            <a:ext cx="4770113" cy="8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</a:t>
            </a:r>
            <a:r>
              <a:rPr lang="en"/>
              <a:t>Classifier</a:t>
            </a:r>
            <a:endParaRPr/>
          </a:p>
        </p:txBody>
      </p:sp>
      <p:sp>
        <p:nvSpPr>
          <p:cNvPr id="235" name="Google Shape;235;p23"/>
          <p:cNvSpPr txBox="1"/>
          <p:nvPr>
            <p:ph idx="1" type="body"/>
          </p:nvPr>
        </p:nvSpPr>
        <p:spPr>
          <a:xfrm>
            <a:off x="5450175" y="1179125"/>
            <a:ext cx="38256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classifier does not assume that the adversary will change.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We use a Naive Bayes classifier where U(yc|x) is like the Uc function shown before, but ignoring the feature lookup cost.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4155550" y="2897100"/>
            <a:ext cx="9054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4975" r="7120" t="0"/>
          <a:stretch/>
        </p:blipFill>
        <p:spPr>
          <a:xfrm>
            <a:off x="442375" y="2970500"/>
            <a:ext cx="4442651" cy="120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763075"/>
            <a:ext cx="5053781" cy="9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Adversary Strategy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4155550" y="2897100"/>
            <a:ext cx="9054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45" name="Google Shape;2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50" y="1819213"/>
            <a:ext cx="4199200" cy="100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>
            <p:ph idx="1" type="body"/>
          </p:nvPr>
        </p:nvSpPr>
        <p:spPr>
          <a:xfrm>
            <a:off x="145450" y="1353600"/>
            <a:ext cx="38256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Classifier marks spam if</a:t>
            </a:r>
            <a:endParaRPr/>
          </a:p>
        </p:txBody>
      </p:sp>
      <p:pic>
        <p:nvPicPr>
          <p:cNvPr id="247" name="Google Shape;2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9288" y="150925"/>
            <a:ext cx="2983021" cy="286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6600" y="3052900"/>
            <a:ext cx="3268388" cy="189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25500" y="3373275"/>
            <a:ext cx="2633650" cy="141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0200" y="3851675"/>
            <a:ext cx="2722725" cy="45559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>
            <p:ph idx="1" type="body"/>
          </p:nvPr>
        </p:nvSpPr>
        <p:spPr>
          <a:xfrm>
            <a:off x="0" y="3812263"/>
            <a:ext cx="665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LO=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Adversarial Classifier</a:t>
            </a:r>
            <a:endParaRPr/>
          </a:p>
        </p:txBody>
      </p:sp>
      <p:sp>
        <p:nvSpPr>
          <p:cNvPr id="257" name="Google Shape;257;p25"/>
          <p:cNvSpPr txBox="1"/>
          <p:nvPr>
            <p:ph idx="1" type="body"/>
          </p:nvPr>
        </p:nvSpPr>
        <p:spPr>
          <a:xfrm>
            <a:off x="5450175" y="1179125"/>
            <a:ext cx="38256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 all the information that the adversary has.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Knows the adversary is constantly changing.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4155550" y="2897100"/>
            <a:ext cx="9054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59" name="Google Shape;2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000" y="1757150"/>
            <a:ext cx="3810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2571750"/>
            <a:ext cx="3850749" cy="1930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Adversary Scenarios</a:t>
            </a:r>
            <a:endParaRPr/>
          </a:p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311700" y="1369175"/>
            <a:ext cx="81102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Datasets:</a:t>
            </a:r>
            <a:endParaRPr b="1"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/>
              <a:t>Ling-Spam </a:t>
            </a:r>
            <a:r>
              <a:rPr lang="en" sz="1200"/>
              <a:t>- 2412 non-spam emails and 481 spam emails.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/>
              <a:t>Email-Data </a:t>
            </a:r>
            <a:r>
              <a:rPr lang="en" sz="1200"/>
              <a:t>- 642 non-spam emails and 789 spam emails.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/>
              <a:t>Adversary Costs:</a:t>
            </a:r>
            <a:endParaRPr b="1"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/>
              <a:t>Add word</a:t>
            </a:r>
            <a:r>
              <a:rPr lang="en" sz="1200"/>
              <a:t> - Every word added increases the cost of the email. The message the spammer haas does not change. 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/>
              <a:t>Add Length</a:t>
            </a:r>
            <a:r>
              <a:rPr lang="en" sz="1200"/>
              <a:t> - Similar to Add word but now the cost increases with the length added (Each character).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200"/>
              <a:t>Synonym</a:t>
            </a:r>
            <a:r>
              <a:rPr lang="en" sz="1200"/>
              <a:t> - Words in the spammer's email get changed by their synonyms at a unit cost.</a:t>
            </a:r>
            <a:endParaRPr sz="1200"/>
          </a:p>
        </p:txBody>
      </p:sp>
      <p:sp>
        <p:nvSpPr>
          <p:cNvPr id="267" name="Google Shape;267;p26"/>
          <p:cNvSpPr txBox="1"/>
          <p:nvPr/>
        </p:nvSpPr>
        <p:spPr>
          <a:xfrm>
            <a:off x="4155550" y="2897100"/>
            <a:ext cx="9054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4155550" y="2897100"/>
            <a:ext cx="9054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74" name="Google Shape;27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6600" y="431038"/>
            <a:ext cx="3321826" cy="61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7"/>
          <p:cNvPicPr preferRelativeResize="0"/>
          <p:nvPr/>
        </p:nvPicPr>
        <p:blipFill rotWithShape="1">
          <a:blip r:embed="rId4">
            <a:alphaModFix/>
          </a:blip>
          <a:srcRect b="0" l="10378" r="0" t="0"/>
          <a:stretch/>
        </p:blipFill>
        <p:spPr>
          <a:xfrm>
            <a:off x="157275" y="1236100"/>
            <a:ext cx="2888901" cy="250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7550" y="1400225"/>
            <a:ext cx="2888900" cy="2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7825" y="1494775"/>
            <a:ext cx="2822749" cy="198980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728575" y="3873375"/>
            <a:ext cx="17463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Ling-Spam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3768513" y="3873375"/>
            <a:ext cx="17463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Email-Data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6808475" y="3743275"/>
            <a:ext cx="17463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Ling-Spam AW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8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Adversarial Machine Learning</a:t>
            </a:r>
            <a:endParaRPr/>
          </a:p>
        </p:txBody>
      </p:sp>
      <p:sp>
        <p:nvSpPr>
          <p:cNvPr id="286" name="Google Shape;286;p28"/>
          <p:cNvSpPr txBox="1"/>
          <p:nvPr>
            <p:ph idx="1" type="subTitle"/>
          </p:nvPr>
        </p:nvSpPr>
        <p:spPr>
          <a:xfrm>
            <a:off x="411175" y="3294600"/>
            <a:ext cx="8282400" cy="104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Lowd, Christopher Meek</a:t>
            </a:r>
            <a:endParaRPr/>
          </a:p>
        </p:txBody>
      </p:sp>
      <p:sp>
        <p:nvSpPr>
          <p:cNvPr id="287" name="Google Shape;287;p28"/>
          <p:cNvSpPr txBox="1"/>
          <p:nvPr>
            <p:ph idx="1" type="subTitle"/>
          </p:nvPr>
        </p:nvSpPr>
        <p:spPr>
          <a:xfrm>
            <a:off x="153150" y="4218775"/>
            <a:ext cx="45915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/>
              <a:t>Presented by, Osmar Coronel</a:t>
            </a:r>
            <a:endParaRPr i="1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Engineer the Classifier</a:t>
            </a:r>
            <a:endParaRPr/>
          </a:p>
        </p:txBody>
      </p:sp>
      <p:sp>
        <p:nvSpPr>
          <p:cNvPr id="293" name="Google Shape;293;p29"/>
          <p:cNvSpPr/>
          <p:nvPr/>
        </p:nvSpPr>
        <p:spPr>
          <a:xfrm>
            <a:off x="785800" y="1808031"/>
            <a:ext cx="2835000" cy="1658400"/>
          </a:xfrm>
          <a:prstGeom prst="rect">
            <a:avLst/>
          </a:prstGeom>
          <a:solidFill>
            <a:srgbClr val="FF5D5D">
              <a:alpha val="687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9"/>
          <p:cNvSpPr/>
          <p:nvPr/>
        </p:nvSpPr>
        <p:spPr>
          <a:xfrm flipH="1" rot="10800000">
            <a:off x="785800" y="2592273"/>
            <a:ext cx="2831598" cy="874152"/>
          </a:xfrm>
          <a:prstGeom prst="flowChartDocument">
            <a:avLst/>
          </a:prstGeom>
          <a:solidFill>
            <a:srgbClr val="9FFF35">
              <a:alpha val="514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5" name="Google Shape;295;p29"/>
          <p:cNvCxnSpPr/>
          <p:nvPr/>
        </p:nvCxnSpPr>
        <p:spPr>
          <a:xfrm>
            <a:off x="785800" y="3453588"/>
            <a:ext cx="287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29"/>
          <p:cNvCxnSpPr/>
          <p:nvPr/>
        </p:nvCxnSpPr>
        <p:spPr>
          <a:xfrm rot="10800000">
            <a:off x="785800" y="1808088"/>
            <a:ext cx="0" cy="164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" name="Google Shape;297;p29"/>
          <p:cNvSpPr/>
          <p:nvPr/>
        </p:nvSpPr>
        <p:spPr>
          <a:xfrm>
            <a:off x="1778221" y="2309406"/>
            <a:ext cx="69300" cy="64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9"/>
          <p:cNvSpPr txBox="1"/>
          <p:nvPr/>
        </p:nvSpPr>
        <p:spPr>
          <a:xfrm>
            <a:off x="2737892" y="1923830"/>
            <a:ext cx="567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endParaRPr b="1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910258" y="2906836"/>
            <a:ext cx="567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endParaRPr b="1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pSp>
        <p:nvGrpSpPr>
          <p:cNvPr id="300" name="Google Shape;300;p29"/>
          <p:cNvGrpSpPr/>
          <p:nvPr/>
        </p:nvGrpSpPr>
        <p:grpSpPr>
          <a:xfrm>
            <a:off x="1075430" y="1840375"/>
            <a:ext cx="2297155" cy="1462771"/>
            <a:chOff x="6535150" y="2003675"/>
            <a:chExt cx="1997700" cy="1322100"/>
          </a:xfrm>
        </p:grpSpPr>
        <p:sp>
          <p:nvSpPr>
            <p:cNvPr id="301" name="Google Shape;301;p29"/>
            <p:cNvSpPr/>
            <p:nvPr/>
          </p:nvSpPr>
          <p:spPr>
            <a:xfrm>
              <a:off x="6535150" y="2003675"/>
              <a:ext cx="1997700" cy="1322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9"/>
            <p:cNvSpPr/>
            <p:nvPr/>
          </p:nvSpPr>
          <p:spPr>
            <a:xfrm>
              <a:off x="6585050" y="2148150"/>
              <a:ext cx="1626000" cy="89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9"/>
            <p:cNvSpPr/>
            <p:nvPr/>
          </p:nvSpPr>
          <p:spPr>
            <a:xfrm>
              <a:off x="6734050" y="2297250"/>
              <a:ext cx="968400" cy="484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9"/>
            <p:cNvSpPr/>
            <p:nvPr/>
          </p:nvSpPr>
          <p:spPr>
            <a:xfrm>
              <a:off x="6963800" y="2401200"/>
              <a:ext cx="303000" cy="166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" name="Google Shape;305;p29"/>
          <p:cNvSpPr txBox="1"/>
          <p:nvPr/>
        </p:nvSpPr>
        <p:spPr>
          <a:xfrm>
            <a:off x="4848400" y="1738925"/>
            <a:ext cx="3362700" cy="29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Goal: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Assess Classifier Vulnerability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Adversary's Task: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Minimize a(x) subject to c(x) = </a:t>
            </a:r>
            <a:r>
              <a:rPr b="1" lang="en" sz="1800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endParaRPr b="1" sz="1800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Problem: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c(x) is unknown.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1732175" y="2568975"/>
            <a:ext cx="161400" cy="1365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Adversarial Classification Reverse Engineering (ACRE)</a:t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785800" y="1808031"/>
            <a:ext cx="2835000" cy="1658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3" name="Google Shape;313;p30"/>
          <p:cNvCxnSpPr/>
          <p:nvPr/>
        </p:nvCxnSpPr>
        <p:spPr>
          <a:xfrm>
            <a:off x="785800" y="3453588"/>
            <a:ext cx="287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30"/>
          <p:cNvCxnSpPr/>
          <p:nvPr/>
        </p:nvCxnSpPr>
        <p:spPr>
          <a:xfrm rot="10800000">
            <a:off x="785800" y="1808088"/>
            <a:ext cx="0" cy="164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30"/>
          <p:cNvSpPr txBox="1"/>
          <p:nvPr/>
        </p:nvSpPr>
        <p:spPr>
          <a:xfrm>
            <a:off x="2737892" y="1923830"/>
            <a:ext cx="567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endParaRPr b="1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16" name="Google Shape;316;p30"/>
          <p:cNvSpPr txBox="1"/>
          <p:nvPr/>
        </p:nvSpPr>
        <p:spPr>
          <a:xfrm>
            <a:off x="910258" y="2906836"/>
            <a:ext cx="567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endParaRPr b="1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17" name="Google Shape;317;p30"/>
          <p:cNvSpPr txBox="1"/>
          <p:nvPr/>
        </p:nvSpPr>
        <p:spPr>
          <a:xfrm>
            <a:off x="4652625" y="1780000"/>
            <a:ext cx="3788700" cy="29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Task: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Minimize a(x) subject to c(x) = </a:t>
            </a:r>
            <a:r>
              <a:rPr b="1" lang="en" sz="1800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endParaRPr b="1" sz="1800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Given</a:t>
            </a: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a(x) known.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Two instances, </a:t>
            </a:r>
            <a:r>
              <a:rPr b="1" lang="en" sz="1800">
                <a:solidFill>
                  <a:srgbClr val="73DA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and </a:t>
            </a:r>
            <a:r>
              <a:rPr b="1"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A polynomial number of queries.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pSp>
        <p:nvGrpSpPr>
          <p:cNvPr id="318" name="Google Shape;318;p30"/>
          <p:cNvGrpSpPr/>
          <p:nvPr/>
        </p:nvGrpSpPr>
        <p:grpSpPr>
          <a:xfrm>
            <a:off x="1075430" y="1840375"/>
            <a:ext cx="2297155" cy="1462771"/>
            <a:chOff x="6535150" y="2003675"/>
            <a:chExt cx="1997700" cy="1322100"/>
          </a:xfrm>
        </p:grpSpPr>
        <p:sp>
          <p:nvSpPr>
            <p:cNvPr id="319" name="Google Shape;319;p30"/>
            <p:cNvSpPr/>
            <p:nvPr/>
          </p:nvSpPr>
          <p:spPr>
            <a:xfrm>
              <a:off x="6535150" y="2003675"/>
              <a:ext cx="1997700" cy="1322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6585050" y="2148150"/>
              <a:ext cx="1626000" cy="89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6734050" y="2297250"/>
              <a:ext cx="968400" cy="484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6963800" y="2401200"/>
              <a:ext cx="303000" cy="166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Adversarial Classification Reverse Engineering (ACRE)</a:t>
            </a:r>
            <a:endParaRPr/>
          </a:p>
        </p:txBody>
      </p:sp>
      <p:sp>
        <p:nvSpPr>
          <p:cNvPr id="328" name="Google Shape;328;p31"/>
          <p:cNvSpPr txBox="1"/>
          <p:nvPr/>
        </p:nvSpPr>
        <p:spPr>
          <a:xfrm>
            <a:off x="4652625" y="1831950"/>
            <a:ext cx="3788700" cy="29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The minimal adversarial cost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The instances of minimal adversarial cost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The instances who's cost are a factor of k.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29" name="Google Shape;32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25" y="1981200"/>
            <a:ext cx="28575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88" y="2798488"/>
            <a:ext cx="4593725" cy="421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63" y="3602800"/>
            <a:ext cx="4521001" cy="345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ACRE on Boolean Formulae</a:t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571500" y="1780000"/>
            <a:ext cx="7869900" cy="3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Task: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modify 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so that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c(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) = </a:t>
            </a:r>
            <a:r>
              <a:rPr b="1" lang="en" sz="1800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, where c(x) = (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¬x2 </a:t>
            </a:r>
            <a:r>
              <a:rPr lang="en" sz="1800">
                <a:solidFill>
                  <a:srgbClr val="22222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∧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¬x4) but we do not know that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Given: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= (F, F, T, F) = &lt;x1, x2, x3, x4&gt;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Solution:</a:t>
            </a:r>
            <a:endParaRPr b="1"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' = (</a:t>
            </a:r>
            <a:r>
              <a:rPr lang="en" sz="1800">
                <a:solidFill>
                  <a:srgbClr val="E6913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, F, T, F)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c(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') = </a:t>
            </a:r>
            <a:r>
              <a:rPr b="1"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endParaRPr b="1" sz="1800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guess =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¬x1 </a:t>
            </a:r>
            <a:r>
              <a:rPr lang="en" sz="1800">
                <a:solidFill>
                  <a:srgbClr val="22222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∧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¬x2 </a:t>
            </a:r>
            <a:r>
              <a:rPr lang="en" sz="1800">
                <a:solidFill>
                  <a:srgbClr val="22222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∧ x3 ∧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¬x4</a:t>
            </a:r>
            <a:endParaRPr b="1" sz="1800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ACRE on Boolean Formulae</a:t>
            </a:r>
            <a:endParaRPr/>
          </a:p>
        </p:txBody>
      </p:sp>
      <p:sp>
        <p:nvSpPr>
          <p:cNvPr id="343" name="Google Shape;343;p33"/>
          <p:cNvSpPr txBox="1"/>
          <p:nvPr/>
        </p:nvSpPr>
        <p:spPr>
          <a:xfrm>
            <a:off x="571500" y="1780000"/>
            <a:ext cx="7869900" cy="3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Task: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modify 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so that c(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) = </a:t>
            </a:r>
            <a:r>
              <a:rPr b="1" lang="en" sz="1800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, where c(x) = (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¬x2 </a:t>
            </a:r>
            <a:r>
              <a:rPr lang="en" sz="1800">
                <a:solidFill>
                  <a:srgbClr val="22222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∧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¬x4) but we do not know that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Given: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= (F, F, T, F) = &lt;x1, x2, x3, x4&gt;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Solution:</a:t>
            </a:r>
            <a:endParaRPr b="1"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' = (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F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lang="en" sz="1800">
                <a:solidFill>
                  <a:srgbClr val="E6913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, T, F)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c(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') = </a:t>
            </a:r>
            <a:r>
              <a:rPr lang="en" sz="1800">
                <a:solidFill>
                  <a:srgbClr val="73DA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endParaRPr sz="1800">
              <a:solidFill>
                <a:srgbClr val="73DA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guess =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¬x2 </a:t>
            </a:r>
            <a:r>
              <a:rPr lang="en" sz="1800">
                <a:solidFill>
                  <a:srgbClr val="22222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∧ x3 ∧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¬x4</a:t>
            </a:r>
            <a:endParaRPr b="1" sz="1800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ACRE on Boolean Formulae</a:t>
            </a:r>
            <a:endParaRPr/>
          </a:p>
        </p:txBody>
      </p:sp>
      <p:sp>
        <p:nvSpPr>
          <p:cNvPr id="349" name="Google Shape;349;p34"/>
          <p:cNvSpPr txBox="1"/>
          <p:nvPr/>
        </p:nvSpPr>
        <p:spPr>
          <a:xfrm>
            <a:off x="571500" y="1780000"/>
            <a:ext cx="7869900" cy="3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Task: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modify 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so that c(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) = </a:t>
            </a:r>
            <a:r>
              <a:rPr b="1" lang="en" sz="1800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, where c(x) = (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¬x2 </a:t>
            </a:r>
            <a:r>
              <a:rPr lang="en" sz="1800">
                <a:solidFill>
                  <a:srgbClr val="22222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∧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¬x4) but we do not know that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Given: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= (F, F, T, F) = &lt;x1, x2, x3, x4&gt;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Solution:</a:t>
            </a:r>
            <a:endParaRPr b="1"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' = (F,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F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lang="en" sz="1800">
                <a:solidFill>
                  <a:srgbClr val="E6913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, F)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c(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') = 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endParaRPr sz="1800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guess =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¬x2</a:t>
            </a:r>
            <a:r>
              <a:rPr lang="en" sz="1800">
                <a:solidFill>
                  <a:srgbClr val="22222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∧ x3 ∧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¬x4</a:t>
            </a:r>
            <a:endParaRPr b="1" sz="1800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ACRE on Boolean Formulae</a:t>
            </a:r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571500" y="1780000"/>
            <a:ext cx="7869900" cy="3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Task: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modify 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so that c(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) = </a:t>
            </a:r>
            <a:r>
              <a:rPr b="1" lang="en" sz="1800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, where c(x) = (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¬x2 </a:t>
            </a:r>
            <a:r>
              <a:rPr lang="en" sz="1800">
                <a:solidFill>
                  <a:srgbClr val="22222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∧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¬x4) but we do not know that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Given: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= (F, F, T, F) = &lt;x1, x2, x3, x4&gt;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Solution:</a:t>
            </a:r>
            <a:endParaRPr b="1"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' = (F, F,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T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lang="en" sz="1800">
                <a:solidFill>
                  <a:srgbClr val="E6913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c(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') = </a:t>
            </a:r>
            <a:r>
              <a:rPr b="1" lang="en" sz="1800">
                <a:solidFill>
                  <a:srgbClr val="73DA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endParaRPr b="1" sz="1800">
              <a:solidFill>
                <a:srgbClr val="73DA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guess =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¬x2 </a:t>
            </a:r>
            <a:r>
              <a:rPr lang="en" sz="1800">
                <a:solidFill>
                  <a:srgbClr val="22222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∧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¬x4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ACRE on Boolean Formulae</a:t>
            </a:r>
            <a:endParaRPr/>
          </a:p>
        </p:txBody>
      </p:sp>
      <p:sp>
        <p:nvSpPr>
          <p:cNvPr id="361" name="Google Shape;361;p36"/>
          <p:cNvSpPr txBox="1"/>
          <p:nvPr/>
        </p:nvSpPr>
        <p:spPr>
          <a:xfrm>
            <a:off x="571500" y="1780000"/>
            <a:ext cx="7869900" cy="3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Conclusion:</a:t>
            </a:r>
            <a:endParaRPr b="1"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Too simple or can become too complex O(n^k) to go from </a:t>
            </a:r>
            <a:r>
              <a:rPr b="1"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to </a:t>
            </a:r>
            <a:r>
              <a:rPr b="1" lang="en" sz="1800">
                <a:solidFill>
                  <a:srgbClr val="73DA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* Therefore classifier is not ACRE learnable under most </a:t>
            </a:r>
            <a:r>
              <a:rPr i="1" lang="en" sz="1800">
                <a:latin typeface="Source Code Pro"/>
                <a:ea typeface="Source Code Pro"/>
                <a:cs typeface="Source Code Pro"/>
                <a:sym typeface="Source Code Pro"/>
              </a:rPr>
              <a:t>interesting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adversarial cost functions.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ACRE on Linear Classifier (Continuous)</a:t>
            </a:r>
            <a:endParaRPr/>
          </a:p>
        </p:txBody>
      </p:sp>
      <p:sp>
        <p:nvSpPr>
          <p:cNvPr id="367" name="Google Shape;367;p37"/>
          <p:cNvSpPr/>
          <p:nvPr/>
        </p:nvSpPr>
        <p:spPr>
          <a:xfrm>
            <a:off x="311700" y="1916281"/>
            <a:ext cx="2835000" cy="1658400"/>
          </a:xfrm>
          <a:prstGeom prst="rect">
            <a:avLst/>
          </a:prstGeom>
          <a:solidFill>
            <a:srgbClr val="FF5D5D">
              <a:alpha val="687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7"/>
          <p:cNvSpPr txBox="1"/>
          <p:nvPr/>
        </p:nvSpPr>
        <p:spPr>
          <a:xfrm>
            <a:off x="3569275" y="1532350"/>
            <a:ext cx="4014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Solution:</a:t>
            </a:r>
            <a:endParaRPr b="1"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Using line searches of the features with the highest cost, we can find a solution.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69" name="Google Shape;369;p37"/>
          <p:cNvSpPr/>
          <p:nvPr/>
        </p:nvSpPr>
        <p:spPr>
          <a:xfrm flipH="1" rot="10800000">
            <a:off x="311700" y="2664937"/>
            <a:ext cx="2831598" cy="909738"/>
          </a:xfrm>
          <a:prstGeom prst="flowChartDocument">
            <a:avLst/>
          </a:prstGeom>
          <a:solidFill>
            <a:srgbClr val="9FFF35">
              <a:alpha val="514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0" name="Google Shape;370;p37"/>
          <p:cNvCxnSpPr/>
          <p:nvPr/>
        </p:nvCxnSpPr>
        <p:spPr>
          <a:xfrm>
            <a:off x="311700" y="3561838"/>
            <a:ext cx="287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37"/>
          <p:cNvCxnSpPr/>
          <p:nvPr/>
        </p:nvCxnSpPr>
        <p:spPr>
          <a:xfrm rot="10800000">
            <a:off x="311700" y="1916338"/>
            <a:ext cx="0" cy="164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2" name="Google Shape;372;p37"/>
          <p:cNvSpPr txBox="1"/>
          <p:nvPr/>
        </p:nvSpPr>
        <p:spPr>
          <a:xfrm>
            <a:off x="2263792" y="2032080"/>
            <a:ext cx="567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endParaRPr b="1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73" name="Google Shape;373;p37"/>
          <p:cNvSpPr txBox="1"/>
          <p:nvPr/>
        </p:nvSpPr>
        <p:spPr>
          <a:xfrm>
            <a:off x="436158" y="3015086"/>
            <a:ext cx="567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</a:t>
            </a:r>
            <a:endParaRPr b="1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74" name="Google Shape;3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175" y="2934725"/>
            <a:ext cx="3325481" cy="2063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5" name="Google Shape;375;p37"/>
          <p:cNvGrpSpPr/>
          <p:nvPr/>
        </p:nvGrpSpPr>
        <p:grpSpPr>
          <a:xfrm>
            <a:off x="1428516" y="2220610"/>
            <a:ext cx="1124200" cy="728784"/>
            <a:chOff x="1635725" y="2385175"/>
            <a:chExt cx="787200" cy="495300"/>
          </a:xfrm>
        </p:grpSpPr>
        <p:sp>
          <p:nvSpPr>
            <p:cNvPr id="376" name="Google Shape;376;p37"/>
            <p:cNvSpPr/>
            <p:nvPr/>
          </p:nvSpPr>
          <p:spPr>
            <a:xfrm>
              <a:off x="1635725" y="2385175"/>
              <a:ext cx="787200" cy="495300"/>
            </a:xfrm>
            <a:prstGeom prst="diamond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1769675" y="2451913"/>
              <a:ext cx="519300" cy="361800"/>
            </a:xfrm>
            <a:prstGeom prst="diamond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1994671" y="2600731"/>
              <a:ext cx="69300" cy="64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9" name="Google Shape;379;p37"/>
            <p:cNvCxnSpPr>
              <a:stCxn id="378" idx="0"/>
              <a:endCxn id="377" idx="2"/>
            </p:cNvCxnSpPr>
            <p:nvPr/>
          </p:nvCxnSpPr>
          <p:spPr>
            <a:xfrm>
              <a:off x="2029321" y="2600731"/>
              <a:ext cx="0" cy="21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80" name="Google Shape;380;p37"/>
            <p:cNvSpPr/>
            <p:nvPr/>
          </p:nvSpPr>
          <p:spPr>
            <a:xfrm>
              <a:off x="2001125" y="2749325"/>
              <a:ext cx="56400" cy="525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1894175" y="2539225"/>
              <a:ext cx="270300" cy="187200"/>
            </a:xfrm>
            <a:prstGeom prst="diamond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2" name="Google Shape;382;p37"/>
            <p:cNvCxnSpPr>
              <a:stCxn id="378" idx="6"/>
              <a:endCxn id="377" idx="1"/>
            </p:cNvCxnSpPr>
            <p:nvPr/>
          </p:nvCxnSpPr>
          <p:spPr>
            <a:xfrm rot="10800000">
              <a:off x="1769671" y="2632831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pic>
        <p:nvPicPr>
          <p:cNvPr id="383" name="Google Shape;38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5350" y="3348550"/>
            <a:ext cx="3725350" cy="148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ACRE on Linear Classifier (Boolean Features)</a:t>
            </a:r>
            <a:endParaRPr/>
          </a:p>
        </p:txBody>
      </p:sp>
      <p:sp>
        <p:nvSpPr>
          <p:cNvPr id="389" name="Google Shape;389;p38"/>
          <p:cNvSpPr txBox="1"/>
          <p:nvPr/>
        </p:nvSpPr>
        <p:spPr>
          <a:xfrm>
            <a:off x="4731325" y="1987950"/>
            <a:ext cx="4014900" cy="2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Problem:</a:t>
            </a:r>
            <a:endParaRPr b="1"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Line searches is NP-hard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However</a:t>
            </a: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b="1"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It is still 2-ACRE learnable if changes are of unit cost.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390" name="Google Shape;390;p38"/>
          <p:cNvCxnSpPr/>
          <p:nvPr/>
        </p:nvCxnSpPr>
        <p:spPr>
          <a:xfrm rot="10800000">
            <a:off x="228375" y="2371725"/>
            <a:ext cx="2010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38"/>
          <p:cNvCxnSpPr/>
          <p:nvPr/>
        </p:nvCxnSpPr>
        <p:spPr>
          <a:xfrm>
            <a:off x="2209800" y="1947825"/>
            <a:ext cx="0" cy="84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38"/>
          <p:cNvCxnSpPr/>
          <p:nvPr/>
        </p:nvCxnSpPr>
        <p:spPr>
          <a:xfrm>
            <a:off x="2200275" y="2371725"/>
            <a:ext cx="1505100" cy="0"/>
          </a:xfrm>
          <a:prstGeom prst="straightConnector1">
            <a:avLst/>
          </a:prstGeom>
          <a:noFill/>
          <a:ln cap="flat" cmpd="sng" w="28575">
            <a:solidFill>
              <a:srgbClr val="73DA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3" name="Google Shape;393;p38"/>
          <p:cNvSpPr txBox="1"/>
          <p:nvPr/>
        </p:nvSpPr>
        <p:spPr>
          <a:xfrm>
            <a:off x="361950" y="2847975"/>
            <a:ext cx="28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endParaRPr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3499125" y="2847975"/>
            <a:ext cx="4476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3DA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endParaRPr b="1">
              <a:solidFill>
                <a:srgbClr val="73DA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95" name="Google Shape;395;p38"/>
          <p:cNvSpPr txBox="1"/>
          <p:nvPr/>
        </p:nvSpPr>
        <p:spPr>
          <a:xfrm>
            <a:off x="942975" y="2847975"/>
            <a:ext cx="4476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w1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96" name="Google Shape;396;p38"/>
          <p:cNvSpPr txBox="1"/>
          <p:nvPr/>
        </p:nvSpPr>
        <p:spPr>
          <a:xfrm>
            <a:off x="1535350" y="2847975"/>
            <a:ext cx="4476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w2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97" name="Google Shape;397;p38"/>
          <p:cNvSpPr txBox="1"/>
          <p:nvPr/>
        </p:nvSpPr>
        <p:spPr>
          <a:xfrm>
            <a:off x="2266913" y="2847975"/>
            <a:ext cx="4476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w3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98" name="Google Shape;398;p38"/>
          <p:cNvSpPr txBox="1"/>
          <p:nvPr/>
        </p:nvSpPr>
        <p:spPr>
          <a:xfrm>
            <a:off x="2870450" y="2847975"/>
            <a:ext cx="4476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w4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399" name="Google Shape;399;p38"/>
          <p:cNvCxnSpPr>
            <a:stCxn id="393" idx="3"/>
            <a:endCxn id="395" idx="1"/>
          </p:cNvCxnSpPr>
          <p:nvPr/>
        </p:nvCxnSpPr>
        <p:spPr>
          <a:xfrm>
            <a:off x="647850" y="3052725"/>
            <a:ext cx="29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p38"/>
          <p:cNvCxnSpPr>
            <a:stCxn id="395" idx="3"/>
            <a:endCxn id="396" idx="1"/>
          </p:cNvCxnSpPr>
          <p:nvPr/>
        </p:nvCxnSpPr>
        <p:spPr>
          <a:xfrm>
            <a:off x="1390575" y="3052725"/>
            <a:ext cx="14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38"/>
          <p:cNvCxnSpPr>
            <a:stCxn id="396" idx="3"/>
            <a:endCxn id="397" idx="1"/>
          </p:cNvCxnSpPr>
          <p:nvPr/>
        </p:nvCxnSpPr>
        <p:spPr>
          <a:xfrm>
            <a:off x="1982950" y="3052725"/>
            <a:ext cx="28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" name="Google Shape;402;p38"/>
          <p:cNvCxnSpPr>
            <a:stCxn id="397" idx="3"/>
            <a:endCxn id="398" idx="1"/>
          </p:cNvCxnSpPr>
          <p:nvPr/>
        </p:nvCxnSpPr>
        <p:spPr>
          <a:xfrm>
            <a:off x="2714513" y="3052725"/>
            <a:ext cx="15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38"/>
          <p:cNvCxnSpPr>
            <a:stCxn id="398" idx="3"/>
            <a:endCxn id="394" idx="1"/>
          </p:cNvCxnSpPr>
          <p:nvPr/>
        </p:nvCxnSpPr>
        <p:spPr>
          <a:xfrm>
            <a:off x="3318050" y="3052725"/>
            <a:ext cx="18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ACRE on Linear Classifier (Boolean Features)</a:t>
            </a:r>
            <a:endParaRPr/>
          </a:p>
        </p:txBody>
      </p:sp>
      <p:sp>
        <p:nvSpPr>
          <p:cNvPr id="409" name="Google Shape;409;p39"/>
          <p:cNvSpPr txBox="1"/>
          <p:nvPr/>
        </p:nvSpPr>
        <p:spPr>
          <a:xfrm>
            <a:off x="4731325" y="1987950"/>
            <a:ext cx="4014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Problem:</a:t>
            </a:r>
            <a:endParaRPr b="1"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Line searches is NP-hard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urce Code Pro"/>
                <a:ea typeface="Source Code Pro"/>
                <a:cs typeface="Source Code Pro"/>
                <a:sym typeface="Source Code Pro"/>
              </a:rPr>
              <a:t>Solution:</a:t>
            </a:r>
            <a:endParaRPr b="1"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Using line searches of the features with the highest cost, we can find a solution.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410" name="Google Shape;4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425" y="1677302"/>
            <a:ext cx="3121450" cy="260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0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416" name="Google Shape;416;p40"/>
          <p:cNvSpPr txBox="1"/>
          <p:nvPr/>
        </p:nvSpPr>
        <p:spPr>
          <a:xfrm>
            <a:off x="6229350" y="4124325"/>
            <a:ext cx="28101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Post feedback about set attacks in #general on Slack!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