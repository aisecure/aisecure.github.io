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61" r:id="rId2"/>
    <p:sldId id="262" r:id="rId3"/>
    <p:sldId id="263" r:id="rId4"/>
    <p:sldId id="265" r:id="rId5"/>
    <p:sldId id="264" r:id="rId6"/>
    <p:sldId id="290" r:id="rId7"/>
    <p:sldId id="266" r:id="rId8"/>
    <p:sldId id="267" r:id="rId9"/>
    <p:sldId id="268" r:id="rId10"/>
    <p:sldId id="269" r:id="rId11"/>
    <p:sldId id="270" r:id="rId12"/>
    <p:sldId id="271" r:id="rId13"/>
    <p:sldId id="291" r:id="rId14"/>
    <p:sldId id="273" r:id="rId15"/>
    <p:sldId id="272" r:id="rId16"/>
    <p:sldId id="275" r:id="rId17"/>
    <p:sldId id="288" r:id="rId18"/>
    <p:sldId id="289" r:id="rId19"/>
    <p:sldId id="293" r:id="rId20"/>
    <p:sldId id="276" r:id="rId21"/>
    <p:sldId id="292" r:id="rId22"/>
    <p:sldId id="278" r:id="rId23"/>
    <p:sldId id="299" r:id="rId24"/>
    <p:sldId id="294" r:id="rId25"/>
    <p:sldId id="280" r:id="rId26"/>
    <p:sldId id="281" r:id="rId27"/>
    <p:sldId id="286" r:id="rId28"/>
    <p:sldId id="295" r:id="rId29"/>
    <p:sldId id="298" r:id="rId30"/>
    <p:sldId id="297" r:id="rId31"/>
    <p:sldId id="296" r:id="rId32"/>
    <p:sldId id="283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4A27"/>
    <a:srgbClr val="FA6300"/>
    <a:srgbClr val="13294B"/>
    <a:srgbClr val="131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6"/>
    <p:restoredTop sz="94696"/>
  </p:normalViewPr>
  <p:slideViewPr>
    <p:cSldViewPr snapToGrid="0" snapToObjects="1">
      <p:cViewPr varScale="1">
        <p:scale>
          <a:sx n="154" d="100"/>
          <a:sy n="154" d="100"/>
        </p:scale>
        <p:origin x="2292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1798A0-CECC-4CA0-A8FD-3FE99F1ABD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6C23-D926-4DA9-9B3F-1FF08A7CD9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9/23/2019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5AAE8-C1E4-403B-898E-3EC0CE1DD7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4819A0-D452-4D02-940E-66A43FDC07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4DC4B-886C-4C0A-901E-1F3B854DF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691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9/23/2019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A42D2-3E53-4AC5-8168-C271736EA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774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Similar nodes are close to each other in the embedding space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could be used to many downstream graph mining tasks: node classification, node clustering, link prediction, etc.</a:t>
            </a:r>
          </a:p>
        </p:txBody>
      </p:sp>
    </p:spTree>
    <p:extLst>
      <p:ext uri="{BB962C8B-B14F-4D97-AF65-F5344CB8AC3E}">
        <p14:creationId xmlns:p14="http://schemas.microsoft.com/office/powerpoint/2010/main" val="3222648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634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068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918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39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617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687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479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785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054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997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743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4713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1965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663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8131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315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0808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9323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001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1239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834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1396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6519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6840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7400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806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8269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0097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268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559525"/>
            <a:ext cx="4768200" cy="1730075"/>
          </a:xfrm>
          <a:prstGeom prst="rect">
            <a:avLst/>
          </a:prstGeom>
        </p:spPr>
        <p:txBody>
          <a:bodyPr/>
          <a:lstStyle>
            <a:lvl1pPr algn="l">
              <a:defRPr baseline="0">
                <a:solidFill>
                  <a:srgbClr val="FA6300"/>
                </a:solidFill>
              </a:defRPr>
            </a:lvl1pPr>
          </a:lstStyle>
          <a:p>
            <a:r>
              <a:rPr lang="en-US" dirty="0"/>
              <a:t>Title Here: </a:t>
            </a:r>
            <a:r>
              <a:rPr lang="en-US"/>
              <a:t>Tell Your Illinois Story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228600" y="2382838"/>
            <a:ext cx="4768850" cy="942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rgbClr val="131F33"/>
                </a:solidFill>
                <a:latin typeface="+mn-lt"/>
                <a:ea typeface="+mn-ea"/>
                <a:cs typeface="Georgia"/>
              </a:rPr>
              <a:t>Name  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131F33"/>
                </a:solidFill>
                <a:latin typeface="+mn-lt"/>
                <a:ea typeface="+mn-ea"/>
                <a:cs typeface="Georgia"/>
              </a:rPr>
              <a:t>Date</a:t>
            </a:r>
          </a:p>
          <a:p>
            <a:pPr lvl="0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84" y="6008552"/>
            <a:ext cx="1843813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8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819400" y="274638"/>
            <a:ext cx="58674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>
                <a:solidFill>
                  <a:srgbClr val="FA6300"/>
                </a:solidFill>
              </a:rPr>
              <a:t>Slide Title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2819400" y="1600200"/>
            <a:ext cx="5867400" cy="4525963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2000" dirty="0">
              <a:solidFill>
                <a:schemeClr val="bg1">
                  <a:lumMod val="50000"/>
                </a:schemeClr>
              </a:solidFill>
              <a:latin typeface="Georgia"/>
              <a:cs typeface="Georgia"/>
            </a:endParaRP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no sea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takimata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sanctus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est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dolor sit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amet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 At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vero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eos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accusam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justo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duo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dolores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rebum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Consectetuer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adipiscing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,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sed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diam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nonummy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nibh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Georgia"/>
              <a:cs typeface="Georgia"/>
            </a:endParaRP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Duis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autem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iriure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hendrerit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vulputate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Hendrerit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vulputate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esse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molestie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consequat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dolor sit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amet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Georgia"/>
              <a:cs typeface="Georgia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86F470EA-0CC8-41FE-B63B-D93336DE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5863"/>
            <a:ext cx="779585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95004-29B1-4F4C-8143-306DB296FA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579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>
                <a:solidFill>
                  <a:srgbClr val="FA6300"/>
                </a:solidFill>
              </a:rPr>
              <a:t>Slide Title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05800" cy="4525963"/>
          </a:xfrm>
          <a:prstGeom prst="rect">
            <a:avLst/>
          </a:prstGeom>
        </p:spPr>
        <p:txBody>
          <a:bodyPr/>
          <a:lstStyle/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no sea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takimata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sanctus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est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dolor sit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amet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 At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vero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eos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accusam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justo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duo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dolores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et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ea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rebum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Consectetuer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adipiscing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,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sed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diam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nonummy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nibh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Georgia"/>
              <a:cs typeface="Georgia"/>
            </a:endParaRP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Duis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autem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iriure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hendrerit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vulputate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pPr defTabSz="914400">
              <a:buFont typeface="Wingdings" charset="0"/>
              <a:buChar char=""/>
            </a:pP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Hendrerit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in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vulputate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velit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esse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molestie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consequat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Lorem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ipsum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 dolor sit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amet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Georgia"/>
                <a:cs typeface="Georgia"/>
              </a:rPr>
              <a:t>.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63402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CC7A5D-5F36-458E-B70E-099B65531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95004-29B1-4F4C-8143-306DB296F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88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0" r:id="rId2"/>
    <p:sldLayoutId id="2147483651" r:id="rId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tiff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3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18.png"/><Relationship Id="rId4" Type="http://schemas.openxmlformats.org/officeDocument/2006/relationships/image" Target="../media/image8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5" Type="http://schemas.openxmlformats.org/officeDocument/2006/relationships/image" Target="../media/image43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67496" y="768325"/>
            <a:ext cx="8285092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13294B"/>
                </a:solidFill>
                <a:latin typeface="Georgia" charset="0"/>
                <a:ea typeface="Georgia" charset="0"/>
                <a:cs typeface="Georgia" charset="0"/>
              </a:rPr>
              <a:t>Adversarial Attacks on Graph Embedding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0"/>
          </p:nvPr>
        </p:nvSpPr>
        <p:spPr>
          <a:xfrm>
            <a:off x="367496" y="2239963"/>
            <a:ext cx="8285092" cy="835025"/>
          </a:xfrm>
        </p:spPr>
        <p:txBody>
          <a:bodyPr/>
          <a:lstStyle/>
          <a:p>
            <a:pPr algn="ctr"/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Presented by Jun Wu</a:t>
            </a:r>
          </a:p>
        </p:txBody>
      </p:sp>
    </p:spTree>
    <p:extLst>
      <p:ext uri="{BB962C8B-B14F-4D97-AF65-F5344CB8AC3E}">
        <p14:creationId xmlns:p14="http://schemas.microsoft.com/office/powerpoint/2010/main" val="255166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Background: Node Embedding</a:t>
            </a:r>
            <a:endParaRPr lang="en-US" sz="3200" dirty="0">
              <a:solidFill>
                <a:srgbClr val="13294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</p:spPr>
            <p:txBody>
              <a:bodyPr/>
              <a:lstStyle/>
              <a:p>
                <a:r>
                  <a:rPr lang="en-US" sz="2400" dirty="0">
                    <a:solidFill>
                      <a:srgbClr val="13294B"/>
                    </a:solidFill>
                    <a:latin typeface="Calibri" charset="0"/>
                    <a:ea typeface="Calibri" charset="0"/>
                    <a:cs typeface="Calibri" charset="0"/>
                  </a:rPr>
                  <a:t>Objective: Every 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libri" charset="0"/>
                        <a:cs typeface="Calibri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13294B"/>
                    </a:solidFill>
                    <a:latin typeface="Calibri" charset="0"/>
                    <a:ea typeface="Calibri" charset="0"/>
                    <a:cs typeface="Calibri" charset="0"/>
                  </a:rPr>
                  <a:t> is mapped to a low-dimensional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libri" charset="0"/>
                            <a:cs typeface="Calibri" charset="0"/>
                          </a:rPr>
                          <m:t>𝑣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libri" charset="0"/>
                        <a:cs typeface="Calibri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13294B"/>
                    </a:solidFill>
                    <a:latin typeface="Calibri" charset="0"/>
                    <a:ea typeface="Calibri" charset="0"/>
                    <a:cs typeface="Calibri" charset="0"/>
                  </a:rPr>
                  <a:t> such that the graph structure is captured</a:t>
                </a:r>
                <a:endParaRPr lang="en-US" sz="20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  <a:blipFill>
                <a:blip r:embed="rId3"/>
                <a:stretch>
                  <a:fillRect l="-1004" t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2</a:t>
            </a:fld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F4032F-F97A-4365-8B87-B57D903DA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26" y="2795623"/>
            <a:ext cx="6662057" cy="139649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6482CFB-30EF-480A-851A-57A5F66E0D0B}"/>
              </a:ext>
            </a:extLst>
          </p:cNvPr>
          <p:cNvSpPr/>
          <p:nvPr/>
        </p:nvSpPr>
        <p:spPr>
          <a:xfrm>
            <a:off x="380999" y="5247211"/>
            <a:ext cx="77055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Similar nodes are close to each other in the embedding space. </a:t>
            </a:r>
          </a:p>
        </p:txBody>
      </p:sp>
    </p:spTree>
    <p:extLst>
      <p:ext uri="{BB962C8B-B14F-4D97-AF65-F5344CB8AC3E}">
        <p14:creationId xmlns:p14="http://schemas.microsoft.com/office/powerpoint/2010/main" val="3432085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Background: Node Embedding</a:t>
            </a:r>
            <a:endParaRPr lang="en-US" sz="3200" dirty="0">
              <a:solidFill>
                <a:srgbClr val="13294B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3</a:t>
            </a:fld>
            <a:endParaRPr lang="en-US" dirty="0">
              <a:solidFill>
                <a:schemeClr val="accent2"/>
              </a:solidFill>
            </a:endParaRP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6950E851-AC32-4981-A8B1-E23907DD3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2685"/>
              </p:ext>
            </p:extLst>
          </p:nvPr>
        </p:nvGraphicFramePr>
        <p:xfrm>
          <a:off x="199053" y="961573"/>
          <a:ext cx="8055429" cy="4133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6286">
                  <a:extLst>
                    <a:ext uri="{9D8B030D-6E8A-4147-A177-3AD203B41FA5}">
                      <a16:colId xmlns:a16="http://schemas.microsoft.com/office/drawing/2014/main" val="2774941411"/>
                    </a:ext>
                  </a:extLst>
                </a:gridCol>
                <a:gridCol w="3247053">
                  <a:extLst>
                    <a:ext uri="{9D8B030D-6E8A-4147-A177-3AD203B41FA5}">
                      <a16:colId xmlns:a16="http://schemas.microsoft.com/office/drawing/2014/main" val="233951423"/>
                    </a:ext>
                  </a:extLst>
                </a:gridCol>
                <a:gridCol w="3502090">
                  <a:extLst>
                    <a:ext uri="{9D8B030D-6E8A-4147-A177-3AD203B41FA5}">
                      <a16:colId xmlns:a16="http://schemas.microsoft.com/office/drawing/2014/main" val="3039493216"/>
                    </a:ext>
                  </a:extLst>
                </a:gridCol>
              </a:tblGrid>
              <a:tr h="82671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/>
                        <a:t>Random Walk 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/>
                        <a:t>Graph Convolution 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539321"/>
                  </a:ext>
                </a:extLst>
              </a:tr>
              <a:tr h="8267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Plain network </a:t>
                      </a:r>
                    </a:p>
                    <a:p>
                      <a:pPr algn="ctr"/>
                      <a:r>
                        <a:rPr lang="en-US" sz="1600" dirty="0"/>
                        <a:t>without node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Attributed network</a:t>
                      </a:r>
                    </a:p>
                    <a:p>
                      <a:pPr algn="ctr"/>
                      <a:r>
                        <a:rPr lang="en-US" sz="1600" dirty="0"/>
                        <a:t>with node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8145340"/>
                  </a:ext>
                </a:extLst>
              </a:tr>
              <a:tr h="8267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 embeddings</a:t>
                      </a:r>
                    </a:p>
                    <a:p>
                      <a:pPr algn="ctr"/>
                      <a:r>
                        <a:rPr lang="en-US" sz="1600" dirty="0"/>
                        <a:t>(</a:t>
                      </a: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unsupervised</a:t>
                      </a:r>
                      <a:r>
                        <a:rPr lang="en-US" sz="16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 embedding</a:t>
                      </a:r>
                    </a:p>
                    <a:p>
                      <a:pPr algn="ctr"/>
                      <a:r>
                        <a:rPr lang="en-US" sz="1600" dirty="0"/>
                        <a:t>Predictive node class-label</a:t>
                      </a:r>
                    </a:p>
                    <a:p>
                      <a:pPr algn="ctr"/>
                      <a:r>
                        <a:rPr lang="en-US" sz="1600" dirty="0"/>
                        <a:t>(</a:t>
                      </a: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semi-supervised</a:t>
                      </a:r>
                      <a:r>
                        <a:rPr lang="en-US" sz="16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5149890"/>
                  </a:ext>
                </a:extLst>
              </a:tr>
              <a:tr h="8267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Assumption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Nearby nodes share the similar 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Nearby nodes share the similar embeddings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976885"/>
                  </a:ext>
                </a:extLst>
              </a:tr>
              <a:tr h="8267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Key 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Maximize the likelihood of positive node-context pairs sampled by (biased) random walk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Recursively aggregate node messages along edges of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257603"/>
                  </a:ext>
                </a:extLst>
              </a:tr>
            </a:tbl>
          </a:graphicData>
        </a:graphic>
      </p:graphicFrame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61E4E9E5-CD05-48B9-A1F9-9D769C9A5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436001"/>
              </p:ext>
            </p:extLst>
          </p:nvPr>
        </p:nvGraphicFramePr>
        <p:xfrm>
          <a:off x="199053" y="5626878"/>
          <a:ext cx="8055429" cy="571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065">
                  <a:extLst>
                    <a:ext uri="{9D8B030D-6E8A-4147-A177-3AD203B41FA5}">
                      <a16:colId xmlns:a16="http://schemas.microsoft.com/office/drawing/2014/main" val="850456586"/>
                    </a:ext>
                  </a:extLst>
                </a:gridCol>
                <a:gridCol w="3247053">
                  <a:extLst>
                    <a:ext uri="{9D8B030D-6E8A-4147-A177-3AD203B41FA5}">
                      <a16:colId xmlns:a16="http://schemas.microsoft.com/office/drawing/2014/main" val="3425198399"/>
                    </a:ext>
                  </a:extLst>
                </a:gridCol>
                <a:gridCol w="3508311">
                  <a:extLst>
                    <a:ext uri="{9D8B030D-6E8A-4147-A177-3AD203B41FA5}">
                      <a16:colId xmlns:a16="http://schemas.microsoft.com/office/drawing/2014/main" val="977156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Attacks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Aleksandar </a:t>
                      </a:r>
                      <a:r>
                        <a:rPr lang="en-US" sz="105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Bojchevski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Stephan </a:t>
                      </a:r>
                      <a:r>
                        <a:rPr lang="en-US" sz="105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Günnemann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"</a:t>
                      </a:r>
                      <a:r>
                        <a:rPr lang="en-US" sz="105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Adversarial attacks on node embeddings via graph poisoning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." In </a:t>
                      </a:r>
                      <a:r>
                        <a:rPr lang="en-US" sz="105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ICML 2019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Daniel </a:t>
                      </a:r>
                      <a:r>
                        <a:rPr lang="en-US" sz="105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Zügner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Stephan </a:t>
                      </a:r>
                      <a:r>
                        <a:rPr lang="en-US" sz="105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Günnemann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"</a:t>
                      </a:r>
                      <a:r>
                        <a:rPr lang="en-US" sz="105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Adversarial attacks on graph neural networks via meta learning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." </a:t>
                      </a:r>
                      <a:r>
                        <a:rPr lang="en-US" sz="105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ICLR 2019.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361153"/>
                  </a:ext>
                </a:extLst>
              </a:tr>
            </a:tbl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:a16="http://schemas.microsoft.com/office/drawing/2014/main" id="{357A2225-59A6-40C0-B9D9-417E816A5828}"/>
              </a:ext>
            </a:extLst>
          </p:cNvPr>
          <p:cNvSpPr/>
          <p:nvPr/>
        </p:nvSpPr>
        <p:spPr>
          <a:xfrm>
            <a:off x="2892489" y="5050971"/>
            <a:ext cx="404327" cy="62187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1436DDE4-E4A8-4A10-9870-60F5DFC39F51}"/>
              </a:ext>
            </a:extLst>
          </p:cNvPr>
          <p:cNvSpPr/>
          <p:nvPr/>
        </p:nvSpPr>
        <p:spPr>
          <a:xfrm>
            <a:off x="6323048" y="5060307"/>
            <a:ext cx="404327" cy="62187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20E140-6072-4EDA-B3D9-B7FB2EDEA0D0}"/>
              </a:ext>
            </a:extLst>
          </p:cNvPr>
          <p:cNvSpPr/>
          <p:nvPr/>
        </p:nvSpPr>
        <p:spPr>
          <a:xfrm>
            <a:off x="99525" y="5505059"/>
            <a:ext cx="8223380" cy="80243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95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Random Walk Based Embedding</a:t>
            </a:r>
            <a:endParaRPr lang="en-US" sz="3200" dirty="0">
              <a:solidFill>
                <a:srgbClr val="13294B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4</a:t>
            </a:fld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B9E8E8-8518-478E-AC27-E12A7C4BF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88" y="1468017"/>
            <a:ext cx="6900552" cy="417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35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Random Walk Based Embedding</a:t>
            </a:r>
            <a:endParaRPr lang="en-US" sz="3200" dirty="0">
              <a:solidFill>
                <a:srgbClr val="13294B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0999" y="1600200"/>
            <a:ext cx="7892143" cy="4338781"/>
          </a:xfrm>
        </p:spPr>
        <p:txBody>
          <a:bodyPr/>
          <a:lstStyle/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It is close to train a language model, e.g., word2vec</a:t>
            </a:r>
          </a:p>
          <a:p>
            <a:pPr lvl="1"/>
            <a:r>
              <a:rPr lang="en-US" sz="16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Nodes = words</a:t>
            </a:r>
          </a:p>
          <a:p>
            <a:pPr lvl="1"/>
            <a:r>
              <a:rPr lang="en-US" sz="16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(Biased) random walks = sentences</a:t>
            </a: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r>
              <a:rPr lang="en-US" sz="16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Nodes that </a:t>
            </a:r>
            <a:r>
              <a:rPr lang="en-US" sz="1600" dirty="0">
                <a:solidFill>
                  <a:srgbClr val="FA6300"/>
                </a:solidFill>
                <a:latin typeface="Calibri" charset="0"/>
                <a:ea typeface="Calibri" charset="0"/>
                <a:cs typeface="Calibri" charset="0"/>
              </a:rPr>
              <a:t>co-occur</a:t>
            </a:r>
            <a:r>
              <a:rPr lang="en-US" sz="16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 in the random-walks have </a:t>
            </a:r>
            <a:r>
              <a:rPr lang="en-US" sz="1600" dirty="0">
                <a:solidFill>
                  <a:srgbClr val="FA6300"/>
                </a:solidFill>
                <a:latin typeface="Calibri" charset="0"/>
                <a:ea typeface="Calibri" charset="0"/>
                <a:cs typeface="Calibri" charset="0"/>
              </a:rPr>
              <a:t>similar</a:t>
            </a:r>
            <a:r>
              <a:rPr lang="en-US" sz="16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 embeddings.</a:t>
            </a:r>
          </a:p>
          <a:p>
            <a:pPr lvl="2"/>
            <a:r>
              <a:rPr lang="en-US" sz="12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Skip-gram with negative sampling: use the current node to predict its context, while node-context pairs are extracted by random walk</a:t>
            </a:r>
          </a:p>
          <a:p>
            <a:pPr lvl="2"/>
            <a:endParaRPr lang="en-US" sz="12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r>
              <a:rPr lang="en-US" sz="16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For example: DeepWalk, node2vec, etc.</a:t>
            </a: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5</a:t>
            </a:fld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09B8E-9FAA-4E39-A7F2-27E5092C4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660" y="2820205"/>
            <a:ext cx="5838054" cy="125490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CF8F30B-7B84-4816-BFCA-3F0483935B99}"/>
              </a:ext>
            </a:extLst>
          </p:cNvPr>
          <p:cNvSpPr/>
          <p:nvPr/>
        </p:nvSpPr>
        <p:spPr>
          <a:xfrm>
            <a:off x="1" y="6150243"/>
            <a:ext cx="8358551" cy="7078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Bryan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Perozzi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, Rami Al-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Rfou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, and Steven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Skiena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. "DeepWalk: Online learning of social representations." In </a:t>
            </a:r>
            <a:r>
              <a:rPr lang="en-US" sz="1000" i="1" dirty="0">
                <a:solidFill>
                  <a:schemeClr val="bg1"/>
                </a:solidFill>
                <a:latin typeface="Arial" panose="020B0604020202020204" pitchFamily="34" charset="0"/>
              </a:rPr>
              <a:t>Proceedings of the 20th ACM SIGKDD international conference on Knowledge discovery and data mining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, pp. 701-710. ACM, 2014.</a:t>
            </a:r>
          </a:p>
          <a:p>
            <a:r>
              <a:rPr lang="en-US" sz="1000" dirty="0">
                <a:solidFill>
                  <a:schemeClr val="bg1"/>
                </a:solidFill>
              </a:rPr>
              <a:t>Grover, Aditya, and Jure </a:t>
            </a:r>
            <a:r>
              <a:rPr lang="en-US" sz="1000" dirty="0" err="1">
                <a:solidFill>
                  <a:schemeClr val="bg1"/>
                </a:solidFill>
              </a:rPr>
              <a:t>Leskovec</a:t>
            </a:r>
            <a:r>
              <a:rPr lang="en-US" sz="1000" dirty="0">
                <a:solidFill>
                  <a:schemeClr val="bg1"/>
                </a:solidFill>
              </a:rPr>
              <a:t>. "node2vec: Scalable feature learning for networks." In Proceedings of the 22nd ACM SIGKDD international conference on Knowledge discovery and data mining, pp. 855-864. ACM, 2016.</a:t>
            </a:r>
          </a:p>
        </p:txBody>
      </p:sp>
    </p:spTree>
    <p:extLst>
      <p:ext uri="{BB962C8B-B14F-4D97-AF65-F5344CB8AC3E}">
        <p14:creationId xmlns:p14="http://schemas.microsoft.com/office/powerpoint/2010/main" val="3031315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Random Walk Based Embedding</a:t>
            </a:r>
            <a:endParaRPr lang="en-US" sz="3200" dirty="0">
              <a:solidFill>
                <a:srgbClr val="13294B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0999" y="1188098"/>
            <a:ext cx="7892143" cy="4750883"/>
          </a:xfrm>
        </p:spPr>
        <p:txBody>
          <a:bodyPr/>
          <a:lstStyle/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Skip-gram with negative sampling</a:t>
            </a:r>
          </a:p>
          <a:p>
            <a:pPr lvl="1"/>
            <a:r>
              <a:rPr lang="en-US" sz="16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Key idea: predict the context (local neighbors) using the current word/node</a:t>
            </a: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6</a:t>
            </a:fld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1026" name="Picture 2" descr="Image result for skip-gram with negative sampling">
            <a:extLst>
              <a:ext uri="{FF2B5EF4-FFF2-40B4-BE49-F238E27FC236}">
                <a16:creationId xmlns:a16="http://schemas.microsoft.com/office/drawing/2014/main" id="{64011106-B03A-4129-8867-B0F4765FA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99" y="2736981"/>
            <a:ext cx="1691490" cy="2304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B75B37-BC47-459F-964F-072F2B18BCBE}"/>
              </a:ext>
            </a:extLst>
          </p:cNvPr>
          <p:cNvSpPr txBox="1"/>
          <p:nvPr/>
        </p:nvSpPr>
        <p:spPr>
          <a:xfrm>
            <a:off x="886799" y="26934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E5F799-F711-4401-8F64-AC938545C48D}"/>
              </a:ext>
            </a:extLst>
          </p:cNvPr>
          <p:cNvSpPr txBox="1"/>
          <p:nvPr/>
        </p:nvSpPr>
        <p:spPr>
          <a:xfrm>
            <a:off x="499584" y="2385659"/>
            <a:ext cx="23374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E.g., </a:t>
            </a:r>
            <a:r>
              <a:rPr lang="en-US" sz="1400" dirty="0">
                <a:solidFill>
                  <a:srgbClr val="00B050"/>
                </a:solidFill>
              </a:rPr>
              <a:t>How is </a:t>
            </a:r>
            <a:r>
              <a:rPr lang="en-US" sz="1400" dirty="0">
                <a:solidFill>
                  <a:srgbClr val="FF0000"/>
                </a:solidFill>
              </a:rPr>
              <a:t>it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50"/>
                </a:solidFill>
              </a:rPr>
              <a:t>going today</a:t>
            </a:r>
            <a:r>
              <a:rPr lang="en-US" sz="1400" dirty="0"/>
              <a:t>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5CF08B-E176-41B9-8CC8-AFC231C4C389}"/>
              </a:ext>
            </a:extLst>
          </p:cNvPr>
          <p:cNvSpPr/>
          <p:nvPr/>
        </p:nvSpPr>
        <p:spPr>
          <a:xfrm>
            <a:off x="327597" y="3714582"/>
            <a:ext cx="3000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it</a:t>
            </a:r>
            <a:endParaRPr lang="en-US" sz="140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D05D736-5AE8-40B5-9796-87BDF4A14293}"/>
              </a:ext>
            </a:extLst>
          </p:cNvPr>
          <p:cNvSpPr/>
          <p:nvPr/>
        </p:nvSpPr>
        <p:spPr>
          <a:xfrm>
            <a:off x="654083" y="3788455"/>
            <a:ext cx="184731" cy="17246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44036F-0360-4714-AEB4-34C5E7D4630D}"/>
              </a:ext>
            </a:extLst>
          </p:cNvPr>
          <p:cNvSpPr/>
          <p:nvPr/>
        </p:nvSpPr>
        <p:spPr>
          <a:xfrm>
            <a:off x="2697278" y="3007632"/>
            <a:ext cx="5597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How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B59D52AE-3AB6-4F18-96CB-802E724A6C2F}"/>
              </a:ext>
            </a:extLst>
          </p:cNvPr>
          <p:cNvSpPr/>
          <p:nvPr/>
        </p:nvSpPr>
        <p:spPr>
          <a:xfrm>
            <a:off x="2528527" y="3079105"/>
            <a:ext cx="183572" cy="16166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B7E6AB-DF51-4970-8771-1DA6EE35A902}"/>
              </a:ext>
            </a:extLst>
          </p:cNvPr>
          <p:cNvSpPr/>
          <p:nvPr/>
        </p:nvSpPr>
        <p:spPr>
          <a:xfrm>
            <a:off x="2681729" y="3377747"/>
            <a:ext cx="3145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is</a:t>
            </a:r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877FF0AB-D653-48E7-B872-6F776954FDB0}"/>
              </a:ext>
            </a:extLst>
          </p:cNvPr>
          <p:cNvSpPr/>
          <p:nvPr/>
        </p:nvSpPr>
        <p:spPr>
          <a:xfrm>
            <a:off x="2512978" y="3449220"/>
            <a:ext cx="183572" cy="16166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B077D2-44B6-43F6-8684-D09722D2AFE6}"/>
              </a:ext>
            </a:extLst>
          </p:cNvPr>
          <p:cNvSpPr/>
          <p:nvPr/>
        </p:nvSpPr>
        <p:spPr>
          <a:xfrm>
            <a:off x="2672399" y="4033998"/>
            <a:ext cx="6222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going</a:t>
            </a: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875ED4D9-EA01-460D-A487-24F3C3173CF1}"/>
              </a:ext>
            </a:extLst>
          </p:cNvPr>
          <p:cNvSpPr/>
          <p:nvPr/>
        </p:nvSpPr>
        <p:spPr>
          <a:xfrm>
            <a:off x="2503648" y="4105471"/>
            <a:ext cx="183572" cy="16166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A41C56-43E1-40D3-92EA-C1171700C665}"/>
              </a:ext>
            </a:extLst>
          </p:cNvPr>
          <p:cNvSpPr/>
          <p:nvPr/>
        </p:nvSpPr>
        <p:spPr>
          <a:xfrm>
            <a:off x="2663071" y="4410332"/>
            <a:ext cx="6238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today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0D9358E3-A9FC-464C-B1AA-DFE1CD181941}"/>
              </a:ext>
            </a:extLst>
          </p:cNvPr>
          <p:cNvSpPr/>
          <p:nvPr/>
        </p:nvSpPr>
        <p:spPr>
          <a:xfrm>
            <a:off x="2494320" y="4481805"/>
            <a:ext cx="183572" cy="16166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" descr="Image result for skip-gram with negative sampling">
            <a:extLst>
              <a:ext uri="{FF2B5EF4-FFF2-40B4-BE49-F238E27FC236}">
                <a16:creationId xmlns:a16="http://schemas.microsoft.com/office/drawing/2014/main" id="{E9D1E11A-1102-482E-8599-4990ED5B1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999" y="2746313"/>
            <a:ext cx="1691490" cy="2304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7926482-9B00-46B2-9842-B52BE8232256}"/>
              </a:ext>
            </a:extLst>
          </p:cNvPr>
          <p:cNvSpPr txBox="1"/>
          <p:nvPr/>
        </p:nvSpPr>
        <p:spPr>
          <a:xfrm>
            <a:off x="5125999" y="27027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41CF70-C74E-4CE4-B38F-EB296C39055B}"/>
              </a:ext>
            </a:extLst>
          </p:cNvPr>
          <p:cNvSpPr txBox="1"/>
          <p:nvPr/>
        </p:nvSpPr>
        <p:spPr>
          <a:xfrm>
            <a:off x="4178948" y="2388771"/>
            <a:ext cx="580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E.g., 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F28C585E-2D48-4559-82AD-0C047936E356}"/>
              </a:ext>
            </a:extLst>
          </p:cNvPr>
          <p:cNvSpPr/>
          <p:nvPr/>
        </p:nvSpPr>
        <p:spPr>
          <a:xfrm>
            <a:off x="4893283" y="3797787"/>
            <a:ext cx="184731" cy="17246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Left 25">
            <a:extLst>
              <a:ext uri="{FF2B5EF4-FFF2-40B4-BE49-F238E27FC236}">
                <a16:creationId xmlns:a16="http://schemas.microsoft.com/office/drawing/2014/main" id="{B4832135-E6DB-4EF2-AAB5-CC9B3CD5C109}"/>
              </a:ext>
            </a:extLst>
          </p:cNvPr>
          <p:cNvSpPr/>
          <p:nvPr/>
        </p:nvSpPr>
        <p:spPr>
          <a:xfrm>
            <a:off x="6767727" y="3088437"/>
            <a:ext cx="183572" cy="16166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Left 27">
            <a:extLst>
              <a:ext uri="{FF2B5EF4-FFF2-40B4-BE49-F238E27FC236}">
                <a16:creationId xmlns:a16="http://schemas.microsoft.com/office/drawing/2014/main" id="{5241CA8B-E77C-49F2-AB5F-7A525303B38F}"/>
              </a:ext>
            </a:extLst>
          </p:cNvPr>
          <p:cNvSpPr/>
          <p:nvPr/>
        </p:nvSpPr>
        <p:spPr>
          <a:xfrm>
            <a:off x="6752178" y="3458552"/>
            <a:ext cx="183572" cy="16166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Left 29">
            <a:extLst>
              <a:ext uri="{FF2B5EF4-FFF2-40B4-BE49-F238E27FC236}">
                <a16:creationId xmlns:a16="http://schemas.microsoft.com/office/drawing/2014/main" id="{4AA7B2D0-7E81-455F-831F-754DD6F92F31}"/>
              </a:ext>
            </a:extLst>
          </p:cNvPr>
          <p:cNvSpPr/>
          <p:nvPr/>
        </p:nvSpPr>
        <p:spPr>
          <a:xfrm>
            <a:off x="6742848" y="4114803"/>
            <a:ext cx="183572" cy="16166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Left 31">
            <a:extLst>
              <a:ext uri="{FF2B5EF4-FFF2-40B4-BE49-F238E27FC236}">
                <a16:creationId xmlns:a16="http://schemas.microsoft.com/office/drawing/2014/main" id="{8F1B1FF5-5F2C-4C9F-8375-7A74AC61A87E}"/>
              </a:ext>
            </a:extLst>
          </p:cNvPr>
          <p:cNvSpPr/>
          <p:nvPr/>
        </p:nvSpPr>
        <p:spPr>
          <a:xfrm>
            <a:off x="6733520" y="4491137"/>
            <a:ext cx="183572" cy="16166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B7695E8-CD0B-41AC-8C14-467CCB37B613}"/>
              </a:ext>
            </a:extLst>
          </p:cNvPr>
          <p:cNvSpPr/>
          <p:nvPr/>
        </p:nvSpPr>
        <p:spPr>
          <a:xfrm>
            <a:off x="4753411" y="2457063"/>
            <a:ext cx="166934" cy="1741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7441315-07B8-4CEA-A551-07D777A37A8E}"/>
              </a:ext>
            </a:extLst>
          </p:cNvPr>
          <p:cNvSpPr/>
          <p:nvPr/>
        </p:nvSpPr>
        <p:spPr>
          <a:xfrm>
            <a:off x="5135964" y="2453955"/>
            <a:ext cx="166934" cy="1741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D6990E-7C1F-4548-B905-29E904761F54}"/>
              </a:ext>
            </a:extLst>
          </p:cNvPr>
          <p:cNvCxnSpPr>
            <a:stCxn id="13" idx="6"/>
            <a:endCxn id="34" idx="2"/>
          </p:cNvCxnSpPr>
          <p:nvPr/>
        </p:nvCxnSpPr>
        <p:spPr>
          <a:xfrm flipV="1">
            <a:off x="4920345" y="2541041"/>
            <a:ext cx="215619" cy="3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9069F1EE-E0A3-44B6-8208-66E5158E3CDA}"/>
              </a:ext>
            </a:extLst>
          </p:cNvPr>
          <p:cNvSpPr/>
          <p:nvPr/>
        </p:nvSpPr>
        <p:spPr>
          <a:xfrm>
            <a:off x="5512298" y="2450845"/>
            <a:ext cx="166934" cy="174171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46FD29C-2D0A-45D0-B341-315F364B2BD0}"/>
              </a:ext>
            </a:extLst>
          </p:cNvPr>
          <p:cNvCxnSpPr>
            <a:endCxn id="37" idx="2"/>
          </p:cNvCxnSpPr>
          <p:nvPr/>
        </p:nvCxnSpPr>
        <p:spPr>
          <a:xfrm flipV="1">
            <a:off x="5296679" y="2537931"/>
            <a:ext cx="215619" cy="3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A4F5C74D-903D-4E46-92F5-12D7113F0859}"/>
              </a:ext>
            </a:extLst>
          </p:cNvPr>
          <p:cNvSpPr/>
          <p:nvPr/>
        </p:nvSpPr>
        <p:spPr>
          <a:xfrm>
            <a:off x="5885523" y="2450842"/>
            <a:ext cx="166934" cy="174171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DC9689-E2DE-45F9-B3DB-1C943BCB820A}"/>
              </a:ext>
            </a:extLst>
          </p:cNvPr>
          <p:cNvCxnSpPr>
            <a:endCxn id="39" idx="2"/>
          </p:cNvCxnSpPr>
          <p:nvPr/>
        </p:nvCxnSpPr>
        <p:spPr>
          <a:xfrm flipV="1">
            <a:off x="5669904" y="2537928"/>
            <a:ext cx="215619" cy="3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9B231C6D-54C6-42E7-9E0D-743F1C8C375A}"/>
              </a:ext>
            </a:extLst>
          </p:cNvPr>
          <p:cNvSpPr/>
          <p:nvPr/>
        </p:nvSpPr>
        <p:spPr>
          <a:xfrm>
            <a:off x="6258746" y="2438403"/>
            <a:ext cx="166934" cy="174171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CD9BF6A-674F-4075-92EA-E87B2CBA1A5C}"/>
              </a:ext>
            </a:extLst>
          </p:cNvPr>
          <p:cNvCxnSpPr>
            <a:endCxn id="41" idx="2"/>
          </p:cNvCxnSpPr>
          <p:nvPr/>
        </p:nvCxnSpPr>
        <p:spPr>
          <a:xfrm flipV="1">
            <a:off x="6043127" y="2525489"/>
            <a:ext cx="215619" cy="3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406EC8A-60BE-437E-81AA-46C9D27D7AF7}"/>
              </a:ext>
            </a:extLst>
          </p:cNvPr>
          <p:cNvSpPr txBox="1"/>
          <p:nvPr/>
        </p:nvSpPr>
        <p:spPr>
          <a:xfrm>
            <a:off x="6255004" y="26934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C5BD84C-DA41-45B6-9C01-9183C7AB1545}"/>
              </a:ext>
            </a:extLst>
          </p:cNvPr>
          <p:cNvSpPr/>
          <p:nvPr/>
        </p:nvSpPr>
        <p:spPr>
          <a:xfrm>
            <a:off x="6641303" y="2441513"/>
            <a:ext cx="166934" cy="174171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832552E-88BD-4C2E-8F52-4E59A5D9CC6B}"/>
              </a:ext>
            </a:extLst>
          </p:cNvPr>
          <p:cNvCxnSpPr>
            <a:endCxn id="44" idx="2"/>
          </p:cNvCxnSpPr>
          <p:nvPr/>
        </p:nvCxnSpPr>
        <p:spPr>
          <a:xfrm flipV="1">
            <a:off x="6425684" y="2528599"/>
            <a:ext cx="215619" cy="3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8633DDF2-10B4-4EDB-A3A4-F3E99BC4D95F}"/>
              </a:ext>
            </a:extLst>
          </p:cNvPr>
          <p:cNvSpPr/>
          <p:nvPr/>
        </p:nvSpPr>
        <p:spPr>
          <a:xfrm>
            <a:off x="7014528" y="2441510"/>
            <a:ext cx="166934" cy="174171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6DD244E-06D9-42CE-A210-E874DD86E640}"/>
              </a:ext>
            </a:extLst>
          </p:cNvPr>
          <p:cNvCxnSpPr>
            <a:endCxn id="46" idx="2"/>
          </p:cNvCxnSpPr>
          <p:nvPr/>
        </p:nvCxnSpPr>
        <p:spPr>
          <a:xfrm flipV="1">
            <a:off x="6798909" y="2528596"/>
            <a:ext cx="215619" cy="3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1CA22BBF-70D7-43B4-8278-76EC03043D47}"/>
              </a:ext>
            </a:extLst>
          </p:cNvPr>
          <p:cNvSpPr/>
          <p:nvPr/>
        </p:nvSpPr>
        <p:spPr>
          <a:xfrm>
            <a:off x="7387751" y="2429071"/>
            <a:ext cx="166934" cy="17417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78F49C3-5A10-4064-BF3C-D7EBEBEF072C}"/>
              </a:ext>
            </a:extLst>
          </p:cNvPr>
          <p:cNvCxnSpPr>
            <a:endCxn id="48" idx="2"/>
          </p:cNvCxnSpPr>
          <p:nvPr/>
        </p:nvCxnSpPr>
        <p:spPr>
          <a:xfrm flipV="1">
            <a:off x="7172132" y="2516157"/>
            <a:ext cx="215619" cy="31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CE82B56E-3D47-408E-B781-17150B0414BD}"/>
              </a:ext>
            </a:extLst>
          </p:cNvPr>
          <p:cNvSpPr/>
          <p:nvPr/>
        </p:nvSpPr>
        <p:spPr>
          <a:xfrm>
            <a:off x="4641567" y="3810158"/>
            <a:ext cx="166934" cy="174171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09064DE-C4DB-4235-A4CA-ACF66DFEEF24}"/>
              </a:ext>
            </a:extLst>
          </p:cNvPr>
          <p:cNvSpPr/>
          <p:nvPr/>
        </p:nvSpPr>
        <p:spPr>
          <a:xfrm>
            <a:off x="7050297" y="3075995"/>
            <a:ext cx="166934" cy="174171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9AC5A70-07C5-4ECE-A20A-53B5BB855FFA}"/>
              </a:ext>
            </a:extLst>
          </p:cNvPr>
          <p:cNvSpPr/>
          <p:nvPr/>
        </p:nvSpPr>
        <p:spPr>
          <a:xfrm>
            <a:off x="7050297" y="3455429"/>
            <a:ext cx="166934" cy="174171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A5912CF-46CA-4259-B0B0-18EE92991274}"/>
              </a:ext>
            </a:extLst>
          </p:cNvPr>
          <p:cNvSpPr/>
          <p:nvPr/>
        </p:nvSpPr>
        <p:spPr>
          <a:xfrm>
            <a:off x="7050297" y="4093030"/>
            <a:ext cx="166934" cy="174171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CDB7031-FE35-4D9B-A6ED-837E5B33F6CD}"/>
              </a:ext>
            </a:extLst>
          </p:cNvPr>
          <p:cNvSpPr/>
          <p:nvPr/>
        </p:nvSpPr>
        <p:spPr>
          <a:xfrm>
            <a:off x="7050297" y="4509792"/>
            <a:ext cx="166934" cy="174171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54147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Are node embeddings robust to</a:t>
            </a:r>
            <a:br>
              <a:rPr lang="en-US" sz="3200" b="1" dirty="0">
                <a:solidFill>
                  <a:srgbClr val="13294B"/>
                </a:solidFill>
                <a:latin typeface="Georgia" charset="0"/>
              </a:rPr>
            </a:br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adversarial attacks?</a:t>
            </a:r>
            <a:endParaRPr lang="en-US" sz="3200" dirty="0">
              <a:solidFill>
                <a:srgbClr val="13294B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0999" y="1600200"/>
            <a:ext cx="7892143" cy="4338781"/>
          </a:xfrm>
        </p:spPr>
        <p:txBody>
          <a:bodyPr/>
          <a:lstStyle/>
          <a:p>
            <a:r>
              <a:rPr lang="en-US" sz="24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Plain network (undirected, unweighted network)</a:t>
            </a:r>
          </a:p>
          <a:p>
            <a:pPr lvl="1"/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Graph structure attack: </a:t>
            </a:r>
            <a:r>
              <a:rPr lang="en-US" sz="2000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add/remove edges </a:t>
            </a:r>
            <a:r>
              <a:rPr lang="en-US" sz="2000" dirty="0">
                <a:latin typeface="Calibri" charset="0"/>
                <a:ea typeface="Calibri" charset="0"/>
                <a:cs typeface="Calibri" charset="0"/>
              </a:rPr>
              <a:t>(limited budget)</a:t>
            </a:r>
          </a:p>
          <a:p>
            <a:pPr lvl="1"/>
            <a:endParaRPr lang="en-US" sz="2000" dirty="0">
              <a:solidFill>
                <a:srgbClr val="FF0000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2000" dirty="0">
              <a:solidFill>
                <a:srgbClr val="FF0000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2000" dirty="0">
              <a:solidFill>
                <a:srgbClr val="FF0000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2000" dirty="0">
              <a:solidFill>
                <a:srgbClr val="FF0000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endParaRPr lang="en-US" sz="2000" dirty="0">
              <a:solidFill>
                <a:srgbClr val="FF0000"/>
              </a:solidFill>
              <a:latin typeface="Calibri" charset="0"/>
              <a:ea typeface="Calibri" charset="0"/>
              <a:cs typeface="Calibri" charset="0"/>
            </a:endParaRPr>
          </a:p>
          <a:p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 Questions:</a:t>
            </a:r>
          </a:p>
          <a:p>
            <a:pPr lvl="1"/>
            <a:r>
              <a:rPr lang="en-US" sz="2000" dirty="0">
                <a:latin typeface="Calibri" charset="0"/>
                <a:ea typeface="Calibri" charset="0"/>
                <a:cs typeface="Calibri" charset="0"/>
              </a:rPr>
              <a:t>Q1: How is the overall </a:t>
            </a:r>
            <a:r>
              <a:rPr lang="en-US" sz="2000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embedding quality </a:t>
            </a:r>
            <a:r>
              <a:rPr lang="en-US" sz="2000" dirty="0">
                <a:latin typeface="Calibri" charset="0"/>
                <a:ea typeface="Calibri" charset="0"/>
                <a:cs typeface="Calibri" charset="0"/>
              </a:rPr>
              <a:t>affected by adversarial attack?</a:t>
            </a:r>
          </a:p>
          <a:p>
            <a:pPr lvl="1"/>
            <a:r>
              <a:rPr lang="en-US" sz="2000" dirty="0">
                <a:latin typeface="Calibri" charset="0"/>
                <a:ea typeface="Calibri" charset="0"/>
                <a:cs typeface="Calibri" charset="0"/>
              </a:rPr>
              <a:t>Q2: How do these attacks affect the downstream tasks?</a:t>
            </a:r>
          </a:p>
          <a:p>
            <a:pPr lvl="1"/>
            <a:endParaRPr lang="en-US" sz="16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7</a:t>
            </a:fld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F8EFC3-C76D-43F4-91ED-0AB1BEF30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58" y="2670129"/>
            <a:ext cx="6624735" cy="128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70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Poisoning attack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</p:spPr>
            <p:txBody>
              <a:bodyPr/>
              <a:lstStyle/>
              <a:p>
                <a:r>
                  <a:rPr lang="en-US" sz="2400" dirty="0">
                    <a:solidFill>
                      <a:srgbClr val="13294B"/>
                    </a:solidFill>
                    <a:latin typeface="Calibri" charset="0"/>
                    <a:ea typeface="Calibri" charset="0"/>
                    <a:cs typeface="Calibri" charset="0"/>
                  </a:rPr>
                  <a:t>Objective: attack the node embedding quality</a:t>
                </a:r>
              </a:p>
              <a:p>
                <a:pPr lvl="1"/>
                <a:r>
                  <a:rPr lang="en-US" sz="2000" dirty="0">
                    <a:solidFill>
                      <a:srgbClr val="13294B"/>
                    </a:solidFill>
                    <a:latin typeface="Calibri" charset="0"/>
                    <a:ea typeface="Calibri" charset="0"/>
                    <a:cs typeface="Calibri" charset="0"/>
                  </a:rPr>
                  <a:t>The quality of node embedding is measured by the loss function of the model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ℒ</m:t>
                    </m:r>
                    <m:d>
                      <m:dPr>
                        <m:ctrlPr>
                          <a:rPr lang="en-US" sz="200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𝐴</m:t>
                        </m:r>
                        <m:r>
                          <a:rPr lang="en-US" sz="20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𝑍</m:t>
                        </m:r>
                      </m:e>
                    </m:d>
                  </m:oMath>
                </a14:m>
                <a:endParaRPr lang="en-US" sz="20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endParaRPr>
              </a:p>
              <a:p>
                <a:pPr lvl="1"/>
                <a:r>
                  <a:rPr lang="en-US" sz="2000" dirty="0">
                    <a:solidFill>
                      <a:srgbClr val="13294B"/>
                    </a:solidFill>
                    <a:ea typeface="Cambria Math" panose="02040503050406030204" pitchFamily="18" charset="0"/>
                    <a:cs typeface="Calibri" charset="0"/>
                  </a:rPr>
                  <a:t>E.g., the loss function of </a:t>
                </a:r>
                <a:r>
                  <a:rPr lang="en-US" sz="2000" dirty="0" err="1">
                    <a:solidFill>
                      <a:srgbClr val="13294B"/>
                    </a:solidFill>
                    <a:ea typeface="Cambria Math" panose="02040503050406030204" pitchFamily="18" charset="0"/>
                    <a:cs typeface="Calibri" charset="0"/>
                  </a:rPr>
                  <a:t>DeepWalk</a:t>
                </a:r>
                <a:r>
                  <a:rPr lang="en-US" sz="2000" dirty="0">
                    <a:solidFill>
                      <a:srgbClr val="13294B"/>
                    </a:solidFill>
                    <a:ea typeface="Cambria Math" panose="02040503050406030204" pitchFamily="18" charset="0"/>
                    <a:cs typeface="Calibri" charset="0"/>
                  </a:rPr>
                  <a:t> is</a:t>
                </a:r>
              </a:p>
              <a:p>
                <a:pPr lvl="1"/>
                <a:endParaRPr lang="en-US" sz="500" dirty="0">
                  <a:solidFill>
                    <a:srgbClr val="13294B"/>
                  </a:solidFill>
                  <a:ea typeface="Cambria Math" panose="02040503050406030204" pitchFamily="18" charset="0"/>
                  <a:cs typeface="Calibri" charset="0"/>
                </a:endParaRPr>
              </a:p>
              <a:p>
                <a:pPr lvl="1"/>
                <a:endParaRPr lang="en-US" sz="100" dirty="0">
                  <a:solidFill>
                    <a:srgbClr val="13294B"/>
                  </a:solidFill>
                  <a:ea typeface="Cambria Math" panose="02040503050406030204" pitchFamily="18" charset="0"/>
                  <a:cs typeface="Calibri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ℒ</m:t>
                      </m:r>
                      <m:d>
                        <m:dPr>
                          <m:ctrlPr>
                            <a:rPr lang="en-US" sz="200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𝐴</m:t>
                          </m:r>
                          <m:r>
                            <a:rPr lang="en-US" sz="20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𝑍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=−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log</m:t>
                          </m:r>
                        </m:fName>
                        <m:e>
                          <m:r>
                            <a:rPr lang="en-US" sz="20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𝑃𝑟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000" b="0" i="1" smtClean="0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,  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𝑢</m:t>
                          </m:r>
                          <m:r>
                            <a:rPr lang="en-US" sz="20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𝑣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~</m:t>
                      </m:r>
                      <m:r>
                        <a:rPr lang="en-US" sz="2000" b="0" i="1" smtClean="0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𝑅𝑊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endParaRPr>
              </a:p>
              <a:p>
                <a:endParaRPr lang="en-US" sz="2400" dirty="0">
                  <a:solidFill>
                    <a:srgbClr val="13294B"/>
                  </a:solidFill>
                  <a:latin typeface="Calibri" charset="0"/>
                  <a:ea typeface="Calibri" charset="0"/>
                  <a:cs typeface="Calibri" charset="0"/>
                </a:endParaRPr>
              </a:p>
              <a:p>
                <a:r>
                  <a:rPr lang="en-US" sz="2400" dirty="0">
                    <a:solidFill>
                      <a:srgbClr val="13294B"/>
                    </a:solidFill>
                    <a:latin typeface="Calibri" charset="0"/>
                    <a:ea typeface="Calibri" charset="0"/>
                    <a:cs typeface="Calibri" charset="0"/>
                  </a:rPr>
                  <a:t>Bi-level optimization problem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  <a:blipFill>
                <a:blip r:embed="rId3"/>
                <a:stretch>
                  <a:fillRect l="-1004" t="-1125" r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8</a:t>
            </a:fld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749793-90CC-49EB-9E96-E134840C167F}"/>
                  </a:ext>
                </a:extLst>
              </p:cNvPr>
              <p:cNvSpPr txBox="1"/>
              <p:nvPr/>
            </p:nvSpPr>
            <p:spPr>
              <a:xfrm>
                <a:off x="4696402" y="12440"/>
                <a:ext cx="3687933" cy="160043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1400" i="1" dirty="0"/>
                  <a:t>Notation: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i="1" dirty="0"/>
                  <a:t>: input network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400" i="1" dirty="0"/>
                  <a:t>: adjacent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′∈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400" i="1" dirty="0"/>
                  <a:t>: poisoned adjacent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400" i="1" dirty="0"/>
                  <a:t>: node embedding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400" i="1" dirty="0"/>
                  <a:t>: node embedding of node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14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𝑅𝑊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i="1" dirty="0"/>
                  <a:t>: random walk sentences from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749793-90CC-49EB-9E96-E134840C1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402" y="12440"/>
                <a:ext cx="3687933" cy="1600438"/>
              </a:xfrm>
              <a:prstGeom prst="rect">
                <a:avLst/>
              </a:prstGeom>
              <a:blipFill>
                <a:blip r:embed="rId4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CEAC984-EAEA-498C-BCEA-670D141135B5}"/>
              </a:ext>
            </a:extLst>
          </p:cNvPr>
          <p:cNvSpPr/>
          <p:nvPr/>
        </p:nvSpPr>
        <p:spPr>
          <a:xfrm>
            <a:off x="2327469" y="4193637"/>
            <a:ext cx="328968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The graph after perturbing some edges 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83ED5B3-A21F-424B-873F-B3757E589D92}"/>
              </a:ext>
            </a:extLst>
          </p:cNvPr>
          <p:cNvSpPr/>
          <p:nvPr/>
        </p:nvSpPr>
        <p:spPr>
          <a:xfrm>
            <a:off x="3872413" y="4482754"/>
            <a:ext cx="102426" cy="257200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1E66CB4-C050-41C3-8576-FB931CEC86A4}"/>
                  </a:ext>
                </a:extLst>
              </p:cNvPr>
              <p:cNvSpPr/>
              <p:nvPr/>
            </p:nvSpPr>
            <p:spPr>
              <a:xfrm>
                <a:off x="3575196" y="6417182"/>
                <a:ext cx="3509411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b="1" dirty="0">
                    <a:solidFill>
                      <a:srgbClr val="FF0000"/>
                    </a:solidFill>
                  </a:rPr>
                  <a:t>The optimal embedding from the graph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1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1E66CB4-C050-41C3-8576-FB931CEC86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196" y="6417182"/>
                <a:ext cx="3509411" cy="276999"/>
              </a:xfrm>
              <a:prstGeom prst="rect">
                <a:avLst/>
              </a:prstGeom>
              <a:blipFill>
                <a:blip r:embed="rId5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Down 11">
            <a:extLst>
              <a:ext uri="{FF2B5EF4-FFF2-40B4-BE49-F238E27FC236}">
                <a16:creationId xmlns:a16="http://schemas.microsoft.com/office/drawing/2014/main" id="{8CBA5AB6-6630-49AF-BBE0-517A23258518}"/>
              </a:ext>
            </a:extLst>
          </p:cNvPr>
          <p:cNvSpPr/>
          <p:nvPr/>
        </p:nvSpPr>
        <p:spPr>
          <a:xfrm rot="10800000">
            <a:off x="4988975" y="5051258"/>
            <a:ext cx="102428" cy="1365924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A1C82D7D-1318-42F6-96F6-1B3BAA58064B}"/>
              </a:ext>
            </a:extLst>
          </p:cNvPr>
          <p:cNvSpPr/>
          <p:nvPr/>
        </p:nvSpPr>
        <p:spPr>
          <a:xfrm rot="10800000">
            <a:off x="2702980" y="5545782"/>
            <a:ext cx="102427" cy="211609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F866C10-E8A0-4B35-B021-074FF133C034}"/>
                  </a:ext>
                </a:extLst>
              </p:cNvPr>
              <p:cNvSpPr/>
              <p:nvPr/>
            </p:nvSpPr>
            <p:spPr>
              <a:xfrm>
                <a:off x="381000" y="5736048"/>
                <a:ext cx="419100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b="1" dirty="0">
                    <a:solidFill>
                      <a:srgbClr val="FF0000"/>
                    </a:solidFill>
                  </a:rPr>
                  <a:t>Constraint: fixed number of flips (user-defined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sz="1200" b="1" dirty="0">
                    <a:solidFill>
                      <a:srgbClr val="FF0000"/>
                    </a:solidFill>
                  </a:rPr>
                  <a:t>)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F866C10-E8A0-4B35-B021-074FF133C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736048"/>
                <a:ext cx="4191000" cy="276999"/>
              </a:xfrm>
              <a:prstGeom prst="rect">
                <a:avLst/>
              </a:prstGeom>
              <a:blipFill>
                <a:blip r:embed="rId7"/>
                <a:stretch>
                  <a:fillRect l="-146" t="-4444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99D0E5-AE84-4071-94F5-441AE3E7011A}"/>
                  </a:ext>
                </a:extLst>
              </p:cNvPr>
              <p:cNvSpPr txBox="1"/>
              <p:nvPr/>
            </p:nvSpPr>
            <p:spPr>
              <a:xfrm>
                <a:off x="1555208" y="4757745"/>
                <a:ext cx="5529399" cy="4230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p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0,1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arg</m:t>
                                  </m:r>
                                </m:fName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min</m:t>
                                          </m:r>
                                        </m:e>
                                        <m:li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ℒ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99D0E5-AE84-4071-94F5-441AE3E70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208" y="4757745"/>
                <a:ext cx="5529399" cy="423001"/>
              </a:xfrm>
              <a:prstGeom prst="rect">
                <a:avLst/>
              </a:prstGeom>
              <a:blipFill>
                <a:blip r:embed="rId8"/>
                <a:stretch>
                  <a:fillRect l="-441"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B854C1-DCAD-4C31-9ADF-F4FC1D50548D}"/>
                  </a:ext>
                </a:extLst>
              </p:cNvPr>
              <p:cNvSpPr txBox="1"/>
              <p:nvPr/>
            </p:nvSpPr>
            <p:spPr>
              <a:xfrm>
                <a:off x="1564534" y="5272066"/>
                <a:ext cx="29040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B854C1-DCAD-4C31-9ADF-F4FC1D505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534" y="5272066"/>
                <a:ext cx="2904064" cy="276999"/>
              </a:xfrm>
              <a:prstGeom prst="rect">
                <a:avLst/>
              </a:prstGeom>
              <a:blipFill>
                <a:blip r:embed="rId9"/>
                <a:stretch>
                  <a:fillRect l="-630" t="-2222" r="-1891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6810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Challenges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9</a:t>
            </a:fld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749793-90CC-49EB-9E96-E134840C167F}"/>
                  </a:ext>
                </a:extLst>
              </p:cNvPr>
              <p:cNvSpPr txBox="1"/>
              <p:nvPr/>
            </p:nvSpPr>
            <p:spPr>
              <a:xfrm>
                <a:off x="4696402" y="12440"/>
                <a:ext cx="3789051" cy="160043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1400" i="1" dirty="0"/>
                  <a:t>Notation: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i="1" dirty="0"/>
                  <a:t>: input network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400" i="1" dirty="0"/>
                  <a:t>: adjacent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400" i="1" dirty="0"/>
                  <a:t>: poisoned adjacent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400" i="1" dirty="0"/>
                  <a:t>: node embedding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400" i="1" dirty="0"/>
                  <a:t>: node embedding of node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14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𝑅𝑊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i="1" dirty="0"/>
                  <a:t>: random walk sentences from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749793-90CC-49EB-9E96-E134840C1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402" y="12440"/>
                <a:ext cx="3789051" cy="1600438"/>
              </a:xfrm>
              <a:prstGeom prst="rect">
                <a:avLst/>
              </a:prstGeom>
              <a:blipFill>
                <a:blip r:embed="rId3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F22733-21D1-40B7-9DAB-71CD21CB45B2}"/>
                  </a:ext>
                </a:extLst>
              </p:cNvPr>
              <p:cNvSpPr txBox="1"/>
              <p:nvPr/>
            </p:nvSpPr>
            <p:spPr>
              <a:xfrm>
                <a:off x="870858" y="2592280"/>
                <a:ext cx="3981667" cy="875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eqArr>
                                    <m:eqArrPr>
                                      <m:ctrlPr>
                                        <a:rPr lang="en-US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{"/>
                                              <m:endChr m:val="}"/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0,1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×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p>
                                      </m:sSup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b="0" i="1" smtClean="0">
                                                          <a:solidFill>
                                                            <a:schemeClr val="tx2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2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𝐴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2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e>
                                              </m:d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=2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eqArr>
                                    </m:e>
                                  </m:eqAr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𝑅𝑊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F22733-21D1-40B7-9DAB-71CD21CB4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58" y="2592280"/>
                <a:ext cx="3981667" cy="875176"/>
              </a:xfrm>
              <a:prstGeom prst="rect">
                <a:avLst/>
              </a:prstGeom>
              <a:blipFill>
                <a:blip r:embed="rId4"/>
                <a:stretch>
                  <a:fillRect t="-1449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3CF70D2-18A4-4E3A-A49C-DEBE6E11BA0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17406" y="2909700"/>
            <a:ext cx="2027854" cy="2005871"/>
          </a:xfrm>
          <a:prstGeom prst="bentConnector3">
            <a:avLst/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313F9AA-A4D2-4F5D-8EA6-834DFFAD7824}"/>
              </a:ext>
            </a:extLst>
          </p:cNvPr>
          <p:cNvSpPr/>
          <p:nvPr/>
        </p:nvSpPr>
        <p:spPr>
          <a:xfrm>
            <a:off x="870857" y="4350014"/>
            <a:ext cx="64567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C1: Combinatorial search space. 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C2: Bi-level optimization problem. </a:t>
            </a:r>
          </a:p>
          <a:p>
            <a:r>
              <a:rPr lang="en-US" dirty="0">
                <a:solidFill>
                  <a:srgbClr val="00B050"/>
                </a:solidFill>
              </a:rPr>
              <a:t>C3: Inner optimization includes non-differentiable sampling.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9A8961-4CE5-40A5-9406-7EE2F537E77D}"/>
              </a:ext>
            </a:extLst>
          </p:cNvPr>
          <p:cNvSpPr/>
          <p:nvPr/>
        </p:nvSpPr>
        <p:spPr>
          <a:xfrm>
            <a:off x="2572918" y="2043391"/>
            <a:ext cx="25955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/>
              <a:t>The loss function of DeepWalk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EB745D2-4EA6-4E92-A31D-93AB98631EC3}"/>
              </a:ext>
            </a:extLst>
          </p:cNvPr>
          <p:cNvSpPr/>
          <p:nvPr/>
        </p:nvSpPr>
        <p:spPr>
          <a:xfrm>
            <a:off x="3617377" y="2336714"/>
            <a:ext cx="102426" cy="257200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2F65447B-0AEC-4799-9482-1C62526CE286}"/>
              </a:ext>
            </a:extLst>
          </p:cNvPr>
          <p:cNvCxnSpPr>
            <a:cxnSpLocks/>
            <a:endCxn id="23" idx="1"/>
          </p:cNvCxnSpPr>
          <p:nvPr/>
        </p:nvCxnSpPr>
        <p:spPr>
          <a:xfrm rot="5400000">
            <a:off x="258785" y="3538374"/>
            <a:ext cx="1885378" cy="661233"/>
          </a:xfrm>
          <a:prstGeom prst="bentConnector4">
            <a:avLst>
              <a:gd name="adj1" fmla="val 37757"/>
              <a:gd name="adj2" fmla="val 134572"/>
            </a:avLst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B852081-BFED-41A9-9D27-2DD6CCA9AF5A}"/>
              </a:ext>
            </a:extLst>
          </p:cNvPr>
          <p:cNvCxnSpPr/>
          <p:nvPr/>
        </p:nvCxnSpPr>
        <p:spPr>
          <a:xfrm>
            <a:off x="2226905" y="3576737"/>
            <a:ext cx="0" cy="78999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593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Solutions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10</a:t>
            </a:fld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AC1A8-C252-4E68-999F-2A6B29F43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98" y="3528590"/>
            <a:ext cx="6702776" cy="1756186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5EB7AB-C535-4F63-8D29-A7215BA2B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600200"/>
            <a:ext cx="7892143" cy="4338781"/>
          </a:xfrm>
        </p:spPr>
        <p:txBody>
          <a:bodyPr/>
          <a:lstStyle/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Reduce the bi-level problem to a single-level problem (Target C2 &amp; C3)</a:t>
            </a:r>
          </a:p>
          <a:p>
            <a:pPr lvl="1"/>
            <a:r>
              <a:rPr lang="en-US" sz="16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DeepWalk as matrix factorization</a:t>
            </a:r>
          </a:p>
          <a:p>
            <a:pPr lvl="1"/>
            <a:r>
              <a:rPr lang="en-US" sz="16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Express the optimal via the graph spectrum</a:t>
            </a:r>
          </a:p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Approximate the poisoned graph’s spectrum (Target C1)</a:t>
            </a:r>
          </a:p>
          <a:p>
            <a:endParaRPr lang="en-US" sz="2000" dirty="0">
              <a:solidFill>
                <a:srgbClr val="13294B"/>
              </a:solidFill>
              <a:latin typeface="Calibri" charset="0"/>
              <a:ea typeface="Calibri" charset="0"/>
              <a:cs typeface="Calibri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419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Reduce the bi-level problem to a single-level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11</a:t>
            </a:fld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F8F30B-7B84-4816-BFCA-3F0483935B99}"/>
              </a:ext>
            </a:extLst>
          </p:cNvPr>
          <p:cNvSpPr/>
          <p:nvPr/>
        </p:nvSpPr>
        <p:spPr>
          <a:xfrm>
            <a:off x="1" y="6461257"/>
            <a:ext cx="8358551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Jiezhong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Qiu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Yuxiao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 Dong, Hao Ma, Jian Li,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Kuansan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 Wang, and </a:t>
            </a:r>
            <a:r>
              <a:rPr 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Jie</a:t>
            </a:r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 Tang. "Network embedding as matrix factorization: Unifying DeepWalk, line, PTE, and node2vec." In Proceedings of the Eleventh ACM International Conference on Web Search and Data Mining, pp. 459-467. ACM, 2018.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5EB7AB-C535-4F63-8D29-A7215BA2B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600200"/>
            <a:ext cx="7892143" cy="4338781"/>
          </a:xfrm>
        </p:spPr>
        <p:txBody>
          <a:bodyPr/>
          <a:lstStyle/>
          <a:p>
            <a:r>
              <a:rPr lang="en-US" sz="2000" dirty="0">
                <a:solidFill>
                  <a:srgbClr val="13294B"/>
                </a:solidFill>
                <a:latin typeface="Calibri" charset="0"/>
                <a:ea typeface="Calibri" charset="0"/>
                <a:cs typeface="Calibri" charset="0"/>
              </a:rPr>
              <a:t>DeepWalk corresponds to factorizing the PPMI (Positive Pointwise Mutual Information) matrix.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408716-765C-4E0A-A19B-D20581D73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11" y="2357983"/>
            <a:ext cx="4223703" cy="19403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C3721C-35FA-4833-A118-3214B27B3272}"/>
                  </a:ext>
                </a:extLst>
              </p:cNvPr>
              <p:cNvSpPr txBox="1"/>
              <p:nvPr/>
            </p:nvSpPr>
            <p:spPr>
              <a:xfrm>
                <a:off x="4783486" y="4590657"/>
                <a:ext cx="3563283" cy="186499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1400" i="1" dirty="0"/>
                  <a:t>Notation: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i="1" dirty="0"/>
                  <a:t>: input network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400" i="1" dirty="0"/>
                  <a:t>: adjacent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400" i="1" dirty="0"/>
                  <a:t>: diagonal degree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sz="14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𝑣𝑜𝑙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1400" i="1" dirty="0"/>
                  <a:t>: volume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𝑣𝑜𝑙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sz="14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400" i="1" dirty="0"/>
                  <a:t>: node embedding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400" i="1" dirty="0"/>
                  <a:t>: length of random walk sentences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400" i="1" dirty="0"/>
                  <a:t>: number of negative samples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C3721C-35FA-4833-A118-3214B27B3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486" y="4590657"/>
                <a:ext cx="3563283" cy="1864998"/>
              </a:xfrm>
              <a:prstGeom prst="rect">
                <a:avLst/>
              </a:prstGeom>
              <a:blipFill>
                <a:blip r:embed="rId4"/>
                <a:stretch>
                  <a:fillRect l="-170" t="-323" r="-6122"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Down 10">
            <a:extLst>
              <a:ext uri="{FF2B5EF4-FFF2-40B4-BE49-F238E27FC236}">
                <a16:creationId xmlns:a16="http://schemas.microsoft.com/office/drawing/2014/main" id="{0922D9C4-AAA7-4067-BD4A-9C540F420281}"/>
              </a:ext>
            </a:extLst>
          </p:cNvPr>
          <p:cNvSpPr/>
          <p:nvPr/>
        </p:nvSpPr>
        <p:spPr>
          <a:xfrm rot="5400000">
            <a:off x="4569101" y="4065211"/>
            <a:ext cx="102427" cy="211609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D3ABF5-5954-49C1-835E-474858B4B570}"/>
              </a:ext>
            </a:extLst>
          </p:cNvPr>
          <p:cNvSpPr/>
          <p:nvPr/>
        </p:nvSpPr>
        <p:spPr>
          <a:xfrm>
            <a:off x="4783541" y="4026903"/>
            <a:ext cx="18023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Optimal embedding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444506-0CAB-4BBC-A934-B69D596C7DE6}"/>
              </a:ext>
            </a:extLst>
          </p:cNvPr>
          <p:cNvCxnSpPr/>
          <p:nvPr/>
        </p:nvCxnSpPr>
        <p:spPr>
          <a:xfrm flipH="1">
            <a:off x="4248539" y="6071115"/>
            <a:ext cx="646922" cy="1181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A1998F8-738A-4804-AD7E-792BAB70618A}"/>
              </a:ext>
            </a:extLst>
          </p:cNvPr>
          <p:cNvCxnSpPr>
            <a:cxnSpLocks/>
          </p:cNvCxnSpPr>
          <p:nvPr/>
        </p:nvCxnSpPr>
        <p:spPr>
          <a:xfrm flipH="1" flipV="1">
            <a:off x="4254759" y="6195523"/>
            <a:ext cx="646922" cy="816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EA0A6C5-FCAA-421D-A777-B68FAFB89E8D}"/>
              </a:ext>
            </a:extLst>
          </p:cNvPr>
          <p:cNvSpPr/>
          <p:nvPr/>
        </p:nvSpPr>
        <p:spPr>
          <a:xfrm>
            <a:off x="1667062" y="6052519"/>
            <a:ext cx="266233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Hyperparameters in DeepWalk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4B6FA248-4C0A-4119-8D4E-37DF4B5610E5}"/>
              </a:ext>
            </a:extLst>
          </p:cNvPr>
          <p:cNvSpPr/>
          <p:nvPr/>
        </p:nvSpPr>
        <p:spPr>
          <a:xfrm rot="5400000">
            <a:off x="5057400" y="3825726"/>
            <a:ext cx="102427" cy="211609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DE2072-FB59-4CC2-B9CE-C66AD550578F}"/>
              </a:ext>
            </a:extLst>
          </p:cNvPr>
          <p:cNvSpPr/>
          <p:nvPr/>
        </p:nvSpPr>
        <p:spPr>
          <a:xfrm>
            <a:off x="5271840" y="3787418"/>
            <a:ext cx="262807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Embedding dimensionality</a:t>
            </a:r>
          </a:p>
        </p:txBody>
      </p:sp>
    </p:spTree>
    <p:extLst>
      <p:ext uri="{BB962C8B-B14F-4D97-AF65-F5344CB8AC3E}">
        <p14:creationId xmlns:p14="http://schemas.microsoft.com/office/powerpoint/2010/main" val="1458753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Reduce the bi-level problem to a single-level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12</a:t>
            </a:fld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</p:spPr>
            <p:txBody>
              <a:bodyPr/>
              <a:lstStyle/>
              <a:p>
                <a:r>
                  <a:rPr lang="en-US" sz="2000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Express the optimal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1329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ℒ</m:t>
                    </m:r>
                    <m:d>
                      <m:dPr>
                        <m:ctrlPr>
                          <a:rPr lang="en-US" sz="200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𝐴</m:t>
                        </m:r>
                        <m:r>
                          <a:rPr lang="en-US" sz="20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 via the graph spectrum</a:t>
                </a:r>
              </a:p>
              <a:p>
                <a:endParaRPr lang="en-US" sz="500" dirty="0">
                  <a:solidFill>
                    <a:srgbClr val="13294B"/>
                  </a:solidFill>
                  <a:latin typeface="Calibri" charset="0"/>
                  <a:cs typeface="Calibri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ℒ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𝐷𝑊</m:t>
                          </m:r>
                          <m:r>
                            <a:rPr lang="en-US" sz="18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𝐴</m:t>
                          </m:r>
                          <m:r>
                            <a:rPr lang="en-US" sz="18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8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𝑀</m:t>
                                  </m:r>
                                </m:e>
                              </m:acc>
                              <m:r>
                                <a:rPr lang="en-US" sz="18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8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𝐾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18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𝐹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=</m:t>
                      </m:r>
                      <m:sSup>
                        <m:sSupPr>
                          <m:ctrlPr>
                            <a:rPr lang="en-US" sz="18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0" i="1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18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8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𝑝</m:t>
                                  </m:r>
                                  <m:r>
                                    <a:rPr lang="en-US" sz="18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=</m:t>
                                  </m:r>
                                  <m:r>
                                    <a:rPr lang="en-US" sz="18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𝐾</m:t>
                                  </m:r>
                                  <m:r>
                                    <a:rPr lang="en-US" sz="18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𝑁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18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n-US" sz="18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18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US" sz="1800" dirty="0">
                  <a:solidFill>
                    <a:srgbClr val="13294B"/>
                  </a:solidFill>
                  <a:latin typeface="Calibri" charset="0"/>
                  <a:cs typeface="Calibri" charset="0"/>
                </a:endParaRPr>
              </a:p>
              <a:p>
                <a:endParaRPr lang="en-US" sz="500" dirty="0">
                  <a:solidFill>
                    <a:srgbClr val="13294B"/>
                  </a:solidFill>
                  <a:latin typeface="Calibri" charset="0"/>
                  <a:cs typeface="Calibri" charset="0"/>
                </a:endParaRPr>
              </a:p>
              <a:p>
                <a:pPr lvl="1"/>
                <a:r>
                  <a:rPr lang="en-US" sz="1600" dirty="0">
                    <a:solidFill>
                      <a:srgbClr val="00B050"/>
                    </a:solidFill>
                    <a:latin typeface="Calibri" charset="0"/>
                    <a:cs typeface="Calibri" charset="0"/>
                  </a:rPr>
                  <a:t>No need to construct random walks</a:t>
                </a:r>
              </a:p>
              <a:p>
                <a:pPr lvl="1"/>
                <a:r>
                  <a:rPr lang="en-US" sz="1600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No need to compute the optimal embeddings explicitly</a:t>
                </a:r>
              </a:p>
              <a:p>
                <a:endParaRPr lang="en-US" sz="1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  <a:blipFill>
                <a:blip r:embed="rId3"/>
                <a:stretch>
                  <a:fillRect l="-643" t="-7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4A02613-662A-F94F-87F5-17E7A3D0DB3F}"/>
                  </a:ext>
                </a:extLst>
              </p:cNvPr>
              <p:cNvSpPr txBox="1"/>
              <p:nvPr/>
            </p:nvSpPr>
            <p:spPr>
              <a:xfrm>
                <a:off x="2900959" y="5440182"/>
                <a:ext cx="5446940" cy="141327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1400" i="1" dirty="0"/>
                  <a:t>Notation: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400" i="1" dirty="0"/>
                  <a:t>: adjacent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400" i="1" dirty="0"/>
                  <a:t>: poisoned adjacent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r>
                  <a:rPr lang="en-US" sz="1400" i="1" dirty="0"/>
                  <a:t>: PPMI matrix induced by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4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e>
                      <m: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sz="1400" i="1" dirty="0">
                    <a:solidFill>
                      <a:srgbClr val="FF0000"/>
                    </a:solidFill>
                  </a:rPr>
                  <a:t>: best rank-K approximation 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endParaRPr lang="en-US" sz="1400" i="1" dirty="0">
                  <a:solidFill>
                    <a:srgbClr val="FF00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𝜎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400" i="1" dirty="0"/>
                  <a:t>: singular value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r>
                  <a:rPr lang="en-US" sz="1400" i="1" dirty="0"/>
                  <a:t> sorted decreasingly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≥⋯≥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1400" i="1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4A02613-662A-F94F-87F5-17E7A3D0D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0959" y="5440182"/>
                <a:ext cx="5446940" cy="1413272"/>
              </a:xfrm>
              <a:prstGeom prst="rect">
                <a:avLst/>
              </a:prstGeom>
              <a:blipFill>
                <a:blip r:embed="rId4"/>
                <a:stretch>
                  <a:fillRect l="-111" b="-12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0C8EB4-1718-E14B-83AB-1590E370188D}"/>
                  </a:ext>
                </a:extLst>
              </p:cNvPr>
              <p:cNvSpPr txBox="1"/>
              <p:nvPr/>
            </p:nvSpPr>
            <p:spPr>
              <a:xfrm>
                <a:off x="4544678" y="3673753"/>
                <a:ext cx="3697231" cy="11126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eqArr>
                                    <m:eqArr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{"/>
                                              <m:endChr m:val="}"/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0,1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×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p>
                                      </m:sSup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𝐴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e>
                                              </m:d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=2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eqArr>
                                    </m:e>
                                  </m:eqAr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limLoc m:val="subSup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5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solidFill>
                                                    <a:srgbClr val="13294B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libri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13294B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libri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13294B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libri" charset="0"/>
                                                </a:rPr>
                                                <m:t>𝑝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solidFill>
                                                    <a:srgbClr val="13294B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libri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1/2</m:t>
                                  </m:r>
                                </m:sup>
                              </m:sSup>
                            </m:e>
                          </m:func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0C8EB4-1718-E14B-83AB-1590E3701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678" y="3673753"/>
                <a:ext cx="3697231" cy="1112677"/>
              </a:xfrm>
              <a:prstGeom prst="rect">
                <a:avLst/>
              </a:prstGeom>
              <a:blipFill>
                <a:blip r:embed="rId5"/>
                <a:stretch>
                  <a:fillRect l="-685" t="-79775" b="-887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Arrow 2">
            <a:extLst>
              <a:ext uri="{FF2B5EF4-FFF2-40B4-BE49-F238E27FC236}">
                <a16:creationId xmlns:a16="http://schemas.microsoft.com/office/drawing/2014/main" id="{DFE608FA-3FE2-EB46-8622-5728E6679707}"/>
              </a:ext>
            </a:extLst>
          </p:cNvPr>
          <p:cNvSpPr/>
          <p:nvPr/>
        </p:nvSpPr>
        <p:spPr>
          <a:xfrm>
            <a:off x="3952286" y="4318732"/>
            <a:ext cx="668482" cy="455285"/>
          </a:xfrm>
          <a:prstGeom prst="rightArrow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FA33E9-801F-0845-ABC9-2EE96A5E130C}"/>
              </a:ext>
            </a:extLst>
          </p:cNvPr>
          <p:cNvSpPr/>
          <p:nvPr/>
        </p:nvSpPr>
        <p:spPr>
          <a:xfrm>
            <a:off x="685800" y="4922302"/>
            <a:ext cx="29474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Bi-level optimization problem</a:t>
            </a:r>
            <a:r>
              <a:rPr lang="en-US" sz="1400" b="1" dirty="0">
                <a:solidFill>
                  <a:srgbClr val="00B0F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1320E7A-654E-DD40-9456-52EC816663D9}"/>
                  </a:ext>
                </a:extLst>
              </p:cNvPr>
              <p:cNvSpPr txBox="1"/>
              <p:nvPr/>
            </p:nvSpPr>
            <p:spPr>
              <a:xfrm>
                <a:off x="163722" y="3909016"/>
                <a:ext cx="3848939" cy="875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eqArr>
                                    <m:eqArrPr>
                                      <m:ctrlPr>
                                        <a:rPr lang="en-US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{"/>
                                              <m:endChr m:val="}"/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0,1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×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p>
                                      </m:sSup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b="0" i="1" smtClean="0">
                                                          <a:solidFill>
                                                            <a:schemeClr val="tx2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2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𝐴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2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e>
                                              </m:d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=2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eqArr>
                                    </m:e>
                                  </m:eqAr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𝑅𝑊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1320E7A-654E-DD40-9456-52EC81666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22" y="3909016"/>
                <a:ext cx="3848939" cy="875176"/>
              </a:xfrm>
              <a:prstGeom prst="rect">
                <a:avLst/>
              </a:prstGeom>
              <a:blipFill>
                <a:blip r:embed="rId6"/>
                <a:stretch>
                  <a:fillRect l="-658"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06E9C84E-795B-1449-B388-A9497E50403C}"/>
              </a:ext>
            </a:extLst>
          </p:cNvPr>
          <p:cNvSpPr/>
          <p:nvPr/>
        </p:nvSpPr>
        <p:spPr>
          <a:xfrm>
            <a:off x="4910328" y="4928398"/>
            <a:ext cx="33095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Single-level optimization problem</a:t>
            </a:r>
            <a:r>
              <a:rPr lang="en-US" sz="1400" b="1" dirty="0">
                <a:solidFill>
                  <a:srgbClr val="00B0F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4492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sz="2800" b="1" dirty="0">
                <a:latin typeface="Georgia" charset="0"/>
              </a:rPr>
              <a:t>Challenges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13</a:t>
            </a:fld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749793-90CC-49EB-9E96-E134840C167F}"/>
                  </a:ext>
                </a:extLst>
              </p:cNvPr>
              <p:cNvSpPr txBox="1"/>
              <p:nvPr/>
            </p:nvSpPr>
            <p:spPr>
              <a:xfrm>
                <a:off x="4696402" y="12440"/>
                <a:ext cx="3789051" cy="160043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1400" i="1" dirty="0"/>
                  <a:t>Notation: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i="1" dirty="0"/>
                  <a:t>: input network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400" i="1" dirty="0"/>
                  <a:t>: adjacent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400" i="1" dirty="0"/>
                  <a:t>: poisoned adjacent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400" i="1" dirty="0"/>
                  <a:t>: node embedding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1400" i="1" dirty="0"/>
                  <a:t>: node embedding of node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14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𝑅𝑊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i="1" dirty="0"/>
                  <a:t>: random walk sentences from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749793-90CC-49EB-9E96-E134840C1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402" y="12440"/>
                <a:ext cx="3789051" cy="1600438"/>
              </a:xfrm>
              <a:prstGeom prst="rect">
                <a:avLst/>
              </a:prstGeom>
              <a:blipFill>
                <a:blip r:embed="rId3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F22733-21D1-40B7-9DAB-71CD21CB45B2}"/>
                  </a:ext>
                </a:extLst>
              </p:cNvPr>
              <p:cNvSpPr txBox="1"/>
              <p:nvPr/>
            </p:nvSpPr>
            <p:spPr>
              <a:xfrm>
                <a:off x="870858" y="2592280"/>
                <a:ext cx="3981667" cy="8751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eqArr>
                                    <m:eqArrPr>
                                      <m:ctrlPr>
                                        <a:rPr lang="en-US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{"/>
                                              <m:endChr m:val="}"/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0,1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×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p>
                                      </m:sSup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b="0" i="1" smtClean="0">
                                                          <a:solidFill>
                                                            <a:schemeClr val="tx2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2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𝐴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2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e>
                                              </m:d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=2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2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eqArr>
                                    </m:e>
                                  </m:eqAr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𝑅𝑊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F22733-21D1-40B7-9DAB-71CD21CB4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58" y="2592280"/>
                <a:ext cx="3981667" cy="875176"/>
              </a:xfrm>
              <a:prstGeom prst="rect">
                <a:avLst/>
              </a:prstGeom>
              <a:blipFill>
                <a:blip r:embed="rId4"/>
                <a:stretch>
                  <a:fillRect t="-1449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3CF70D2-18A4-4E3A-A49C-DEBE6E11BA0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17406" y="2909700"/>
            <a:ext cx="2027854" cy="2005871"/>
          </a:xfrm>
          <a:prstGeom prst="bentConnector3">
            <a:avLst/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313F9AA-A4D2-4F5D-8EA6-834DFFAD7824}"/>
              </a:ext>
            </a:extLst>
          </p:cNvPr>
          <p:cNvSpPr/>
          <p:nvPr/>
        </p:nvSpPr>
        <p:spPr>
          <a:xfrm>
            <a:off x="870857" y="4350014"/>
            <a:ext cx="64567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Garamond" panose="02020404030301010803" pitchFamily="18" charset="0"/>
              </a:rPr>
              <a:t>C1: Combinatorial search space. </a:t>
            </a:r>
            <a:endParaRPr lang="en-US" b="1" dirty="0">
              <a:solidFill>
                <a:srgbClr val="0070C0"/>
              </a:solidFill>
              <a:latin typeface="Garamond" panose="02020404030301010803" pitchFamily="18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Garamond" panose="02020404030301010803" pitchFamily="18" charset="0"/>
              </a:rPr>
              <a:t>C2: Bi-level optimization problem. </a:t>
            </a:r>
          </a:p>
          <a:p>
            <a:r>
              <a:rPr lang="en-US" b="1" dirty="0">
                <a:solidFill>
                  <a:srgbClr val="00B050"/>
                </a:solidFill>
                <a:latin typeface="Garamond" panose="02020404030301010803" pitchFamily="18" charset="0"/>
              </a:rPr>
              <a:t>C3: Inner optimization includes non-differentiable sampling.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9A8961-4CE5-40A5-9406-7EE2F537E77D}"/>
              </a:ext>
            </a:extLst>
          </p:cNvPr>
          <p:cNvSpPr/>
          <p:nvPr/>
        </p:nvSpPr>
        <p:spPr>
          <a:xfrm>
            <a:off x="2790632" y="2043391"/>
            <a:ext cx="221990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latin typeface="Garamond" panose="02020404030301010803" pitchFamily="18" charset="0"/>
              </a:rPr>
              <a:t>The loss function of DeepWalk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EB745D2-4EA6-4E92-A31D-93AB98631EC3}"/>
              </a:ext>
            </a:extLst>
          </p:cNvPr>
          <p:cNvSpPr/>
          <p:nvPr/>
        </p:nvSpPr>
        <p:spPr>
          <a:xfrm>
            <a:off x="3835091" y="2336714"/>
            <a:ext cx="102426" cy="257200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2F65447B-0AEC-4799-9482-1C62526CE286}"/>
              </a:ext>
            </a:extLst>
          </p:cNvPr>
          <p:cNvCxnSpPr>
            <a:cxnSpLocks/>
            <a:endCxn id="23" idx="1"/>
          </p:cNvCxnSpPr>
          <p:nvPr/>
        </p:nvCxnSpPr>
        <p:spPr>
          <a:xfrm rot="5400000">
            <a:off x="258785" y="3538374"/>
            <a:ext cx="1885378" cy="661233"/>
          </a:xfrm>
          <a:prstGeom prst="bentConnector4">
            <a:avLst>
              <a:gd name="adj1" fmla="val 37757"/>
              <a:gd name="adj2" fmla="val 134572"/>
            </a:avLst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B852081-BFED-41A9-9D27-2DD6CCA9AF5A}"/>
              </a:ext>
            </a:extLst>
          </p:cNvPr>
          <p:cNvCxnSpPr/>
          <p:nvPr/>
        </p:nvCxnSpPr>
        <p:spPr>
          <a:xfrm>
            <a:off x="2226905" y="3576737"/>
            <a:ext cx="0" cy="78999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30" name="Picture 6" descr="Image result for red check cartoon">
            <a:extLst>
              <a:ext uri="{FF2B5EF4-FFF2-40B4-BE49-F238E27FC236}">
                <a16:creationId xmlns:a16="http://schemas.microsoft.com/office/drawing/2014/main" id="{F9A9D3FB-146F-42C4-94A5-D33B3FBE5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402" y="4634235"/>
            <a:ext cx="472098" cy="347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Image result for red check cartoon">
            <a:extLst>
              <a:ext uri="{FF2B5EF4-FFF2-40B4-BE49-F238E27FC236}">
                <a16:creationId xmlns:a16="http://schemas.microsoft.com/office/drawing/2014/main" id="{9769E2E2-FAB4-48F9-B53E-424B2EB44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987" y="4913500"/>
            <a:ext cx="472098" cy="347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847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sz="2800" b="1" dirty="0">
                <a:latin typeface="Georgia" charset="0"/>
              </a:rPr>
              <a:t>Single-level optimization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14</a:t>
            </a:fld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</p:spPr>
            <p:txBody>
              <a:bodyPr/>
              <a:lstStyle/>
              <a:p>
                <a:r>
                  <a:rPr lang="en-US" sz="2400" dirty="0">
                    <a:solidFill>
                      <a:srgbClr val="13294B"/>
                    </a:solidFill>
                    <a:latin typeface="Garamond" panose="02020404030301010803" pitchFamily="18" charset="0"/>
                    <a:cs typeface="Calibri" charset="0"/>
                  </a:rPr>
                  <a:t>Objective: </a:t>
                </a:r>
                <a:r>
                  <a:rPr lang="en-US" sz="2400" dirty="0">
                    <a:solidFill>
                      <a:srgbClr val="13294B"/>
                    </a:solidFill>
                    <a:latin typeface="Garamond" panose="02020404030301010803" pitchFamily="18" charset="0"/>
                    <a:ea typeface="Calibri" charset="0"/>
                    <a:cs typeface="Calibri" charset="0"/>
                  </a:rPr>
                  <a:t>attack the node embedding quality</a:t>
                </a:r>
              </a:p>
              <a:p>
                <a:pPr lvl="1"/>
                <a:r>
                  <a:rPr lang="en-US" sz="2000" dirty="0">
                    <a:solidFill>
                      <a:srgbClr val="13294B"/>
                    </a:solidFill>
                    <a:latin typeface="Garamond" panose="02020404030301010803" pitchFamily="18" charset="0"/>
                    <a:ea typeface="Calibri" charset="0"/>
                    <a:cs typeface="Calibri" charset="0"/>
                  </a:rPr>
                  <a:t>The quality of node embedding is measured by the loss function of the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ℒ</m:t>
                        </m:r>
                      </m:e>
                      <m:sub>
                        <m:r>
                          <a:rPr lang="en-US" sz="200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𝐷𝑊</m:t>
                        </m:r>
                        <m:r>
                          <a:rPr lang="en-US" sz="200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𝐴</m:t>
                        </m:r>
                        <m:r>
                          <a:rPr lang="en-US" sz="20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′,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sz="200" dirty="0">
                  <a:solidFill>
                    <a:srgbClr val="13294B"/>
                  </a:solidFill>
                  <a:latin typeface="Garamond" panose="02020404030301010803" pitchFamily="18" charset="0"/>
                  <a:cs typeface="Calibri" charset="0"/>
                </a:endParaRPr>
              </a:p>
              <a:p>
                <a:endParaRPr lang="en-US" sz="1400" dirty="0">
                  <a:solidFill>
                    <a:srgbClr val="0070C0"/>
                  </a:solidFill>
                  <a:latin typeface="Garamond" panose="02020404030301010803" pitchFamily="18" charset="0"/>
                </a:endParaRPr>
              </a:p>
              <a:p>
                <a:endParaRPr lang="en-US" sz="1400" dirty="0">
                  <a:solidFill>
                    <a:srgbClr val="0070C0"/>
                  </a:solidFill>
                  <a:latin typeface="Garamond" panose="02020404030301010803" pitchFamily="18" charset="0"/>
                </a:endParaRPr>
              </a:p>
              <a:p>
                <a:endParaRPr lang="en-US" sz="1400" dirty="0">
                  <a:solidFill>
                    <a:srgbClr val="0070C0"/>
                  </a:solidFill>
                  <a:latin typeface="Garamond" panose="02020404030301010803" pitchFamily="18" charset="0"/>
                </a:endParaRPr>
              </a:p>
              <a:p>
                <a:endParaRPr lang="en-US" sz="1400" dirty="0">
                  <a:solidFill>
                    <a:srgbClr val="0070C0"/>
                  </a:solidFill>
                  <a:latin typeface="Garamond" panose="02020404030301010803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rgbClr val="0070C0"/>
                  </a:solidFill>
                  <a:latin typeface="Garamond" panose="02020404030301010803" pitchFamily="18" charset="0"/>
                </a:endParaRPr>
              </a:p>
              <a:p>
                <a:r>
                  <a:rPr lang="en-US" sz="2400" dirty="0">
                    <a:latin typeface="Garamond" panose="02020404030301010803" pitchFamily="18" charset="0"/>
                  </a:rPr>
                  <a:t>Optimization</a:t>
                </a:r>
              </a:p>
              <a:p>
                <a:pPr lvl="1"/>
                <a:r>
                  <a:rPr lang="en-US" sz="2000" dirty="0">
                    <a:latin typeface="Garamond" panose="02020404030301010803" pitchFamily="18" charset="0"/>
                  </a:rPr>
                  <a:t>Gradient-based optimization: discrete solution space</a:t>
                </a:r>
              </a:p>
              <a:p>
                <a:pPr lvl="1"/>
                <a:endParaRPr lang="en-US" sz="700" dirty="0">
                  <a:latin typeface="Garamond" panose="02020404030301010803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𝐷𝑊</m:t>
                          </m:r>
                          <m:r>
                            <a:rPr lang="en-US" sz="20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𝐴</m:t>
                          </m:r>
                          <m:r>
                            <a:rPr lang="en-US" sz="20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′,</m:t>
                          </m:r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>
                  <a:latin typeface="Garamond" panose="02020404030301010803" pitchFamily="18" charset="0"/>
                </a:endParaRPr>
              </a:p>
              <a:p>
                <a:pPr lvl="1"/>
                <a:r>
                  <a:rPr lang="en-US" sz="2000" dirty="0">
                    <a:latin typeface="Garamond" panose="02020404030301010803" pitchFamily="18" charset="0"/>
                  </a:rPr>
                  <a:t>Brute-force search: extremely time-consuming</a:t>
                </a: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  <a:blipFill>
                <a:blip r:embed="rId3"/>
                <a:stretch>
                  <a:fillRect l="-1004" t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0C8EB4-1718-E14B-83AB-1590E370188D}"/>
                  </a:ext>
                </a:extLst>
              </p:cNvPr>
              <p:cNvSpPr txBox="1"/>
              <p:nvPr/>
            </p:nvSpPr>
            <p:spPr>
              <a:xfrm>
                <a:off x="2146145" y="2772850"/>
                <a:ext cx="3433697" cy="1244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eqArr>
                                    <m:eqArr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{"/>
                                              <m:endChr m:val="}"/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0,1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×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p>
                                      </m:sSup>
                                    </m:e>
                                    <m:e>
                                      <m:eqArr>
                                        <m:eqArrPr>
                                          <m:ctrlP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p>
                                                    <m:sSupPr>
                                                      <m:ctrlPr>
                                                        <a:rPr lang="en-US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𝐴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en-US" b="0" i="1" smtClean="0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′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e>
                                              </m:d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=2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</m:e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𝐴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eqArr>
                                    </m:e>
                                  </m:eqAr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i="1">
                                              <a:solidFill>
                                                <a:srgbClr val="13294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i="1">
                                              <a:solidFill>
                                                <a:srgbClr val="13294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rgbClr val="13294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rgbClr val="13294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rgbClr val="13294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charset="0"/>
                                            </a:rPr>
                                            <m:t>+1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13294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charset="0"/>
                                            </a:rPr>
                                            <m:t>𝑁</m:t>
                                          </m:r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solidFill>
                                                    <a:srgbClr val="13294B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libri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13294B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libri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13294B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libri" charset="0"/>
                                                </a:rPr>
                                                <m:t>𝑝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solidFill>
                                                    <a:srgbClr val="13294B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libri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1/2</m:t>
                                  </m:r>
                                </m:sup>
                              </m:sSup>
                            </m:e>
                          </m:func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0C8EB4-1718-E14B-83AB-1590E3701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145" y="2772850"/>
                <a:ext cx="3433697" cy="1244636"/>
              </a:xfrm>
              <a:prstGeom prst="rect">
                <a:avLst/>
              </a:prstGeom>
              <a:blipFill>
                <a:blip r:embed="rId4"/>
                <a:stretch>
                  <a:fillRect l="-1107" t="-61616" b="-797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13FFAC8-A690-1C48-90F7-32175D794B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8201" y="4442413"/>
            <a:ext cx="1496568" cy="149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377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892142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Gradient-based Approach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15</a:t>
            </a:fld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</p:spPr>
            <p:txBody>
              <a:bodyPr/>
              <a:lstStyle/>
              <a:p>
                <a:r>
                  <a:rPr lang="en-US" sz="2000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Problem: cannot easily backpropagate through the SVD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ℒ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𝐷𝑊</m:t>
                          </m:r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𝐴</m:t>
                          </m:r>
                          <m:r>
                            <a:rPr lang="en-US" sz="16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′</m:t>
                          </m:r>
                          <m:r>
                            <a:rPr lang="en-US" sz="160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 </m:t>
                          </m:r>
                        </m:e>
                      </m:d>
                      <m:r>
                        <a:rPr lang="en-US" sz="16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𝑀</m:t>
                                  </m:r>
                                </m:e>
                              </m:acc>
                              <m:r>
                                <a:rPr lang="en-US" sz="1600" b="0" i="1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′</m:t>
                              </m:r>
                              <m: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  <m:r>
                                    <a:rPr lang="en-US" sz="1600" b="0" i="1" smtClean="0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𝐾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𝐹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2</m:t>
                          </m:r>
                        </m:sup>
                      </m:sSubSup>
                      <m:r>
                        <a:rPr lang="en-US" sz="16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16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6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𝑝</m:t>
                                  </m:r>
                                  <m:r>
                                    <a:rPr lang="en-US" sz="16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=</m:t>
                                  </m:r>
                                  <m:r>
                                    <a:rPr lang="en-US" sz="16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𝐾</m:t>
                                  </m:r>
                                  <m:r>
                                    <a:rPr lang="en-US" sz="16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𝑁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rgbClr val="13294B"/>
                  </a:solidFill>
                  <a:latin typeface="Calibri" charset="0"/>
                  <a:cs typeface="Calibri" charset="0"/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Calibri" charset="0"/>
                    <a:cs typeface="Calibri" charset="0"/>
                  </a:rPr>
                  <a:t>Solution: approximate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ℒ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𝐷𝑊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𝐴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′,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charset="0"/>
                    <a:cs typeface="Calibri" charset="0"/>
                  </a:rPr>
                  <a:t> </a:t>
                </a:r>
                <a:r>
                  <a:rPr lang="en-US" sz="2000" dirty="0">
                    <a:latin typeface="Calibri" charset="0"/>
                    <a:cs typeface="Calibri" charset="0"/>
                  </a:rPr>
                  <a:t>without needing to recompute the SVD</a:t>
                </a:r>
              </a:p>
              <a:p>
                <a:pPr lvl="1"/>
                <a:r>
                  <a:rPr lang="en-US" sz="1600" dirty="0">
                    <a:solidFill>
                      <a:schemeClr val="tx1"/>
                    </a:solidFill>
                    <a:latin typeface="Calibri" charset="0"/>
                    <a:cs typeface="Calibri" charset="0"/>
                  </a:rPr>
                  <a:t>Alternative loss function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ℒ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𝐷𝑊</m:t>
                          </m:r>
                          <m:r>
                            <a:rPr lang="en-US" sz="16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𝐴</m:t>
                          </m:r>
                          <m:r>
                            <a:rPr lang="en-US" sz="16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′</m:t>
                          </m:r>
                          <m:r>
                            <a:rPr lang="en-US" sz="160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 </m:t>
                          </m:r>
                        </m:e>
                      </m:d>
                      <m:r>
                        <a:rPr lang="en-US" sz="16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𝑝</m:t>
                          </m:r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=</m:t>
                          </m:r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𝐾</m:t>
                          </m:r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+1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smtClean="0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600" b="0" i="1" smtClean="0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1600" b="0" i="1" smtClean="0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b="0" i="1" smtClean="0">
                                              <a:solidFill>
                                                <a:srgbClr val="13294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13294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  <m:r>
                                        <a:rPr lang="en-US" sz="1600" b="0" i="1" smtClean="0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0" smtClean="0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Δ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b="0" i="1" smtClean="0">
                                              <a:solidFill>
                                                <a:srgbClr val="13294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0" i="1" smtClean="0">
                                              <a:solidFill>
                                                <a:srgbClr val="13294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1/2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Calibri" charset="0"/>
                  <a:cs typeface="Calibri" charset="0"/>
                </a:endParaRPr>
              </a:p>
              <a:p>
                <a:pPr lvl="1"/>
                <a:r>
                  <a:rPr lang="en-US" sz="1600" dirty="0">
                    <a:solidFill>
                      <a:schemeClr val="tx1"/>
                    </a:solidFill>
                    <a:latin typeface="Calibri" charset="0"/>
                    <a:cs typeface="Calibri" charset="0"/>
                  </a:rPr>
                  <a:t>Approximation:</a:t>
                </a:r>
              </a:p>
              <a:p>
                <a:pPr lvl="1"/>
                <a:endParaRPr lang="en-US" sz="500" dirty="0">
                  <a:solidFill>
                    <a:schemeClr val="tx1"/>
                  </a:solidFill>
                  <a:latin typeface="Calibri" charset="0"/>
                  <a:cs typeface="Calibri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𝐷𝑊</m:t>
                              </m:r>
                              <m:r>
                                <a:rPr lang="en-US" sz="1600" b="0" i="1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𝐴</m:t>
                              </m:r>
                              <m: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′ </m:t>
                              </m:r>
                            </m:e>
                          </m:d>
                          <m:r>
                            <a:rPr lang="en-US" sz="16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𝐷𝑊</m:t>
                              </m:r>
                              <m: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𝐴</m:t>
                              </m:r>
                              <m: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′ </m:t>
                              </m:r>
                            </m:e>
                          </m:d>
                        </m:e>
                      </m:d>
                      <m:r>
                        <a:rPr lang="en-US" sz="1600" i="1" smtClean="0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≤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600" i="1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Δ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𝑀</m:t>
                                  </m:r>
                                </m:e>
                              </m:acc>
                            </m:e>
                          </m:d>
                        </m:e>
                        <m:sub>
                          <m:r>
                            <a:rPr lang="en-US" sz="16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Calibri" charset="0"/>
                  <a:cs typeface="Calibri" charset="0"/>
                </a:endParaRPr>
              </a:p>
              <a:p>
                <a:pPr lvl="1"/>
                <a:endParaRPr lang="en-US" sz="1600" dirty="0">
                  <a:solidFill>
                    <a:schemeClr val="tx1"/>
                  </a:solidFill>
                  <a:latin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  <a:blipFill>
                <a:blip r:embed="rId3"/>
                <a:stretch>
                  <a:fillRect l="-643" t="-8163" r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12B363E-2B38-DB42-8F29-EB1227C41E39}"/>
              </a:ext>
            </a:extLst>
          </p:cNvPr>
          <p:cNvSpPr/>
          <p:nvPr/>
        </p:nvSpPr>
        <p:spPr>
          <a:xfrm>
            <a:off x="4956188" y="1926336"/>
            <a:ext cx="1316736" cy="9338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7">
            <a:extLst>
              <a:ext uri="{FF2B5EF4-FFF2-40B4-BE49-F238E27FC236}">
                <a16:creationId xmlns:a16="http://schemas.microsoft.com/office/drawing/2014/main" id="{9490DA21-F98E-4942-8D6D-CC082F01EC48}"/>
              </a:ext>
            </a:extLst>
          </p:cNvPr>
          <p:cNvSpPr/>
          <p:nvPr/>
        </p:nvSpPr>
        <p:spPr>
          <a:xfrm rot="5400000">
            <a:off x="6454653" y="2238235"/>
            <a:ext cx="215748" cy="281224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059A886-B06D-4843-9966-045A089ECB66}"/>
                  </a:ext>
                </a:extLst>
              </p:cNvPr>
              <p:cNvSpPr/>
              <p:nvPr/>
            </p:nvSpPr>
            <p:spPr>
              <a:xfrm>
                <a:off x="6727524" y="2202458"/>
                <a:ext cx="1395750" cy="3452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</a:rPr>
                  <a:t>SVD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</m:acc>
                    <m:r>
                      <a:rPr lang="en-US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059A886-B06D-4843-9966-045A089ECB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7524" y="2202458"/>
                <a:ext cx="1395750" cy="345223"/>
              </a:xfrm>
              <a:prstGeom prst="rect">
                <a:avLst/>
              </a:prstGeom>
              <a:blipFill>
                <a:blip r:embed="rId4"/>
                <a:stretch>
                  <a:fillRect l="-1802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C8D2D9-41D5-C64B-8802-AE51A30F27E3}"/>
                  </a:ext>
                </a:extLst>
              </p:cNvPr>
              <p:cNvSpPr txBox="1"/>
              <p:nvPr/>
            </p:nvSpPr>
            <p:spPr>
              <a:xfrm>
                <a:off x="2266550" y="5430348"/>
                <a:ext cx="6085127" cy="142866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1400" i="1" dirty="0"/>
                  <a:t>Notation: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400" i="1" dirty="0"/>
                  <a:t>: adjacent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400" i="1" dirty="0"/>
                  <a:t>: poisoned adjacent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r>
                  <a:rPr lang="en-US" sz="1400" i="1" dirty="0"/>
                  <a:t>: PPMI matrix induced by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4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e>
                      <m:sup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acc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𝑀</m:t>
                        </m:r>
                      </m:e>
                    </m:acc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Δ</m:t>
                    </m:r>
                    <m:acc>
                      <m:accPr>
                        <m:chr m:val="̂"/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acc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𝑀</m:t>
                        </m:r>
                      </m:e>
                    </m:acc>
                  </m:oMath>
                </a14:m>
                <a:r>
                  <a:rPr lang="en-US" sz="1400" i="1" dirty="0">
                    <a:solidFill>
                      <a:schemeClr val="tx1"/>
                    </a:solidFill>
                  </a:rPr>
                  <a:t>: perturbed PPMI matrix induced by perturbed matrix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1400" i="1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𝑢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400" i="1" dirty="0"/>
                  <a:t>: p-</a:t>
                </a:r>
                <a:r>
                  <a:rPr lang="en-US" sz="1400" i="1" dirty="0" err="1"/>
                  <a:t>th</a:t>
                </a:r>
                <a:r>
                  <a:rPr lang="en-US" sz="1400" i="1" dirty="0"/>
                  <a:t> eigen-vector corresponding to p-</a:t>
                </a:r>
                <a:r>
                  <a:rPr lang="en-US" sz="1400" i="1" dirty="0" err="1"/>
                  <a:t>th</a:t>
                </a:r>
                <a:r>
                  <a:rPr lang="en-US" sz="1400" i="1" dirty="0"/>
                  <a:t> largest eigen-value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C8D2D9-41D5-C64B-8802-AE51A30F2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550" y="5430348"/>
                <a:ext cx="6085127" cy="14286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4902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892142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Gradient-based Approach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16</a:t>
            </a:fld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</p:spPr>
            <p:txBody>
              <a:bodyPr/>
              <a:lstStyle/>
              <a:p>
                <a:r>
                  <a:rPr lang="en-US" sz="2000" dirty="0">
                    <a:solidFill>
                      <a:srgbClr val="13294B"/>
                    </a:solidFill>
                    <a:latin typeface="Calibri" charset="0"/>
                    <a:cs typeface="Calibri" charset="0"/>
                  </a:rPr>
                  <a:t>Loss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ℒ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𝐷𝑊</m:t>
                          </m:r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𝐴</m:t>
                          </m:r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′ </m:t>
                          </m:r>
                        </m:e>
                      </m:d>
                      <m:r>
                        <a:rPr lang="en-US" sz="16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𝑝</m:t>
                          </m:r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=</m:t>
                          </m:r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𝐾</m:t>
                          </m:r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+1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solidFill>
                                                <a:srgbClr val="13294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rgbClr val="13294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  <m:r>
                                        <a:rPr lang="en-US" sz="1600" b="0" i="1" smtClean="0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′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1/2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600" dirty="0">
                  <a:latin typeface="Calibri" charset="0"/>
                  <a:cs typeface="Calibri" charset="0"/>
                </a:endParaRPr>
              </a:p>
              <a:p>
                <a:r>
                  <a:rPr lang="en-US" sz="2000" dirty="0">
                    <a:latin typeface="Calibri" charset="0"/>
                    <a:cs typeface="Calibri" charset="0"/>
                  </a:rPr>
                  <a:t>It is efficient to compute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∇</m:t>
                          </m:r>
                        </m:e>
                        <m:sub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ℒ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𝐷𝑊</m:t>
                          </m:r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𝐴</m:t>
                          </m:r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′ </m:t>
                          </m:r>
                        </m:e>
                      </m:d>
                      <m:r>
                        <a:rPr lang="en-US" sz="16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∇</m:t>
                          </m:r>
                        </m:e>
                        <m:sub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b="0" i="1" smtClean="0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𝑀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nary>
                        <m:naryPr>
                          <m:chr m:val="∑"/>
                          <m:ctrlPr>
                            <a:rPr lang="en-US" sz="160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𝑝</m:t>
                          </m:r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=</m:t>
                          </m:r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𝐾</m:t>
                          </m:r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+1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solidFill>
                                                <a:srgbClr val="13294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rgbClr val="13294B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  <m: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′</m:t>
                                      </m:r>
                                      <m: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1/2</m:t>
                              </m:r>
                            </m:sup>
                          </m:sSup>
                        </m:e>
                      </m:nary>
                      <m:r>
                        <a:rPr lang="en-US" sz="1600" i="1" smtClean="0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∙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∇</m:t>
                          </m:r>
                        </m:e>
                        <m:sub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acc>
                        <m:accPr>
                          <m:chr m:val="̂"/>
                          <m:ctrlP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𝑀</m:t>
                          </m:r>
                        </m:e>
                      </m:acc>
                      <m:r>
                        <a:rPr lang="en-US" sz="16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′</m:t>
                      </m:r>
                    </m:oMath>
                  </m:oMathPara>
                </a14:m>
                <a:endParaRPr lang="en-US" sz="1600" dirty="0">
                  <a:latin typeface="Calibri" charset="0"/>
                  <a:cs typeface="Calibri" charset="0"/>
                </a:endParaRPr>
              </a:p>
              <a:p>
                <a:pPr marL="0" indent="0">
                  <a:buNone/>
                </a:pPr>
                <a:endParaRPr lang="en-US" sz="1600" dirty="0">
                  <a:latin typeface="Calibri" charset="0"/>
                  <a:cs typeface="Calibri" charset="0"/>
                </a:endParaRPr>
              </a:p>
              <a:p>
                <a:r>
                  <a:rPr lang="en-US" sz="2000" dirty="0">
                    <a:latin typeface="Calibri" charset="0"/>
                    <a:cs typeface="Calibri" charset="0"/>
                  </a:rPr>
                  <a:t>Greedy search using the gradient</a:t>
                </a:r>
              </a:p>
              <a:p>
                <a:pPr lvl="1"/>
                <a:r>
                  <a:rPr lang="en-US" sz="1600" dirty="0">
                    <a:latin typeface="Calibri" charset="0"/>
                    <a:cs typeface="Calibri" charset="0"/>
                  </a:rPr>
                  <a:t>Large gradient of entry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Calibri" charset="0"/>
                          </a:rPr>
                          <m:t>𝐴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Calibri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>
                    <a:latin typeface="Calibri" charset="0"/>
                    <a:cs typeface="Calibri" charset="0"/>
                  </a:rPr>
                  <a:t> implies large permutation to the loss function</a:t>
                </a:r>
              </a:p>
              <a:p>
                <a:pPr lvl="1"/>
                <a:r>
                  <a:rPr lang="en-US" sz="1600" dirty="0">
                    <a:latin typeface="Calibri" charset="0"/>
                    <a:cs typeface="Calibri" charset="0"/>
                  </a:rPr>
                  <a:t>Greedily choose the top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Calibri" charset="0"/>
                      </a:rPr>
                      <m:t>𝑓</m:t>
                    </m:r>
                  </m:oMath>
                </a14:m>
                <a:r>
                  <a:rPr lang="en-US" sz="1600" dirty="0">
                    <a:latin typeface="Calibri" charset="0"/>
                    <a:cs typeface="Calibri" charset="0"/>
                  </a:rPr>
                  <a:t> flips</a:t>
                </a:r>
              </a:p>
              <a:p>
                <a:endParaRPr lang="en-US" sz="2000" dirty="0">
                  <a:latin typeface="Calibri" charset="0"/>
                  <a:cs typeface="Calibri" charset="0"/>
                </a:endParaRPr>
              </a:p>
              <a:p>
                <a:endParaRPr lang="en-US" sz="2000" dirty="0">
                  <a:latin typeface="Calibri" charset="0"/>
                  <a:cs typeface="Calibri" charset="0"/>
                </a:endParaRPr>
              </a:p>
              <a:p>
                <a:endParaRPr lang="en-US" sz="2000" dirty="0">
                  <a:latin typeface="Calibri" charset="0"/>
                  <a:cs typeface="Calibri" charset="0"/>
                </a:endParaRPr>
              </a:p>
              <a:p>
                <a:endParaRPr lang="en-US" sz="2000" dirty="0">
                  <a:latin typeface="Calibri" charset="0"/>
                  <a:cs typeface="Calibri" charset="0"/>
                </a:endParaRPr>
              </a:p>
              <a:p>
                <a:endParaRPr lang="en-US" sz="2000" dirty="0">
                  <a:latin typeface="Calibri" charset="0"/>
                  <a:cs typeface="Calibri" charset="0"/>
                </a:endParaRPr>
              </a:p>
              <a:p>
                <a:endParaRPr lang="en-US" sz="2000" dirty="0">
                  <a:solidFill>
                    <a:srgbClr val="13294B"/>
                  </a:solidFill>
                  <a:latin typeface="Calibri" charset="0"/>
                  <a:cs typeface="Calibri" charset="0"/>
                </a:endParaRPr>
              </a:p>
              <a:p>
                <a:pPr marL="0" indent="0">
                  <a:buNone/>
                </a:pPr>
                <a:endParaRPr lang="en-US" sz="1600" dirty="0">
                  <a:latin typeface="Calibri" charset="0"/>
                  <a:cs typeface="Calibri" charset="0"/>
                </a:endParaRPr>
              </a:p>
              <a:p>
                <a:pPr lvl="1"/>
                <a:endParaRPr lang="en-US" sz="1600" dirty="0">
                  <a:solidFill>
                    <a:schemeClr val="tx1"/>
                  </a:solidFill>
                  <a:latin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  <a:blipFill>
                <a:blip r:embed="rId3"/>
                <a:stretch>
                  <a:fillRect l="-643" t="-10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5C93484-9701-E44C-B54A-6C613C4A7031}"/>
              </a:ext>
            </a:extLst>
          </p:cNvPr>
          <p:cNvSpPr/>
          <p:nvPr/>
        </p:nvSpPr>
        <p:spPr>
          <a:xfrm>
            <a:off x="4561368" y="5808848"/>
            <a:ext cx="3493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C1: Combinatorial search space. </a:t>
            </a:r>
            <a:endParaRPr 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17F07F7-0E47-9C4F-92C7-944685294662}"/>
                  </a:ext>
                </a:extLst>
              </p:cNvPr>
              <p:cNvSpPr/>
              <p:nvPr/>
            </p:nvSpPr>
            <p:spPr>
              <a:xfrm>
                <a:off x="972757" y="5544881"/>
                <a:ext cx="1839671" cy="9547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  <m:e>
                          <m:eqArr>
                            <m:eqArrPr>
                              <m:ctrlP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eqArr>
                        </m:e>
                      </m:eqAr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17F07F7-0E47-9C4F-92C7-9446852946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757" y="5544881"/>
                <a:ext cx="1839671" cy="954749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59EF3B-A1B5-FE45-A55D-7A14D948939B}"/>
              </a:ext>
            </a:extLst>
          </p:cNvPr>
          <p:cNvCxnSpPr>
            <a:cxnSpLocks/>
          </p:cNvCxnSpPr>
          <p:nvPr/>
        </p:nvCxnSpPr>
        <p:spPr>
          <a:xfrm>
            <a:off x="3096792" y="6022256"/>
            <a:ext cx="1404734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2A8771-DC6E-6645-9FFC-E2527AA31E9D}"/>
              </a:ext>
            </a:extLst>
          </p:cNvPr>
          <p:cNvCxnSpPr>
            <a:cxnSpLocks/>
          </p:cNvCxnSpPr>
          <p:nvPr/>
        </p:nvCxnSpPr>
        <p:spPr>
          <a:xfrm flipH="1" flipV="1">
            <a:off x="4061637" y="5039833"/>
            <a:ext cx="1775637" cy="65921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F978994-B6CB-1044-8738-2B586167D39A}"/>
              </a:ext>
            </a:extLst>
          </p:cNvPr>
          <p:cNvSpPr/>
          <p:nvPr/>
        </p:nvSpPr>
        <p:spPr>
          <a:xfrm rot="1209278">
            <a:off x="4534028" y="5025730"/>
            <a:ext cx="1016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solution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DA8092-0ADF-F44E-8167-B46E09F77ED4}"/>
              </a:ext>
            </a:extLst>
          </p:cNvPr>
          <p:cNvSpPr/>
          <p:nvPr/>
        </p:nvSpPr>
        <p:spPr>
          <a:xfrm>
            <a:off x="3200463" y="5634351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challenge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762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892142" cy="1143000"/>
          </a:xfrm>
        </p:spPr>
        <p:txBody>
          <a:bodyPr/>
          <a:lstStyle/>
          <a:p>
            <a:pPr algn="l"/>
            <a:r>
              <a:rPr lang="en-US" sz="2800" b="1" dirty="0">
                <a:latin typeface="Georgia" charset="0"/>
              </a:rPr>
              <a:t>Closed-form Approach (Brute-force)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251135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17</a:t>
            </a:fld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5EB7AB-C535-4F63-8D29-A7215BA2B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600200"/>
            <a:ext cx="7892143" cy="4338781"/>
          </a:xfrm>
        </p:spPr>
        <p:txBody>
          <a:bodyPr/>
          <a:lstStyle/>
          <a:p>
            <a:r>
              <a:rPr lang="en-US" sz="2400" dirty="0">
                <a:solidFill>
                  <a:srgbClr val="13294B"/>
                </a:solidFill>
                <a:latin typeface="Garamond" panose="02020404030301010803" pitchFamily="18" charset="0"/>
                <a:cs typeface="Calibri" charset="0"/>
              </a:rPr>
              <a:t>Greedily search the optimal edge flip</a:t>
            </a:r>
            <a:endParaRPr lang="en-US" sz="900" dirty="0">
              <a:solidFill>
                <a:srgbClr val="0070C0"/>
              </a:solidFill>
              <a:latin typeface="Garamond" panose="02020404030301010803" pitchFamily="18" charset="0"/>
              <a:cs typeface="Calibri" charset="0"/>
            </a:endParaRPr>
          </a:p>
          <a:p>
            <a:pPr lvl="1"/>
            <a:r>
              <a:rPr lang="en-US" sz="2000" dirty="0">
                <a:latin typeface="Garamond" panose="02020404030301010803" pitchFamily="18" charset="0"/>
                <a:cs typeface="Calibri" charset="0"/>
              </a:rPr>
              <a:t>Compute the loss value when one flip happened</a:t>
            </a:r>
          </a:p>
          <a:p>
            <a:pPr lvl="1"/>
            <a:r>
              <a:rPr lang="en-US" sz="2000" dirty="0">
                <a:latin typeface="Garamond" panose="02020404030301010803" pitchFamily="18" charset="0"/>
                <a:cs typeface="Calibri" charset="0"/>
              </a:rPr>
              <a:t>Choose the edge flip with the largest loss value</a:t>
            </a:r>
          </a:p>
          <a:p>
            <a:pPr marL="457200" lvl="1" indent="0">
              <a:buNone/>
            </a:pPr>
            <a:endParaRPr lang="en-US" sz="1600" dirty="0">
              <a:latin typeface="Garamond" panose="02020404030301010803" pitchFamily="18" charset="0"/>
              <a:cs typeface="Calibri" charset="0"/>
            </a:endParaRPr>
          </a:p>
          <a:p>
            <a:pPr lvl="1"/>
            <a:endParaRPr lang="en-US" sz="1600" dirty="0">
              <a:latin typeface="Garamond" panose="02020404030301010803" pitchFamily="18" charset="0"/>
              <a:cs typeface="Calibri" charset="0"/>
            </a:endParaRPr>
          </a:p>
          <a:p>
            <a:r>
              <a:rPr lang="en-US" sz="2400" dirty="0">
                <a:latin typeface="Garamond" panose="02020404030301010803" pitchFamily="18" charset="0"/>
                <a:cs typeface="Calibri" charset="0"/>
              </a:rPr>
              <a:t>Approximate the poisoned graph’s spectrum</a:t>
            </a:r>
            <a:endParaRPr lang="en-US" sz="2000" dirty="0">
              <a:latin typeface="Garamond" panose="02020404030301010803" pitchFamily="18" charset="0"/>
              <a:cs typeface="Calibri" charset="0"/>
            </a:endParaRPr>
          </a:p>
          <a:p>
            <a:endParaRPr lang="en-US" sz="2000" dirty="0">
              <a:latin typeface="Garamond" panose="02020404030301010803" pitchFamily="18" charset="0"/>
              <a:cs typeface="Calibri" charset="0"/>
            </a:endParaRPr>
          </a:p>
          <a:p>
            <a:endParaRPr lang="en-US" sz="2000" dirty="0">
              <a:latin typeface="Garamond" panose="02020404030301010803" pitchFamily="18" charset="0"/>
              <a:cs typeface="Calibri" charset="0"/>
            </a:endParaRPr>
          </a:p>
          <a:p>
            <a:endParaRPr lang="en-US" sz="2000" dirty="0">
              <a:latin typeface="Garamond" panose="02020404030301010803" pitchFamily="18" charset="0"/>
              <a:cs typeface="Calibri" charset="0"/>
            </a:endParaRPr>
          </a:p>
          <a:p>
            <a:endParaRPr lang="en-US" sz="2000" dirty="0">
              <a:latin typeface="Garamond" panose="02020404030301010803" pitchFamily="18" charset="0"/>
              <a:cs typeface="Calibri" charset="0"/>
            </a:endParaRPr>
          </a:p>
        </p:txBody>
      </p:sp>
      <p:sp>
        <p:nvSpPr>
          <p:cNvPr id="5" name="Arrow: Down 17">
            <a:extLst>
              <a:ext uri="{FF2B5EF4-FFF2-40B4-BE49-F238E27FC236}">
                <a16:creationId xmlns:a16="http://schemas.microsoft.com/office/drawing/2014/main" id="{90D1B387-D01E-448B-931C-2FBC1E6DE3C4}"/>
              </a:ext>
            </a:extLst>
          </p:cNvPr>
          <p:cNvSpPr/>
          <p:nvPr/>
        </p:nvSpPr>
        <p:spPr>
          <a:xfrm rot="5400000">
            <a:off x="6143633" y="2487043"/>
            <a:ext cx="215748" cy="281224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F96E73-D059-4206-A807-33D9610B6EDB}"/>
                  </a:ext>
                </a:extLst>
              </p:cNvPr>
              <p:cNvSpPr/>
              <p:nvPr/>
            </p:nvSpPr>
            <p:spPr>
              <a:xfrm>
                <a:off x="6466267" y="2339299"/>
                <a:ext cx="1892286" cy="4835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0000"/>
                    </a:solidFill>
                    <a:latin typeface="Garamond" panose="02020404030301010803" pitchFamily="18" charset="0"/>
                  </a:rPr>
                  <a:t> possible flips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2F96E73-D059-4206-A807-33D9610B6E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6267" y="2339299"/>
                <a:ext cx="1892286" cy="483530"/>
              </a:xfrm>
              <a:prstGeom prst="rect">
                <a:avLst/>
              </a:prstGeom>
              <a:blipFill>
                <a:blip r:embed="rId3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82529D99-14C8-4851-83A0-1BED89EC52D0}"/>
              </a:ext>
            </a:extLst>
          </p:cNvPr>
          <p:cNvSpPr/>
          <p:nvPr/>
        </p:nvSpPr>
        <p:spPr>
          <a:xfrm>
            <a:off x="6955717" y="1918634"/>
            <a:ext cx="13038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  <a:latin typeface="Garamond" panose="02020404030301010803" pitchFamily="18" charset="0"/>
              </a:rPr>
              <a:t>approximation</a:t>
            </a:r>
            <a:endParaRPr lang="en-US" sz="1400" b="1" dirty="0">
              <a:solidFill>
                <a:srgbClr val="0070C0"/>
              </a:solidFill>
              <a:latin typeface="Garamond" panose="02020404030301010803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A1E0A2-BA2F-461E-A45C-C7C29BC12480}"/>
              </a:ext>
            </a:extLst>
          </p:cNvPr>
          <p:cNvCxnSpPr>
            <a:cxnSpLocks/>
          </p:cNvCxnSpPr>
          <p:nvPr/>
        </p:nvCxnSpPr>
        <p:spPr>
          <a:xfrm flipH="1">
            <a:off x="41587" y="2235365"/>
            <a:ext cx="799320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CAD4A9-7CB1-4746-8D09-FDDFB59A0109}"/>
              </a:ext>
            </a:extLst>
          </p:cNvPr>
          <p:cNvCxnSpPr>
            <a:cxnSpLocks/>
          </p:cNvCxnSpPr>
          <p:nvPr/>
        </p:nvCxnSpPr>
        <p:spPr>
          <a:xfrm flipV="1">
            <a:off x="41921" y="2226411"/>
            <a:ext cx="10955" cy="1337886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793AA2F-01DE-4AAB-BE9F-ECFCA48355D2}"/>
              </a:ext>
            </a:extLst>
          </p:cNvPr>
          <p:cNvSpPr/>
          <p:nvPr/>
        </p:nvSpPr>
        <p:spPr>
          <a:xfrm>
            <a:off x="32267" y="2800919"/>
            <a:ext cx="13038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chemeClr val="tx2"/>
                </a:solidFill>
                <a:latin typeface="Garamond" panose="02020404030301010803" pitchFamily="18" charset="0"/>
              </a:rPr>
              <a:t>approximation</a:t>
            </a:r>
            <a:endParaRPr lang="en-US" sz="1400" b="1" dirty="0">
              <a:solidFill>
                <a:srgbClr val="0070C0"/>
              </a:solidFill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275829B-2D8F-4C12-88E8-2A42B259CE61}"/>
                  </a:ext>
                </a:extLst>
              </p:cNvPr>
              <p:cNvSpPr txBox="1"/>
              <p:nvPr/>
            </p:nvSpPr>
            <p:spPr>
              <a:xfrm>
                <a:off x="2638632" y="4680839"/>
                <a:ext cx="2688493" cy="4753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𝑝𝑖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𝑝𝑗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𝑝𝑖</m:t>
                                  </m:r>
                                </m:sub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𝑝𝑗</m:t>
                                  </m:r>
                                </m:sub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275829B-2D8F-4C12-88E8-2A42B259C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632" y="4680839"/>
                <a:ext cx="2688493" cy="475387"/>
              </a:xfrm>
              <a:prstGeom prst="rect">
                <a:avLst/>
              </a:prstGeom>
              <a:blipFill>
                <a:blip r:embed="rId4"/>
                <a:stretch>
                  <a:fillRect l="-907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9A67E3A-AF67-4EA9-8E2B-6BA5D12D0FBE}"/>
                  </a:ext>
                </a:extLst>
              </p:cNvPr>
              <p:cNvSpPr txBox="1"/>
              <p:nvPr/>
            </p:nvSpPr>
            <p:spPr>
              <a:xfrm>
                <a:off x="1590867" y="3920785"/>
                <a:ext cx="4992842" cy="5352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𝐷𝑊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𝑣𝑜𝑙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sSubSup>
                                            <m:sSubSupPr>
                                              <m:ctrlP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𝑚𝑖𝑛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bSup>
                                        </m:den>
                                      </m:f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ctrlP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5"/>
                                                </m:rP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4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Sup>
                                                        <m:sSubSupPr>
                                                          <m:ctrlPr>
                                                            <a:rPr lang="en-US" sz="14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SupPr>
                                                        <m:e>
                                                          <m:r>
                                                            <a:rPr lang="en-US" sz="14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𝜆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4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𝑝</m:t>
                                                          </m:r>
                                                        </m:sub>
                                                        <m:sup>
                                                          <m:r>
                                                            <a:rPr lang="en-US" sz="1400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′</m:t>
                                                          </m:r>
                                                        </m:sup>
                                                      </m:sSubSup>
                                                    </m:e>
                                                  </m:d>
                                                </m:e>
                                                <m:sup>
                                                  <m:r>
                                                    <a:rPr lang="en-US" sz="14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sup>
                                              </m:sSup>
                                            </m:e>
                                          </m:nary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9A67E3A-AF67-4EA9-8E2B-6BA5D12D0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867" y="3920785"/>
                <a:ext cx="4992842" cy="5352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9D3A2BF-A67C-4C96-893C-02ED21DF1C70}"/>
                  </a:ext>
                </a:extLst>
              </p:cNvPr>
              <p:cNvSpPr/>
              <p:nvPr/>
            </p:nvSpPr>
            <p:spPr>
              <a:xfrm>
                <a:off x="124414" y="4763479"/>
                <a:ext cx="190344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</a:rPr>
                  <a:t>Compute in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9D3A2BF-A67C-4C96-893C-02ED21DF1C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14" y="4763479"/>
                <a:ext cx="1903441" cy="338554"/>
              </a:xfrm>
              <a:prstGeom prst="rect">
                <a:avLst/>
              </a:prstGeom>
              <a:blipFill>
                <a:blip r:embed="rId6"/>
                <a:stretch>
                  <a:fillRect l="-1597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Arrow: Down 17">
            <a:extLst>
              <a:ext uri="{FF2B5EF4-FFF2-40B4-BE49-F238E27FC236}">
                <a16:creationId xmlns:a16="http://schemas.microsoft.com/office/drawing/2014/main" id="{BACAF3AE-5AA0-4FB2-9121-8B806D845BEE}"/>
              </a:ext>
            </a:extLst>
          </p:cNvPr>
          <p:cNvSpPr/>
          <p:nvPr/>
        </p:nvSpPr>
        <p:spPr>
          <a:xfrm rot="16200000">
            <a:off x="2173836" y="4762871"/>
            <a:ext cx="215748" cy="377089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D0758A-BDD6-4178-8227-36A661809A1B}"/>
              </a:ext>
            </a:extLst>
          </p:cNvPr>
          <p:cNvSpPr txBox="1"/>
          <p:nvPr/>
        </p:nvSpPr>
        <p:spPr>
          <a:xfrm>
            <a:off x="5327125" y="843883"/>
            <a:ext cx="3031428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Choose a candidate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 the real edges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Randomly sampling C candidate pairs (non-edges)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461A13-5F16-4F53-BFFA-9848ADDD9AF7}"/>
              </a:ext>
            </a:extLst>
          </p:cNvPr>
          <p:cNvCxnSpPr>
            <a:cxnSpLocks/>
          </p:cNvCxnSpPr>
          <p:nvPr/>
        </p:nvCxnSpPr>
        <p:spPr>
          <a:xfrm flipV="1">
            <a:off x="6892212" y="1847462"/>
            <a:ext cx="0" cy="523033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45C942D-9094-49D8-9CB7-5A2D2415B608}"/>
                  </a:ext>
                </a:extLst>
              </p:cNvPr>
              <p:cNvSpPr txBox="1"/>
              <p:nvPr/>
            </p:nvSpPr>
            <p:spPr>
              <a:xfrm>
                <a:off x="4448246" y="5233847"/>
                <a:ext cx="3899786" cy="162018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1200" i="1" dirty="0"/>
                  <a:t>Notation: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200" i="1" dirty="0"/>
                  <a:t>: poisoned adjacent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𝑣𝑜𝑙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1200" i="1" dirty="0"/>
                  <a:t>: volume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𝑣𝑜𝑙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sz="12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i="1" dirty="0"/>
                  <a:t>: length of random walk sentences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200" i="1" dirty="0"/>
                  <a:t>: number of negative samples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𝑚𝑖𝑛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200" i="1" dirty="0"/>
                  <a:t>: smallest degree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12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200" i="1" dirty="0"/>
                  <a:t>: generalized eigenvalue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200" i="1" dirty="0"/>
                  <a:t>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sz="12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=1−2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200" i="1" dirty="0"/>
                  <a:t>: indicate the edge flip, i.e.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±1</m:t>
                    </m:r>
                  </m:oMath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45C942D-9094-49D8-9CB7-5A2D2415B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246" y="5233847"/>
                <a:ext cx="3899786" cy="1620187"/>
              </a:xfrm>
              <a:prstGeom prst="rect">
                <a:avLst/>
              </a:prstGeom>
              <a:blipFill>
                <a:blip r:embed="rId7"/>
                <a:stretch>
                  <a:fillRect b="-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062215C-BEEE-4E3E-B07F-B17DC6F432E9}"/>
                  </a:ext>
                </a:extLst>
              </p:cNvPr>
              <p:cNvSpPr/>
              <p:nvPr/>
            </p:nvSpPr>
            <p:spPr>
              <a:xfrm>
                <a:off x="1567542" y="6546082"/>
                <a:ext cx="2534823" cy="3077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b="1" dirty="0">
                    <a:solidFill>
                      <a:srgbClr val="FF0000"/>
                    </a:solidFill>
                    <a:latin typeface="Garamond" panose="02020404030301010803" pitchFamily="18" charset="0"/>
                  </a:rPr>
                  <a:t>Assume node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200" b="1" dirty="0">
                    <a:solidFill>
                      <a:srgbClr val="FF0000"/>
                    </a:solidFill>
                    <a:latin typeface="Garamond" panose="02020404030301010803" pitchFamily="18" charset="0"/>
                  </a:rPr>
                  <a:t> is flipped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062215C-BEEE-4E3E-B07F-B17DC6F432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542" y="6546082"/>
                <a:ext cx="2534823" cy="307713"/>
              </a:xfrm>
              <a:prstGeom prst="rect">
                <a:avLst/>
              </a:prstGeom>
              <a:blipFill>
                <a:blip r:embed="rId8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row: Down 17">
            <a:extLst>
              <a:ext uri="{FF2B5EF4-FFF2-40B4-BE49-F238E27FC236}">
                <a16:creationId xmlns:a16="http://schemas.microsoft.com/office/drawing/2014/main" id="{BC5CC449-431B-4670-A525-12A350D6A532}"/>
              </a:ext>
            </a:extLst>
          </p:cNvPr>
          <p:cNvSpPr/>
          <p:nvPr/>
        </p:nvSpPr>
        <p:spPr>
          <a:xfrm rot="16200000">
            <a:off x="4238445" y="6514257"/>
            <a:ext cx="127452" cy="377093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A173B60-1746-494F-8A82-C3B3E6FFD152}"/>
              </a:ext>
            </a:extLst>
          </p:cNvPr>
          <p:cNvCxnSpPr>
            <a:cxnSpLocks/>
          </p:cNvCxnSpPr>
          <p:nvPr/>
        </p:nvCxnSpPr>
        <p:spPr>
          <a:xfrm flipH="1">
            <a:off x="32662" y="3570517"/>
            <a:ext cx="464971" cy="0"/>
          </a:xfrm>
          <a:prstGeom prst="line">
            <a:avLst/>
          </a:prstGeom>
          <a:ln>
            <a:solidFill>
              <a:srgbClr val="00B050"/>
            </a:solidFill>
            <a:prstDash val="dash"/>
            <a:headEnd type="arrow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787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892142" cy="1143000"/>
          </a:xfrm>
        </p:spPr>
        <p:txBody>
          <a:bodyPr/>
          <a:lstStyle/>
          <a:p>
            <a:pPr algn="l"/>
            <a:r>
              <a:rPr lang="en-US" sz="2800" b="1" dirty="0">
                <a:latin typeface="Georgia" charset="0"/>
              </a:rPr>
              <a:t>Closed-form Approach (Brute-force)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18</a:t>
            </a:fld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5EB7AB-C535-4F63-8D29-A7215BA2B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600200"/>
            <a:ext cx="7892143" cy="4338781"/>
          </a:xfrm>
        </p:spPr>
        <p:txBody>
          <a:bodyPr/>
          <a:lstStyle/>
          <a:p>
            <a:r>
              <a:rPr lang="en-US" sz="2400" dirty="0">
                <a:solidFill>
                  <a:srgbClr val="13294B"/>
                </a:solidFill>
                <a:latin typeface="Garamond" panose="02020404030301010803" pitchFamily="18" charset="0"/>
                <a:cs typeface="Calibri" charset="0"/>
              </a:rPr>
              <a:t>Approximated loss function</a:t>
            </a:r>
          </a:p>
          <a:p>
            <a:endParaRPr lang="en-US" sz="2400" dirty="0">
              <a:solidFill>
                <a:srgbClr val="13294B"/>
              </a:solidFill>
              <a:latin typeface="Garamond" panose="02020404030301010803" pitchFamily="18" charset="0"/>
              <a:cs typeface="Calibri" charset="0"/>
            </a:endParaRPr>
          </a:p>
          <a:p>
            <a:pPr marL="0" indent="0">
              <a:buNone/>
            </a:pPr>
            <a:endParaRPr lang="en-US" sz="500" dirty="0">
              <a:solidFill>
                <a:srgbClr val="13294B"/>
              </a:solidFill>
              <a:latin typeface="Garamond" panose="02020404030301010803" pitchFamily="18" charset="0"/>
              <a:cs typeface="Calibri" charset="0"/>
            </a:endParaRPr>
          </a:p>
          <a:p>
            <a:r>
              <a:rPr lang="en-US" sz="2400" dirty="0">
                <a:solidFill>
                  <a:srgbClr val="13294B"/>
                </a:solidFill>
                <a:latin typeface="Garamond" panose="02020404030301010803" pitchFamily="18" charset="0"/>
                <a:cs typeface="Calibri" charset="0"/>
              </a:rPr>
              <a:t>How?</a:t>
            </a:r>
            <a:endParaRPr lang="en-US" sz="2000" dirty="0">
              <a:latin typeface="Garamond" panose="02020404030301010803" pitchFamily="18" charset="0"/>
              <a:cs typeface="Calibri" charset="0"/>
            </a:endParaRPr>
          </a:p>
          <a:p>
            <a:endParaRPr lang="en-US" sz="2000" dirty="0">
              <a:latin typeface="Garamond" panose="02020404030301010803" pitchFamily="18" charset="0"/>
              <a:cs typeface="Calibri" charset="0"/>
            </a:endParaRPr>
          </a:p>
          <a:p>
            <a:endParaRPr lang="en-US" sz="2000" dirty="0">
              <a:latin typeface="Garamond" panose="02020404030301010803" pitchFamily="18" charset="0"/>
              <a:cs typeface="Calibri" charset="0"/>
            </a:endParaRPr>
          </a:p>
          <a:p>
            <a:endParaRPr lang="en-US" sz="2000" dirty="0">
              <a:latin typeface="Garamond" panose="02020404030301010803" pitchFamily="18" charset="0"/>
              <a:cs typeface="Calibri" charset="0"/>
            </a:endParaRPr>
          </a:p>
          <a:p>
            <a:endParaRPr lang="en-US" sz="2000" dirty="0">
              <a:latin typeface="Garamond" panose="02020404030301010803" pitchFamily="18" charset="0"/>
              <a:cs typeface="Calibri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9A67E3A-AF67-4EA9-8E2B-6BA5D12D0FBE}"/>
                  </a:ext>
                </a:extLst>
              </p:cNvPr>
              <p:cNvSpPr txBox="1"/>
              <p:nvPr/>
            </p:nvSpPr>
            <p:spPr>
              <a:xfrm>
                <a:off x="1354495" y="2042222"/>
                <a:ext cx="4743543" cy="458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𝐷𝑊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𝑣𝑜𝑙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sSubSup>
                                            <m:sSubSupPr>
                                              <m:ctrlP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𝑚𝑖𝑛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bSup>
                                        </m:den>
                                      </m:f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ctrlP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5"/>
                                                </m:rP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sz="12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2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2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2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𝜆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2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𝑝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200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+</m:t>
                                                      </m:r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sz="1200" b="0" i="0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Δ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2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2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𝜆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200" b="0" i="1" smtClean="0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𝑝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  <m:sup>
                                                  <m:r>
                                                    <a:rPr lang="en-US" sz="12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sup>
                                              </m:sSup>
                                            </m:e>
                                          </m:nary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US" sz="12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9A67E3A-AF67-4EA9-8E2B-6BA5D12D0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495" y="2042222"/>
                <a:ext cx="4743543" cy="458908"/>
              </a:xfrm>
              <a:prstGeom prst="rect">
                <a:avLst/>
              </a:prstGeom>
              <a:blipFill>
                <a:blip r:embed="rId3"/>
                <a:stretch>
                  <a:fillRect l="-386" t="-134667" b="-21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8F8385E-B949-4239-BB58-ED09B07863C0}"/>
                  </a:ext>
                </a:extLst>
              </p:cNvPr>
              <p:cNvSpPr/>
              <p:nvPr/>
            </p:nvSpPr>
            <p:spPr>
              <a:xfrm>
                <a:off x="1618947" y="2961034"/>
                <a:ext cx="2993127" cy="7232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ℒ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𝐷𝑊</m:t>
                          </m:r>
                          <m:r>
                            <a:rPr lang="en-US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𝐴</m:t>
                          </m:r>
                          <m:r>
                            <a:rPr lang="en-US" sz="1200" b="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′</m:t>
                          </m:r>
                          <m:r>
                            <a:rPr lang="en-US" sz="120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 </m:t>
                          </m:r>
                        </m:e>
                      </m:d>
                      <m:r>
                        <a:rPr lang="en-US" sz="12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12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𝑀</m:t>
                                  </m:r>
                                </m:e>
                              </m:acc>
                              <m:r>
                                <a:rPr lang="en-US" sz="1200" b="0" i="1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′</m:t>
                              </m:r>
                              <m:r>
                                <a:rPr lang="en-US" sz="12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1200" b="0" i="1" smtClean="0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2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𝐾</m:t>
                                  </m:r>
                                </m:sub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𝐹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=</m:t>
                      </m:r>
                      <m:sSup>
                        <m:sSupPr>
                          <m:ctrlPr>
                            <a:rPr lang="en-US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12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2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𝑝</m:t>
                                  </m:r>
                                  <m:r>
                                    <a:rPr lang="en-US" sz="12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=</m:t>
                                  </m:r>
                                  <m:r>
                                    <a:rPr lang="en-US" sz="12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𝐾</m:t>
                                  </m:r>
                                  <m:r>
                                    <a:rPr lang="en-US" sz="12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𝑁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12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2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n-US" sz="1200" i="1">
                                          <a:solidFill>
                                            <a:srgbClr val="13294B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US" sz="1200" dirty="0">
                  <a:solidFill>
                    <a:srgbClr val="13294B"/>
                  </a:solidFill>
                  <a:latin typeface="Garamond" panose="02020404030301010803" pitchFamily="18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8F8385E-B949-4239-BB58-ED09B07863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947" y="2961034"/>
                <a:ext cx="2993127" cy="7232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3670AD1B-5807-40AB-8203-4A061F5E7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150" y="770879"/>
            <a:ext cx="2887992" cy="1210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0F49A86-EC1C-4881-8BB4-AC9D61E71342}"/>
                  </a:ext>
                </a:extLst>
              </p:cNvPr>
              <p:cNvSpPr txBox="1"/>
              <p:nvPr/>
            </p:nvSpPr>
            <p:spPr>
              <a:xfrm>
                <a:off x="4448246" y="5414233"/>
                <a:ext cx="3899786" cy="144302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1200" i="1" dirty="0"/>
                  <a:t>Notation: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200" i="1" dirty="0"/>
                  <a:t>: poisoned adjacent matrix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𝜎</m:t>
                        </m:r>
                      </m:e>
                      <m:sub>
                        <m:r>
                          <a:rPr lang="en-US" sz="120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200" i="1" dirty="0"/>
                  <a:t>: p-</a:t>
                </a:r>
                <a:r>
                  <a:rPr lang="en-US" sz="1200" i="1" dirty="0" err="1"/>
                  <a:t>th</a:t>
                </a:r>
                <a:r>
                  <a:rPr lang="en-US" sz="1200" i="1" dirty="0"/>
                  <a:t> singular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2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p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</m:oMath>
                </a14:m>
                <a:endParaRPr lang="en-US" sz="12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200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1200" i="1">
                                <a:solidFill>
                                  <a:srgbClr val="13294B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1200" i="1">
                            <a:solidFill>
                              <a:srgbClr val="13294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200" i="1" dirty="0"/>
                  <a:t>: p-</a:t>
                </a:r>
                <a:r>
                  <a:rPr lang="en-US" sz="1200" i="1" dirty="0" err="1"/>
                  <a:t>th</a:t>
                </a:r>
                <a:r>
                  <a:rPr lang="en-US" sz="1200" i="1" dirty="0"/>
                  <a:t> singular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12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𝑚𝑖𝑛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200" i="1" dirty="0"/>
                  <a:t>: smallest degree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12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200" i="1" dirty="0"/>
                  <a:t>: generalized eigenvalue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200" i="1" dirty="0"/>
                  <a:t>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sz="12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=1−2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200" i="1" dirty="0"/>
                  <a:t>: indicate the edge flip, i.e.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±1</m:t>
                    </m:r>
                  </m:oMath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0F49A86-EC1C-4881-8BB4-AC9D61E71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246" y="5414233"/>
                <a:ext cx="3899786" cy="14430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3F92FA7-31CC-4475-A39D-5AA1D1D387FD}"/>
              </a:ext>
            </a:extLst>
          </p:cNvPr>
          <p:cNvSpPr txBox="1"/>
          <p:nvPr/>
        </p:nvSpPr>
        <p:spPr>
          <a:xfrm>
            <a:off x="5743540" y="3677597"/>
            <a:ext cx="1781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Garamond" panose="02020404030301010803" pitchFamily="18" charset="0"/>
              </a:rPr>
              <a:t>Remove log and max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28F355D-5CCE-48C2-8EED-6CD437BFA83B}"/>
                  </a:ext>
                </a:extLst>
              </p:cNvPr>
              <p:cNvSpPr/>
              <p:nvPr/>
            </p:nvSpPr>
            <p:spPr>
              <a:xfrm>
                <a:off x="1356235" y="3946455"/>
                <a:ext cx="4044001" cy="547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𝐷𝑊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𝑀</m:t>
                              </m:r>
                              <m:r>
                                <a:rPr lang="en-US" sz="1200" b="0" i="1" smtClean="0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′−</m:t>
                              </m:r>
                              <m:sSubSup>
                                <m:sSubSupPr>
                                  <m:ctrlPr>
                                    <a:rPr lang="en-US" sz="1200" b="0" i="1" smtClean="0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𝐾</m:t>
                                  </m:r>
                                </m:sub>
                                <m:sup>
                                  <m:r>
                                    <a:rPr lang="en-US" sz="1200" b="0" i="1" smtClean="0">
                                      <a:solidFill>
                                        <a:srgbClr val="13294B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𝐹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𝑣𝑜𝑙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2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en-US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28F355D-5CCE-48C2-8EED-6CD437BFA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235" y="3946455"/>
                <a:ext cx="4044001" cy="547201"/>
              </a:xfrm>
              <a:prstGeom prst="rect">
                <a:avLst/>
              </a:prstGeom>
              <a:blipFill>
                <a:blip r:embed="rId7"/>
                <a:stretch>
                  <a:fillRect t="-105556" r="-452" b="-16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rrow: Curved Left 16">
            <a:extLst>
              <a:ext uri="{FF2B5EF4-FFF2-40B4-BE49-F238E27FC236}">
                <a16:creationId xmlns:a16="http://schemas.microsoft.com/office/drawing/2014/main" id="{5A8811CC-BD49-4129-979D-5CEF29D532F6}"/>
              </a:ext>
            </a:extLst>
          </p:cNvPr>
          <p:cNvSpPr/>
          <p:nvPr/>
        </p:nvSpPr>
        <p:spPr>
          <a:xfrm>
            <a:off x="5157640" y="3445035"/>
            <a:ext cx="485192" cy="860938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50F7F0-0699-49A3-AE7E-68D35F017671}"/>
              </a:ext>
            </a:extLst>
          </p:cNvPr>
          <p:cNvSpPr txBox="1"/>
          <p:nvPr/>
        </p:nvSpPr>
        <p:spPr>
          <a:xfrm>
            <a:off x="5815076" y="4607549"/>
            <a:ext cx="1202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Garamond" panose="02020404030301010803" pitchFamily="18" charset="0"/>
              </a:rPr>
              <a:t>Upper bound</a:t>
            </a:r>
          </a:p>
        </p:txBody>
      </p:sp>
      <p:sp>
        <p:nvSpPr>
          <p:cNvPr id="40" name="Arrow: Curved Left 39">
            <a:extLst>
              <a:ext uri="{FF2B5EF4-FFF2-40B4-BE49-F238E27FC236}">
                <a16:creationId xmlns:a16="http://schemas.microsoft.com/office/drawing/2014/main" id="{3B43EFCB-C738-4703-BAFB-102C13D127C5}"/>
              </a:ext>
            </a:extLst>
          </p:cNvPr>
          <p:cNvSpPr/>
          <p:nvPr/>
        </p:nvSpPr>
        <p:spPr>
          <a:xfrm>
            <a:off x="5154534" y="4374987"/>
            <a:ext cx="485192" cy="860938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3144CF-3C34-46CD-A2E1-8FA56491BFC4}"/>
                  </a:ext>
                </a:extLst>
              </p:cNvPr>
              <p:cNvSpPr/>
              <p:nvPr/>
            </p:nvSpPr>
            <p:spPr>
              <a:xfrm>
                <a:off x="1618947" y="4819286"/>
                <a:ext cx="1891095" cy="5032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12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solidFill>
                                    <a:srgbClr val="1329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 i="1">
                              <a:solidFill>
                                <a:srgbClr val="1329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𝑝</m:t>
                          </m:r>
                        </m:sub>
                      </m:sSub>
                      <m:r>
                        <a:rPr lang="en-US" sz="1200" i="1">
                          <a:solidFill>
                            <a:srgbClr val="1329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≤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den>
                      </m:f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  <m:sup>
                                          <m:r>
                                            <a:rPr lang="en-US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3144CF-3C34-46CD-A2E1-8FA56491BF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947" y="4819286"/>
                <a:ext cx="1891095" cy="503215"/>
              </a:xfrm>
              <a:prstGeom prst="rect">
                <a:avLst/>
              </a:prstGeom>
              <a:blipFill>
                <a:blip r:embed="rId8"/>
                <a:stretch>
                  <a:fillRect t="-124390" r="-21290" b="-186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465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892142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Experiments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19</a:t>
            </a:fld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5EB7AB-C535-4F63-8D29-A7215BA2B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600200"/>
            <a:ext cx="7892143" cy="4338781"/>
          </a:xfrm>
        </p:spPr>
        <p:txBody>
          <a:bodyPr/>
          <a:lstStyle/>
          <a:p>
            <a:r>
              <a:rPr lang="en-US" sz="2000" dirty="0">
                <a:solidFill>
                  <a:srgbClr val="13294B"/>
                </a:solidFill>
                <a:latin typeface="Calibri" charset="0"/>
                <a:cs typeface="Calibri" charset="0"/>
              </a:rPr>
              <a:t>Approximation Quality</a:t>
            </a:r>
            <a:endParaRPr lang="en-US" sz="1600" dirty="0">
              <a:latin typeface="Calibri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544028-6AF6-4597-A87A-35CFE1BE5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63" y="2743200"/>
            <a:ext cx="8343700" cy="260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216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892142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Experiments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20</a:t>
            </a:fld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5EB7AB-C535-4F63-8D29-A7215BA2B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600200"/>
            <a:ext cx="7892143" cy="4338781"/>
          </a:xfrm>
        </p:spPr>
        <p:txBody>
          <a:bodyPr/>
          <a:lstStyle/>
          <a:p>
            <a:r>
              <a:rPr lang="en-US" sz="2000" dirty="0">
                <a:solidFill>
                  <a:srgbClr val="13294B"/>
                </a:solidFill>
                <a:latin typeface="Calibri" charset="0"/>
                <a:cs typeface="Calibri" charset="0"/>
              </a:rPr>
              <a:t>Poisoning decreases the overall quality of the embeddings. </a:t>
            </a:r>
          </a:p>
          <a:p>
            <a:endParaRPr lang="en-US" sz="1600" dirty="0">
              <a:latin typeface="Calibri" charset="0"/>
              <a:cs typeface="Calibri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3422E4-CF7D-2543-9703-DFE485C0B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0" y="2512204"/>
            <a:ext cx="8239752" cy="330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60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892142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Experiments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21</a:t>
            </a:fld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5EB7AB-C535-4F63-8D29-A7215BA2B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600200"/>
            <a:ext cx="7892143" cy="4338781"/>
          </a:xfrm>
        </p:spPr>
        <p:txBody>
          <a:bodyPr/>
          <a:lstStyle/>
          <a:p>
            <a:r>
              <a:rPr lang="en-US" sz="2000" dirty="0">
                <a:solidFill>
                  <a:srgbClr val="13294B"/>
                </a:solidFill>
                <a:latin typeface="Calibri" charset="0"/>
                <a:cs typeface="Calibri" charset="0"/>
              </a:rPr>
              <a:t>Transferability on </a:t>
            </a:r>
            <a:r>
              <a:rPr lang="en-US" sz="2000" dirty="0" err="1">
                <a:solidFill>
                  <a:srgbClr val="13294B"/>
                </a:solidFill>
                <a:latin typeface="Calibri" charset="0"/>
                <a:cs typeface="Calibri" charset="0"/>
              </a:rPr>
              <a:t>Citeseer</a:t>
            </a:r>
            <a:r>
              <a:rPr lang="en-US" sz="2000" dirty="0">
                <a:solidFill>
                  <a:srgbClr val="13294B"/>
                </a:solidFill>
                <a:latin typeface="Calibri" charset="0"/>
                <a:cs typeface="Calibri" charset="0"/>
              </a:rPr>
              <a:t> data set</a:t>
            </a:r>
            <a:endParaRPr lang="en-US" sz="1600" dirty="0">
              <a:latin typeface="Calibri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57AB5-0E2E-45FE-B7AE-B74029A8D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83" y="2935712"/>
            <a:ext cx="7112648" cy="20157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BE1AC23-A624-4179-95BA-680699C868BF}"/>
              </a:ext>
            </a:extLst>
          </p:cNvPr>
          <p:cNvSpPr/>
          <p:nvPr/>
        </p:nvSpPr>
        <p:spPr>
          <a:xfrm>
            <a:off x="491418" y="2399050"/>
            <a:ext cx="190344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Number of flips</a:t>
            </a:r>
          </a:p>
        </p:txBody>
      </p:sp>
      <p:sp>
        <p:nvSpPr>
          <p:cNvPr id="8" name="Arrow: Down 17">
            <a:extLst>
              <a:ext uri="{FF2B5EF4-FFF2-40B4-BE49-F238E27FC236}">
                <a16:creationId xmlns:a16="http://schemas.microsoft.com/office/drawing/2014/main" id="{D046851D-9686-4EBD-9515-FAC003740E9F}"/>
              </a:ext>
            </a:extLst>
          </p:cNvPr>
          <p:cNvSpPr/>
          <p:nvPr/>
        </p:nvSpPr>
        <p:spPr>
          <a:xfrm>
            <a:off x="1096171" y="2868316"/>
            <a:ext cx="215748" cy="377089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F372E7-689B-474C-9AB3-43548C57A987}"/>
              </a:ext>
            </a:extLst>
          </p:cNvPr>
          <p:cNvSpPr/>
          <p:nvPr/>
        </p:nvSpPr>
        <p:spPr>
          <a:xfrm>
            <a:off x="1797696" y="3046114"/>
            <a:ext cx="937147" cy="255431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17">
            <a:extLst>
              <a:ext uri="{FF2B5EF4-FFF2-40B4-BE49-F238E27FC236}">
                <a16:creationId xmlns:a16="http://schemas.microsoft.com/office/drawing/2014/main" id="{06955E41-781E-4077-94E2-11E58E60D997}"/>
              </a:ext>
            </a:extLst>
          </p:cNvPr>
          <p:cNvSpPr/>
          <p:nvPr/>
        </p:nvSpPr>
        <p:spPr>
          <a:xfrm>
            <a:off x="2179111" y="5427454"/>
            <a:ext cx="215748" cy="377089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E9242F-5CD5-47D7-A614-17B5397FD7DC}"/>
              </a:ext>
            </a:extLst>
          </p:cNvPr>
          <p:cNvSpPr/>
          <p:nvPr/>
        </p:nvSpPr>
        <p:spPr>
          <a:xfrm>
            <a:off x="814876" y="5735964"/>
            <a:ext cx="30542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Attack model in this paper</a:t>
            </a:r>
          </a:p>
        </p:txBody>
      </p:sp>
      <p:sp>
        <p:nvSpPr>
          <p:cNvPr id="12" name="Arrow: Down 17">
            <a:extLst>
              <a:ext uri="{FF2B5EF4-FFF2-40B4-BE49-F238E27FC236}">
                <a16:creationId xmlns:a16="http://schemas.microsoft.com/office/drawing/2014/main" id="{91141CEE-00ED-4D5C-B5E2-17E856AE656C}"/>
              </a:ext>
            </a:extLst>
          </p:cNvPr>
          <p:cNvSpPr/>
          <p:nvPr/>
        </p:nvSpPr>
        <p:spPr>
          <a:xfrm rot="16200000">
            <a:off x="5253647" y="2662087"/>
            <a:ext cx="215748" cy="4790662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2100EA-30DE-4994-BF84-813325BB23D0}"/>
              </a:ext>
            </a:extLst>
          </p:cNvPr>
          <p:cNvSpPr/>
          <p:nvPr/>
        </p:nvSpPr>
        <p:spPr>
          <a:xfrm>
            <a:off x="3775618" y="5106644"/>
            <a:ext cx="37345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Other graph embedding models</a:t>
            </a:r>
          </a:p>
        </p:txBody>
      </p:sp>
    </p:spTree>
    <p:extLst>
      <p:ext uri="{BB962C8B-B14F-4D97-AF65-F5344CB8AC3E}">
        <p14:creationId xmlns:p14="http://schemas.microsoft.com/office/powerpoint/2010/main" val="1162227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0999" y="274638"/>
            <a:ext cx="8093149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Graph Convolution Based Embedding</a:t>
            </a:r>
            <a:endParaRPr lang="en-US" sz="3200" dirty="0">
              <a:solidFill>
                <a:srgbClr val="13294B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22</a:t>
            </a:fld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8AEAB0-7530-C642-94E5-B74682AE6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478" y="1313712"/>
            <a:ext cx="5856190" cy="470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80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045036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Background: Node Embedding</a:t>
            </a:r>
            <a:endParaRPr lang="en-US" sz="3200" dirty="0">
              <a:solidFill>
                <a:srgbClr val="13294B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23</a:t>
            </a:fld>
            <a:endParaRPr lang="en-US" dirty="0">
              <a:solidFill>
                <a:schemeClr val="accent2"/>
              </a:solidFill>
            </a:endParaRP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6950E851-AC32-4981-A8B1-E23907DD3685}"/>
              </a:ext>
            </a:extLst>
          </p:cNvPr>
          <p:cNvGraphicFramePr>
            <a:graphicFrameLocks noGrp="1"/>
          </p:cNvGraphicFramePr>
          <p:nvPr/>
        </p:nvGraphicFramePr>
        <p:xfrm>
          <a:off x="199053" y="961573"/>
          <a:ext cx="8055429" cy="4133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6286">
                  <a:extLst>
                    <a:ext uri="{9D8B030D-6E8A-4147-A177-3AD203B41FA5}">
                      <a16:colId xmlns:a16="http://schemas.microsoft.com/office/drawing/2014/main" val="2774941411"/>
                    </a:ext>
                  </a:extLst>
                </a:gridCol>
                <a:gridCol w="3247053">
                  <a:extLst>
                    <a:ext uri="{9D8B030D-6E8A-4147-A177-3AD203B41FA5}">
                      <a16:colId xmlns:a16="http://schemas.microsoft.com/office/drawing/2014/main" val="233951423"/>
                    </a:ext>
                  </a:extLst>
                </a:gridCol>
                <a:gridCol w="3502090">
                  <a:extLst>
                    <a:ext uri="{9D8B030D-6E8A-4147-A177-3AD203B41FA5}">
                      <a16:colId xmlns:a16="http://schemas.microsoft.com/office/drawing/2014/main" val="3039493216"/>
                    </a:ext>
                  </a:extLst>
                </a:gridCol>
              </a:tblGrid>
              <a:tr h="82671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/>
                        <a:t>Random Walk 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/>
                        <a:t>Graph Convolution 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539321"/>
                  </a:ext>
                </a:extLst>
              </a:tr>
              <a:tr h="8267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Plain network </a:t>
                      </a:r>
                    </a:p>
                    <a:p>
                      <a:pPr algn="ctr"/>
                      <a:r>
                        <a:rPr lang="en-US" sz="1600" dirty="0"/>
                        <a:t>without node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Attributed network</a:t>
                      </a:r>
                    </a:p>
                    <a:p>
                      <a:pPr algn="ctr"/>
                      <a:r>
                        <a:rPr lang="en-US" sz="1600" dirty="0"/>
                        <a:t>with node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8145340"/>
                  </a:ext>
                </a:extLst>
              </a:tr>
              <a:tr h="8267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 embeddings</a:t>
                      </a:r>
                    </a:p>
                    <a:p>
                      <a:pPr algn="ctr"/>
                      <a:r>
                        <a:rPr lang="en-US" sz="1600" dirty="0"/>
                        <a:t>(</a:t>
                      </a: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unsupervised</a:t>
                      </a:r>
                      <a:r>
                        <a:rPr lang="en-US" sz="16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Node embedding</a:t>
                      </a:r>
                    </a:p>
                    <a:p>
                      <a:pPr algn="ctr"/>
                      <a:r>
                        <a:rPr lang="en-US" sz="1600" dirty="0"/>
                        <a:t>Predictive node class-label</a:t>
                      </a:r>
                    </a:p>
                    <a:p>
                      <a:pPr algn="ctr"/>
                      <a:r>
                        <a:rPr lang="en-US" sz="1600" dirty="0"/>
                        <a:t>(</a:t>
                      </a: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semi-supervised</a:t>
                      </a:r>
                      <a:r>
                        <a:rPr lang="en-US" sz="16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5149890"/>
                  </a:ext>
                </a:extLst>
              </a:tr>
              <a:tr h="8267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Assumption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Nearby nodes share the similar 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Nearby nodes share the similar embeddings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976885"/>
                  </a:ext>
                </a:extLst>
              </a:tr>
              <a:tr h="8267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Key 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Maximize the likelihood of positive node-context pairs sampled by (biased) random walk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Recursively aggregate node messages along edges of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257603"/>
                  </a:ext>
                </a:extLst>
              </a:tr>
            </a:tbl>
          </a:graphicData>
        </a:graphic>
      </p:graphicFrame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61E4E9E5-CD05-48B9-A1F9-9D769C9A58E4}"/>
              </a:ext>
            </a:extLst>
          </p:cNvPr>
          <p:cNvGraphicFramePr>
            <a:graphicFrameLocks noGrp="1"/>
          </p:cNvGraphicFramePr>
          <p:nvPr/>
        </p:nvGraphicFramePr>
        <p:xfrm>
          <a:off x="199053" y="5626878"/>
          <a:ext cx="8055429" cy="571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065">
                  <a:extLst>
                    <a:ext uri="{9D8B030D-6E8A-4147-A177-3AD203B41FA5}">
                      <a16:colId xmlns:a16="http://schemas.microsoft.com/office/drawing/2014/main" val="850456586"/>
                    </a:ext>
                  </a:extLst>
                </a:gridCol>
                <a:gridCol w="3247053">
                  <a:extLst>
                    <a:ext uri="{9D8B030D-6E8A-4147-A177-3AD203B41FA5}">
                      <a16:colId xmlns:a16="http://schemas.microsoft.com/office/drawing/2014/main" val="3425198399"/>
                    </a:ext>
                  </a:extLst>
                </a:gridCol>
                <a:gridCol w="3508311">
                  <a:extLst>
                    <a:ext uri="{9D8B030D-6E8A-4147-A177-3AD203B41FA5}">
                      <a16:colId xmlns:a16="http://schemas.microsoft.com/office/drawing/2014/main" val="977156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Attacks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Aleksandar </a:t>
                      </a:r>
                      <a:r>
                        <a:rPr lang="en-US" sz="105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Bojchevski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Stephan </a:t>
                      </a:r>
                      <a:r>
                        <a:rPr lang="en-US" sz="105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Günnemann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"</a:t>
                      </a:r>
                      <a:r>
                        <a:rPr lang="en-US" sz="105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Adversarial attacks on node embeddings via graph poisoning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." In </a:t>
                      </a:r>
                      <a:r>
                        <a:rPr lang="en-US" sz="105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ICML 2019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Daniel </a:t>
                      </a:r>
                      <a:r>
                        <a:rPr lang="en-US" sz="105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Zügner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and Stephan </a:t>
                      </a:r>
                      <a:r>
                        <a:rPr lang="en-US" sz="105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Günnemann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"</a:t>
                      </a:r>
                      <a:r>
                        <a:rPr lang="en-US" sz="105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Adversarial attacks on graph neural networks via meta learning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." </a:t>
                      </a:r>
                      <a:r>
                        <a:rPr lang="en-US" sz="105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ICLR 2019.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361153"/>
                  </a:ext>
                </a:extLst>
              </a:tr>
            </a:tbl>
          </a:graphicData>
        </a:graphic>
      </p:graphicFrame>
      <p:sp>
        <p:nvSpPr>
          <p:cNvPr id="15" name="Arrow: Down 14">
            <a:extLst>
              <a:ext uri="{FF2B5EF4-FFF2-40B4-BE49-F238E27FC236}">
                <a16:creationId xmlns:a16="http://schemas.microsoft.com/office/drawing/2014/main" id="{357A2225-59A6-40C0-B9D9-417E816A5828}"/>
              </a:ext>
            </a:extLst>
          </p:cNvPr>
          <p:cNvSpPr/>
          <p:nvPr/>
        </p:nvSpPr>
        <p:spPr>
          <a:xfrm>
            <a:off x="2892489" y="5050971"/>
            <a:ext cx="404327" cy="62187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1436DDE4-E4A8-4A10-9870-60F5DFC39F51}"/>
              </a:ext>
            </a:extLst>
          </p:cNvPr>
          <p:cNvSpPr/>
          <p:nvPr/>
        </p:nvSpPr>
        <p:spPr>
          <a:xfrm>
            <a:off x="6323048" y="5060307"/>
            <a:ext cx="404327" cy="621872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20E140-6072-4EDA-B3D9-B7FB2EDEA0D0}"/>
              </a:ext>
            </a:extLst>
          </p:cNvPr>
          <p:cNvSpPr/>
          <p:nvPr/>
        </p:nvSpPr>
        <p:spPr>
          <a:xfrm>
            <a:off x="99525" y="5505059"/>
            <a:ext cx="8223380" cy="80243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54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892142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Background: Graph Convolutional Network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24</a:t>
            </a:fld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5EB7AB-C535-4F63-8D29-A7215BA2B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600200"/>
            <a:ext cx="7892143" cy="4338781"/>
          </a:xfrm>
        </p:spPr>
        <p:txBody>
          <a:bodyPr/>
          <a:lstStyle/>
          <a:p>
            <a:r>
              <a:rPr lang="en-US" sz="2000" dirty="0">
                <a:latin typeface="Calibri" charset="0"/>
                <a:cs typeface="Calibri" charset="0"/>
              </a:rPr>
              <a:t>Idea: use the graph convolution to learn high-order graph structure for </a:t>
            </a:r>
            <a:r>
              <a:rPr lang="en-US" sz="2000" b="1" i="1" dirty="0">
                <a:latin typeface="Calibri" charset="0"/>
                <a:cs typeface="Calibri" charset="0"/>
              </a:rPr>
              <a:t>semi-supervised node classification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7B2167-6C3F-485D-8208-1EF25B001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098" y="4124132"/>
            <a:ext cx="5325096" cy="2048114"/>
          </a:xfrm>
          <a:prstGeom prst="rect">
            <a:avLst/>
          </a:prstGeom>
        </p:spPr>
      </p:pic>
      <p:pic>
        <p:nvPicPr>
          <p:cNvPr id="1026" name="Picture 2" descr="Image result for graph convolution network">
            <a:extLst>
              <a:ext uri="{FF2B5EF4-FFF2-40B4-BE49-F238E27FC236}">
                <a16:creationId xmlns:a16="http://schemas.microsoft.com/office/drawing/2014/main" id="{546EDE9E-C304-4556-812E-2D897A99E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84" y="2381358"/>
            <a:ext cx="3376595" cy="164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58481D8-93BA-4C49-B51C-70717299A996}"/>
              </a:ext>
            </a:extLst>
          </p:cNvPr>
          <p:cNvSpPr/>
          <p:nvPr/>
        </p:nvSpPr>
        <p:spPr>
          <a:xfrm>
            <a:off x="0" y="6616006"/>
            <a:ext cx="8358552" cy="24622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Kipf</a:t>
            </a:r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</a:rPr>
              <a:t>, Thomas N., and Max Welling. "Semi-supervised classification with graph convolutional networks." </a:t>
            </a:r>
            <a:r>
              <a:rPr lang="en-US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arXiv</a:t>
            </a:r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</a:rPr>
              <a:t> preprint arXiv:1609.02907 (2016).</a:t>
            </a:r>
            <a:endParaRPr lang="en-US" sz="1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44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892142" cy="114300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rgbClr val="13294B"/>
                </a:solidFill>
                <a:latin typeface="Georgia" charset="0"/>
              </a:rPr>
              <a:t>Poison Attack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25</a:t>
            </a:fld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</p:spPr>
            <p:txBody>
              <a:bodyPr/>
              <a:lstStyle/>
              <a:p>
                <a:r>
                  <a:rPr lang="en-US" sz="2000" dirty="0">
                    <a:latin typeface="Calibri" charset="0"/>
                    <a:cs typeface="Calibri" charset="0"/>
                  </a:rPr>
                  <a:t>Objective: increase the misclassification rate of Graph Neural Network on node classification</a:t>
                </a:r>
              </a:p>
              <a:p>
                <a:r>
                  <a:rPr lang="en-US" sz="2000" dirty="0">
                    <a:latin typeface="Calibri" charset="0"/>
                    <a:cs typeface="Calibri" charset="0"/>
                  </a:rPr>
                  <a:t>Input: attributed network (undirected, unweighted network with node attributes)</a:t>
                </a:r>
              </a:p>
              <a:p>
                <a:r>
                  <a:rPr lang="en-US" sz="2000" dirty="0">
                    <a:latin typeface="Calibri" charset="0"/>
                    <a:cs typeface="Calibri" charset="0"/>
                  </a:rPr>
                  <a:t>Attack: edge flip (remove/add edges)</a:t>
                </a:r>
              </a:p>
              <a:p>
                <a:endParaRPr lang="en-US" sz="2000" dirty="0">
                  <a:latin typeface="Calibri" charset="0"/>
                  <a:cs typeface="Calibri" charset="0"/>
                </a:endParaRPr>
              </a:p>
              <a:p>
                <a:r>
                  <a:rPr lang="en-US" sz="2000" dirty="0">
                    <a:latin typeface="Calibri" charset="0"/>
                    <a:cs typeface="Calibri" charset="0"/>
                  </a:rPr>
                  <a:t>Objective function</a:t>
                </a:r>
              </a:p>
              <a:p>
                <a:endParaRPr lang="en-US" sz="500" dirty="0">
                  <a:latin typeface="Calibri" charset="0"/>
                  <a:cs typeface="Calibri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cs typeface="Calibri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  <m:t>𝑁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  <m:t>×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  <m:t>𝑁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𝑡𝑟𝑎𝑖𝑛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𝑓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𝐺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′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 charset="0"/>
                        </a:rPr>
                        <m:t>, 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Calibri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𝑡𝑟𝑎𝑖𝑛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𝐺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′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000" dirty="0">
                  <a:latin typeface="Calibri" charset="0"/>
                  <a:cs typeface="Calibri" charset="0"/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  <a:blipFill>
                <a:blip r:embed="rId3"/>
                <a:stretch>
                  <a:fillRect l="-643" t="-583" r="-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1563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892142" cy="1143000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13294B"/>
                </a:solidFill>
                <a:latin typeface="Georgia" panose="02040502050405020303" pitchFamily="18" charset="0"/>
              </a:rPr>
              <a:t>Gradient-based Approach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26</a:t>
            </a:fld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9" y="1600200"/>
                <a:ext cx="7892143" cy="5161366"/>
              </a:xfrm>
            </p:spPr>
            <p:txBody>
              <a:bodyPr/>
              <a:lstStyle/>
              <a:p>
                <a:r>
                  <a:rPr lang="en-US" sz="2400" dirty="0">
                    <a:latin typeface="+mj-lt"/>
                    <a:cs typeface="Calibri" charset="0"/>
                  </a:rPr>
                  <a:t>Objective function</a:t>
                </a:r>
              </a:p>
              <a:p>
                <a:endParaRPr lang="en-US" sz="500" dirty="0">
                  <a:latin typeface="+mj-lt"/>
                  <a:cs typeface="Calibri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i="0" smtClean="0"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m</m:t>
                              </m:r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𝑖𝑛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cs typeface="Calibri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 smtClean="0">
                                          <a:latin typeface="Cambria Math" panose="02040503050406030204" pitchFamily="18" charset="0"/>
                                          <a:cs typeface="Calibri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  <m:t>𝑁</m:t>
                                  </m:r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  <m:t>×</m:t>
                                  </m:r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  <m:t>𝑁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cs typeface="Calibri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𝑎𝑡𝑘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𝑓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𝐺</m:t>
                                  </m:r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′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000" i="1" smtClean="0">
                          <a:latin typeface="Cambria Math" panose="02040503050406030204" pitchFamily="18" charset="0"/>
                          <a:cs typeface="Calibri" charset="0"/>
                        </a:rPr>
                        <m:t>,  </m:t>
                      </m:r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  <a:cs typeface="Calibri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  <a:cs typeface="Calibri" charset="0"/>
                            </a:rPr>
                            <m:t>∗</m:t>
                          </m:r>
                        </m:sup>
                      </m:sSup>
                      <m:r>
                        <a:rPr lang="en-US" sz="2000" i="1" smtClean="0">
                          <a:latin typeface="Cambria Math" panose="02040503050406030204" pitchFamily="18" charset="0"/>
                          <a:cs typeface="Calibri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 smtClean="0">
                              <a:latin typeface="Cambria Math" panose="02040503050406030204" pitchFamily="18" charset="0"/>
                              <a:cs typeface="Calibri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Calibri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0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  <a:cs typeface="Calibri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𝑡𝑟𝑎𝑖𝑛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𝐺</m:t>
                                      </m:r>
                                      <m: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 charset="0"/>
                                        </a:rPr>
                                        <m:t>′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000" dirty="0">
                  <a:latin typeface="+mj-lt"/>
                  <a:cs typeface="Calibri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ℒ</m:t>
                        </m:r>
                      </m:e>
                      <m:sub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𝑎𝑡𝑘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FF0000"/>
                    </a:solidFill>
                    <a:latin typeface="+mj-lt"/>
                    <a:cs typeface="Calibri" charset="0"/>
                  </a:rPr>
                  <a:t> measures the quality of GNN model, 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ℒ</m:t>
                        </m:r>
                      </m:e>
                      <m:sub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𝑎𝑡𝑘</m:t>
                        </m:r>
                      </m:sub>
                    </m:sSub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charset="0"/>
                      </a:rPr>
                      <m:t>=−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ℒ</m:t>
                        </m:r>
                      </m:e>
                      <m:sub>
                        <m: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𝑡𝑟𝑎𝑖𝑛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FF0000"/>
                  </a:solidFill>
                  <a:latin typeface="+mj-lt"/>
                  <a:cs typeface="Calibri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+mj-lt"/>
                  <a:cs typeface="Calibri" charset="0"/>
                </a:endParaRPr>
              </a:p>
              <a:p>
                <a:r>
                  <a:rPr lang="en-US" sz="2400" b="1" dirty="0">
                    <a:latin typeface="+mj-lt"/>
                    <a:cs typeface="Calibri" charset="0"/>
                  </a:rPr>
                  <a:t>Key idea: </a:t>
                </a:r>
                <a:r>
                  <a:rPr lang="en-US" sz="2400" dirty="0">
                    <a:latin typeface="+mj-lt"/>
                    <a:cs typeface="Calibri" charset="0"/>
                  </a:rPr>
                  <a:t>use meta-learning to approximate the gradient</a:t>
                </a:r>
              </a:p>
              <a:p>
                <a:endParaRPr lang="en-US" sz="2000" dirty="0">
                  <a:latin typeface="+mj-lt"/>
                  <a:cs typeface="Calibri" charset="0"/>
                </a:endParaRPr>
              </a:p>
              <a:p>
                <a:endParaRPr lang="en-US" sz="2000" dirty="0">
                  <a:latin typeface="+mj-lt"/>
                  <a:cs typeface="Calibri" charset="0"/>
                </a:endParaRPr>
              </a:p>
              <a:p>
                <a:endParaRPr lang="en-US" sz="2000" dirty="0">
                  <a:latin typeface="+mj-lt"/>
                  <a:cs typeface="Calibri" charset="0"/>
                </a:endParaRPr>
              </a:p>
              <a:p>
                <a:r>
                  <a:rPr lang="en-US" sz="2400" b="1" dirty="0">
                    <a:latin typeface="+mj-lt"/>
                    <a:cs typeface="Calibri" charset="0"/>
                  </a:rPr>
                  <a:t>Greedy search </a:t>
                </a:r>
                <a:r>
                  <a:rPr lang="en-US" sz="2400" dirty="0">
                    <a:latin typeface="+mj-lt"/>
                    <a:cs typeface="Calibri" charset="0"/>
                  </a:rPr>
                  <a:t>based on the gradient</a:t>
                </a:r>
              </a:p>
              <a:p>
                <a:pPr lvl="1"/>
                <a:r>
                  <a:rPr lang="en-US" sz="2000" dirty="0">
                    <a:latin typeface="+mj-lt"/>
                    <a:cs typeface="Calibri" charset="0"/>
                  </a:rPr>
                  <a:t>Large gradient of entry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cs typeface="Calibri" charset="0"/>
                          </a:rPr>
                          <m:t>𝐴</m:t>
                        </m:r>
                      </m:e>
                      <m:sup>
                        <m:r>
                          <a:rPr lang="en-US" sz="2000" i="1" smtClean="0">
                            <a:latin typeface="Cambria Math" panose="02040503050406030204" pitchFamily="18" charset="0"/>
                            <a:cs typeface="Calibri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>
                    <a:latin typeface="+mj-lt"/>
                    <a:cs typeface="Calibri" charset="0"/>
                  </a:rPr>
                  <a:t> implies large permutation to the loss function</a:t>
                </a:r>
              </a:p>
              <a:p>
                <a:pPr lvl="1"/>
                <a:r>
                  <a:rPr lang="en-US" sz="2000" dirty="0">
                    <a:latin typeface="+mj-lt"/>
                    <a:cs typeface="Calibri" charset="0"/>
                  </a:rPr>
                  <a:t>Greedily choose the top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cs typeface="Calibri" charset="0"/>
                      </a:rPr>
                      <m:t>𝑓</m:t>
                    </m:r>
                  </m:oMath>
                </a14:m>
                <a:r>
                  <a:rPr lang="en-US" sz="2000" dirty="0">
                    <a:latin typeface="+mj-lt"/>
                    <a:cs typeface="Calibri" charset="0"/>
                  </a:rPr>
                  <a:t> flips</a:t>
                </a:r>
              </a:p>
              <a:p>
                <a:endParaRPr lang="en-US" sz="2000" dirty="0">
                  <a:latin typeface="+mj-lt"/>
                  <a:cs typeface="Calibri" charset="0"/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9" y="1600200"/>
                <a:ext cx="7892143" cy="5161366"/>
              </a:xfrm>
              <a:blipFill>
                <a:blip r:embed="rId3"/>
                <a:stretch>
                  <a:fillRect l="-1004" t="-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8DF9FAE-FC5D-8D47-A2FD-DB999FFE53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445" r="513" b="1204"/>
          <a:stretch/>
        </p:blipFill>
        <p:spPr>
          <a:xfrm>
            <a:off x="1050480" y="4093541"/>
            <a:ext cx="6604960" cy="404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4748D0-7483-DA41-B58B-A4BED881CE69}"/>
                  </a:ext>
                </a:extLst>
              </p:cNvPr>
              <p:cNvSpPr txBox="1"/>
              <p:nvPr/>
            </p:nvSpPr>
            <p:spPr>
              <a:xfrm>
                <a:off x="4205071" y="964110"/>
                <a:ext cx="4238789" cy="370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Simplified GCN: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𝑋𝑊</m:t>
                        </m: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4748D0-7483-DA41-B58B-A4BED881C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071" y="964110"/>
                <a:ext cx="4238789" cy="370294"/>
              </a:xfrm>
              <a:prstGeom prst="rect">
                <a:avLst/>
              </a:prstGeom>
              <a:blipFill>
                <a:blip r:embed="rId5"/>
                <a:stretch>
                  <a:fillRect l="-59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Down 17">
            <a:extLst>
              <a:ext uri="{FF2B5EF4-FFF2-40B4-BE49-F238E27FC236}">
                <a16:creationId xmlns:a16="http://schemas.microsoft.com/office/drawing/2014/main" id="{FB25B04D-361E-F447-93CB-6360ED1FFE3C}"/>
              </a:ext>
            </a:extLst>
          </p:cNvPr>
          <p:cNvSpPr/>
          <p:nvPr/>
        </p:nvSpPr>
        <p:spPr>
          <a:xfrm rot="10800000">
            <a:off x="6791321" y="1368201"/>
            <a:ext cx="343125" cy="588189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9EE9ED-290C-E24B-B695-37B1E9AA3EDB}"/>
              </a:ext>
            </a:extLst>
          </p:cNvPr>
          <p:cNvSpPr/>
          <p:nvPr/>
        </p:nvSpPr>
        <p:spPr>
          <a:xfrm>
            <a:off x="0" y="6454280"/>
            <a:ext cx="8358552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</a:rPr>
              <a:t>Felix Wu, </a:t>
            </a:r>
            <a:r>
              <a:rPr lang="en-US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Tianyi</a:t>
            </a:r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</a:rPr>
              <a:t> Zhang, </a:t>
            </a:r>
            <a:r>
              <a:rPr lang="en-US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Amauri</a:t>
            </a:r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bg2"/>
                </a:solidFill>
                <a:latin typeface="Arial" panose="020B0604020202020204" pitchFamily="34" charset="0"/>
              </a:rPr>
              <a:t>Holanda</a:t>
            </a:r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</a:rPr>
              <a:t> de Souza Jr, Christopher Fifty, Tao Yu, and Kilian Q. Weinberger. "Simplifying graph convolutional networks." </a:t>
            </a:r>
            <a:r>
              <a:rPr lang="en-US" sz="1000" i="1" dirty="0">
                <a:solidFill>
                  <a:schemeClr val="bg2"/>
                </a:solidFill>
                <a:latin typeface="Arial" panose="020B0604020202020204" pitchFamily="34" charset="0"/>
              </a:rPr>
              <a:t>In ICML</a:t>
            </a:r>
            <a:r>
              <a:rPr lang="en-US" sz="1000" dirty="0">
                <a:solidFill>
                  <a:schemeClr val="bg2"/>
                </a:solidFill>
                <a:latin typeface="Arial" panose="020B0604020202020204" pitchFamily="34" charset="0"/>
              </a:rPr>
              <a:t> 2019.</a:t>
            </a:r>
            <a:endParaRPr lang="en-US" sz="1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875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892142" cy="1143000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13294B"/>
                </a:solidFill>
                <a:latin typeface="Georgia" charset="0"/>
              </a:rPr>
              <a:t>Meta-gradient optimization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27</a:t>
            </a:fld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</p:spPr>
            <p:txBody>
              <a:bodyPr/>
              <a:lstStyle/>
              <a:p>
                <a:r>
                  <a:rPr lang="en-US" sz="2000" dirty="0">
                    <a:latin typeface="+mj-lt"/>
                    <a:cs typeface="Calibri" charset="0"/>
                  </a:rPr>
                  <a:t>Key idea: treat the graph structure matrix as a hyperparameter</a:t>
                </a:r>
              </a:p>
              <a:p>
                <a:endParaRPr lang="en-US" sz="500" dirty="0">
                  <a:latin typeface="+mj-lt"/>
                  <a:cs typeface="Calibri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𝐺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𝑚𝑒𝑡𝑎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≔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𝐺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𝑎𝑡𝑘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𝑓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∗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𝐺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, 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charset="0"/>
                        </a:rPr>
                        <m:t>𝑜𝑝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𝑡𝑟𝑎𝑖𝑛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𝐺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>
                  <a:latin typeface="+mj-lt"/>
                  <a:cs typeface="Calibri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Calibri" charset="0"/>
                      </a:rPr>
                      <m:t>𝑜𝑝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Calibri" charset="0"/>
                          </a:rPr>
                          <m:t>𝑡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Calibri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en-US" sz="1800" dirty="0">
                    <a:latin typeface="+mj-lt"/>
                    <a:cs typeface="Calibri" charset="0"/>
                  </a:rPr>
                  <a:t> is a differentiable optimization procedure</a:t>
                </a:r>
              </a:p>
              <a:p>
                <a:pPr lvl="1"/>
                <a:r>
                  <a:rPr lang="en-US" sz="1800" dirty="0">
                    <a:latin typeface="+mj-lt"/>
                    <a:cs typeface="Calibri" charset="0"/>
                  </a:rPr>
                  <a:t>E.g., vanilla gradient descent: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Calibri" charset="0"/>
                            </a:rPr>
                            <m:t>𝜃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Calibri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Calibri" charset="0"/>
                            </a:rPr>
                            <m:t>+1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cs typeface="Calibri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Calibri" charset="0"/>
                            </a:rPr>
                            <m:t>𝜃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Calibri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cs typeface="Calibri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Calibri" charset="0"/>
                        </a:rPr>
                        <m:t>𝛼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∇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t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ℒ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  <m:t>𝑡𝑟𝑎𝑖𝑛</m:t>
                          </m:r>
                        </m:sub>
                      </m:sSub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charset="0"/>
                                </a:rPr>
                                <m:t>𝐺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800" dirty="0">
                  <a:latin typeface="+mj-lt"/>
                  <a:cs typeface="Calibri" charset="0"/>
                </a:endParaRPr>
              </a:p>
              <a:p>
                <a:pPr lvl="1"/>
                <a:r>
                  <a:rPr lang="en-US" sz="1800" dirty="0">
                    <a:latin typeface="+mj-lt"/>
                    <a:cs typeface="Calibri" charset="0"/>
                  </a:rPr>
                  <a:t>After T steps, the attacker’s loss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ℒ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  <m:t>𝑎𝑡𝑘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charset="0"/>
                                  </a:rPr>
                                  <m:t>𝑇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  <m:t>𝐺</m:t>
                            </m:r>
                          </m:e>
                        </m:d>
                      </m:e>
                    </m:d>
                  </m:oMath>
                </a14:m>
                <a:endParaRPr lang="en-US" sz="1800" dirty="0">
                  <a:latin typeface="+mj-lt"/>
                  <a:cs typeface="Calibri" charset="0"/>
                </a:endParaRPr>
              </a:p>
              <a:p>
                <a:pPr lvl="1"/>
                <a:r>
                  <a:rPr lang="en-US" sz="1800" dirty="0">
                    <a:latin typeface="+mj-lt"/>
                    <a:cs typeface="Calibri" charset="0"/>
                  </a:rPr>
                  <a:t>Meta-gradient:</a:t>
                </a:r>
              </a:p>
              <a:p>
                <a:pPr lvl="1"/>
                <a:endParaRPr lang="en-US" sz="2000" dirty="0">
                  <a:latin typeface="+mj-lt"/>
                  <a:cs typeface="Calibri" charset="0"/>
                </a:endParaRPr>
              </a:p>
              <a:p>
                <a:pPr lvl="1"/>
                <a:endParaRPr lang="en-US" sz="2000" dirty="0">
                  <a:latin typeface="+mj-lt"/>
                  <a:cs typeface="Calibri" charset="0"/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  <a:blipFill>
                <a:blip r:embed="rId3"/>
                <a:stretch>
                  <a:fillRect l="-618" t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4881423-9416-3447-BEFD-A937C0A01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33" y="4779667"/>
            <a:ext cx="7783033" cy="581650"/>
          </a:xfrm>
          <a:prstGeom prst="rect">
            <a:avLst/>
          </a:prstGeom>
        </p:spPr>
      </p:pic>
      <p:sp>
        <p:nvSpPr>
          <p:cNvPr id="8" name="Arrow: Down 17">
            <a:extLst>
              <a:ext uri="{FF2B5EF4-FFF2-40B4-BE49-F238E27FC236}">
                <a16:creationId xmlns:a16="http://schemas.microsoft.com/office/drawing/2014/main" id="{7F771DC6-8662-EE40-8977-7A81E698EDDA}"/>
              </a:ext>
            </a:extLst>
          </p:cNvPr>
          <p:cNvSpPr/>
          <p:nvPr/>
        </p:nvSpPr>
        <p:spPr>
          <a:xfrm>
            <a:off x="7269781" y="4456719"/>
            <a:ext cx="258065" cy="338554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DC3AAB-1B6B-F848-847C-E87CABF2A2ED}"/>
              </a:ext>
            </a:extLst>
          </p:cNvPr>
          <p:cNvSpPr/>
          <p:nvPr/>
        </p:nvSpPr>
        <p:spPr>
          <a:xfrm>
            <a:off x="3774173" y="5722033"/>
            <a:ext cx="25375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Second derivatives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727E65-AF60-8347-9CAF-2EB9463EF1B3}"/>
              </a:ext>
            </a:extLst>
          </p:cNvPr>
          <p:cNvCxnSpPr>
            <a:cxnSpLocks/>
          </p:cNvCxnSpPr>
          <p:nvPr/>
        </p:nvCxnSpPr>
        <p:spPr>
          <a:xfrm flipH="1">
            <a:off x="171607" y="3366795"/>
            <a:ext cx="2148061" cy="1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E20171-3DB2-2A43-8A80-D5604F2BB0FE}"/>
              </a:ext>
            </a:extLst>
          </p:cNvPr>
          <p:cNvCxnSpPr>
            <a:cxnSpLocks/>
          </p:cNvCxnSpPr>
          <p:nvPr/>
        </p:nvCxnSpPr>
        <p:spPr>
          <a:xfrm flipH="1" flipV="1">
            <a:off x="159203" y="3379236"/>
            <a:ext cx="12404" cy="1860088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B90850-67C3-7544-9171-AE3C492C1D7C}"/>
              </a:ext>
            </a:extLst>
          </p:cNvPr>
          <p:cNvCxnSpPr>
            <a:cxnSpLocks/>
          </p:cNvCxnSpPr>
          <p:nvPr/>
        </p:nvCxnSpPr>
        <p:spPr>
          <a:xfrm>
            <a:off x="171607" y="5226884"/>
            <a:ext cx="2135658" cy="0"/>
          </a:xfrm>
          <a:prstGeom prst="straightConnector1">
            <a:avLst/>
          </a:prstGeom>
          <a:ln w="28575"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82EADE3-4479-0A4A-BF2B-0763B2D067EF}"/>
                  </a:ext>
                </a:extLst>
              </p:cNvPr>
              <p:cNvSpPr/>
              <p:nvPr/>
            </p:nvSpPr>
            <p:spPr>
              <a:xfrm>
                <a:off x="5877699" y="4114636"/>
                <a:ext cx="253755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FF0000"/>
                    </a:solidFill>
                  </a:rPr>
                  <a:t> is a function </a:t>
                </a:r>
                <a:r>
                  <a:rPr lang="en-US" sz="1600" b="1" dirty="0" err="1">
                    <a:solidFill>
                      <a:srgbClr val="FF0000"/>
                    </a:solidFill>
                  </a:rPr>
                  <a:t>w.r.t.</a:t>
                </a:r>
                <a:r>
                  <a:rPr lang="en-US" sz="16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82EADE3-4479-0A4A-BF2B-0763B2D067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699" y="4114636"/>
                <a:ext cx="2537556" cy="338554"/>
              </a:xfrm>
              <a:prstGeom prst="rect">
                <a:avLst/>
              </a:prstGeom>
              <a:blipFill>
                <a:blip r:embed="rId5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Down 17">
            <a:extLst>
              <a:ext uri="{FF2B5EF4-FFF2-40B4-BE49-F238E27FC236}">
                <a16:creationId xmlns:a16="http://schemas.microsoft.com/office/drawing/2014/main" id="{F97E3687-68B1-CD4B-A082-A70F0CA16504}"/>
              </a:ext>
            </a:extLst>
          </p:cNvPr>
          <p:cNvSpPr/>
          <p:nvPr/>
        </p:nvSpPr>
        <p:spPr>
          <a:xfrm rot="10800000">
            <a:off x="4795940" y="5367080"/>
            <a:ext cx="258065" cy="338554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82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892142" cy="1143000"/>
          </a:xfrm>
        </p:spPr>
        <p:txBody>
          <a:bodyPr/>
          <a:lstStyle/>
          <a:p>
            <a:pPr algn="l"/>
            <a:r>
              <a:rPr lang="en-US" sz="2800" b="1" dirty="0">
                <a:latin typeface="Georgia" charset="0"/>
              </a:rPr>
              <a:t>Meta-gradient optimization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28</a:t>
            </a:fld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</p:spPr>
            <p:txBody>
              <a:bodyPr/>
              <a:lstStyle/>
              <a:p>
                <a:r>
                  <a:rPr lang="en-US" sz="2400" dirty="0">
                    <a:latin typeface="+mj-lt"/>
                    <a:cs typeface="Calibri" charset="0"/>
                  </a:rPr>
                  <a:t>Meta-gradient:</a:t>
                </a:r>
              </a:p>
              <a:p>
                <a:endParaRPr lang="en-US" sz="500" dirty="0">
                  <a:latin typeface="+mj-lt"/>
                  <a:cs typeface="Calibri" charset="0"/>
                </a:endParaRPr>
              </a:p>
              <a:p>
                <a:pPr lvl="1"/>
                <a:endParaRPr lang="en-US" sz="2000" dirty="0">
                  <a:latin typeface="+mj-lt"/>
                  <a:cs typeface="Calibri" charset="0"/>
                </a:endParaRPr>
              </a:p>
              <a:p>
                <a:pPr lvl="1"/>
                <a:endParaRPr lang="en-US" sz="2000" dirty="0">
                  <a:latin typeface="+mj-lt"/>
                  <a:cs typeface="Calibri" charset="0"/>
                </a:endParaRPr>
              </a:p>
              <a:p>
                <a:pPr lvl="1"/>
                <a:endParaRPr lang="en-US" sz="2000" dirty="0">
                  <a:latin typeface="+mj-lt"/>
                  <a:cs typeface="Calibri" charset="0"/>
                </a:endParaRPr>
              </a:p>
              <a:p>
                <a:r>
                  <a:rPr lang="en-US" sz="2400" b="1" dirty="0">
                    <a:latin typeface="+mj-lt"/>
                    <a:cs typeface="Calibri" charset="0"/>
                  </a:rPr>
                  <a:t>First order approximation </a:t>
                </a:r>
                <a:r>
                  <a:rPr lang="en-US" sz="2400" dirty="0">
                    <a:latin typeface="+mj-lt"/>
                    <a:cs typeface="Calibri" charset="0"/>
                  </a:rPr>
                  <a:t>(Finn, et al. 2017 )</a:t>
                </a:r>
              </a:p>
              <a:p>
                <a:endParaRPr lang="en-US" sz="2400" dirty="0">
                  <a:latin typeface="+mj-lt"/>
                  <a:cs typeface="Calibri" charset="0"/>
                </a:endParaRPr>
              </a:p>
              <a:p>
                <a:pPr lvl="1"/>
                <a:r>
                  <a:rPr lang="en-US" sz="2000" dirty="0">
                    <a:latin typeface="+mj-lt"/>
                    <a:cs typeface="Calibri" charset="0"/>
                  </a:rPr>
                  <a:t>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  <m:t>𝐴</m:t>
                            </m:r>
                          </m:sub>
                        </m:sSub>
                        <m:acc>
                          <m:accPr>
                            <m:chr m:val="̃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 charset="0"/>
                      </a:rPr>
                      <m:t>=0</m:t>
                    </m:r>
                  </m:oMath>
                </a14:m>
                <a:endParaRPr lang="en-US" sz="2000" dirty="0">
                  <a:latin typeface="+mj-lt"/>
                  <a:cs typeface="Calibri" charset="0"/>
                </a:endParaRPr>
              </a:p>
              <a:p>
                <a:pPr lvl="1"/>
                <a:endParaRPr lang="en-US" sz="2000" dirty="0">
                  <a:latin typeface="+mj-lt"/>
                  <a:cs typeface="Calibri" charset="0"/>
                </a:endParaRPr>
              </a:p>
              <a:p>
                <a:pPr lvl="1"/>
                <a:r>
                  <a:rPr lang="en-US" sz="2000" dirty="0">
                    <a:latin typeface="+mj-lt"/>
                    <a:cs typeface="Calibri" charset="0"/>
                  </a:rPr>
                  <a:t>Nichol &amp; Schulman (2018) proposed:</a:t>
                </a:r>
              </a:p>
              <a:p>
                <a:pPr lvl="1"/>
                <a:endParaRPr lang="en-US" sz="2000" dirty="0">
                  <a:latin typeface="+mj-lt"/>
                  <a:cs typeface="Calibri" charset="0"/>
                </a:endParaRPr>
              </a:p>
              <a:p>
                <a:pPr lvl="1"/>
                <a:endParaRPr lang="en-US" sz="2000" dirty="0">
                  <a:latin typeface="+mj-lt"/>
                  <a:cs typeface="Calibri" charset="0"/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  <a:blipFill>
                <a:blip r:embed="rId3"/>
                <a:stretch>
                  <a:fillRect l="-1004" t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4881423-9416-3447-BEFD-A937C0A01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21" y="2289888"/>
            <a:ext cx="7783033" cy="581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64B685-136F-724D-822A-77B595399CB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0442"/>
          <a:stretch/>
        </p:blipFill>
        <p:spPr>
          <a:xfrm>
            <a:off x="616307" y="3741907"/>
            <a:ext cx="7421526" cy="3387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4F21EA-E1B4-4EE7-8C9A-BF6797BF5B02}"/>
                  </a:ext>
                </a:extLst>
              </p:cNvPr>
              <p:cNvSpPr txBox="1"/>
              <p:nvPr/>
            </p:nvSpPr>
            <p:spPr>
              <a:xfrm>
                <a:off x="2450840" y="5327780"/>
                <a:ext cx="3178691" cy="566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𝑚𝑒𝑡𝑎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𝑎𝑡𝑘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4F21EA-E1B4-4EE7-8C9A-BF6797BF5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840" y="5327780"/>
                <a:ext cx="3178691" cy="566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2F4C7859-298D-4862-B785-CAE54ABE98C2}"/>
              </a:ext>
            </a:extLst>
          </p:cNvPr>
          <p:cNvSpPr/>
          <p:nvPr/>
        </p:nvSpPr>
        <p:spPr>
          <a:xfrm>
            <a:off x="0" y="6304999"/>
            <a:ext cx="8358552" cy="5539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2"/>
                </a:solidFill>
              </a:rPr>
              <a:t>Chelsea Finn, Pieter </a:t>
            </a:r>
            <a:r>
              <a:rPr lang="en-US" sz="1000" dirty="0" err="1">
                <a:solidFill>
                  <a:schemeClr val="bg2"/>
                </a:solidFill>
              </a:rPr>
              <a:t>Abbeel</a:t>
            </a:r>
            <a:r>
              <a:rPr lang="en-US" sz="1000" dirty="0">
                <a:solidFill>
                  <a:schemeClr val="bg2"/>
                </a:solidFill>
              </a:rPr>
              <a:t>, and Sergey Levine. "Model-agnostic meta-learning for fast adaptation of deep networks." In Proceedings of the 34th International Conference on Machine Learning-Volume 70, pp. 1126-1135. JMLR. org, 2017.</a:t>
            </a:r>
          </a:p>
          <a:p>
            <a:r>
              <a:rPr lang="en-US" sz="1000" dirty="0">
                <a:solidFill>
                  <a:schemeClr val="bg2"/>
                </a:solidFill>
              </a:rPr>
              <a:t>Alex Nichol, Joshua </a:t>
            </a:r>
            <a:r>
              <a:rPr lang="en-US" sz="1000" dirty="0" err="1">
                <a:solidFill>
                  <a:schemeClr val="bg2"/>
                </a:solidFill>
              </a:rPr>
              <a:t>Achiam</a:t>
            </a:r>
            <a:r>
              <a:rPr lang="en-US" sz="1000" dirty="0">
                <a:solidFill>
                  <a:schemeClr val="bg2"/>
                </a:solidFill>
              </a:rPr>
              <a:t>, and John Schulman. "On first-order meta-learning algorithms." </a:t>
            </a:r>
            <a:r>
              <a:rPr lang="en-US" sz="1000" dirty="0" err="1">
                <a:solidFill>
                  <a:schemeClr val="bg2"/>
                </a:solidFill>
              </a:rPr>
              <a:t>arXiv</a:t>
            </a:r>
            <a:r>
              <a:rPr lang="en-US" sz="1000" dirty="0">
                <a:solidFill>
                  <a:schemeClr val="bg2"/>
                </a:solidFill>
              </a:rPr>
              <a:t> preprint arXiv:1803.02999 (2018).</a:t>
            </a:r>
          </a:p>
        </p:txBody>
      </p:sp>
    </p:spTree>
    <p:extLst>
      <p:ext uri="{BB962C8B-B14F-4D97-AF65-F5344CB8AC3E}">
        <p14:creationId xmlns:p14="http://schemas.microsoft.com/office/powerpoint/2010/main" val="319725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892142" cy="1143000"/>
          </a:xfrm>
        </p:spPr>
        <p:txBody>
          <a:bodyPr/>
          <a:lstStyle/>
          <a:p>
            <a:pPr algn="l"/>
            <a:r>
              <a:rPr lang="en-US" sz="2800" b="1" dirty="0">
                <a:latin typeface="Georgia" charset="0"/>
              </a:rPr>
              <a:t>Attack function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29</a:t>
            </a:fld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</p:spPr>
            <p:txBody>
              <a:bodyPr/>
              <a:lstStyle/>
              <a:p>
                <a:r>
                  <a:rPr lang="en-US" sz="2400" dirty="0">
                    <a:latin typeface="+mj-lt"/>
                    <a:cs typeface="Calibri" charset="0"/>
                  </a:rPr>
                  <a:t>Trian loss based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𝑎𝑡𝑘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</m:oMath>
                </a14:m>
                <a:endParaRPr lang="en-US" sz="2400" dirty="0">
                  <a:latin typeface="+mj-lt"/>
                  <a:cs typeface="Calibri" charset="0"/>
                </a:endParaRPr>
              </a:p>
              <a:p>
                <a:pPr lvl="1"/>
                <a:r>
                  <a:rPr lang="en-US" sz="2000" b="1" dirty="0">
                    <a:latin typeface="+mj-lt"/>
                    <a:cs typeface="Calibri" charset="0"/>
                  </a:rPr>
                  <a:t> Maximize the loss on the labeled (training) nodes</a:t>
                </a:r>
              </a:p>
              <a:p>
                <a:endParaRPr lang="en-US" sz="2400" dirty="0">
                  <a:latin typeface="+mj-lt"/>
                  <a:cs typeface="Calibri" charset="0"/>
                </a:endParaRPr>
              </a:p>
              <a:p>
                <a:r>
                  <a:rPr lang="en-US" sz="2400" dirty="0">
                    <a:latin typeface="+mj-lt"/>
                    <a:cs typeface="Calibri" charset="0"/>
                  </a:rPr>
                  <a:t>Self-loss based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𝑎𝑡𝑘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𝑠𝑒𝑙𝑓</m:t>
                        </m:r>
                      </m:sub>
                    </m:sSub>
                  </m:oMath>
                </a14:m>
                <a:endParaRPr lang="en-US" sz="2400" dirty="0">
                  <a:latin typeface="+mj-lt"/>
                  <a:cs typeface="Calibri" charset="0"/>
                </a:endParaRPr>
              </a:p>
              <a:p>
                <a:pPr lvl="1"/>
                <a:r>
                  <a:rPr lang="en-US" sz="2000" dirty="0">
                    <a:latin typeface="+mj-lt"/>
                    <a:cs typeface="Calibri" charset="0"/>
                  </a:rPr>
                  <a:t> </a:t>
                </a:r>
                <a:r>
                  <a:rPr lang="en-US" sz="2000" b="1" dirty="0">
                    <a:latin typeface="+mj-lt"/>
                    <a:cs typeface="Calibri" charset="0"/>
                  </a:rPr>
                  <a:t>Learn a model on the labeled data to estimate the labels of unlabeled nodes</a:t>
                </a:r>
              </a:p>
              <a:p>
                <a:pPr lvl="1"/>
                <a:r>
                  <a:rPr lang="en-US" sz="2000" b="1" dirty="0">
                    <a:latin typeface="+mj-lt"/>
                    <a:cs typeface="Calibri" charset="0"/>
                  </a:rPr>
                  <a:t> Use these predicted labels and compute the loss of a model on the unlabeled nodes</a:t>
                </a:r>
              </a:p>
              <a:p>
                <a:pPr lvl="1"/>
                <a:endParaRPr lang="en-US" sz="2400" b="1" dirty="0">
                  <a:latin typeface="+mj-lt"/>
                  <a:cs typeface="Calibri" charset="0"/>
                </a:endParaRPr>
              </a:p>
              <a:p>
                <a:r>
                  <a:rPr lang="en-US" sz="2000" dirty="0">
                    <a:latin typeface="+mj-lt"/>
                    <a:cs typeface="Calibri" charset="0"/>
                  </a:rPr>
                  <a:t>Combination of those functions</a:t>
                </a: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855EB7AB-C535-4F63-8D29-A7215BA2B7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9" y="1600200"/>
                <a:ext cx="7892143" cy="4338781"/>
              </a:xfrm>
              <a:blipFill>
                <a:blip r:embed="rId3"/>
                <a:stretch>
                  <a:fillRect l="-1004" t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4F21EA-E1B4-4EE7-8C9A-BF6797BF5B02}"/>
                  </a:ext>
                </a:extLst>
              </p:cNvPr>
              <p:cNvSpPr txBox="1"/>
              <p:nvPr/>
            </p:nvSpPr>
            <p:spPr>
              <a:xfrm>
                <a:off x="1065282" y="5551381"/>
                <a:ext cx="6227987" cy="566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𝑚𝑒𝑡𝑎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𝑡𝑟𝑎𝑖𝑛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𝑠𝑒𝑙𝑓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4F21EA-E1B4-4EE7-8C9A-BF6797BF5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282" y="5551381"/>
                <a:ext cx="6227987" cy="566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2F4C7859-298D-4862-B785-CAE54ABE98C2}"/>
              </a:ext>
            </a:extLst>
          </p:cNvPr>
          <p:cNvSpPr/>
          <p:nvPr/>
        </p:nvSpPr>
        <p:spPr>
          <a:xfrm>
            <a:off x="0" y="6304999"/>
            <a:ext cx="8358552" cy="5539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2"/>
                </a:solidFill>
              </a:rPr>
              <a:t>Chelsea Finn, Pieter </a:t>
            </a:r>
            <a:r>
              <a:rPr lang="en-US" sz="1000" dirty="0" err="1">
                <a:solidFill>
                  <a:schemeClr val="bg2"/>
                </a:solidFill>
              </a:rPr>
              <a:t>Abbeel</a:t>
            </a:r>
            <a:r>
              <a:rPr lang="en-US" sz="1000" dirty="0">
                <a:solidFill>
                  <a:schemeClr val="bg2"/>
                </a:solidFill>
              </a:rPr>
              <a:t>, and Sergey Levine. "Model-agnostic meta-learning for fast adaptation of deep networks." In Proceedings of the 34th International Conference on Machine Learning-Volume 70, pp. 1126-1135. JMLR. org, 2017.</a:t>
            </a:r>
          </a:p>
          <a:p>
            <a:r>
              <a:rPr lang="en-US" sz="1000" dirty="0">
                <a:solidFill>
                  <a:schemeClr val="bg2"/>
                </a:solidFill>
              </a:rPr>
              <a:t>Alex Nichol, Joshua </a:t>
            </a:r>
            <a:r>
              <a:rPr lang="en-US" sz="1000" dirty="0" err="1">
                <a:solidFill>
                  <a:schemeClr val="bg2"/>
                </a:solidFill>
              </a:rPr>
              <a:t>Achiam</a:t>
            </a:r>
            <a:r>
              <a:rPr lang="en-US" sz="1000" dirty="0">
                <a:solidFill>
                  <a:schemeClr val="bg2"/>
                </a:solidFill>
              </a:rPr>
              <a:t>, and John Schulman. "On first-order meta-learning algorithms." </a:t>
            </a:r>
            <a:r>
              <a:rPr lang="en-US" sz="1000" dirty="0" err="1">
                <a:solidFill>
                  <a:schemeClr val="bg2"/>
                </a:solidFill>
              </a:rPr>
              <a:t>arXiv</a:t>
            </a:r>
            <a:r>
              <a:rPr lang="en-US" sz="1000" dirty="0">
                <a:solidFill>
                  <a:schemeClr val="bg2"/>
                </a:solidFill>
              </a:rPr>
              <a:t> preprint arXiv:1803.02999 (2018).</a:t>
            </a:r>
          </a:p>
        </p:txBody>
      </p:sp>
    </p:spTree>
    <p:extLst>
      <p:ext uri="{BB962C8B-B14F-4D97-AF65-F5344CB8AC3E}">
        <p14:creationId xmlns:p14="http://schemas.microsoft.com/office/powerpoint/2010/main" val="1609005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892142" cy="1143000"/>
          </a:xfrm>
        </p:spPr>
        <p:txBody>
          <a:bodyPr/>
          <a:lstStyle/>
          <a:p>
            <a:pPr algn="l"/>
            <a:r>
              <a:rPr lang="en-US" sz="2800" b="1" dirty="0">
                <a:latin typeface="Georgia" charset="0"/>
              </a:rPr>
              <a:t>Experiments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30</a:t>
            </a:fld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5EB7AB-C535-4F63-8D29-A7215BA2B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600200"/>
            <a:ext cx="8061252" cy="4338781"/>
          </a:xfrm>
        </p:spPr>
        <p:txBody>
          <a:bodyPr/>
          <a:lstStyle/>
          <a:p>
            <a:r>
              <a:rPr lang="en-US" sz="2400" dirty="0">
                <a:latin typeface="+mj-lt"/>
                <a:cs typeface="Calibri" charset="0"/>
              </a:rPr>
              <a:t>Node classification</a:t>
            </a:r>
          </a:p>
          <a:p>
            <a:pPr lvl="1"/>
            <a:r>
              <a:rPr lang="en-US" sz="2000" dirty="0">
                <a:latin typeface="+mj-lt"/>
                <a:cs typeface="Calibri" charset="0"/>
              </a:rPr>
              <a:t>GCN: graph convolutional network</a:t>
            </a:r>
          </a:p>
          <a:p>
            <a:pPr lvl="1"/>
            <a:r>
              <a:rPr lang="en-US" sz="2000" dirty="0">
                <a:latin typeface="+mj-lt"/>
                <a:cs typeface="Calibri" charset="0"/>
              </a:rPr>
              <a:t>CLN: column network</a:t>
            </a:r>
          </a:p>
          <a:p>
            <a:pPr lvl="1"/>
            <a:endParaRPr lang="en-US" sz="1600" dirty="0">
              <a:latin typeface="Garamond" panose="02020404030301010803" pitchFamily="18" charset="0"/>
              <a:cs typeface="Calibri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ADEBC1-AF09-4E3F-9B57-75615F95A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13" y="2886266"/>
            <a:ext cx="6164087" cy="33295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9F5B6CE-6BD1-44AA-87D8-4A6C9D89A5AF}"/>
              </a:ext>
            </a:extLst>
          </p:cNvPr>
          <p:cNvSpPr/>
          <p:nvPr/>
        </p:nvSpPr>
        <p:spPr>
          <a:xfrm>
            <a:off x="97912" y="5428946"/>
            <a:ext cx="163758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rgbClr val="FF0000"/>
                </a:solidFill>
              </a:rPr>
              <a:t>With approximation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7E240184-998C-4150-97D2-EEB9D1BA5AB5}"/>
              </a:ext>
            </a:extLst>
          </p:cNvPr>
          <p:cNvSpPr/>
          <p:nvPr/>
        </p:nvSpPr>
        <p:spPr>
          <a:xfrm rot="16200000">
            <a:off x="1843981" y="5341354"/>
            <a:ext cx="127525" cy="461146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3B74FA0-101D-449B-9202-11F799D26EBA}"/>
              </a:ext>
            </a:extLst>
          </p:cNvPr>
          <p:cNvSpPr/>
          <p:nvPr/>
        </p:nvSpPr>
        <p:spPr>
          <a:xfrm rot="16200000">
            <a:off x="1837762" y="5590168"/>
            <a:ext cx="127525" cy="461146"/>
          </a:xfrm>
          <a:prstGeom prst="downArrow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143D78-C560-460A-B627-5995678A30DB}"/>
              </a:ext>
            </a:extLst>
          </p:cNvPr>
          <p:cNvSpPr/>
          <p:nvPr/>
        </p:nvSpPr>
        <p:spPr>
          <a:xfrm>
            <a:off x="-99528" y="5668432"/>
            <a:ext cx="186301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rgbClr val="FF0000"/>
                </a:solidFill>
              </a:rPr>
              <a:t>Without approximation</a:t>
            </a:r>
          </a:p>
        </p:txBody>
      </p:sp>
    </p:spTree>
    <p:extLst>
      <p:ext uri="{BB962C8B-B14F-4D97-AF65-F5344CB8AC3E}">
        <p14:creationId xmlns:p14="http://schemas.microsoft.com/office/powerpoint/2010/main" val="15811093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892142" cy="1143000"/>
          </a:xfrm>
        </p:spPr>
        <p:txBody>
          <a:bodyPr/>
          <a:lstStyle/>
          <a:p>
            <a:pPr algn="l"/>
            <a:r>
              <a:rPr lang="en-US" sz="2800" b="1" dirty="0">
                <a:latin typeface="Georgia" charset="0"/>
              </a:rPr>
              <a:t>Experiments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44E6E-E53C-4814-BDC8-F8332E043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58552" y="6151609"/>
            <a:ext cx="779585" cy="609957"/>
          </a:xfrm>
        </p:spPr>
        <p:txBody>
          <a:bodyPr/>
          <a:lstStyle/>
          <a:p>
            <a:pPr algn="ctr"/>
            <a:fld id="{D7195004-29B1-4F4C-8143-306DB296FA4D}" type="slidenum">
              <a:rPr lang="en-US" sz="3600" smtClean="0">
                <a:solidFill>
                  <a:schemeClr val="accent2"/>
                </a:solidFill>
              </a:rPr>
              <a:pPr algn="ctr"/>
              <a:t>31</a:t>
            </a:fld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5EB7AB-C535-4F63-8D29-A7215BA2B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600200"/>
            <a:ext cx="8061252" cy="4338781"/>
          </a:xfrm>
        </p:spPr>
        <p:txBody>
          <a:bodyPr/>
          <a:lstStyle/>
          <a:p>
            <a:r>
              <a:rPr lang="en-US" sz="2400" dirty="0">
                <a:latin typeface="+mj-lt"/>
                <a:cs typeface="Calibri" charset="0"/>
              </a:rPr>
              <a:t>Baselines:</a:t>
            </a:r>
          </a:p>
          <a:p>
            <a:pPr lvl="1"/>
            <a:r>
              <a:rPr lang="en-US" sz="2000" dirty="0">
                <a:latin typeface="+mj-lt"/>
                <a:cs typeface="Calibri" charset="0"/>
              </a:rPr>
              <a:t>Clean</a:t>
            </a:r>
          </a:p>
          <a:p>
            <a:pPr lvl="1"/>
            <a:r>
              <a:rPr lang="en-US" sz="2000" dirty="0">
                <a:latin typeface="+mj-lt"/>
                <a:cs typeface="Calibri" charset="0"/>
              </a:rPr>
              <a:t>DICE: it randomly chooses whether to insert or remove an edge for each perturbation</a:t>
            </a:r>
          </a:p>
          <a:p>
            <a:pPr lvl="1"/>
            <a:r>
              <a:rPr lang="en-US" sz="2000" dirty="0">
                <a:latin typeface="+mj-lt"/>
                <a:cs typeface="Calibri" charset="0"/>
              </a:rPr>
              <a:t>Log. Reg.: logistic regression with only node attributes (ignore graph structure)</a:t>
            </a:r>
          </a:p>
          <a:p>
            <a:pPr lvl="1"/>
            <a:endParaRPr lang="en-US" sz="1600" dirty="0">
              <a:latin typeface="+mj-lt"/>
              <a:cs typeface="Calibri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98A40-C7A4-2048-8070-E2B061979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231" y="3818860"/>
            <a:ext cx="6772940" cy="28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5BE7B-2628-3848-91C5-4573EE622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95004-29B1-4F4C-8143-306DB296FA4D}" type="slidenum">
              <a:rPr lang="en-US" smtClean="0"/>
              <a:t>32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CD7A65-5960-A14B-87D3-DF4DC82C027E}"/>
              </a:ext>
            </a:extLst>
          </p:cNvPr>
          <p:cNvSpPr/>
          <p:nvPr/>
        </p:nvSpPr>
        <p:spPr>
          <a:xfrm>
            <a:off x="2405940" y="1531940"/>
            <a:ext cx="358784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Thanks</a:t>
            </a:r>
          </a:p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&amp;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344301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ity Of Illinois">
      <a:dk1>
        <a:srgbClr val="131F33"/>
      </a:dk1>
      <a:lt1>
        <a:srgbClr val="FFFFFF"/>
      </a:lt1>
      <a:dk2>
        <a:srgbClr val="FA6300"/>
      </a:dk2>
      <a:lt2>
        <a:srgbClr val="FAFAFA"/>
      </a:lt2>
      <a:accent1>
        <a:srgbClr val="131F33"/>
      </a:accent1>
      <a:accent2>
        <a:srgbClr val="FA6300"/>
      </a:accent2>
      <a:accent3>
        <a:srgbClr val="555555"/>
      </a:accent3>
      <a:accent4>
        <a:srgbClr val="888888"/>
      </a:accent4>
      <a:accent5>
        <a:srgbClr val="4BACC6"/>
      </a:accent5>
      <a:accent6>
        <a:srgbClr val="F79646"/>
      </a:accent6>
      <a:hlink>
        <a:srgbClr val="666666"/>
      </a:hlink>
      <a:folHlink>
        <a:srgbClr val="AAAAAA"/>
      </a:folHlink>
    </a:clrScheme>
    <a:fontScheme name="Test">
      <a:majorFont>
        <a:latin typeface="Calibri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2106</Words>
  <Application>Microsoft Office PowerPoint</Application>
  <PresentationFormat>On-screen Show (4:3)</PresentationFormat>
  <Paragraphs>415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Cambria Math</vt:lpstr>
      <vt:lpstr>Garamond</vt:lpstr>
      <vt:lpstr>Georgia</vt:lpstr>
      <vt:lpstr>Wingdings</vt:lpstr>
      <vt:lpstr>Office Theme</vt:lpstr>
      <vt:lpstr>Adversarial Attacks on Graph Embedding</vt:lpstr>
      <vt:lpstr>Background: Node Embedding</vt:lpstr>
      <vt:lpstr>Background: Node Embedding</vt:lpstr>
      <vt:lpstr>Random Walk Based Embedding</vt:lpstr>
      <vt:lpstr>Random Walk Based Embedding</vt:lpstr>
      <vt:lpstr>Random Walk Based Embedding</vt:lpstr>
      <vt:lpstr>Are node embeddings robust to adversarial attacks?</vt:lpstr>
      <vt:lpstr>Poisoning attack</vt:lpstr>
      <vt:lpstr>Challenges</vt:lpstr>
      <vt:lpstr>Solutions</vt:lpstr>
      <vt:lpstr>Reduce the bi-level problem to a single-level</vt:lpstr>
      <vt:lpstr>Reduce the bi-level problem to a single-level</vt:lpstr>
      <vt:lpstr>Challenges</vt:lpstr>
      <vt:lpstr>Single-level optimization</vt:lpstr>
      <vt:lpstr>Gradient-based Approach</vt:lpstr>
      <vt:lpstr>Gradient-based Approach</vt:lpstr>
      <vt:lpstr>Closed-form Approach (Brute-force)</vt:lpstr>
      <vt:lpstr>Closed-form Approach (Brute-force)</vt:lpstr>
      <vt:lpstr>Experiments</vt:lpstr>
      <vt:lpstr>Experiments</vt:lpstr>
      <vt:lpstr>Experiments</vt:lpstr>
      <vt:lpstr>Graph Convolution Based Embedding</vt:lpstr>
      <vt:lpstr>Background: Node Embedding</vt:lpstr>
      <vt:lpstr>Background: Graph Convolutional Network</vt:lpstr>
      <vt:lpstr>Poison Attack</vt:lpstr>
      <vt:lpstr>Gradient-based Approach</vt:lpstr>
      <vt:lpstr>Meta-gradient optimization</vt:lpstr>
      <vt:lpstr>Meta-gradient optimization</vt:lpstr>
      <vt:lpstr>Attack function</vt:lpstr>
      <vt:lpstr>Experiments</vt:lpstr>
      <vt:lpstr>Experiments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Hoerr</dc:creator>
  <cp:lastModifiedBy>Wu, Jun</cp:lastModifiedBy>
  <cp:revision>314</cp:revision>
  <dcterms:created xsi:type="dcterms:W3CDTF">2016-01-13T21:18:08Z</dcterms:created>
  <dcterms:modified xsi:type="dcterms:W3CDTF">2019-10-23T17:50:52Z</dcterms:modified>
</cp:coreProperties>
</file>