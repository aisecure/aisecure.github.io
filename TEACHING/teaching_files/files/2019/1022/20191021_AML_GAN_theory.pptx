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mAuthor clrIdx="0" id="0" initials="" lastIdx="1" name="Aiyu Cu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6A7E4EB-FAFF-43A3-9F44-4FEF0E94C0B8}">
  <a:tblStyle styleId="{F6A7E4EB-FAFF-43A3-9F44-4FEF0E94C0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m authorId="0" idx="1" dt="2019-10-21T15:37:42.052">
    <p:pos x="6000" y="0"/>
    <p:text>cite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540cc3b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540cc3b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540cc3b09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540cc3b09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540cc3b09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540cc3b09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534d6b5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6534d6b5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540cc3b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540cc3b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6540cc3b09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6540cc3b09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540cc3b0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540cc3b0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540cc3b0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540cc3b0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6540cc3b09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6540cc3b09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540cc3b0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540cc3b0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540cc3b0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540cc3b0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540cc3b09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540cc3b09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540cc3b0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540cc3b0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540cc3b0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6540cc3b0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540cc3b09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540cc3b09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540cc3b09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540cc3b0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540cc3b09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540cc3b09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f585fc50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6f585fc50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540cc3b09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6540cc3b09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540cc3b09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540cc3b09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6540cc3b09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6540cc3b09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540cc3b09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6540cc3b09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540cc3b09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540cc3b09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540cc3b09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540cc3b09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6540cc3b09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6540cc3b09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6540cc3b0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6540cc3b0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6540cc3b09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6540cc3b09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6540cc3b09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6540cc3b09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6540cc3b09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6540cc3b09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6540cc3b09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6540cc3b09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6540cc3b09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6540cc3b09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6540cc3b09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6540cc3b09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540cc3b09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6540cc3b09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540cc3b09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6540cc3b09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6540cc3b09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6540cc3b09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6540cc3b09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6540cc3b09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540cc3b09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6540cc3b09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6540cc3b09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6540cc3b09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540cc3b09_1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6540cc3b09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540cc3b09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6540cc3b09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6540cc3b09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6540cc3b09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6540cc3b09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6540cc3b09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1703.00573" TargetMode="External"/><Relationship Id="rId4" Type="http://schemas.openxmlformats.org/officeDocument/2006/relationships/hyperlink" Target="https://openreview.net/forum?id=BJehNfW0-" TargetMode="External"/><Relationship Id="rId5" Type="http://schemas.openxmlformats.org/officeDocument/2006/relationships/hyperlink" Target="https://openreview.net/forum?id=BJehNfW0-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arxiv.org/pdf/1701.00160.pdf" TargetMode="External"/><Relationship Id="rId4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Relationship Id="rId4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Effectiveness of GANs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Aiyu Cui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28550" y="3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79000"/>
            <a:ext cx="8520600" cy="3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papers: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Generalization and equilibrium in generative adversarial nets (GANs)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(ICML’17)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​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Do GANs Actually Learn the Distribution?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(ICLR’18)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Take-outs in theory: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GAN capable enough to capture/recover the targeted distribution?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Equilibrium guaranteed during training?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measure it and how do we quantify it?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Encoder-Decoder GANs guarantee anything more than regular GANs?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Take-Outs in practices: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MIX-GAN: a protocol to train better GAN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Birthday Paradox Test: a measure of support size of a trained distribution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375" y="1666425"/>
            <a:ext cx="7319251" cy="19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86100" cy="3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GANs?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minimax game formed by </a:t>
            </a:r>
            <a:r>
              <a:rPr lang="en"/>
              <a:t>Discriminator and Generator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are GANs trying to do?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model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775" y="2904775"/>
            <a:ext cx="628950" cy="6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396" y="45725"/>
            <a:ext cx="44035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Terms/Notations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050" y="3407031"/>
            <a:ext cx="2750825" cy="1160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8839201" cy="200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vs. Practice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21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theory [                 ],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Generator wins =&gt;                           ,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Discriminator capability is large enough ( ~exp(d) 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Number of samples is large enough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practice: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Sadly, neither of the above assumptions holds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still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300" y="1726675"/>
            <a:ext cx="1629375" cy="3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6869425" y="768700"/>
            <a:ext cx="1962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6217925" y="685800"/>
            <a:ext cx="2614500" cy="6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capability: = # of parameters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: # of training sample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114275" y="4297675"/>
            <a:ext cx="8789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6588" y="3818506"/>
            <a:ext cx="2750825" cy="1160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8425" y="1355100"/>
            <a:ext cx="1101350" cy="1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Questions,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3713"/>
            <a:ext cx="8839203" cy="2566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for paper 1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Generalization of GAN and </a:t>
            </a:r>
            <a:r>
              <a:rPr b="1" lang="en" sz="2400"/>
              <a:t>new measurement</a:t>
            </a:r>
            <a:r>
              <a:rPr lang="en" sz="2400"/>
              <a:t> on distance of two distributions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Pure equilibrium of GAN game exists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 empirical method to train better GAN in terms of ability to generalize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MIX+GAN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in GAN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Defined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the above condition holds, we call it generalize.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JS Divergence and Wasserstein don’t Generalize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Proof by counterexample.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400" y="1686863"/>
            <a:ext cx="35052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/>
          <p:nvPr/>
        </p:nvSpPr>
        <p:spPr>
          <a:xfrm>
            <a:off x="2598400" y="1788538"/>
            <a:ext cx="1474500" cy="606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1451600" y="2496500"/>
            <a:ext cx="3874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What we want to minimize - true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4254775" y="1746100"/>
            <a:ext cx="1312500" cy="691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186175" y="1215850"/>
            <a:ext cx="436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86E8"/>
                </a:solidFill>
              </a:rPr>
              <a:t>What we have access to - empirical</a:t>
            </a:r>
            <a:endParaRPr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Training - Objective functions (1)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GAN training: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𝜙 is the measuring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Concave, Bounded, lipschitz, monotone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strategy ½, and value 2</a:t>
            </a:r>
            <a:r>
              <a:rPr lang="en" sz="1800"/>
              <a:t>𝜙(½)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228" y="1712575"/>
            <a:ext cx="6064175" cy="7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Training - Objective functions (2)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objective function </a:t>
            </a:r>
            <a:r>
              <a:rPr lang="en"/>
              <a:t>GAN training: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 solution exists, but computationally infeasible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to minimizing Jensen-Shannon(JS) Divergence.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25" y="1806650"/>
            <a:ext cx="6442701" cy="64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75" y="3360450"/>
            <a:ext cx="1392575" cy="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075" y="3962263"/>
            <a:ext cx="46863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Training - Objective functions (3)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Wasserstein distance</a:t>
            </a:r>
            <a:r>
              <a:rPr lang="en"/>
              <a:t> </a:t>
            </a:r>
            <a:r>
              <a:rPr lang="en"/>
              <a:t>GAN training: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to minimizing Wasserstein distance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228" y="1712575"/>
            <a:ext cx="6064175" cy="7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550" y="2511276"/>
            <a:ext cx="1718300" cy="6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3375" y="3737450"/>
            <a:ext cx="509587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 Divergence and Wasserstein Don’t Generalize 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610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571500" y="2400300"/>
            <a:ext cx="6583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 Case: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So: 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4330538"/>
            <a:ext cx="3505200" cy="80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1350" y="2414575"/>
            <a:ext cx="32385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7075" y="2810225"/>
            <a:ext cx="5229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37075" y="3196350"/>
            <a:ext cx="33718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37075" y="3538725"/>
            <a:ext cx="4352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7075" y="3872100"/>
            <a:ext cx="452437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35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 distance - F Distance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1006943"/>
            <a:ext cx="9144000" cy="152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725" y="3029650"/>
            <a:ext cx="5644650" cy="4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4383300" y="2480300"/>
            <a:ext cx="377400" cy="47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4383300" y="3578975"/>
            <a:ext cx="377400" cy="47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155863"/>
            <a:ext cx="2537350" cy="3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3275" y="4170675"/>
            <a:ext cx="5037803" cy="2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2971800" y="4230088"/>
            <a:ext cx="274200" cy="18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Divergence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2606375"/>
            <a:ext cx="8520600" cy="19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Divergence has better generalization properties: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                 is small, we know                    is also small.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725" y="1152477"/>
            <a:ext cx="9144000" cy="145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8225" y="3201200"/>
            <a:ext cx="986423" cy="2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2100" y="3201200"/>
            <a:ext cx="1139806" cy="2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9725" y="4144313"/>
            <a:ext cx="3505200" cy="80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Expressive Power and </a:t>
            </a:r>
            <a:r>
              <a:rPr lang="en"/>
              <a:t>Equilibrium 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In practice, why the </a:t>
            </a:r>
            <a:r>
              <a:rPr lang="en" sz="2400" u="sng"/>
              <a:t>generator </a:t>
            </a:r>
            <a:r>
              <a:rPr b="1" lang="en" sz="2400" u="sng">
                <a:solidFill>
                  <a:srgbClr val="DD7E6B"/>
                </a:solidFill>
              </a:rPr>
              <a:t>usually</a:t>
            </a:r>
            <a:r>
              <a:rPr lang="en" sz="2400" u="sng"/>
              <a:t> “wins” so that the discriminator is unable to do much better random guessing at the end</a:t>
            </a:r>
            <a:r>
              <a:rPr lang="en" sz="2400"/>
              <a:t>?</a:t>
            </a:r>
            <a:endParaRPr sz="2400"/>
          </a:p>
        </p:txBody>
      </p:sp>
      <p:sp>
        <p:nvSpPr>
          <p:cNvPr id="186" name="Google Shape;186;p28"/>
          <p:cNvSpPr/>
          <p:nvPr/>
        </p:nvSpPr>
        <p:spPr>
          <a:xfrm>
            <a:off x="6240775" y="2457450"/>
            <a:ext cx="1977300" cy="5727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Equilibrium</a:t>
            </a:r>
            <a:endParaRPr sz="2400"/>
          </a:p>
        </p:txBody>
      </p:sp>
      <p:sp>
        <p:nvSpPr>
          <p:cNvPr id="187" name="Google Shape;187;p28"/>
          <p:cNvSpPr/>
          <p:nvPr/>
        </p:nvSpPr>
        <p:spPr>
          <a:xfrm>
            <a:off x="7040875" y="2068825"/>
            <a:ext cx="377100" cy="27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651525" y="3394125"/>
            <a:ext cx="73953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D7E6B"/>
                </a:solidFill>
              </a:rPr>
              <a:t>Is it just lucky to get able to model the distribution D_real by a fairly compact neural net?</a:t>
            </a:r>
            <a:endParaRPr b="1" sz="1800">
              <a:solidFill>
                <a:srgbClr val="DD7E6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Expressive Power and </a:t>
            </a:r>
            <a:r>
              <a:rPr lang="en"/>
              <a:t>Equilibrium Cont.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2457950"/>
            <a:ext cx="85206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Generator can still win the GAN game even if not achieve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Generator can still win the GAN game even if Generator is not powerful enough to recover the real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whether Discriminator can distinguish D from </a:t>
            </a:r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50" y="1250625"/>
            <a:ext cx="8709649" cy="10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4200" y="2497897"/>
            <a:ext cx="1850250" cy="3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3575" y="3484550"/>
            <a:ext cx="390550" cy="2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Equilibrium using a Mixture of Generator</a:t>
            </a:r>
            <a:endParaRPr/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finite mixture of generators can “win” against all discriminators.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finite mixture of generators can achieve “</a:t>
            </a:r>
            <a:r>
              <a:rPr b="1" lang="en"/>
              <a:t>approximate equilibrium</a:t>
            </a:r>
            <a:r>
              <a:rPr lang="en"/>
              <a:t>” in the GAN game with the generate win.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 sz="1800"/>
              <a:t>If deep nets of size p are capable of generating any point mass, then the GAN game for generator neural network of size       has an</a:t>
            </a:r>
            <a:r>
              <a:rPr b="1" lang="en" sz="1800"/>
              <a:t> approximate equilibrium</a:t>
            </a:r>
            <a:r>
              <a:rPr lang="en" sz="1800"/>
              <a:t> in which the generator wins.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300" y="2932475"/>
            <a:ext cx="442800" cy="2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𝜖-approximate equilibrium</a:t>
            </a:r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25" y="3743598"/>
            <a:ext cx="9143999" cy="1144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25" y="1063250"/>
            <a:ext cx="8839201" cy="119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211808"/>
            <a:ext cx="9144000" cy="1531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MIX+GAN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math, it shows that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434350" y="1623050"/>
            <a:ext cx="7955400" cy="818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Using a mixture of generators and discriminators guarantees existence of approximate equilibrium.</a:t>
            </a:r>
            <a:endParaRPr/>
          </a:p>
        </p:txBody>
      </p:sp>
      <p:sp>
        <p:nvSpPr>
          <p:cNvPr id="220" name="Google Shape;220;p32"/>
          <p:cNvSpPr/>
          <p:nvPr/>
        </p:nvSpPr>
        <p:spPr>
          <a:xfrm>
            <a:off x="4309100" y="2601050"/>
            <a:ext cx="2628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462800" y="3046475"/>
            <a:ext cx="7846800" cy="514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Using a mixture may lead to more stable training</a:t>
            </a:r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4309100" y="3686600"/>
            <a:ext cx="2628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517100" y="4216150"/>
            <a:ext cx="7846800" cy="514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MIX+GAN</a:t>
            </a:r>
            <a:r>
              <a:rPr lang="en" sz="1800">
                <a:solidFill>
                  <a:schemeClr val="dk2"/>
                </a:solidFill>
              </a:rPr>
              <a:t> (usually with T components mixed, T &lt; 5 in usual to fit GPU)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MIX+GAN cont.</a:t>
            </a:r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train: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a mixture of T generators and T discriminators: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Share Same architectures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have their own parameters.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selector to select whose output to take from the T generators/distrinimators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Advantage: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applied with existing methods like DCGAN, WGAN etc.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MIX+GAN: Experiments 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75" y="1017725"/>
            <a:ext cx="896302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2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MIX+GAN: Experiments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" y="828663"/>
            <a:ext cx="904875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959556"/>
            <a:ext cx="9143999" cy="418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432" y="0"/>
            <a:ext cx="593313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Take-out</a:t>
            </a:r>
            <a:endParaRPr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Neural Net Distance - A loose distance which ensures the generalization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Equilibrium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MIX-GAN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245750" y="2200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Whoops, one more paper to go.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25" y="522050"/>
            <a:ext cx="8274575" cy="388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discriminator has bounded size, does the optimal solution of GANs imply the real distribution is learnt?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The training examples are unable to prevent </a:t>
            </a:r>
            <a:r>
              <a:rPr b="1" lang="en" u="sng"/>
              <a:t>Mode Collapse </a:t>
            </a:r>
            <a:endParaRPr b="1"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not, how much is learnt?</a:t>
            </a:r>
            <a:endParaRPr/>
          </a:p>
          <a:p>
            <a:pPr indent="45720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novel test - </a:t>
            </a:r>
            <a:r>
              <a:rPr b="1" lang="en" u="sng"/>
              <a:t>Birthday Paradox</a:t>
            </a:r>
            <a:endParaRPr b="1"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Encoder-Decoder GANs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Better performance on model collapse?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u="sng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 Collapse</a:t>
            </a:r>
            <a:endParaRPr/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278725" y="1414975"/>
            <a:ext cx="2457900" cy="28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Mode Collapse: A problem that occurs when the generator learns to map several different input z values to the same output point.  </a:t>
            </a:r>
            <a:endParaRPr/>
          </a:p>
        </p:txBody>
      </p:sp>
      <p:sp>
        <p:nvSpPr>
          <p:cNvPr id="288" name="Google Shape;288;p42"/>
          <p:cNvSpPr txBox="1"/>
          <p:nvPr/>
        </p:nvSpPr>
        <p:spPr>
          <a:xfrm>
            <a:off x="165000" y="4703625"/>
            <a:ext cx="4747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https://arxiv.org/pdf/1701.00160.pdf</a:t>
            </a:r>
            <a:endParaRPr/>
          </a:p>
        </p:txBody>
      </p:sp>
      <p:pic>
        <p:nvPicPr>
          <p:cNvPr id="289" name="Google Shape;2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4550" y="962173"/>
            <a:ext cx="6021075" cy="35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 Paradox</a:t>
            </a:r>
            <a:endParaRPr/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311700" y="1572850"/>
            <a:ext cx="8458800" cy="950400"/>
          </a:xfrm>
          <a:prstGeom prst="rect">
            <a:avLst/>
          </a:prstGeom>
          <a:solidFill>
            <a:srgbClr val="E6B8A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Suppose there are k people in the room. How large must k be before we have a high likelihood of having two people with the same birthday?</a:t>
            </a:r>
            <a:endParaRPr/>
          </a:p>
        </p:txBody>
      </p:sp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900" y="3186700"/>
            <a:ext cx="47244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 Paradox Test for</a:t>
            </a:r>
            <a:r>
              <a:rPr lang="en"/>
              <a:t> GAN</a:t>
            </a:r>
            <a:r>
              <a:rPr lang="en"/>
              <a:t> support size.</a:t>
            </a:r>
            <a:endParaRPr/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" y="1017713"/>
            <a:ext cx="9105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4"/>
          <p:cNvSpPr txBox="1"/>
          <p:nvPr/>
        </p:nvSpPr>
        <p:spPr>
          <a:xfrm>
            <a:off x="1137625" y="3924375"/>
            <a:ext cx="7204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Support size</a:t>
            </a:r>
            <a:r>
              <a:rPr lang="en"/>
              <a:t>: If the test reveals that batches of sizes </a:t>
            </a:r>
            <a:r>
              <a:rPr i="1" lang="en"/>
              <a:t>s,</a:t>
            </a:r>
            <a:r>
              <a:rPr lang="en"/>
              <a:t> then suspect that the distribution has support size about s^2. (the higher, the better)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of Birthday Paradox</a:t>
            </a:r>
            <a:endParaRPr/>
          </a:p>
        </p:txBody>
      </p:sp>
      <p:sp>
        <p:nvSpPr>
          <p:cNvPr id="309" name="Google Shape;30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probability &gt; 50% on CelebA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0" name="Google Shape;310;p45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{F6A7E4EB-FAFF-43A3-9F44-4FEF0E94C0B8}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50% batch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 size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DCGAN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640k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MIX_DCGAN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640k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 (BiGAN)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~1200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616" y="0"/>
            <a:ext cx="675276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Celeb-A Cont. Diversity vs. Discriminator size</a:t>
            </a:r>
            <a:endParaRPr/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1 suggests that there is a near-equilibrium which a distribution of such a small support (linear) could suffice to fool the best discriminator.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675" y="2077775"/>
            <a:ext cx="725805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 Result</a:t>
            </a:r>
            <a:endParaRPr/>
          </a:p>
        </p:txBody>
      </p:sp>
      <p:sp>
        <p:nvSpPr>
          <p:cNvPr id="330" name="Google Shape;33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75" y="2005025"/>
            <a:ext cx="754380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448" y="0"/>
            <a:ext cx="65091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 of Encoder-Decoder GAN</a:t>
            </a:r>
            <a:endParaRPr/>
          </a:p>
        </p:txBody>
      </p:sp>
      <p:sp>
        <p:nvSpPr>
          <p:cNvPr id="344" name="Google Shape;344;p5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</a:t>
            </a:r>
            <a:r>
              <a:rPr lang="en"/>
              <a:t>ous Statements: Encoder-decoder GAN</a:t>
            </a:r>
            <a:endParaRPr u="sng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learns more meaningful feature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solve the mode-collapse issue.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Here this work shows: Encoder-decoder GANs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Cannot guarantee learning of the full directribution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Because they cannot prevent serious </a:t>
            </a:r>
            <a:r>
              <a:rPr lang="en" u="sng"/>
              <a:t>mode collapse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They cannot prevent learning </a:t>
            </a:r>
            <a:r>
              <a:rPr lang="en" u="sng"/>
              <a:t>meaningless codes</a:t>
            </a:r>
            <a:r>
              <a:rPr lang="en"/>
              <a:t> for data (contrary to intuition)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311700" y="21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BiGAN</a:t>
            </a:r>
            <a:endParaRPr/>
          </a:p>
        </p:txBody>
      </p:sp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075" y="828163"/>
            <a:ext cx="67627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675" y="4086513"/>
            <a:ext cx="54102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 of BiGAN</a:t>
            </a:r>
            <a:endParaRPr/>
          </a:p>
        </p:txBody>
      </p:sp>
      <p:sp>
        <p:nvSpPr>
          <p:cNvPr id="358" name="Google Shape;358;p52"/>
          <p:cNvSpPr txBox="1"/>
          <p:nvPr>
            <p:ph idx="1" type="body"/>
          </p:nvPr>
        </p:nvSpPr>
        <p:spPr>
          <a:xfrm>
            <a:off x="311700" y="3006050"/>
            <a:ext cx="8520600" cy="15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encoder E has very small complexity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simply extracts noise from the input 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Generator G is a small-support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presumably far from the true data distribution</a:t>
            </a:r>
            <a:endParaRPr/>
          </a:p>
        </p:txBody>
      </p:sp>
      <p:pic>
        <p:nvPicPr>
          <p:cNvPr id="359" name="Google Shape;3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0" y="1336598"/>
            <a:ext cx="9143999" cy="159415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/>
          <p:cNvSpPr/>
          <p:nvPr/>
        </p:nvSpPr>
        <p:spPr>
          <a:xfrm>
            <a:off x="2601925" y="1334900"/>
            <a:ext cx="535500" cy="41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Thm. 3</a:t>
            </a:r>
            <a:endParaRPr/>
          </a:p>
        </p:txBody>
      </p:sp>
      <p:sp>
        <p:nvSpPr>
          <p:cNvPr id="366" name="Google Shape;36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say the input image x is add uniform noise 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Then we can construct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encoder as noisy extractor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generator 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To satisfy: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750" y="816325"/>
            <a:ext cx="37814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950" y="4453813"/>
            <a:ext cx="6648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9375" y="2262975"/>
            <a:ext cx="1188917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338" y="2608103"/>
            <a:ext cx="8054776" cy="144507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/>
          <p:nvPr/>
        </p:nvSpPr>
        <p:spPr>
          <a:xfrm>
            <a:off x="6270525" y="3736600"/>
            <a:ext cx="2148300" cy="22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Take-out</a:t>
            </a:r>
            <a:endParaRPr/>
          </a:p>
        </p:txBody>
      </p:sp>
      <p:sp>
        <p:nvSpPr>
          <p:cNvPr id="377" name="Google Shape;37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Birthday Paradox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Encoder-decoder GANs cannot guarantee neither meaningful feature learning nor no mode collapse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